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6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6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RegTech &amp; Automated Basel III/IV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Does the bank hold enough capital?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it survive 30 bad days?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machine write the report?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maths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Every ratio today is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one number divided by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another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PILLAR 3 DOCUMENT, GENERATED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AND CHECKED,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6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BASEL III IN SIX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ratios, six divisions. A regulator reads these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D6B7E"/>
                </a:solidFill>
              </a:rPr>
              <a:t>Real figures: ICICI Bank, Basel III Pillar 3 disclosure, 31 March 2025, consolidated. The minimum is the RBI floor with buffers for a D-SIB.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CET1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79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79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8.20%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Shareholders' equity divided by risk weighted assets. The capital that absorbs a loss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TIER 1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9.70%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CET1 plus additional Tier 1 bonds, over the same RWA. This bank has no AT1 outstanding.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1755648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755648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TOTAL CAPITAL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7272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16.41%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2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11.70%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322576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plus Tier 2, over RWA. The number the press calls the CRAR.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LEVERAGE RATIO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10.37%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4.00%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capital divided by total exposure with no risk weights. The backstop if the weights are wrong.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8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Liquid assets divided by 30 days of net cash outflows. Can the bank survive a month-long run?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6" y="3236976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83296" y="3236976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NSFR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7272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803904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Stable funding available divided by stable funding required. Is the balance sheet funded for a year?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773168"/>
            <a:ext cx="11091672" cy="9144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773168"/>
            <a:ext cx="64008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84632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WHERE THE MINIMUM COMES FROM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Total capital: 9.0% base + 2.5% conservation buffer + 0.2% D-SIB surcharge = 11.7%. CET1 starts at 5.5%, Tier 1 at 7.0%, and the same buffers sit on top.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4632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WHAT AXIOMSL AND ONESUMX DO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They pull the ledger, apply the RBI rule tables, and file the return. AI now watches these six ratios every day instead of once a quarter, and flags the drift before the breach.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Basel IV / FRTB in one line:  </a:t>
            </a:r>
            <a:r>
              <a:rPr sz="1200" b="0">
                <a:solidFill>
                  <a:srgbClr val="FFFFFF"/>
                </a:solidFill>
              </a:rPr>
              <a:t>the market-risk number moves from VaR to expected shortfall, and a bank's own model must pass a P&amp;L test desk by desk to keep using it.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TWO RETURNS EVERY EUROPEAN BANK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COREP counts the capital. FINREP reports the accounts.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22392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COREP  ·  COMMON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prudential return.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450592"/>
            <a:ext cx="4892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It tells the supervisor whether the bank meets Basel III as written into EU law, the CRR and CRD IV. Every number on slide 2 is a COREP cell.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46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Own funds: CET1, AT1 and Tier 2, with every deduction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83864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Capital requirement for credit, market and operational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813048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Leverage ratio, LCR and NSFR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142232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Large exposures: any client above 10% of capital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5D6B7E"/>
                </a:solidFill>
              </a:rPr>
              <a:t>Quarterly. LCR monthly. India's parallel is the set of RBI returns filed through CIMS.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22392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FINREP  ·  FINANCIAL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The accounting return.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50592"/>
            <a:ext cx="4892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It gives the supervisor the balance sheet and the P&amp;L in one common IFRS format, so two banks in two countries can be compared line by 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Balance sheet and profit and loss, IFRS layout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483864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Loans by counterparty type and by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813048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Non-performing and forborne exposures, and the provisions against them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42232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Assets pledged and encumbered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5262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5D6B7E"/>
                </a:solidFill>
              </a:rPr>
              <a:t>Quarterly, for consolidated groups. The RBI parallel is the statutory returns built from the audited accounts.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93792"/>
            <a:ext cx="1109167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93792"/>
            <a:ext cx="64008" cy="457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1937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BOTH GO IN AS XBRL AGAINST THE EBA DATA POINT MODEL.  </a:t>
            </a:r>
            <a:r>
              <a:rPr sz="1000" b="0">
                <a:solidFill>
                  <a:srgbClr val="1B2A41"/>
                </a:solidFill>
              </a:rPr>
              <a:t>A whole data model is filed, not a set of PDFs. CRD IV multiplied the data points reported to each regulator nine times over. That is why a platform exists.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Same bank, two lenses:  </a:t>
            </a:r>
            <a:r>
              <a:rPr sz="1200" b="0">
                <a:solidFill>
                  <a:srgbClr val="FFFFFF"/>
                </a:solidFill>
              </a:rPr>
              <a:t>COREP asks whether there is enough capital. FINREP asks what the balance sheet looks like. The supervisor reads both, and they have to agree.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Nasdaq AxiomSL does, ledger to regulator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1  SOURCE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Core banking, the general ledger, the risk engines, the treasury system. Databases, flat files and APIs, in whatever shape they 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8064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8064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0944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2  ONE 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ControllerView loads everything into one transparent data structure. The same loan is loaded once and reused in every return.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01183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7488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0368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3  CALCULATE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Credit, market and operational risk capital. Capital buffers. LCR and NSFR. Large exposures. Stress scenarios on capital and liquidity.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7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481328"/>
            <a:ext cx="210312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96912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9792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4  TEMPLATES AND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COREP, FINREP, LCR, NSFR, large exposures and leverage in the EBA XBRL taxonomy. The EBA validation rules run before anything is filed.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2514600"/>
            <a:ext cx="1463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46336" y="1481328"/>
            <a:ext cx="210312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46336" y="1481328"/>
            <a:ext cx="210312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9215" y="1682496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5  FILE AND PROVE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9215" y="1993392"/>
            <a:ext cx="1783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The XBRL file goes to the regulator. Any cell drills down to the source rows. Sign-off workflow and audit trail on every number.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767328"/>
            <a:ext cx="5422392" cy="1792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767328"/>
            <a:ext cx="64008" cy="17922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391363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WHEN THE RULE CHANGES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1B2A41"/>
                </a:solidFill>
              </a:rPr>
              <a:t>The EBA publishes a new taxonomy. The platform ships the updated templates and validation rules. The bank re-maps its data to the new cells. It does not rebuild its reporting.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767328"/>
            <a:ext cx="5422392" cy="1792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767328"/>
            <a:ext cx="64008" cy="17922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913632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WHY A BANK BUYS IT INSTEAD OF USING EXCEL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1B2A41"/>
                </a:solidFill>
              </a:rPr>
              <a:t>The same capital number has to agree across COREP, FINREP, the Pillar 3 document and the annual report. One platform, one number. Nasdaq AxiomSL covers 170 or more regulators in 60 or more jurisdictions on that single platform.</a:t>
            </a:r>
          </a:p>
          <a:p>
            <a:pPr algn="l">
              <a:spcBef>
                <a:spcPts val="600"/>
              </a:spcBef>
            </a:pPr>
            <a:r>
              <a:rPr sz="750" b="0">
                <a:solidFill>
                  <a:srgbClr val="5D6B7E"/>
                </a:solidFill>
              </a:rPr>
              <a:t>Sources: AxiomSL, “Basel III – CRD IV – COREP/FINREP Reporting”; Nasdaq AxiomSL regulatory reporting page.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Where AI fits here:  </a:t>
            </a:r>
            <a:r>
              <a:rPr sz="1200" b="0">
                <a:solidFill>
                  <a:srgbClr val="FFFFFF"/>
                </a:solidFill>
              </a:rPr>
              <a:t>not in the calculation. In reading the validation failures, explaining a variance between two quarters, and drafting the sign-off note that a controller then checks.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AML, KYC AND THE REPORT NOBODY WANTS TO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Where the machine helps, and where a human still signs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61188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9105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A SUSPICIOUS TRANSACTION, IN PLAIN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65376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payment that does not fit the customer. A salary account that receives ₹40 lakh from ten strangers in a week. A shop that deposits cash just under the reporting limit every day. The bank does not know it is a crime. It knows it does not make sense, and the law says it must report that.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444752"/>
            <a:ext cx="3611880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59105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“ML RANKS” 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865376"/>
            <a:ext cx="31546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The rules still flag every odd payment. A model that has learned from past cases gives each flag a score. The analyst works from the top of the list. Nothing is deleted. Only the order changes.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444752"/>
            <a:ext cx="3557016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444752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91056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“NLP” MEANS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865376"/>
            <a:ext cx="3099816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Natural language processing: software that reads text the way OCR reads pixels. It pulls the name and date of birth off a scanned PAN card, matches them to the form, and knows that Rahul Sharma and Sharma Rahul are one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63824"/>
            <a:ext cx="3611880" cy="1938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31012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TRANSACTION MONITORING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5844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Rules fire. ML ranks.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986784"/>
            <a:ext cx="3154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10,000 alerts a month. The model puts the 200 that matter at the top of the queue. The rule still fires; the machine only orders the queue.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3163824"/>
            <a:ext cx="3611880" cy="1938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331012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3A5C9E"/>
                </a:solidFill>
              </a:rPr>
              <a:t>KYC DOCUMENT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358444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OCR reads. NLP checks.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986784"/>
            <a:ext cx="3154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clean file is onboarded in twenty minutes instead of three days. A blurred, mismatched or expired document still goes to a person.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3163824"/>
            <a:ext cx="3557016" cy="193852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3101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THE SUSPICIOUS TRANSACTION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84448"/>
            <a:ext cx="3099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Georgia"/>
              </a:rPr>
              <a:t>AI drafts. A human signs.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986784"/>
            <a:ext cx="309981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FATF Recommendation 20 requires it. India files it to FIU-IND under the PMLA. The model drafts the narrative in four minutes. The officer reads it for twenty, changes it, and signs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230368"/>
            <a:ext cx="64008" cy="4206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230368"/>
            <a:ext cx="10515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WHAT RBI FINES BANKS FOR UNDER THE KYC MASTER DIRECTION:  </a:t>
            </a:r>
            <a:r>
              <a:rPr sz="950" b="0">
                <a:solidFill>
                  <a:srgbClr val="1B2A41"/>
                </a:solidFill>
              </a:rPr>
              <a:t>accounts opened without full verification, periodic KYC updates missed, and monitoring alerts closed without a review. The fine is the small part. The bar on onboarding new customers is the expensive 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 for this hour:  </a:t>
            </a:r>
            <a:r>
              <a:rPr sz="1200" b="0">
                <a:solidFill>
                  <a:srgbClr val="FFFFFF"/>
                </a:solidFill>
              </a:rPr>
              <a:t>automation earns its place by removing the false alerts, never by removing the signature.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SCREENING THE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Two screens every new client goes through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5422392" cy="2889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COSIMA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56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Who is this person?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A name screen. The client, its directors and its beneficial owners are checked against three lists: sanctions (UN, OFAC, EU and India's own), politically exposed persons, and negative news. It runs at onboarding, again on a schedule, and again when money goes to a new counterparty. The answer is a hit, no hit, or a possible match. A possible match goes to an analyst.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3529584"/>
            <a:ext cx="487375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4617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  </a:t>
            </a:r>
            <a:r>
              <a:rPr sz="900" b="0">
                <a:solidFill>
                  <a:srgbClr val="1B2A41"/>
                </a:solidFill>
              </a:rPr>
              <a:t>“Rahul Sharma” returns 300 possible matches. The analyst's job is to prove that none of them is this Rahul Sharma.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02336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Custodians run Cosima checks to screen for sanctioned persons and institutions and PEPs, and use negative-news filters. UBS, News for Banks, 2019.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44752"/>
            <a:ext cx="5422392" cy="2889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44752"/>
            <a:ext cx="5422392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824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FACTIVA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56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2145"/>
                </a:solidFill>
                <a:latin typeface="Georgia"/>
              </a:rPr>
              <a:t>What has been written about them?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59152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Dow Jones's news archive. Thousands of newspapers, wires and trade journals, searchable by name and date. Compliance uses it for adverse-media screening: has this person or company been written about for fraud, bribery, sanctions or a court case? The search result is the raw material for the negative-news part of the screen above.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4"/>
            <a:ext cx="4873752" cy="45720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66160"/>
            <a:ext cx="4617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  </a:t>
            </a:r>
            <a:r>
              <a:rPr sz="900" b="0">
                <a:solidFill>
                  <a:srgbClr val="1B2A41"/>
                </a:solidFill>
              </a:rPr>
              <a:t>Search the promoter's name. Forty articles. Six are about a different person with the same name. Thirty are routine. Four mention an ED investigation. Those four are the 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cost of screening is not the hits. It is the false positives on common names.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80560"/>
            <a:ext cx="64008" cy="1188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5537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WHERE AN LLM FITS, AND WHERE IT DOES NOT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Disambiguate.  </a:t>
            </a:r>
            <a:r>
              <a:rPr sz="950" b="0">
                <a:solidFill>
                  <a:srgbClr val="C9D6EE"/>
                </a:solidFill>
              </a:rPr>
              <a:t>Read the 300 possible matches and say which ones share this client's date of birth, city and employer, and which are strangers with the same name.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Classify and summarise.  </a:t>
            </a:r>
            <a:r>
              <a:rPr sz="950" b="0">
                <a:solidFill>
                  <a:srgbClr val="C9D6EE"/>
                </a:solidFill>
              </a:rPr>
              <a:t>Sort the real hits into fraud, sanctions, litigation or benign, and draft the screening memo with a quote and a link for each 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846320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Never clear.  </a:t>
            </a:r>
            <a:r>
              <a:rPr sz="950" b="0">
                <a:solidFill>
                  <a:srgbClr val="C9D6EE"/>
                </a:solidFill>
              </a:rPr>
              <a:t>The model proposes, the analyst disposes. A cleared hit carries the analyst's name, and the memo is checked against the sources before it is filed.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this is the best place to start with an LLM:  </a:t>
            </a:r>
            <a:r>
              <a:rPr sz="1200" b="0">
                <a:solidFill>
                  <a:srgbClr val="FFFFFF"/>
                </a:solidFill>
              </a:rPr>
              <a:t>an analyst spends most of the day proving that 299 Rahul Sharmas are not the client. That is reading, and reading is what the model is for.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sentence, one Word document, one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SENTENCE WE TYPE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“Here is a bank's capital, RWA and leverage data in bank_data.json. Compute CET1, Tier 1, total capital, leverage, LCR and NSFR, compare each with the RBI minimum, and write a Pillar 3 disclosure in Word with the DF-2 and DF-18 tables.”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Build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Real data: ICICI Bank's published capital and leverage figures, March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Six ratios, each one division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Each ratio next to the RBI floor with buffers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Word document in the RBI table layout, written by python-docx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Check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bank printed its own ratios: 15.81, 15.81, 16.41 and 10.37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Your document must land on the same four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mismatch means a wrong input or a wrong formula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document that does not reconcile is not issued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Review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Swap documents with the next desk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the two ratio tables into any free AI chat and ask for a commentary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Check every number in its paragraph against your tables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Keep only the sentences that survive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Part B matters most:  </a:t>
            </a:r>
            <a:r>
              <a:rPr sz="1200" b="0">
                <a:solidFill>
                  <a:srgbClr val="FFFFFF"/>
                </a:solidFill>
              </a:rPr>
              <a:t>generating the document takes thirty minutes. Finding out it disagrees with the bank's own number takes five, and it is the only step that makes the document worth anything.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Ten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9961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bank holds CET1 capital of ₹2,75,000 crore against risk weighted assets of ₹17,40,000 crore. What is its CET1 ratio, and does a D-SIB pass?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15.8%. The D-SIB floor is 5.5% + 2.5% buffer + 0.2% surcharge = 8.2%, so it passes with room to spare.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4027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3113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The minimum total capital ratio for this bank is 11.7%. Show where each part of that number comes from.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9.0% base requirement, plus the 2.5% capital conservation buffer, plus the 0.2% D-SIB surcharge.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779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0779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7179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6265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Say what question the LCR answers, without using the word ratio.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Can the bank pay 30 days of outflows in a stress from assets it can sell today? At 100% or more, yes.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931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3931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9417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Basel already has a risk-based capital ratio. Why add a leverage ratio that ignores risk weights?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Risk weights can be wrong or gamed. The leverage ratio is the backstop that does not depend on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7083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7083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2569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An AML system fires 10,000 alerts a month and 9,500 are false. What does ML change, and what must it never change?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It ranks the alerts so the analyst reaches the real ones first. It never closes an alert or files a report without a human signature.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0235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5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15721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Your generated Pillar 3 document shows a total capital ratio of 16.9%. The bank published 16.41%. What do you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Do not issue it. Find the wrong input or the wrong formula. Reconciliation to the published number is the gate.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005840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Give three ways AI is used in KYC document automation, and say what the human still does.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OCR reads the ID. NLP matches the name, date of birth and address to the form and catches a reordered name. A model flags a tampered or expired document. The human handles the exceptions, not the volume.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38528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9968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is COREP and what is FINREP? Name one thing that sits in each.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COREP is the capital return: own funds, RWA by risk type, leverage, LCR, NSFR, large exposures. FINREP is the accounting return: IFRS balance sheet, P&amp;L, NPE and forbearance. Both are filed in XBRL under the EBA data point model.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62656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54096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54096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How can AI be used in transaction monitoring and suspicious-activity monitoring? What must it never do?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Rank rule alerts by how often past alerts like them were real, link related accounts, and draft the STR narrative. It never closes an alert or files a report without an analyst's signature.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86784"/>
            <a:ext cx="1109167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78224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78224"/>
            <a:ext cx="9875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What is a COSIMA check, and how would you put an LLM into it?</a:t>
            </a:r>
          </a:p>
          <a:p>
            <a:pPr algn="l">
              <a:spcBef>
                <a:spcPts val="3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A name screen against sanctions, PEP and negative-news lists at onboarding and on review. The LLM reads the possible matches, separates same-name strangers from the client, classifies the adverse news, and drafts the memo. The analyst clears the hit.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38928"/>
            <a:ext cx="11091672" cy="51206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138928"/>
            <a:ext cx="64008" cy="5120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38928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Before Session 7:  </a:t>
            </a:r>
            <a:r>
              <a:rPr sz="1100" b="0">
                <a:solidFill>
                  <a:srgbClr val="FFFFFF"/>
                </a:solidFill>
              </a:rPr>
              <a:t>open the Pillar 3 disclosure of any listed Indian bank and write down its CET1 ratio and the minimum it quotes against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
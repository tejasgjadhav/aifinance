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1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354312" y="0"/>
            <a:ext cx="2834640" cy="6858000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354312" y="0"/>
            <a:ext cx="36576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9326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ISBMS · PGDM 2025–27 · SEMESTER III · SESSION 6 OF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71600"/>
            <a:ext cx="85953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Georgia"/>
              </a:rPr>
              <a:t>Module 6</a:t>
            </a:r>
          </a:p>
          <a:p>
            <a:pPr algn="l">
              <a:spcBef>
                <a:spcPts val="1000"/>
              </a:spcBef>
            </a:pPr>
            <a:r>
              <a:rPr sz="2100" b="0">
                <a:solidFill>
                  <a:srgbClr val="C9D6EE"/>
                </a:solidFill>
                <a:latin typeface="Georgia"/>
              </a:rPr>
              <a:t>RegTech &amp; Automated Basel III/IV Compliance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913632"/>
            <a:ext cx="4023360" cy="1828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4133087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</a:rPr>
              <a:t>Faculty · Agentic AI &amp; Advanced Analytics in Finance</a:t>
            </a:r>
          </a:p>
          <a:p>
            <a:pPr algn="l">
              <a:spcBef>
                <a:spcPts val="400"/>
              </a:spcBef>
            </a:pPr>
            <a:r>
              <a:rPr sz="1200" b="0">
                <a:solidFill>
                  <a:srgbClr val="8FA1C4"/>
                </a:solidFill>
              </a:rPr>
              <a:t>PGDM-SEM3-SPEC-AIFINANCE</a:t>
            </a:r>
          </a:p>
          <a:p>
            <a:pPr algn="l">
              <a:spcBef>
                <a:spcPts val="300"/>
              </a:spcBef>
            </a:pPr>
            <a:r>
              <a:rPr sz="1200" b="1">
                <a:solidFill>
                  <a:srgbClr val="C9A227"/>
                </a:solidFill>
              </a:rPr>
              <a:t>tejasgjadhav.github.io/AIFINANCE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46920" y="85039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TODAY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46920" y="123444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Three questions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Does the bank hold enough capital?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it survive 30 bad days?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Can a machine write the report?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46920" y="2971800"/>
            <a:ext cx="22860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No heavy maths</a:t>
            </a:r>
          </a:p>
          <a:p>
            <a:pPr algn="l">
              <a:spcBef>
                <a:spcPts val="400"/>
              </a:spcBef>
            </a:pPr>
            <a:r>
              <a:rPr sz="1000" b="0">
                <a:solidFill>
                  <a:srgbClr val="8FA1C4"/>
                </a:solidFill>
              </a:rPr>
              <a:t>Every ratio today is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one number divided by</a:t>
            </a:r>
          </a:p>
          <a:p>
            <a:pPr algn="l">
              <a:spcBef>
                <a:spcPts val="200"/>
              </a:spcBef>
            </a:pPr>
            <a:r>
              <a:rPr sz="1000" b="0">
                <a:solidFill>
                  <a:srgbClr val="8FA1C4"/>
                </a:solidFill>
              </a:rPr>
              <a:t>another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4434840"/>
            <a:ext cx="2286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C9A227"/>
                </a:solidFill>
                <a:latin typeface="Georgia"/>
              </a:rPr>
              <a:t>1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8FA1C4"/>
                </a:solidFill>
              </a:rPr>
              <a:t>PILLAR 3 DOCUMENT, GENERATED</a:t>
            </a:r>
          </a:p>
          <a:p>
            <a:pPr algn="l">
              <a:spcBef>
                <a:spcPts val="200"/>
              </a:spcBef>
            </a:pPr>
            <a:r>
              <a:rPr sz="900" b="0">
                <a:solidFill>
                  <a:srgbClr val="8FA1C4"/>
                </a:solidFill>
              </a:rPr>
              <a:t>AND CHECKED, BEFORE YOU LEAVE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8FA1C4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8FA1C4"/>
                </a:solidFill>
              </a:rPr>
              <a:t>MODULE 6  · 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1 · BASEL III IN SIX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ratios, six divisions. A regulator reads these first.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1091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D6B7E"/>
                </a:solidFill>
              </a:rPr>
              <a:t>Real figures: ICICI Bank, Basel III Pillar 3 disclosure, 31 March 2025, consolidated. The minimum is the RBI floor with buffers for a D-SIB.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755648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1755648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6384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CET1 RATIO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97479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15.81%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79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8.20%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32257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Shareholders' equity divided by risk weighted assets. The capital that absorbs a loss first.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755648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5968" y="1755648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TIER 1 RATIO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15.81%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4808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9.70%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322576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CET1 plus additional Tier 1 bonds, over the same RWA. This bank has no AT1 outstanding.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83296" y="1755648"/>
            <a:ext cx="3557016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1755648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901952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TOTAL CAPITAL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77272" y="1847088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16.41%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77272" y="2212848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11.70%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2322576"/>
            <a:ext cx="30998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Tier 1 plus Tier 2, over RWA. The number the press calls the CRAR.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236976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3236976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LEVERAGE RATIO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10.37%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79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4.00%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" y="380390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Tier 1 capital divided by total exposure with no risk weights. The backstop if the weights are wrong.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15968" y="3236976"/>
            <a:ext cx="3611880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15968" y="3236976"/>
            <a:ext cx="361188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53712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LCR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64808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≥ 100%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64808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100%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3803904"/>
            <a:ext cx="315468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Liquid assets divided by 30 days of net cash outflows. Can the bank survive a month-long run?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83296" y="3236976"/>
            <a:ext cx="3557016" cy="1371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83296" y="3236976"/>
            <a:ext cx="3557016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383280"/>
            <a:ext cx="2011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NSFR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77272" y="3328416"/>
            <a:ext cx="12344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900" b="1">
                <a:solidFill>
                  <a:srgbClr val="0F2145"/>
                </a:solidFill>
                <a:latin typeface="Georgia"/>
              </a:rPr>
              <a:t>≥ 100%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77272" y="3694176"/>
            <a:ext cx="1234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>
                <a:solidFill>
                  <a:srgbClr val="8F7113"/>
                </a:solidFill>
              </a:rPr>
              <a:t>min 100%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1040" y="3803904"/>
            <a:ext cx="309981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A41"/>
                </a:solidFill>
              </a:rPr>
              <a:t>Stable funding available divided by stable funding required. Is the balance sheet funded for a year?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4773168"/>
            <a:ext cx="11091672" cy="91440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4773168"/>
            <a:ext cx="64008" cy="914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68680" y="484632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WHERE THE MINIMUM COMES FROM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Total capital: 9.0% base + 2.5% conservation buffer + 0.2% D-SIB surcharge = 11.7%. CET1 starts at 5.5%, Tier 1 at 7.0%, and the same buffers sit on top.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17920" y="4846320"/>
            <a:ext cx="53035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C9A227"/>
                </a:solidFill>
              </a:rPr>
              <a:t>WHAT AXIOMSL AND ONESUMX DO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FFFFFF"/>
                </a:solidFill>
              </a:rPr>
              <a:t>They pull the ledger, apply the RBI rule tables, and file the return. AI now watches these six ratios every day instead of once a quarter, and flags the drift before the breach.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Basel IV / FRTB in one line:  </a:t>
            </a:r>
            <a:r>
              <a:rPr sz="1200" b="0">
                <a:solidFill>
                  <a:srgbClr val="FFFFFF"/>
                </a:solidFill>
              </a:rPr>
              <a:t>the market-risk number moves from VaR to expected shortfall, and a bank's own model must pass a P&amp;L test desk by desk to keep using it.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2 · AML, KYC AND THE REPORT NOBODY WANTS TO WRITE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Where the machine helps, and where a human still signs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86384" y="16002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TRANSACTION MONITORING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6384" y="1892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Rules fire. ML ranks.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377440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A rule fires on every cash deposit above a threshold. Most of those alerts are innocent. A model trained on past cases ranks the alerts, so the analyst opens the worst one first instead of the first one.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" y="3813048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0976" y="3904488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10,000 alerts a month. The model puts the 200 that matter at the top of the queue.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480060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rule still fires. The machine only orders the queue.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417320"/>
            <a:ext cx="3611880" cy="3840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53712" y="16002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KYC DOCUMENT AUTOMATION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1892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2145"/>
                </a:solidFill>
                <a:latin typeface="Georgia"/>
              </a:rPr>
              <a:t>OCR reads. NLP checks.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377440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1B2A41"/>
                </a:solidFill>
              </a:rPr>
              <a:t>OCR reads the Aadhaar and PAN. NLP matches the name, date of birth and address against the form. Anything blurred, mismatched or expired goes to a person.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813048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18304" y="3904488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Onboarding drops from three days to twenty minutes for a clean file. The dirty file still takes three days.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480060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D6B7E"/>
                </a:solidFill>
              </a:rPr>
              <a:t>The human handles the exceptions, not the volume.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83296" y="1417320"/>
            <a:ext cx="3611880" cy="3840480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60020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THE SUSPICIOUS TRANSACTION REPORT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1892808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Georgia"/>
              </a:rPr>
              <a:t>AI drafts. A human signs.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2377440"/>
            <a:ext cx="31089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C9D6EE"/>
                </a:solidFill>
              </a:rPr>
              <a:t>FATF Recommendation 20 requires the report. India files it to FIU-IND under the PMLA. A model can draft the narrative from the alert history. The officer reads it, changes it, and signs it.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21040" y="3813048"/>
            <a:ext cx="3136392" cy="914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85632" y="3904488"/>
            <a:ext cx="28346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3A5C9E"/>
                </a:solidFill>
              </a:rPr>
              <a:t>EXAMPLE</a:t>
            </a:r>
          </a:p>
          <a:p>
            <a:pPr algn="l">
              <a:spcBef>
                <a:spcPts val="200"/>
              </a:spcBef>
            </a:pPr>
            <a:r>
              <a:rPr sz="950" b="0">
                <a:solidFill>
                  <a:srgbClr val="1B2A41"/>
                </a:solidFill>
              </a:rPr>
              <a:t>One STR drafted in four minutes, then read for twenty. The reading is the job.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4800600"/>
            <a:ext cx="3108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D6EE"/>
                </a:solidFill>
              </a:rPr>
              <a:t>No filing leaves without a name on it.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321808"/>
            <a:ext cx="11091672" cy="402336"/>
          </a:xfrm>
          <a:prstGeom prst="rect">
            <a:avLst/>
          </a:prstGeom>
          <a:solidFill>
            <a:srgbClr val="E9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5321808"/>
            <a:ext cx="64008" cy="40233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5321808"/>
            <a:ext cx="105156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00" b="1">
                <a:solidFill>
                  <a:srgbClr val="3A5C9E"/>
                </a:solidFill>
              </a:rPr>
              <a:t>WHAT RBI FINES BANKS FOR UNDER THE KYC MASTER DIRECTION:  </a:t>
            </a:r>
            <a:r>
              <a:rPr sz="1000" b="0">
                <a:solidFill>
                  <a:srgbClr val="1B2A41"/>
                </a:solidFill>
              </a:rPr>
              <a:t>accounts opened without full verification, periodic KYC updates missed, and monitoring alerts closed without a review. The fine is the small part. The restriction on onboarding new customers is the expensive part.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The rule for this hour:  </a:t>
            </a:r>
            <a:r>
              <a:rPr sz="1200" b="0">
                <a:solidFill>
                  <a:srgbClr val="FFFFFF"/>
                </a:solidFill>
              </a:rPr>
              <a:t>automation earns its place by removing the false alerts, never by removing the signature.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HOUR 3 · THE LAB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One sentence, one Word document, one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768096"/>
          </a:xfrm>
          <a:prstGeom prst="rect">
            <a:avLst/>
          </a:prstGeom>
          <a:solidFill>
            <a:srgbClr val="0B19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76809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44752"/>
            <a:ext cx="1051560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850" b="1">
                <a:solidFill>
                  <a:srgbClr val="C9A227"/>
                </a:solidFill>
              </a:rPr>
              <a:t>THE SENTENCE WE TYPE</a:t>
            </a:r>
          </a:p>
          <a:p>
            <a:pPr algn="l">
              <a:spcBef>
                <a:spcPts val="200"/>
              </a:spcBef>
            </a:pPr>
            <a:r>
              <a:rPr sz="1200" b="1">
                <a:solidFill>
                  <a:srgbClr val="FFFFFF"/>
                </a:solidFill>
                <a:latin typeface="Georgia"/>
              </a:rPr>
              <a:t>“Here is a bank's capital, RWA and leverage data in bank_data.json. Compute CET1, Tier 1, total capital, leverage, LCR and NSFR, compare each with the RBI minimum, and write a Pillar 3 disclosure in Word with the DF-2 and DF-18 tables.”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A  ·  30 MIN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Build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Real data: ICICI Bank's published capital and leverage figures, March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Six ratios, each one division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Each ratio next to the RBI floor with buffers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Word document in the RBI table layout, written by python-docx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15968" y="2359152"/>
            <a:ext cx="3611880" cy="305409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560320"/>
            <a:ext cx="30998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3A5C9E"/>
                </a:solidFill>
              </a:rPr>
              <a:t>PART B  ·  15 MIN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71216"/>
            <a:ext cx="3099816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2145"/>
                </a:solidFill>
                <a:latin typeface="Georgia"/>
              </a:rPr>
              <a:t>Check 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401568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The bank printed its own ratios: 15.81, 15.81, 16.41 and 10.37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913632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Your document must land on the same four numbers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25696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mismatch means a wrong input or a wrong formula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937760"/>
            <a:ext cx="3099816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1B2A41"/>
                </a:solidFill>
              </a:rPr>
              <a:t>A document that does not reconcile is not issued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83296" y="2359152"/>
            <a:ext cx="3557016" cy="3054096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7" y="2560320"/>
            <a:ext cx="30449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>
                <a:solidFill>
                  <a:srgbClr val="C9A227"/>
                </a:solidFill>
              </a:rPr>
              <a:t>PART C  ·  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9327" y="2871216"/>
            <a:ext cx="3044952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</a:rPr>
              <a:t>Review 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39327" y="3401568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Swap documents with the next desk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9327" y="3913632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Paste the two ratio tables into any free AI chat and ask for a commentary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4425696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Check every number in its paragraph against your tables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4937760"/>
            <a:ext cx="3044952" cy="493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C9A227"/>
                </a:solidFill>
              </a:rPr>
              <a:t>▪  </a:t>
            </a:r>
            <a:r>
              <a:rPr sz="1000" b="0">
                <a:solidFill>
                  <a:srgbClr val="C9D6EE"/>
                </a:solidFill>
              </a:rPr>
              <a:t>Keep only the sentences that survive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760720"/>
            <a:ext cx="11091672" cy="60350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760720"/>
            <a:ext cx="64008" cy="6035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760720"/>
            <a:ext cx="10543032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A227"/>
                </a:solidFill>
              </a:rPr>
              <a:t>Why Part B matters most:  </a:t>
            </a:r>
            <a:r>
              <a:rPr sz="1200" b="0">
                <a:solidFill>
                  <a:srgbClr val="FFFFFF"/>
                </a:solidFill>
              </a:rPr>
              <a:t>generating the document takes thirty minutes. Finding out it disagrees with the bank's own number takes five, and it is the only step that makes the document worth anything.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ISBMS · PGDM 2025–27 · AGENTIC AI &amp; ADVANCED ANALYTICS IN FINANCE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310896"/>
            <a:ext cx="1081735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PRACTICE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091672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900" b="1">
                <a:solidFill>
                  <a:srgbClr val="0F2145"/>
                </a:solidFill>
                <a:latin typeface="Georgia"/>
              </a:rPr>
              <a:t>Six questions before the exam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4475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475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0876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49961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 bank holds CET1 capital of ₹2,75,000 crore against risk weighted assets of ₹17,40,000 crore. What is its CET1 ratio, and does a D-SIB pass?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15.8%. The D-SIB floor is 5.5% + 2.5% buffer + 0.2% surcharge = 8.2%, so it passes with room to spare.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76272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176272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4027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23113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The minimum total capital ratio for this bank is 11.7%. Show where each part of that number comes from.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9.0% base requirement, plus the 2.5% capital conservation buffer, plus the 0.2% D-SIB surcharge.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0779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90779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97179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962656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Say what question the LCR answers, without using the word ratio.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Can the bank pay 30 days of outflows in a stress from assets it can sell today? At 100% or more, yes.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63931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63931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0332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369417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Basel already has a risk-based capital ratio. Why add a leverage ratio that ignores risk weights?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Risk weights can be wrong or gamed. The leverage ratio is the backstop that does not depend on them.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7083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37083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434840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54480" y="442569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An AML system fires 10,000 alerts a month and 9,500 are false. What does ML change, and what must it never change?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It ranks the alerts so the analyst reaches the real ones first. It never closes an alert or files a report without a human signature.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102351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102351"/>
            <a:ext cx="64008" cy="676656"/>
          </a:xfrm>
          <a:prstGeom prst="rect">
            <a:avLst/>
          </a:prstGeom>
          <a:solidFill>
            <a:srgbClr val="3A5C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5166359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A5C9E"/>
                </a:solidFill>
                <a:latin typeface="Georgia"/>
              </a:rPr>
              <a:t>Q6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54480" y="5157215"/>
            <a:ext cx="987552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1B2A41"/>
                </a:solidFill>
              </a:rPr>
              <a:t>Your generated Pillar 3 document shows a total capital ratio of 16.9%. The bank published 16.41%. What do you do?</a:t>
            </a:r>
          </a:p>
          <a:p>
            <a:pPr algn="l">
              <a:spcBef>
                <a:spcPts val="200"/>
              </a:spcBef>
            </a:pPr>
            <a:r>
              <a:rPr sz="900" b="1">
                <a:solidFill>
                  <a:srgbClr val="C9A227"/>
                </a:solidFill>
              </a:rPr>
              <a:t>TIP  </a:t>
            </a:r>
            <a:r>
              <a:rPr sz="900" b="0">
                <a:solidFill>
                  <a:srgbClr val="5D6B7E"/>
                </a:solidFill>
              </a:rPr>
              <a:t>Do not issue it. Find the wrong input or the wrong formula. Reconciliation to the published number is the gate.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870448"/>
            <a:ext cx="11091672" cy="512064"/>
          </a:xfrm>
          <a:prstGeom prst="rect">
            <a:avLst/>
          </a:prstGeom>
          <a:solidFill>
            <a:srgbClr val="0F21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5870448"/>
            <a:ext cx="64008" cy="5120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5870448"/>
            <a:ext cx="10515600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C9A227"/>
                </a:solidFill>
              </a:rPr>
              <a:t>Before Session 7:  </a:t>
            </a:r>
            <a:r>
              <a:rPr sz="1100" b="0">
                <a:solidFill>
                  <a:srgbClr val="FFFFFF"/>
                </a:solidFill>
              </a:rPr>
              <a:t>open the Pillar 3 disclosure of any listed Indian bank and write down its CET1 ratio and the minimum it quotes against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473952"/>
            <a:ext cx="82296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D6B7E"/>
                </a:solidFill>
              </a:rPr>
              <a:t>The tip is the shape of the answer, not the whole answer. Two or three sentences each in the exam.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62872" y="6473952"/>
            <a:ext cx="23774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5D6B7E"/>
                </a:solidFill>
              </a:rPr>
              <a:t>MODULE 6  ·  05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
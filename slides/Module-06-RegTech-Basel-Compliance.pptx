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5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15"/>
  </p:normalViewPr>
  <p:slideViewPr>
    <p:cSldViewPr snapToGrid="0" snapToObjects="1">
      <p:cViewPr varScale="1">
        <p:scale>
          <a:sx n="106" d="100"/>
          <a:sy n="106" d="100"/>
        </p:scale>
        <p:origin x="79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1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354312" y="0"/>
            <a:ext cx="2834640" cy="6858000"/>
          </a:xfrm>
          <a:prstGeom prst="rect">
            <a:avLst/>
          </a:prstGeom>
          <a:solidFill>
            <a:srgbClr val="0B1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354312" y="0"/>
            <a:ext cx="3657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ISBMS · PGDM 2025–27 · SEMESTER III · SESSION 6 OF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5953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Georgia"/>
              </a:rPr>
              <a:t>Module 6</a:t>
            </a:r>
          </a:p>
          <a:p>
            <a:pPr algn="l">
              <a:spcBef>
                <a:spcPts val="1000"/>
              </a:spcBef>
            </a:pPr>
            <a:r>
              <a:rPr sz="2100" b="0">
                <a:solidFill>
                  <a:srgbClr val="C9D6EE"/>
                </a:solidFill>
                <a:latin typeface="Georgia"/>
              </a:rPr>
              <a:t>RegTech &amp; Automated Basel III/IV Compliance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913632"/>
            <a:ext cx="4023360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4133087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Faculty · Agentic AI &amp; Advanced Analytics in Finance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8FA1C4"/>
                </a:solidFill>
              </a:rPr>
              <a:t>PGDM-SEM3-SPEC-AIFINANCE</a:t>
            </a:r>
          </a:p>
          <a:p>
            <a:pPr algn="l">
              <a:spcBef>
                <a:spcPts val="300"/>
              </a:spcBef>
            </a:pPr>
            <a:r>
              <a:rPr sz="1200" b="1">
                <a:solidFill>
                  <a:srgbClr val="C9A227"/>
                </a:solidFill>
              </a:rPr>
              <a:t>tejasgjadhav.github.io/AIFINANCE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20" y="85039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1234440"/>
            <a:ext cx="2286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Georgia"/>
              </a:rPr>
              <a:t>Three questions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8FA1C4"/>
                </a:solidFill>
              </a:rPr>
              <a:t>Does the bank hold enough capital?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8FA1C4"/>
                </a:solidFill>
              </a:rPr>
              <a:t>Can it survive 30 bad days?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8FA1C4"/>
                </a:solidFill>
              </a:rPr>
              <a:t>Can a machine write the report?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6920" y="2971800"/>
            <a:ext cx="22860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Georgia"/>
              </a:rPr>
              <a:t>No heavy maths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8FA1C4"/>
                </a:solidFill>
              </a:rPr>
              <a:t>Every ratio today is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8FA1C4"/>
                </a:solidFill>
              </a:rPr>
              <a:t>one number divided by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8FA1C4"/>
                </a:solidFill>
              </a:rPr>
              <a:t>another number.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443484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C9A227"/>
                </a:solidFill>
                <a:latin typeface="Georgia"/>
              </a:rPr>
              <a:t>1</a:t>
            </a:r>
          </a:p>
          <a:p>
            <a:pPr algn="l">
              <a:spcBef>
                <a:spcPts val="400"/>
              </a:spcBef>
            </a:pPr>
            <a:r>
              <a:rPr sz="900" b="0">
                <a:solidFill>
                  <a:srgbClr val="8FA1C4"/>
                </a:solidFill>
              </a:rPr>
              <a:t>PILLAR 3 DOCUMENT, GENERATED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8FA1C4"/>
                </a:solidFill>
              </a:rPr>
              <a:t>AND CHECKED, BEFORE YOU LEAVE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8FA1C4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8FA1C4"/>
                </a:solidFill>
              </a:rPr>
              <a:t>MODULE 6  ·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1 · BASEL III IN SIX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Six ratios, six divisions. A regulator reads these first.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5D6B7E"/>
                </a:solidFill>
              </a:rPr>
              <a:t>Real figures: ICICI Bank, Basel III Pillar 3 disclosure, 31 March 2025, consolidated. The minimum is the RBI floor with buffers for a D-SIB.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55648"/>
            <a:ext cx="361188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755648"/>
            <a:ext cx="361188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90195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3A5C9E"/>
                </a:solidFill>
              </a:rPr>
              <a:t>CET1 RATIO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79" y="1847088"/>
            <a:ext cx="12344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900" b="1">
                <a:solidFill>
                  <a:srgbClr val="0F2145"/>
                </a:solidFill>
                <a:latin typeface="Georgia"/>
              </a:rPr>
              <a:t>15.81%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79" y="2212848"/>
            <a:ext cx="1234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8F7113"/>
                </a:solidFill>
              </a:rPr>
              <a:t>min 8.20%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322576"/>
            <a:ext cx="3154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B2A41"/>
                </a:solidFill>
              </a:rPr>
              <a:t>Shareholders' equity divided by risk weighted assets. The capital that absorbs a loss first.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755648"/>
            <a:ext cx="361188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15968" y="1755648"/>
            <a:ext cx="361188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53712" y="190195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3A5C9E"/>
                </a:solidFill>
              </a:rPr>
              <a:t>TIER 1 RATIO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1847088"/>
            <a:ext cx="12344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900" b="1">
                <a:solidFill>
                  <a:srgbClr val="0F2145"/>
                </a:solidFill>
                <a:latin typeface="Georgia"/>
              </a:rPr>
              <a:t>15.81%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2212848"/>
            <a:ext cx="1234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8F7113"/>
                </a:solidFill>
              </a:rPr>
              <a:t>min 9.70%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2322576"/>
            <a:ext cx="3154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B2A41"/>
                </a:solidFill>
              </a:rPr>
              <a:t>CET1 plus additional Tier 1 bonds, over the same RWA. This bank has no AT1 outstanding.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83296" y="1755648"/>
            <a:ext cx="3557016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83296" y="1755648"/>
            <a:ext cx="3557016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190195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3A5C9E"/>
                </a:solidFill>
              </a:rPr>
              <a:t>TOTAL CAPITAL RATIO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77272" y="1847088"/>
            <a:ext cx="12344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900" b="1">
                <a:solidFill>
                  <a:srgbClr val="0F2145"/>
                </a:solidFill>
                <a:latin typeface="Georgia"/>
              </a:rPr>
              <a:t>16.41%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77272" y="2212848"/>
            <a:ext cx="1234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8F7113"/>
                </a:solidFill>
              </a:rPr>
              <a:t>min 11.70%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322576"/>
            <a:ext cx="3099816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B2A41"/>
                </a:solidFill>
              </a:rPr>
              <a:t>Tier 1 plus Tier 2, over RWA. The number the press calls the CRAR.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236976"/>
            <a:ext cx="361188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8640" y="3236976"/>
            <a:ext cx="361188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6384" y="338328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3A5C9E"/>
                </a:solidFill>
              </a:rPr>
              <a:t>LEVERAGE RATIO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79" y="3328416"/>
            <a:ext cx="12344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900" b="1">
                <a:solidFill>
                  <a:srgbClr val="0F2145"/>
                </a:solidFill>
                <a:latin typeface="Georgia"/>
              </a:rPr>
              <a:t>10.37%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79" y="3694176"/>
            <a:ext cx="1234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8F7113"/>
                </a:solidFill>
              </a:rPr>
              <a:t>min 4.00%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3803904"/>
            <a:ext cx="3154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B2A41"/>
                </a:solidFill>
              </a:rPr>
              <a:t>Tier 1 capital divided by total exposure with no risk weights. The backstop if the weights are wrong.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15968" y="3236976"/>
            <a:ext cx="361188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315968" y="3236976"/>
            <a:ext cx="361188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53712" y="338328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3A5C9E"/>
                </a:solidFill>
              </a:rPr>
              <a:t>LCR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4808" y="3328416"/>
            <a:ext cx="12344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900" b="1">
                <a:solidFill>
                  <a:srgbClr val="0F2145"/>
                </a:solidFill>
                <a:latin typeface="Georgia"/>
              </a:rPr>
              <a:t>≥ 100%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4808" y="3694176"/>
            <a:ext cx="1234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8F7113"/>
                </a:solidFill>
              </a:rPr>
              <a:t>min 100%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53712" y="3803904"/>
            <a:ext cx="3154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B2A41"/>
                </a:solidFill>
              </a:rPr>
              <a:t>Liquid assets divided by 30 days of net cash outflows. Can the bank survive a month-long run?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83296" y="3236976"/>
            <a:ext cx="3557016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083296" y="3236976"/>
            <a:ext cx="3557016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21040" y="338328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3A5C9E"/>
                </a:solidFill>
              </a:rPr>
              <a:t>NSFR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77272" y="3328416"/>
            <a:ext cx="12344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900" b="1">
                <a:solidFill>
                  <a:srgbClr val="0F2145"/>
                </a:solidFill>
                <a:latin typeface="Georgia"/>
              </a:rPr>
              <a:t>≥ 100%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77272" y="3694176"/>
            <a:ext cx="1234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8F7113"/>
                </a:solidFill>
              </a:rPr>
              <a:t>min 100%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3803904"/>
            <a:ext cx="3099816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B2A41"/>
                </a:solidFill>
              </a:rPr>
              <a:t>Stable funding available divided by stable funding required. Is the balance sheet funded for a year?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773168"/>
            <a:ext cx="11091672" cy="91440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48640" y="4773168"/>
            <a:ext cx="64008" cy="9144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8680" y="4846320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C9A227"/>
                </a:solidFill>
              </a:rPr>
              <a:t>WHERE THE MINIMUM COMES FROM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FFFFFF"/>
                </a:solidFill>
              </a:rPr>
              <a:t>Total capital: 9.0% base + 2.5% conservation buffer + 0.2% D-SIB surcharge = 11.7%. CET1 starts at 5.5%, Tier 1 at 7.0%, and the same buffers sit on top.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48463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C9A227"/>
                </a:solidFill>
              </a:rPr>
              <a:t>WHAT AXIOMSL AND ONESUMX DO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FFFFFF"/>
                </a:solidFill>
              </a:rPr>
              <a:t>They pull the ledger, apply the RBI rule tables, and file the return. AI now watches these six ratios every day instead of once a quarter, and flags the drift before the breach.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Basel IV / FRTB in one line:  </a:t>
            </a:r>
            <a:r>
              <a:rPr sz="1200" b="0">
                <a:solidFill>
                  <a:srgbClr val="FFFFFF"/>
                </a:solidFill>
              </a:rPr>
              <a:t>the market-risk number moves from VaR to expected shortfall, and a bank's own model must pass a P&amp;L test desk by desk to keep using it.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6  ·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1 · THE TWO RETURNS EVERY EUROPEAN BANK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COREP counts the capital. FINREP reports the accounts.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5422392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5422392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73736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COREP  ·  COMMON REPORTING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029968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0F2145"/>
                </a:solidFill>
                <a:latin typeface="Georgia"/>
              </a:rPr>
              <a:t>The prudential return.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450592"/>
            <a:ext cx="4892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B2A41"/>
                </a:solidFill>
              </a:rPr>
              <a:t>It tells the supervisor whether the bank meets Basel III as written into EU law, the CRR and CRD IV. Every number on slide 2 is a COREP cell.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54680"/>
            <a:ext cx="4892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▪  </a:t>
            </a:r>
            <a:r>
              <a:rPr sz="1000" b="0">
                <a:solidFill>
                  <a:srgbClr val="1B2A41"/>
                </a:solidFill>
              </a:rPr>
              <a:t>Own funds: CET1, AT1 and Tier 2, with every deduction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483864"/>
            <a:ext cx="4892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▪  </a:t>
            </a:r>
            <a:r>
              <a:rPr sz="1000" b="0">
                <a:solidFill>
                  <a:srgbClr val="1B2A41"/>
                </a:solidFill>
              </a:rPr>
              <a:t>Capital requirement for credit, market and operational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813048"/>
            <a:ext cx="4892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▪  </a:t>
            </a:r>
            <a:r>
              <a:rPr sz="1000" b="0">
                <a:solidFill>
                  <a:srgbClr val="1B2A41"/>
                </a:solidFill>
              </a:rPr>
              <a:t>Leverage ratio, LCR and NSFR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142232"/>
            <a:ext cx="4892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▪  </a:t>
            </a:r>
            <a:r>
              <a:rPr sz="1000" b="0">
                <a:solidFill>
                  <a:srgbClr val="1B2A41"/>
                </a:solidFill>
              </a:rPr>
              <a:t>Large exposures: any client above 10% of capital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526280"/>
            <a:ext cx="4892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5D6B7E"/>
                </a:solidFill>
              </a:rPr>
              <a:t>Quarterly. LCR monthly. India's parallel is the set of RBI returns filed through CIMS.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481328"/>
            <a:ext cx="5422392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1481328"/>
            <a:ext cx="5422392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173736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FINREP  ·  FINANCIAL REPORTING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029968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0F2145"/>
                </a:solidFill>
                <a:latin typeface="Georgia"/>
              </a:rPr>
              <a:t>The accounting return.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450592"/>
            <a:ext cx="4892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B2A41"/>
                </a:solidFill>
              </a:rPr>
              <a:t>It gives the supervisor the balance sheet and the P&amp;L in one common IFRS format, so two banks in two countries can be compared line by line.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154680"/>
            <a:ext cx="4892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▪  </a:t>
            </a:r>
            <a:r>
              <a:rPr sz="1000" b="0">
                <a:solidFill>
                  <a:srgbClr val="1B2A41"/>
                </a:solidFill>
              </a:rPr>
              <a:t>Balance sheet and profit and loss, IFRS layout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483864"/>
            <a:ext cx="4892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▪  </a:t>
            </a:r>
            <a:r>
              <a:rPr sz="1000" b="0">
                <a:solidFill>
                  <a:srgbClr val="1B2A41"/>
                </a:solidFill>
              </a:rPr>
              <a:t>Loans by counterparty type and by product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813048"/>
            <a:ext cx="4892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▪  </a:t>
            </a:r>
            <a:r>
              <a:rPr sz="1000" b="0">
                <a:solidFill>
                  <a:srgbClr val="1B2A41"/>
                </a:solidFill>
              </a:rPr>
              <a:t>Non-performing and forborne exposures, and the provisions against them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142232"/>
            <a:ext cx="4892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▪  </a:t>
            </a:r>
            <a:r>
              <a:rPr sz="1000" b="0">
                <a:solidFill>
                  <a:srgbClr val="1B2A41"/>
                </a:solidFill>
              </a:rPr>
              <a:t>Assets pledged and encumbered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526280"/>
            <a:ext cx="4892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5D6B7E"/>
                </a:solidFill>
              </a:rPr>
              <a:t>Quarterly, for consolidated groups. The RBI parallel is the statutory returns built from the audited accounts.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193792"/>
            <a:ext cx="11091672" cy="457200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5193792"/>
            <a:ext cx="64008" cy="45720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5114616"/>
            <a:ext cx="1051560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IN" sz="1000" b="1" dirty="0"/>
              <a:t>Old approach:</a:t>
            </a:r>
            <a:endParaRPr lang="en-IN" sz="1000" dirty="0"/>
          </a:p>
          <a:p>
            <a:r>
              <a:rPr lang="en-IN" sz="1000" dirty="0"/>
              <a:t>Bank → creates PDF report → Regulator reads it</a:t>
            </a:r>
          </a:p>
          <a:p>
            <a:r>
              <a:rPr lang="en-IN" sz="1000" b="1" dirty="0"/>
              <a:t>Modern EBA approach: </a:t>
            </a:r>
            <a:r>
              <a:rPr lang="en-IN" sz="1000" dirty="0"/>
              <a:t>The </a:t>
            </a:r>
            <a:r>
              <a:rPr lang="en-IN" sz="1000" b="1" dirty="0"/>
              <a:t>EBA Data Point Model (DPM)</a:t>
            </a:r>
            <a:r>
              <a:rPr lang="en-IN" sz="1000" dirty="0"/>
              <a:t> defines </a:t>
            </a:r>
            <a:r>
              <a:rPr lang="en-IN" sz="1000" b="1" dirty="0"/>
              <a:t>exactly what data the bank has to report</a:t>
            </a:r>
            <a:r>
              <a:rPr lang="en-IN" sz="1000" dirty="0"/>
              <a:t> — including the meaning, format, relationships, and validation rules for each data point.</a:t>
            </a:r>
          </a:p>
          <a:p>
            <a:r>
              <a:rPr lang="en-IN" sz="1000" dirty="0"/>
              <a:t>Bank's systems → collect thousands of data points → map them to EBA DPM → validate them → convert to XBRL → submit to regulator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Same bank, two lenses:  </a:t>
            </a:r>
            <a:r>
              <a:rPr sz="1200" b="0">
                <a:solidFill>
                  <a:srgbClr val="FFFFFF"/>
                </a:solidFill>
              </a:rPr>
              <a:t>COREP asks whether there is enough capital. FINREP asks what the balance sheet looks like. The supervisor reads both, and they have to agree.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6  ·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1 · THE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What Nasdaq AxiomSL does, ledger to regulator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210312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210312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682496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3A5C9E"/>
                </a:solidFill>
              </a:rPr>
              <a:t>1  SOURCE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93392"/>
            <a:ext cx="17830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B2A41"/>
                </a:solidFill>
              </a:rPr>
              <a:t>Core banking, the general ledger, the risk engines, the treasury system. Databases, flat files and APIs, in whatever shape they come.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514600"/>
            <a:ext cx="14630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98064" y="1481328"/>
            <a:ext cx="210312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98064" y="1481328"/>
            <a:ext cx="210312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80944" y="1682496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3A5C9E"/>
                </a:solidFill>
              </a:rPr>
              <a:t>2  ONE DATA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0944" y="1993392"/>
            <a:ext cx="17830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B2A41"/>
                </a:solidFill>
              </a:rPr>
              <a:t>ControllerView loads everything into one transparent data structure. The same loan is loaded once and reused in every return.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1183" y="2514600"/>
            <a:ext cx="14630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47488" y="1481328"/>
            <a:ext cx="210312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47488" y="1481328"/>
            <a:ext cx="210312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30368" y="1682496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3A5C9E"/>
                </a:solidFill>
              </a:rPr>
              <a:t>3  CALCULATE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8" y="1993392"/>
            <a:ext cx="17830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B2A41"/>
                </a:solidFill>
              </a:rPr>
              <a:t>Credit, market and operational risk capital. Capital buffers. LCR and NSFR. Large exposures. Stress scenarios on capital and liquidity.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0607" y="2514600"/>
            <a:ext cx="14630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96912" y="1481328"/>
            <a:ext cx="210312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296912" y="1481328"/>
            <a:ext cx="210312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79792" y="1682496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3A5C9E"/>
                </a:solidFill>
              </a:rPr>
              <a:t>4  TEMPLATES AND CHECKS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9792" y="1993392"/>
            <a:ext cx="17830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B2A41"/>
                </a:solidFill>
              </a:rPr>
              <a:t>COREP, FINREP, LCR, NSFR, large exposures and leverage in the EBA XBRL taxonomy. The EBA validation rules run before anything is filed.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0032" y="2514600"/>
            <a:ext cx="14630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46336" y="1481328"/>
            <a:ext cx="2103120" cy="21031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546336" y="1481328"/>
            <a:ext cx="210312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729215" y="1682496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C9A227"/>
                </a:solidFill>
              </a:rPr>
              <a:t>5  FILE AND PROVE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29215" y="1993392"/>
            <a:ext cx="17830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C9D6EE"/>
                </a:solidFill>
              </a:rPr>
              <a:t>The XBRL file goes to the regulator. Any cell drills down to the source rows. Sign-off workflow and audit trail on every number.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767328"/>
            <a:ext cx="5422392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48640" y="3767328"/>
            <a:ext cx="64008" cy="17922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3913632"/>
            <a:ext cx="49377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3A5C9E"/>
                </a:solidFill>
              </a:rPr>
              <a:t>WHEN THE RULE CHANGES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B2A41"/>
                </a:solidFill>
              </a:rPr>
              <a:t>The EBA publishes a new taxonomy. The platform ships the updated templates and validation rules. The bank re-maps its data to the new cells. It does not rebuild its reporting.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767328"/>
            <a:ext cx="5422392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17920" y="3767328"/>
            <a:ext cx="64008" cy="17922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37960" y="3913632"/>
            <a:ext cx="49377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3A5C9E"/>
                </a:solidFill>
              </a:rPr>
              <a:t>WHY A BANK BUYS IT INSTEAD OF USING EXCEL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B2A41"/>
                </a:solidFill>
              </a:rPr>
              <a:t>The same capital number has to agree across COREP, FINREP, the Pillar 3 document and the annual report. One platform, one number. Nasdaq AxiomSL covers 170 or more regulators in 60 or more jurisdictions on that single platform.</a:t>
            </a:r>
          </a:p>
          <a:p>
            <a:pPr algn="l">
              <a:spcBef>
                <a:spcPts val="600"/>
              </a:spcBef>
            </a:pPr>
            <a:r>
              <a:rPr sz="750" b="0">
                <a:solidFill>
                  <a:srgbClr val="5D6B7E"/>
                </a:solidFill>
              </a:rPr>
              <a:t>Sources: AxiomSL, “Basel III – CRD IV – COREP/FINREP Reporting”; Nasdaq AxiomSL regulatory reporting page.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Where AI fits here:  </a:t>
            </a:r>
            <a:r>
              <a:rPr sz="1200" b="0">
                <a:solidFill>
                  <a:srgbClr val="FFFFFF"/>
                </a:solidFill>
              </a:rPr>
              <a:t>not in the calculation. In reading the validation failures, explaining a variance between two quarters, and drafting the sign-off note that a controller then checks.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6  ·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2 · AML, KYC AND THE REPORT NOBODY WANTS TO WRITE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Where the machine helps, and where a human still signs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44752"/>
            <a:ext cx="3611880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44752"/>
            <a:ext cx="361188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" y="1591056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3A5C9E"/>
                </a:solidFill>
              </a:rPr>
              <a:t>A SUSPICIOUS TRANSACTION, IN PLAIN WORDS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865376"/>
            <a:ext cx="315468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B2A41"/>
                </a:solidFill>
              </a:rPr>
              <a:t>A payment that does not fit the customer. A salary account that receives ₹40 lakh from ten strangers in a week. A shop that deposits cash just under the reporting limit every day. The bank does not know it is a crime. It knows it does not make sense, and the law says it must report that.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5968" y="1444752"/>
            <a:ext cx="3611880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15968" y="1444752"/>
            <a:ext cx="361188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3712" y="1591056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3A5C9E"/>
                </a:solidFill>
              </a:rPr>
              <a:t>“ML RANKS” MEANS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1865376"/>
            <a:ext cx="315468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B2A41"/>
                </a:solidFill>
              </a:rPr>
              <a:t>The rules still flag every odd payment. A model that has learned from past cases gives each flag a score. The analyst works from the top of the list. Nothing is deleted. Only the order changes.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83296" y="1444752"/>
            <a:ext cx="3557016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83296" y="1444752"/>
            <a:ext cx="3557016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591056"/>
            <a:ext cx="309981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3A5C9E"/>
                </a:solidFill>
              </a:rPr>
              <a:t>“NLP” MEANS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865376"/>
            <a:ext cx="3099816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B2A41"/>
                </a:solidFill>
              </a:rPr>
              <a:t>Natural language processing: software that reads text the way OCR reads pixels. It pulls the name and date of birth off a scanned PAN card, matches them to the form, and knows that Rahul Sharma and Sharma Rahul are one person.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163824"/>
            <a:ext cx="3611880" cy="19385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6384" y="33101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3A5C9E"/>
                </a:solidFill>
              </a:rPr>
              <a:t>TRANSACTION 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3584448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F2145"/>
                </a:solidFill>
                <a:latin typeface="Georgia"/>
              </a:rPr>
              <a:t>Rules fire. ML ranks.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3986784"/>
            <a:ext cx="3154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B2A41"/>
                </a:solidFill>
              </a:rPr>
              <a:t>10,000 alerts a month. The model puts the 200 that matter at the top of the queue. The rule still fires; the machine only orders the queue.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5968" y="3163824"/>
            <a:ext cx="3611880" cy="19385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53712" y="33101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3A5C9E"/>
                </a:solidFill>
              </a:rPr>
              <a:t>KYC DOCUMENT AUTOMATION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3584448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F2145"/>
                </a:solidFill>
                <a:latin typeface="Georgia"/>
              </a:rPr>
              <a:t>OCR reads. NLP checks.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3986784"/>
            <a:ext cx="3154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B2A41"/>
                </a:solidFill>
              </a:rPr>
              <a:t>A clean file is onboarded in twenty minutes instead of three days. A blurred, mismatched or expired document still goes to a person.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83296" y="3163824"/>
            <a:ext cx="3557016" cy="1938528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21040" y="3310128"/>
            <a:ext cx="309981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C9A227"/>
                </a:solidFill>
              </a:rPr>
              <a:t>THE SUSPICIOUS TRANSACTION 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584448"/>
            <a:ext cx="30998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Georgia"/>
              </a:rPr>
              <a:t>AI drafts. A human signs.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986784"/>
            <a:ext cx="309981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C9D6EE"/>
                </a:solidFill>
              </a:rPr>
              <a:t>FATF Recommendation 20 requires it. India files it to FIU-IND under the PMLA. The model drafts the narrative in four minutes. The officer reads it for twenty, changes it, and signs it.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230368"/>
            <a:ext cx="11091672" cy="420624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48640" y="5230368"/>
            <a:ext cx="64008" cy="420624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5230368"/>
            <a:ext cx="105156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3A5C9E"/>
                </a:solidFill>
              </a:rPr>
              <a:t>WHAT RBI FINES BANKS FOR UNDER THE KYC MASTER DIRECTION:  </a:t>
            </a:r>
            <a:r>
              <a:rPr sz="950" b="0">
                <a:solidFill>
                  <a:srgbClr val="1B2A41"/>
                </a:solidFill>
              </a:rPr>
              <a:t>accounts opened without full verification, periodic KYC updates missed, and monitoring alerts closed without a review. The fine is the small part. The bar on onboarding new customers is the expensive part.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The rule for this hour:  </a:t>
            </a:r>
            <a:r>
              <a:rPr sz="1200" b="0">
                <a:solidFill>
                  <a:srgbClr val="FFFFFF"/>
                </a:solidFill>
              </a:rPr>
              <a:t>automation earns its place by removing the false alerts, never by removing the signature.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6  ·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2 · SCREENING THE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Two screens every new client goes 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44752"/>
            <a:ext cx="5422392" cy="2889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44752"/>
            <a:ext cx="5422392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682496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THE COSIMA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956816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F2145"/>
                </a:solidFill>
                <a:latin typeface="Georgia"/>
              </a:rPr>
              <a:t>Who is this person?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359152"/>
            <a:ext cx="48920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B2A41"/>
                </a:solidFill>
              </a:rPr>
              <a:t>A name screen. The client, its directors and its beneficial owners are checked against three lists: sanctions (UN, OFAC, EU and India's own), politically exposed persons, and negative news. It runs at onboarding, again on a schedule, and again when money goes to a new counterparty. The answer is a hit, no hit, or a possible match. A possible match goes to an analyst.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59" y="3529584"/>
            <a:ext cx="4873752" cy="457200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3566160"/>
            <a:ext cx="46177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3A5C9E"/>
                </a:solidFill>
              </a:rPr>
              <a:t>EXAMPLE  </a:t>
            </a:r>
            <a:r>
              <a:rPr sz="900" b="0">
                <a:solidFill>
                  <a:srgbClr val="1B2A41"/>
                </a:solidFill>
              </a:rPr>
              <a:t>“Rahul Sharma” returns 300 possible matches. The analyst's job is to prove that none of them is this Rahul Sharma.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023360"/>
            <a:ext cx="4892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Custodians run Cosima checks to screen for sanctioned persons and institutions and PEPs, and use negative-news filters. UBS, News for Banks, 2019.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444752"/>
            <a:ext cx="5422392" cy="2889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444752"/>
            <a:ext cx="5422392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1682496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FACTIVA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956816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F2145"/>
                </a:solidFill>
                <a:latin typeface="Georgia"/>
              </a:rPr>
              <a:t>What has been written about them?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359152"/>
            <a:ext cx="48920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B2A41"/>
                </a:solidFill>
              </a:rPr>
              <a:t>Dow Jones's news archive. Thousands of newspapers, wires and trade journals, searchable by name and date. Compliance uses it for adverse-media screening: has this person or company been written about for fraud, bribery, sanctions or a court case? The search result is the raw material for the negative-news part of the screen above.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3529584"/>
            <a:ext cx="4873752" cy="457200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29400" y="3566160"/>
            <a:ext cx="46177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3A5C9E"/>
                </a:solidFill>
              </a:rPr>
              <a:t>EXAMPLE  </a:t>
            </a:r>
            <a:r>
              <a:rPr sz="900" b="0">
                <a:solidFill>
                  <a:srgbClr val="1B2A41"/>
                </a:solidFill>
              </a:rPr>
              <a:t>Search the promoter's name. Forty articles. Six are about a different person with the same name. Thirty are routine. Four mention an ED investigation. Those four are the file.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023360"/>
            <a:ext cx="4892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The cost of screening is not the hits. It is the false positives on common names.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480560"/>
            <a:ext cx="11091672" cy="11887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640" y="4480560"/>
            <a:ext cx="64008" cy="1188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4553712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C9A227"/>
                </a:solidFill>
              </a:rPr>
              <a:t>WHERE AN LLM FITS, AND WHERE IT DOES NOT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46320"/>
            <a:ext cx="3429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Disambiguate.  </a:t>
            </a:r>
            <a:r>
              <a:rPr sz="950" b="0">
                <a:solidFill>
                  <a:srgbClr val="C9D6EE"/>
                </a:solidFill>
              </a:rPr>
              <a:t>Read the 300 possible matches and say which ones share this client's date of birth, city and employer, and which are strangers with the same name.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846320"/>
            <a:ext cx="3429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Classify and summarise.  </a:t>
            </a:r>
            <a:r>
              <a:rPr sz="950" b="0">
                <a:solidFill>
                  <a:srgbClr val="C9D6EE"/>
                </a:solidFill>
              </a:rPr>
              <a:t>Sort the real hits into fraud, sanctions, litigation or benign, and draft the screening memo with a quote and a link for each one.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4846320"/>
            <a:ext cx="3429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Never clear.  </a:t>
            </a:r>
            <a:r>
              <a:rPr sz="950" b="0">
                <a:solidFill>
                  <a:srgbClr val="C9D6EE"/>
                </a:solidFill>
              </a:rPr>
              <a:t>The model proposes, the analyst disposes. A cleared hit carries the analyst's name, and the memo is checked against the sources before it is filed.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Why this is the best place to start with an LLM:  </a:t>
            </a:r>
            <a:r>
              <a:rPr sz="1200" b="0">
                <a:solidFill>
                  <a:srgbClr val="FFFFFF"/>
                </a:solidFill>
              </a:rPr>
              <a:t>an analyst spends most of the day proving that 299 Rahul Sharmas are not the client. That is reading, and reading is what the model is for.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6  ·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3 · THE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One sentence, eighteen files, one check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44752"/>
            <a:ext cx="11091672" cy="768096"/>
          </a:xfrm>
          <a:prstGeom prst="rect">
            <a:avLst/>
          </a:prstGeom>
          <a:solidFill>
            <a:srgbClr val="0B1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44752"/>
            <a:ext cx="64008" cy="7680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444752"/>
            <a:ext cx="1051560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C9A227"/>
                </a:solidFill>
              </a:rPr>
              <a:t>THE SENTENCE WE TYPE</a:t>
            </a:r>
          </a:p>
          <a:p>
            <a:pPr algn="l">
              <a:spcBef>
                <a:spcPts val="200"/>
              </a:spcBef>
            </a:pPr>
            <a:r>
              <a:rPr sz="1200" b="1">
                <a:solidFill>
                  <a:srgbClr val="FFFFFF"/>
                </a:solidFill>
                <a:latin typeface="Georgia"/>
              </a:rPr>
              <a:t>“Here is a bank's Pillar 3 data in bank_data.json, one block per RBI table. Compute the six ratios, check them against what the bank published, and write one Word file per RBI table, DF-1 to DF-18, in filing order, with a filing log.”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59152"/>
            <a:ext cx="3611880" cy="3054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2560320"/>
            <a:ext cx="309981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3A5C9E"/>
                </a:solidFill>
              </a:rPr>
              <a:t>PART A  ·  30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871216"/>
            <a:ext cx="3099816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0F2145"/>
                </a:solidFill>
                <a:latin typeface="Georgia"/>
              </a:rPr>
              <a:t>Build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401568"/>
            <a:ext cx="309981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▪  </a:t>
            </a:r>
            <a:r>
              <a:rPr sz="1000" b="0">
                <a:solidFill>
                  <a:srgbClr val="1B2A41"/>
                </a:solidFill>
              </a:rPr>
              <a:t>Real data: ICICI Bank's published Pillar 3 figures, one block per 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913632"/>
            <a:ext cx="309981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▪  </a:t>
            </a:r>
            <a:r>
              <a:rPr sz="1000" b="0">
                <a:solidFill>
                  <a:srgbClr val="1B2A41"/>
                </a:solidFill>
              </a:rPr>
              <a:t>Six ratios, each one division, beside the RBI floor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425696"/>
            <a:ext cx="309981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▪  </a:t>
            </a:r>
            <a:r>
              <a:rPr sz="1000" b="0">
                <a:solidFill>
                  <a:srgbClr val="1B2A41"/>
                </a:solidFill>
              </a:rPr>
              <a:t>One Word file per RBI table, DF-1 to DF-18, written one after another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937760"/>
            <a:ext cx="309981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▪  </a:t>
            </a:r>
            <a:r>
              <a:rPr sz="1000" b="0">
                <a:solidFill>
                  <a:srgbClr val="1B2A41"/>
                </a:solidFill>
              </a:rPr>
              <a:t>A filing log, and a stub for any table the data cannot fill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5968" y="2359152"/>
            <a:ext cx="3611880" cy="3054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2560320"/>
            <a:ext cx="309981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3A5C9E"/>
                </a:solidFill>
              </a:rPr>
              <a:t>PART B  ·  15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871216"/>
            <a:ext cx="3099816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0F2145"/>
                </a:solidFill>
                <a:latin typeface="Georgia"/>
              </a:rPr>
              <a:t>Check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401568"/>
            <a:ext cx="309981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▪  </a:t>
            </a:r>
            <a:r>
              <a:rPr sz="1000" b="0">
                <a:solidFill>
                  <a:srgbClr val="1B2A41"/>
                </a:solidFill>
              </a:rPr>
              <a:t>The bank printed its own ratios: 15.81, 15.81, 16.41 and 10.37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913632"/>
            <a:ext cx="309981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▪  </a:t>
            </a:r>
            <a:r>
              <a:rPr sz="1000" b="0">
                <a:solidFill>
                  <a:srgbClr val="1B2A41"/>
                </a:solidFill>
              </a:rPr>
              <a:t>Your run must land on the same four, and DF-17 must add 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425696"/>
            <a:ext cx="309981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▪  </a:t>
            </a:r>
            <a:r>
              <a:rPr sz="1000" b="0">
                <a:solidFill>
                  <a:srgbClr val="1B2A41"/>
                </a:solidFill>
              </a:rPr>
              <a:t>The script checks this before it writes a single file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937760"/>
            <a:ext cx="309981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▪  </a:t>
            </a:r>
            <a:r>
              <a:rPr sz="1000" b="0">
                <a:solidFill>
                  <a:srgbClr val="1B2A41"/>
                </a:solidFill>
              </a:rPr>
              <a:t>One mismatch and it stops with nothing filed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83296" y="2359152"/>
            <a:ext cx="3557016" cy="305409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39327" y="2560320"/>
            <a:ext cx="3044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C9A227"/>
                </a:solidFill>
              </a:rPr>
              <a:t>PART C  ·  15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2871216"/>
            <a:ext cx="304495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Georgia"/>
              </a:rPr>
              <a:t>Review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3401568"/>
            <a:ext cx="3044952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▪  </a:t>
            </a:r>
            <a:r>
              <a:rPr sz="1000" b="0">
                <a:solidFill>
                  <a:srgbClr val="C9D6EE"/>
                </a:solidFill>
              </a:rPr>
              <a:t>Swap folders with the next desk and open their filing 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7" y="3913632"/>
            <a:ext cx="3044952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▪  </a:t>
            </a:r>
            <a:r>
              <a:rPr sz="1000" b="0">
                <a:solidFill>
                  <a:srgbClr val="C9D6EE"/>
                </a:solidFill>
              </a:rPr>
              <a:t>Paste the two ratio tables into any free AI chat and ask for a commentary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7" y="4425696"/>
            <a:ext cx="3044952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▪  </a:t>
            </a:r>
            <a:r>
              <a:rPr sz="1000" b="0">
                <a:solidFill>
                  <a:srgbClr val="C9D6EE"/>
                </a:solidFill>
              </a:rPr>
              <a:t>Check every number in its paragraph against your tables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7" y="4937760"/>
            <a:ext cx="3044952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▪  </a:t>
            </a:r>
            <a:r>
              <a:rPr sz="1000" b="0">
                <a:solidFill>
                  <a:srgbClr val="C9D6EE"/>
                </a:solidFill>
              </a:rPr>
              <a:t>Keep only the sentences that survive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Why Part B matters most:  </a:t>
            </a:r>
            <a:r>
              <a:rPr sz="1200" b="0">
                <a:solidFill>
                  <a:srgbClr val="FFFFFF"/>
                </a:solidFill>
              </a:rPr>
              <a:t>generating the document takes thirty minutes. Finding out it disagrees with the bank's own number takes five, and it is the only step that makes the document worth anything.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6  ·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PRACTICE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Ten questions before the exam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44752"/>
            <a:ext cx="11091672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44752"/>
            <a:ext cx="64008" cy="676656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499616"/>
            <a:ext cx="98755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B2A41"/>
                </a:solidFill>
              </a:rPr>
              <a:t>A bank holds CET1 capital of ₹2,75,000 crore against risk weighted assets of ₹17,40,000 crore. What is its CET1 ratio, and does a D-SIB pass?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00" b="0">
                <a:solidFill>
                  <a:srgbClr val="5D6B7E"/>
                </a:solidFill>
              </a:rPr>
              <a:t>15.8%. The D-SIB floor is 5.5% + 2.5% buffer + 0.2% surcharge = 8.2%, so it passes with room to spare.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76272"/>
            <a:ext cx="11091672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176272"/>
            <a:ext cx="64008" cy="676656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240279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231136"/>
            <a:ext cx="98755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B2A41"/>
                </a:solidFill>
              </a:rPr>
              <a:t>The minimum total capital ratio for this bank is 11.7%. Show where each part of that number comes from.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00" b="0">
                <a:solidFill>
                  <a:srgbClr val="5D6B7E"/>
                </a:solidFill>
              </a:rPr>
              <a:t>9.0% base requirement, plus the 2.5% capital conservation buffer, plus the 0.2% D-SIB surcharge.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07791"/>
            <a:ext cx="11091672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2907791"/>
            <a:ext cx="64008" cy="676656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2971799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962656"/>
            <a:ext cx="98755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B2A41"/>
                </a:solidFill>
              </a:rPr>
              <a:t>Say what question the LCR answers, without using the word ratio.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00" b="0">
                <a:solidFill>
                  <a:srgbClr val="5D6B7E"/>
                </a:solidFill>
              </a:rPr>
              <a:t>Can the bank pay 30 days of outflows in a stress from assets it can sell today? At 100% or more, yes.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39311"/>
            <a:ext cx="11091672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3639311"/>
            <a:ext cx="64008" cy="676656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370332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694175"/>
            <a:ext cx="98755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B2A41"/>
                </a:solidFill>
              </a:rPr>
              <a:t>Basel already has a risk-based capital ratio. Why add a leverage ratio that ignores risk weights?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00" b="0">
                <a:solidFill>
                  <a:srgbClr val="5D6B7E"/>
                </a:solidFill>
              </a:rPr>
              <a:t>Risk weights can be wrong or gamed. The leverage ratio is the backstop that does not depend on them.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370831"/>
            <a:ext cx="11091672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640" y="4370831"/>
            <a:ext cx="64008" cy="676656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443484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425695"/>
            <a:ext cx="98755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B2A41"/>
                </a:solidFill>
              </a:rPr>
              <a:t>An AML system fires 10,000 alerts a month and 9,500 are false. What does ML change, and what must it never change?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00" b="0">
                <a:solidFill>
                  <a:srgbClr val="5D6B7E"/>
                </a:solidFill>
              </a:rPr>
              <a:t>It ranks the alerts so the analyst reaches the real ones first. It never closes an alert or files a report without a human signature.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102351"/>
            <a:ext cx="11091672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5102351"/>
            <a:ext cx="64008" cy="676656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5166359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157215"/>
            <a:ext cx="98755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B2A41"/>
                </a:solidFill>
              </a:rPr>
              <a:t>Your generated Pillar 3 document shows a total capital ratio of 16.9%. The bank published 16.41%. What do you do?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00" b="0">
                <a:solidFill>
                  <a:srgbClr val="5D6B7E"/>
                </a:solidFill>
              </a:rPr>
              <a:t>Do not issue it. Find the wrong input or the wrong formula. Reconciliation to the published number is the gate.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6  ·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PRACTICE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64008" cy="91440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005840"/>
            <a:ext cx="685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005840"/>
            <a:ext cx="9875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B2A41"/>
                </a:solidFill>
              </a:rPr>
              <a:t>Give three ways AI is used in KYC document automation, and say what the human still does.</a:t>
            </a:r>
          </a:p>
          <a:p>
            <a:pPr algn="l">
              <a:spcBef>
                <a:spcPts val="3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00" b="0">
                <a:solidFill>
                  <a:srgbClr val="5D6B7E"/>
                </a:solidFill>
              </a:rPr>
              <a:t>OCR reads the ID. NLP matches the name, date of birth and address to the form and catches a reordered name. A model flags a tampered or expired document. The human handles the exceptions, not the volume.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38528"/>
            <a:ext cx="1109167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938528"/>
            <a:ext cx="64008" cy="91440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029968"/>
            <a:ext cx="685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29968"/>
            <a:ext cx="9875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B2A41"/>
                </a:solidFill>
              </a:rPr>
              <a:t>What is COREP and what is FINREP? Name one thing that sits in each.</a:t>
            </a:r>
          </a:p>
          <a:p>
            <a:pPr algn="l">
              <a:spcBef>
                <a:spcPts val="3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00" b="0">
                <a:solidFill>
                  <a:srgbClr val="5D6B7E"/>
                </a:solidFill>
              </a:rPr>
              <a:t>COREP is the capital return: own funds, RWA by risk type, leverage, LCR, NSFR, large exposures. FINREP is the accounting return: IFRS balance sheet, P&amp;L, NPE and forbearance. Both are filed in XBRL under the EBA data point model.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62656"/>
            <a:ext cx="1109167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2962656"/>
            <a:ext cx="64008" cy="91440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054096"/>
            <a:ext cx="685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054096"/>
            <a:ext cx="9875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B2A41"/>
                </a:solidFill>
              </a:rPr>
              <a:t>How can AI be used in transaction monitoring and suspicious-activity monitoring? What must it never do?</a:t>
            </a:r>
          </a:p>
          <a:p>
            <a:pPr algn="l">
              <a:spcBef>
                <a:spcPts val="3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00" b="0">
                <a:solidFill>
                  <a:srgbClr val="5D6B7E"/>
                </a:solidFill>
              </a:rPr>
              <a:t>Rank rule alerts by how often past alerts like them were real, link related accounts, and draft the STR narrative. It never closes an alert or files a report without an analyst's signature.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986784"/>
            <a:ext cx="1109167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3986784"/>
            <a:ext cx="64008" cy="91440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4078224"/>
            <a:ext cx="685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078224"/>
            <a:ext cx="9875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B2A41"/>
                </a:solidFill>
              </a:rPr>
              <a:t>What is a COSIMA check, and how would you put an LLM into it?</a:t>
            </a:r>
          </a:p>
          <a:p>
            <a:pPr algn="l">
              <a:spcBef>
                <a:spcPts val="3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00" b="0">
                <a:solidFill>
                  <a:srgbClr val="5D6B7E"/>
                </a:solidFill>
              </a:rPr>
              <a:t>A name screen against sanctions, PEP and negative-news lists at onboarding and on review. The LLM reads the possible matches, separates same-name strangers from the client, classifies the adverse news, and drafts the memo. The analyst clears the hit.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138928"/>
            <a:ext cx="11091672" cy="51206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5138928"/>
            <a:ext cx="64008" cy="5120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5138928"/>
            <a:ext cx="1051560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Before Session 7:  </a:t>
            </a:r>
            <a:r>
              <a:rPr sz="1100" b="0">
                <a:solidFill>
                  <a:srgbClr val="FFFFFF"/>
                </a:solidFill>
              </a:rPr>
              <a:t>open the Pillar 3 disclosure of any listed Indian bank and write down its CET1 ratio and the minimum it quotes against 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8521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The tip is the shape of the answer, not the whole answer. Two or three sentences each in the exam.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6  · 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2884</Words>
  <Application>Microsoft Macintosh PowerPoint</Application>
  <PresentationFormat>Widescreen</PresentationFormat>
  <Paragraphs>207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Tejas Jadhav</cp:lastModifiedBy>
  <cp:revision>2</cp:revision>
  <dcterms:created xsi:type="dcterms:W3CDTF">2013-01-27T09:14:16Z</dcterms:created>
  <dcterms:modified xsi:type="dcterms:W3CDTF">2026-09-25T23:58:59Z</dcterms:modified>
  <cp:category/>
</cp:coreProperties>
</file>
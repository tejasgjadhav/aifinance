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ISBMS · PGDM 2025–27 · SEMESTER III · SESSION 3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Module 3</a:t>
            </a:r>
          </a:p>
          <a:p>
            <a:pPr algn="l">
              <a:spcBef>
                <a:spcPts val="1000"/>
              </a:spcBef>
            </a:pPr>
            <a:r>
              <a:rPr sz="2100" b="0">
                <a:solidFill>
                  <a:srgbClr val="C9D6EE"/>
                </a:solidFill>
                <a:latin typeface="Georgia"/>
              </a:rPr>
              <a:t>Model Context Protocol &amp; Agent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Tejas Jadhav, CFA, FRM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Faculty · Agentic AI &amp; Advanced Analytics in Finance (PGDM-SEM3-SPEC-AIFINANCE)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3 hours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Hour 1 MCP · Hour 2 agent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teams · Hour 3 memo 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278892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No heavy code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Hours 1 and 2 are pictures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and plain English.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34340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9A227"/>
                </a:solidFill>
                <a:latin typeface="Georgia"/>
              </a:rPr>
              <a:t>3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8FA1C4"/>
                </a:solidFill>
              </a:rPr>
              <a:t>AGENTS WRITE ONE INVESTMENT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8FA1C4"/>
                </a:solidFill>
              </a:rPr>
              <a:t>MEMO BEFORE YOU LEAVE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3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What we do in these three hours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3611880" cy="731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728216"/>
            <a:ext cx="3200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60 MIN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FFFFFF"/>
                </a:solidFill>
                <a:latin typeface="Georgia"/>
              </a:rPr>
              <a:t>The connector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51460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What MCP is, in one picture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1729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Tools as a menu the model reads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831335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Long documents and short 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489703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Design task: a credit analyst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572768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572768"/>
            <a:ext cx="3611880" cy="731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1728216"/>
            <a:ext cx="3200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60 MIN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FFFFFF"/>
                </a:solidFill>
                <a:latin typeface="Georgia"/>
              </a:rPr>
              <a:t>The team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51460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Four roles: researcher, analyst, writer, reviewer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5424" y="31729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Three wirings: line, parallel,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3831335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CrewAI and LangGraph, in one line each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4489703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Where agent crews fit on a finance desk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83296" y="1572768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1572768"/>
            <a:ext cx="3611880" cy="731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2752" y="1728216"/>
            <a:ext cx="3200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60 MIN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FFFFFF"/>
                </a:solidFill>
                <a:latin typeface="Georgia"/>
              </a:rPr>
              <a:t>The lab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251460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Three agents, one investment memo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31729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One real NSE-listed company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3831335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Peer review: score the next group's memo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4489703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Free route at home: no API key needed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Our goal for today:  </a:t>
            </a:r>
            <a:r>
              <a:rPr sz="1200" b="0">
                <a:solidFill>
                  <a:srgbClr val="FFFFFF"/>
                </a:solidFill>
              </a:rPr>
              <a:t>three agents that turn one company's public numbers into a one-page investment memo, hand-off by hand-off.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MODEL CONTEXT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What is MCP? One plug for every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3611880" cy="384048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7556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048256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2A41"/>
                </a:solidFill>
                <a:latin typeface="Georgia"/>
              </a:rPr>
              <a:t>Every pair needs a wire.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56032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Before MCP, each AI app needed custom code for each tool. Five apps and six tools means thirty separate connections.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" y="3877056"/>
            <a:ext cx="313639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3977639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Your screener, your spreadsheet, your mail and your data feed: each one wired to each assistant, again and again.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901184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Most AI pilots in banks stall on this wiring, not on the model.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572768"/>
            <a:ext cx="3611880" cy="3840480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17556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STANDARD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048256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2A41"/>
                </a:solidFill>
                <a:latin typeface="Georgia"/>
              </a:rPr>
              <a:t>One common plug.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56032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MCP is an open standard that Anthropic released in 2024. You wrap a tool once as an MCP server. Any AI app that speaks MCP can then use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53712" y="3877056"/>
            <a:ext cx="313639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18304" y="3977639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USB-C did the same job for chargers: one port, every device.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4901184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Claude, ChatGPT and most agent tools now speak MCP.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83296" y="1572768"/>
            <a:ext cx="3611880" cy="384048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7556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HOW A CALL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048256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Georgia"/>
              </a:rPr>
              <a:t>Ask, fetch, answer.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56032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C9D6EE"/>
                </a:solidFill>
              </a:rPr>
              <a:t>The app shows the model the tool menu. The model picks a tool and sends the inputs. The tool returns live data and the model answers from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40" y="3877056"/>
            <a:ext cx="313639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85632" y="3977639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“Where is the NIFTY now?” The model calls the market-data tool and answers with the fetched number, not from its training memory.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901184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D6EE"/>
                </a:solidFill>
              </a:rPr>
              <a:t>The model never guesses what a tool holds. It asks.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Why it matters:  </a:t>
            </a:r>
            <a:r>
              <a:rPr sz="1200" b="0">
                <a:solidFill>
                  <a:srgbClr val="FFFFFF"/>
                </a:solidFill>
              </a:rPr>
              <a:t>you connect a tool once, and every MCP app on the desk can use it from that day 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TOOLS AND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A tool is a menu entry. Context is a small desk.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576072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755648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TOOL MENU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066543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B2A41"/>
                </a:solidFill>
              </a:rPr>
              <a:t>A tool definition tells the model three things.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48716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Georg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505456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The name: get_share_price.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962656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980944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What it does: returns the last traded price for a ticker.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438144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34564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What inputs it needs: the ticker symbol.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3977639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The model reads the menu like a diner and orders what it needs.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" y="4407408"/>
            <a:ext cx="5257800" cy="91440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4517136"/>
            <a:ext cx="4937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IN CLASS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Design the tool menu for a credit analyst agent. Start with a statement reader, a ratio calculator and a bureau check.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1572768"/>
            <a:ext cx="5148072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8272" y="175564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CONTEXT AND MEMORY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8272" y="2066543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A model holds a limited amount of text at once. That space is the context window, and one annual report with its call transcripts overflows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8272" y="2871216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▪  </a:t>
            </a:r>
            <a:r>
              <a:rPr sz="1050" b="0">
                <a:solidFill>
                  <a:srgbClr val="1B2A41"/>
                </a:solidFill>
              </a:rPr>
              <a:t>Fetch only the pages the question needs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3255264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▪  </a:t>
            </a:r>
            <a:r>
              <a:rPr sz="1050" b="0">
                <a:solidFill>
                  <a:srgbClr val="1B2A41"/>
                </a:solidFill>
              </a:rPr>
              <a:t>Summarise old turns, carry the summary forward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8272" y="363931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▪  </a:t>
            </a:r>
            <a:r>
              <a:rPr sz="1050" b="0">
                <a:solidFill>
                  <a:srgbClr val="1B2A41"/>
                </a:solidFill>
              </a:rPr>
              <a:t>Keep a running fact sheet, not the whole 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8272" y="411480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This habit is called a rolling context.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48272" y="4407408"/>
            <a:ext cx="4617720" cy="91440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12864" y="4517136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A credit agent reading a 400-page annual report fetches the debt schedule, not the chairman's letter.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design rule:  </a:t>
            </a:r>
            <a:r>
              <a:rPr sz="1200" b="0">
                <a:solidFill>
                  <a:srgbClr val="FFFFFF"/>
                </a:solidFill>
              </a:rPr>
              <a:t>an agent is a normal model given a menu of tools and a way to fetch just what it needs.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AGENT TEAMS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One agent is a worker. A crew is a team.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2697480" cy="329184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773936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RESEARCHER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084831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Gathers the facts.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697480"/>
            <a:ext cx="2286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Pulls the prices, results and news for one company. Hands a clean fact sheet forward.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6704" y="1572768"/>
            <a:ext cx="2697480" cy="329184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773936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ANALYST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084831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Reads the numbers.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697480"/>
            <a:ext cx="2286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Computes growth, margins and leverage from the facts. Writes down what the numbers mean.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1572768"/>
            <a:ext cx="2697480" cy="329184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1773936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WRITER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2084831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Drafts the memo.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697480"/>
            <a:ext cx="2286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Turns the facts and the analysis into one page a manager can read in two minutes.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42832" y="1572768"/>
            <a:ext cx="2697480" cy="329184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62288" y="1773936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REVIEWER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62288" y="2084831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Checks and rejects.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2288" y="2697480"/>
            <a:ext cx="2286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Compares every claim in the memo to the source facts. Sends weak work back.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916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The same shape exists on every research desk: </a:t>
            </a:r>
            <a:r>
              <a:rPr sz="1100" b="0">
                <a:solidFill>
                  <a:srgbClr val="1B2A41"/>
                </a:solidFill>
              </a:rPr>
              <a:t>a junior gathers, a senior reads, one person drafts, and the head signs. The crew copies the org chart, not the person.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One line to remember:  </a:t>
            </a:r>
            <a:r>
              <a:rPr sz="1200" b="0">
                <a:solidFill>
                  <a:srgbClr val="FFFFFF"/>
                </a:solidFill>
              </a:rPr>
              <a:t>give each agent one job and one hand-off, exactly as you would brief a junior on the desk.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THREE WAYS TO WIRE A CREW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In a line, all at once, or under a manager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3611880" cy="3840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7556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SEQUENTIAL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048256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One after another.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61188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Each agent starts when the one before it finishes. The output of one is the input of the next.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4572000"/>
            <a:ext cx="3108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Use it when every step needs the last step's output. Today's lab runs this way.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8" y="1572768"/>
            <a:ext cx="3611880" cy="3840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556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PARALLEL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048256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All at once.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361188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Independent agents run at the same time. A final step merges what they found.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4572000"/>
            <a:ext cx="3108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Use it for independent tasks, like screening three companies at once.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83296" y="1572768"/>
            <a:ext cx="3611880" cy="3840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7556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HIERARCHICAL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048256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A manager delegates.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61188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A planner splits the job and hands out tasks. A critic checks the work and can send it back.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4572000"/>
            <a:ext cx="3108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Use it when the plan itself can change mid-job.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2834640"/>
            <a:ext cx="566928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2834640"/>
            <a:ext cx="5669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RESEARCH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2834640"/>
            <a:ext cx="274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64792" y="2834640"/>
            <a:ext cx="566928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64792" y="2834640"/>
            <a:ext cx="5669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ANALYSE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59152" y="2834640"/>
            <a:ext cx="274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60904" y="2834640"/>
            <a:ext cx="566928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60904" y="2834640"/>
            <a:ext cx="5669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WRITE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2578608"/>
            <a:ext cx="502920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2578608"/>
            <a:ext cx="502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CO 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75504" y="2578608"/>
            <a:ext cx="502920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75504" y="2578608"/>
            <a:ext cx="502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CO 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79008" y="2578608"/>
            <a:ext cx="502920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79008" y="2578608"/>
            <a:ext cx="502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CO 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2578608"/>
            <a:ext cx="274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0" y="2578608"/>
            <a:ext cx="566928" cy="3108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29400" y="2578608"/>
            <a:ext cx="5669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0F2145"/>
                </a:solidFill>
              </a:rPr>
              <a:t>MERGE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301752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D6B7E"/>
                </a:solidFill>
              </a:rPr>
              <a:t>Three screens run together, then merge.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64040" y="2487168"/>
            <a:ext cx="658368" cy="3108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64040" y="2487168"/>
            <a:ext cx="65836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0F2145"/>
                </a:solidFill>
              </a:rPr>
              <a:t>PLANNER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23960" y="2907792"/>
            <a:ext cx="365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2907792"/>
            <a:ext cx="365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0" y="3200400"/>
            <a:ext cx="603504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12480" y="3200400"/>
            <a:ext cx="60350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AGENT 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89720" y="3200400"/>
            <a:ext cx="603504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9720" y="3200400"/>
            <a:ext cx="60350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AGENT 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378440" y="3200400"/>
            <a:ext cx="566928" cy="310896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378440" y="3200400"/>
            <a:ext cx="5669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CRITIC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Worth remembering:  </a:t>
            </a:r>
            <a:r>
              <a:rPr sz="1200" b="0">
                <a:solidFill>
                  <a:srgbClr val="FFFFFF"/>
                </a:solidFill>
              </a:rPr>
              <a:t>planner, executor and critic is the pattern behind most agent products that work today.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THE TOOLS PEOPLE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CrewAI and LangGraph, in one line 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5760720" cy="246888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755648"/>
            <a:ext cx="52486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CREWAI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048256"/>
            <a:ext cx="5248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Describe the team in English.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487168"/>
            <a:ext cx="52486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You write each agent's role and goal as plain text. The library runs the crew for you, in order. It is the easiest first tool for a student.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3218688"/>
            <a:ext cx="524865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3291840"/>
            <a:ext cx="4919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role: equity research analyst · goal: compute the ratios and state a view in five plain lines.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572768"/>
            <a:ext cx="5148072" cy="2468880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48272" y="1755648"/>
            <a:ext cx="46360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LANGGRAPH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48272" y="2048256"/>
            <a:ext cx="46360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Draw the workflow.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2487168"/>
            <a:ext cx="4636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You define the boxes and arrows in code, and loops and branches are allowed. The reviewer-rejects-and-resends loop lives here.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48272" y="3218688"/>
            <a:ext cx="4636008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12864" y="3291840"/>
            <a:ext cx="4306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If the reviewer scores the memo below 7, the graph loops back to the writer with the comments.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315968"/>
            <a:ext cx="11091672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315968"/>
            <a:ext cx="64008" cy="1188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71416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8F7113"/>
                </a:solidFill>
              </a:rPr>
              <a:t>THE PART PEOPLE MISS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1B2A41"/>
                </a:solidFill>
              </a:rPr>
              <a:t>The model — Claude, GPT or Gemini — is the worker inside every box, and the framework is only the org chart. A weak prompt stays weak in any framework, so write each agent's brief as carefully as a junior's.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In our lab:  </a:t>
            </a:r>
            <a:r>
              <a:rPr sz="1200" b="0">
                <a:solidFill>
                  <a:srgbClr val="FFFFFF"/>
                </a:solidFill>
              </a:rPr>
              <a:t>we use the simplest wiring — three agents in a line, each with one job.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IN-CLASS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The lab: three agents write an investment memo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B2A41"/>
                </a:solidFill>
              </a:rPr>
              <a:t>One real NSE-listed company goes in. A one-page memo comes out, written hand-off by hand-off.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73936"/>
            <a:ext cx="576072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38528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286000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Georg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304288"/>
            <a:ext cx="4892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The Research Agent collects the company's public facts: price, revenue, profit, debt.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85292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871216"/>
            <a:ext cx="4892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The Analysis Agent computes growth, margins and leverage, then writes its reading.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419856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3438144"/>
            <a:ext cx="4892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The Writing Agent turns both into a one-page memo with a clear view.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251960"/>
            <a:ext cx="5760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51960"/>
            <a:ext cx="64008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407408"/>
            <a:ext cx="5257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8F7113"/>
                </a:solidFill>
              </a:rPr>
              <a:t>TRY IT FREE AT HOME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1B2A41"/>
                </a:solidFill>
              </a:rPr>
              <a:t>No API key is needed. The course site carries the same pipeline as a small Python project, plus the three agent prompts to run in any free AI chat. tejasgjadhav.github.io/AIFINANCE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1773936"/>
            <a:ext cx="5148072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8272" y="193852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CLASS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8272" y="2286000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▪  </a:t>
            </a:r>
            <a:r>
              <a:rPr sz="1050" b="0">
                <a:solidFill>
                  <a:srgbClr val="1B2A41"/>
                </a:solidFill>
              </a:rPr>
              <a:t>Instructor demo: the three-agent crew runs in Claude 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8272" y="2688336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▪  </a:t>
            </a:r>
            <a:r>
              <a:rPr sz="1050" b="0">
                <a:solidFill>
                  <a:srgbClr val="1B2A41"/>
                </a:solidFill>
              </a:rPr>
              <a:t>The class picks the NSE company on the 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309067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▪  </a:t>
            </a:r>
            <a:r>
              <a:rPr sz="1050" b="0">
                <a:solidFill>
                  <a:srgbClr val="1B2A41"/>
                </a:solidFill>
              </a:rPr>
              <a:t>We read each hand-off, not just the final memo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8272" y="3566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The hand-offs are the lesson. The memo is just the receipt.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4251960"/>
            <a:ext cx="5148072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92240" y="4251960"/>
            <a:ext cx="64008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4407408"/>
            <a:ext cx="4617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8F7113"/>
                </a:solidFill>
              </a:rPr>
              <a:t>PEER REVIEW · THE SCORE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1B2A41"/>
                </a:solidFill>
              </a:rPr>
              <a:t>Swap memos with the next group and score three things: every number carries a source, the view follows from the numbers, and you would send it upstairs.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What you have at the end:  </a:t>
            </a:r>
            <a:r>
              <a:rPr sz="1200" b="0">
                <a:solidFill>
                  <a:srgbClr val="FFFFFF"/>
                </a:solidFill>
              </a:rPr>
              <a:t>a memo written by three agents, and your scorecard telling you whether to trust 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Six questions before the exam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5506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36776"/>
            <a:ext cx="98755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problem does MCP solve, and what is the USB-C parallel?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Every app-and-tool pair needed its own wiring. MCP is one standard plug: wrap a tool once and every MCP app can use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377440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5973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441448"/>
            <a:ext cx="98755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An agent must answer from a 400-page annual report that overflows the context window. What does it do?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It fetches only the pages the question needs and carries a rolling summary of what came before.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182112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182112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2644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246120"/>
            <a:ext cx="98755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Name the four crew roles and what each hands to the next.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The researcher hands facts, the analyst hands ratios and a view, the writer hands the memo, the reviewer hands weak work back.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86784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986784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6908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50792"/>
            <a:ext cx="98755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When do you wire agents in parallel instead of in a line?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When the tasks are independent — three companies screened at once, merged at the end.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91456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791456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87375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855464"/>
            <a:ext cx="98755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A reviewer must be able to reject the memo and send it back. Which framework style fits, and why?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The graph style, LangGraph. Loops and branches need a graph; a simple line has no way back.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596128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678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660136"/>
            <a:ext cx="98755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Why does the memo pipeline end with a reviewer instead of going straight to the manager?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The writing reads confident even when a number is wrong. Someone must check the memo against the source first.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D6B7E"/>
                </a:solidFill>
              </a:rPr>
              <a:t>The tip is the shape of the answer, not the whole answer. Two or three sentences each in the exam.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8503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SESSION 3 OF 10 · 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Questions?</a:t>
            </a:r>
          </a:p>
          <a:p>
            <a:pPr algn="l">
              <a:spcBef>
                <a:spcPts val="1000"/>
              </a:spcBef>
            </a:pPr>
            <a:r>
              <a:rPr sz="1900" b="0">
                <a:solidFill>
                  <a:srgbClr val="C9D6EE"/>
                </a:solidFill>
                <a:latin typeface="Georgia"/>
              </a:rPr>
              <a:t>Ask about anything from today: MCP, the crew roles, the three wirings, or the lab.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49039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Tejas Jadhav, CFA, FRM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Faculty · Agentic AI &amp; Advanced Analytics in Finance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 · slides and the free lab are on the site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57800"/>
            <a:ext cx="11091672" cy="73152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5257800"/>
            <a:ext cx="64008" cy="7315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257800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Before Session 4:  </a:t>
            </a:r>
            <a:r>
              <a:rPr sz="1200" b="0">
                <a:solidFill>
                  <a:srgbClr val="FFFFFF"/>
                </a:solidFill>
              </a:rPr>
              <a:t>write down one finance task you would split across three agents, and give each agent one job.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3  ·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
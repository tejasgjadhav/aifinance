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274320"/>
          </a:xfrm>
          <a:prstGeom prst="rect">
            <a:avLst/>
          </a:prstGeom>
          <a:noFill/>
        </p:spPr>
        <p:txBody>
          <a:bodyPr wrap="square" anchor="t" lIns="0" rIns="0" tIns="0" bIns="0">
            <a:spAutoFit/>
          </a:bodyPr>
          <a:lstStyle/>
          <a:p>
            <a:pPr algn="l"/>
            <a:r>
              <a:rPr sz="1200" b="1">
                <a:solidFill>
                  <a:srgbClr val="C9A227"/>
                </a:solidFill>
              </a:rPr>
              <a:t>ISBMS · PGDM 2025–27 · SEMESTER III · SESSION 4 OF 10</a:t>
            </a:r>
          </a:p>
        </p:txBody>
      </p:sp>
      <p:sp>
        <p:nvSpPr>
          <p:cNvPr id="6" name="TextBox 5"/>
          <p:cNvSpPr txBox="1"/>
          <p:nvPr/>
        </p:nvSpPr>
        <p:spPr>
          <a:xfrm>
            <a:off x="548640" y="1371600"/>
            <a:ext cx="8595360" cy="2194560"/>
          </a:xfrm>
          <a:prstGeom prst="rect">
            <a:avLst/>
          </a:prstGeom>
          <a:noFill/>
        </p:spPr>
        <p:txBody>
          <a:bodyPr wrap="square" anchor="t" lIns="0" rIns="0" tIns="0" bIns="0">
            <a:spAutoFit/>
          </a:bodyPr>
          <a:lstStyle/>
          <a:p>
            <a:pPr algn="l"/>
            <a:r>
              <a:rPr sz="5800" b="1">
                <a:solidFill>
                  <a:srgbClr val="FFFFFF"/>
                </a:solidFill>
                <a:latin typeface="Georgia"/>
              </a:rPr>
              <a:t>Module 4</a:t>
            </a:r>
          </a:p>
          <a:p>
            <a:pPr algn="l">
              <a:spcBef>
                <a:spcPts val="1000"/>
              </a:spcBef>
            </a:pPr>
            <a:r>
              <a:rPr sz="2100" b="0">
                <a:solidFill>
                  <a:srgbClr val="C9D6EE"/>
                </a:solidFill>
                <a:latin typeface="Georgia"/>
              </a:rPr>
              <a:t>Algorithmic Trading &amp; Execution Strategies</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097280"/>
          </a:xfrm>
          <a:prstGeom prst="rect">
            <a:avLst/>
          </a:prstGeom>
          <a:noFill/>
        </p:spPr>
        <p:txBody>
          <a:bodyPr wrap="square" anchor="t" lIns="0" rIns="0" tIns="0" bIns="0">
            <a:spAutoFit/>
          </a:bodyPr>
          <a:lstStyle/>
          <a:p>
            <a:pPr algn="l"/>
            <a:r>
              <a:rPr sz="1700" b="1">
                <a:solidFill>
                  <a:srgbClr val="FFFFFF"/>
                </a:solidFill>
              </a:rPr>
              <a:t>Tejas Jadhav, CFA, FRM</a:t>
            </a:r>
          </a:p>
          <a:p>
            <a:pPr algn="l">
              <a:spcBef>
                <a:spcPts val="400"/>
              </a:spcBef>
            </a:pPr>
            <a:r>
              <a:rPr sz="1200" b="0">
                <a:solidFill>
                  <a:srgbClr val="8FA1C4"/>
                </a:solidFill>
              </a:rPr>
              <a:t>Faculty · Agentic AI &amp; Advanced Analytics in Finance (PGDM-SEM3-SPEC-AIFINANCE)</a:t>
            </a:r>
          </a:p>
          <a:p>
            <a:pPr algn="l">
              <a:spcBef>
                <a:spcPts val="300"/>
              </a:spcBef>
            </a:pPr>
            <a:r>
              <a:rPr sz="1200" b="1">
                <a:solidFill>
                  <a:srgbClr val="C9A227"/>
                </a:solidFill>
              </a:rPr>
              <a:t>tejasgjadhav.github.io/AIFINANCE</a:t>
            </a:r>
          </a:p>
        </p:txBody>
      </p:sp>
      <p:sp>
        <p:nvSpPr>
          <p:cNvPr id="9" name="TextBox 8"/>
          <p:cNvSpPr txBox="1"/>
          <p:nvPr/>
        </p:nvSpPr>
        <p:spPr>
          <a:xfrm>
            <a:off x="9646920" y="850392"/>
            <a:ext cx="2194560" cy="274320"/>
          </a:xfrm>
          <a:prstGeom prst="rect">
            <a:avLst/>
          </a:prstGeom>
          <a:noFill/>
        </p:spPr>
        <p:txBody>
          <a:bodyPr wrap="square" anchor="t" lIns="0" rIns="0" tIns="0" bIns="0">
            <a:spAutoFit/>
          </a:bodyPr>
          <a:lstStyle/>
          <a:p>
            <a:pPr algn="l"/>
            <a:r>
              <a:rPr sz="1000" b="1">
                <a:solidFill>
                  <a:srgbClr val="C9A227"/>
                </a:solidFill>
              </a:rPr>
              <a:t>TODAY</a:t>
            </a:r>
          </a:p>
        </p:txBody>
      </p:sp>
      <p:sp>
        <p:nvSpPr>
          <p:cNvPr id="10" name="TextBox 9"/>
          <p:cNvSpPr txBox="1"/>
          <p:nvPr/>
        </p:nvSpPr>
        <p:spPr>
          <a:xfrm>
            <a:off x="9646920" y="1234440"/>
            <a:ext cx="2286000" cy="1005840"/>
          </a:xfrm>
          <a:prstGeom prst="rect">
            <a:avLst/>
          </a:prstGeom>
          <a:noFill/>
        </p:spPr>
        <p:txBody>
          <a:bodyPr wrap="square" anchor="t" lIns="0" rIns="0" tIns="0" bIns="0">
            <a:spAutoFit/>
          </a:bodyPr>
          <a:lstStyle/>
          <a:p>
            <a:pPr algn="l"/>
            <a:r>
              <a:rPr sz="1500" b="1">
                <a:solidFill>
                  <a:srgbClr val="FFFFFF"/>
                </a:solidFill>
                <a:latin typeface="Georgia"/>
              </a:rPr>
              <a:t>3 hours</a:t>
            </a:r>
          </a:p>
          <a:p>
            <a:pPr algn="l">
              <a:spcBef>
                <a:spcPts val="400"/>
              </a:spcBef>
            </a:pPr>
            <a:r>
              <a:rPr sz="1000" b="0">
                <a:solidFill>
                  <a:srgbClr val="8FA1C4"/>
                </a:solidFill>
              </a:rPr>
              <a:t>Hour 1 signals · Hour 2</a:t>
            </a:r>
          </a:p>
          <a:p>
            <a:pPr algn="l">
              <a:spcBef>
                <a:spcPts val="200"/>
              </a:spcBef>
            </a:pPr>
            <a:r>
              <a:rPr sz="1000" b="0">
                <a:solidFill>
                  <a:srgbClr val="8FA1C4"/>
                </a:solidFill>
              </a:rPr>
              <a:t>backtesting · Hour 3 bot lab</a:t>
            </a:r>
          </a:p>
        </p:txBody>
      </p:sp>
      <p:sp>
        <p:nvSpPr>
          <p:cNvPr id="11" name="TextBox 10"/>
          <p:cNvSpPr txBox="1"/>
          <p:nvPr/>
        </p:nvSpPr>
        <p:spPr>
          <a:xfrm>
            <a:off x="9646920" y="2788920"/>
            <a:ext cx="2286000" cy="1005840"/>
          </a:xfrm>
          <a:prstGeom prst="rect">
            <a:avLst/>
          </a:prstGeom>
          <a:noFill/>
        </p:spPr>
        <p:txBody>
          <a:bodyPr wrap="square" anchor="t" lIns="0" rIns="0" tIns="0" bIns="0">
            <a:spAutoFit/>
          </a:bodyPr>
          <a:lstStyle/>
          <a:p>
            <a:pPr algn="l"/>
            <a:r>
              <a:rPr sz="1500" b="1">
                <a:solidFill>
                  <a:srgbClr val="FFFFFF"/>
                </a:solidFill>
                <a:latin typeface="Georgia"/>
              </a:rPr>
              <a:t>No heavy maths</a:t>
            </a:r>
          </a:p>
          <a:p>
            <a:pPr algn="l">
              <a:spcBef>
                <a:spcPts val="400"/>
              </a:spcBef>
            </a:pPr>
            <a:r>
              <a:rPr sz="1000" b="0">
                <a:solidFill>
                  <a:srgbClr val="8FA1C4"/>
                </a:solidFill>
              </a:rPr>
              <a:t>Every idea is one rule you</a:t>
            </a:r>
          </a:p>
          <a:p>
            <a:pPr algn="l">
              <a:spcBef>
                <a:spcPts val="200"/>
              </a:spcBef>
            </a:pPr>
            <a:r>
              <a:rPr sz="1000" b="0">
                <a:solidFill>
                  <a:srgbClr val="8FA1C4"/>
                </a:solidFill>
              </a:rPr>
              <a:t>can write in one sentence.</a:t>
            </a:r>
          </a:p>
        </p:txBody>
      </p:sp>
      <p:sp>
        <p:nvSpPr>
          <p:cNvPr id="12" name="TextBox 11"/>
          <p:cNvSpPr txBox="1"/>
          <p:nvPr/>
        </p:nvSpPr>
        <p:spPr>
          <a:xfrm>
            <a:off x="9646920" y="4343400"/>
            <a:ext cx="2286000" cy="1463040"/>
          </a:xfrm>
          <a:prstGeom prst="rect">
            <a:avLst/>
          </a:prstGeom>
          <a:noFill/>
        </p:spPr>
        <p:txBody>
          <a:bodyPr wrap="square" anchor="t" lIns="0" rIns="0" tIns="0" bIns="0">
            <a:spAutoFit/>
          </a:bodyPr>
          <a:lstStyle/>
          <a:p>
            <a:pPr algn="l"/>
            <a:r>
              <a:rPr sz="4400" b="1">
                <a:solidFill>
                  <a:srgbClr val="C9A227"/>
                </a:solidFill>
                <a:latin typeface="Georgia"/>
              </a:rPr>
              <a:t>1</a:t>
            </a:r>
          </a:p>
          <a:p>
            <a:pPr algn="l">
              <a:spcBef>
                <a:spcPts val="400"/>
              </a:spcBef>
            </a:pPr>
            <a:r>
              <a:rPr sz="900" b="0">
                <a:solidFill>
                  <a:srgbClr val="8FA1C4"/>
                </a:solidFill>
              </a:rPr>
              <a:t>TRADING BOT, BACKTESTED,</a:t>
            </a:r>
          </a:p>
          <a:p>
            <a:pPr algn="l">
              <a:spcBef>
                <a:spcPts val="200"/>
              </a:spcBef>
            </a:pPr>
            <a:r>
              <a:rPr sz="900" b="0">
                <a:solidFill>
                  <a:srgbClr val="8FA1C4"/>
                </a:solidFill>
              </a:rPr>
              <a:t>BEFORE YOU LEAVE</a:t>
            </a:r>
          </a:p>
        </p:txBody>
      </p:sp>
      <p:sp>
        <p:nvSpPr>
          <p:cNvPr id="13" name="TextBox 1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8FA1C4"/>
                </a:solidFill>
              </a:rPr>
              <a:t>ISBMS · PGDM 2025–27 · AGENTIC AI &amp; ADVANCED ANALYTICS IN FINANCE</a:t>
            </a:r>
          </a:p>
        </p:txBody>
      </p:sp>
      <p:sp>
        <p:nvSpPr>
          <p:cNvPr id="14" name="TextBox 1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8FA1C4"/>
                </a:solidFill>
              </a:rPr>
              <a:t>MODULE 4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PLAN</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What we do in these three hours</a:t>
            </a:r>
          </a:p>
        </p:txBody>
      </p:sp>
      <p:sp>
        <p:nvSpPr>
          <p:cNvPr id="5" name="Rectangle 4"/>
          <p:cNvSpPr/>
          <p:nvPr/>
        </p:nvSpPr>
        <p:spPr>
          <a:xfrm>
            <a:off x="548640"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728216"/>
            <a:ext cx="3200400" cy="566928"/>
          </a:xfrm>
          <a:prstGeom prst="rect">
            <a:avLst/>
          </a:prstGeom>
          <a:noFill/>
        </p:spPr>
        <p:txBody>
          <a:bodyPr wrap="square" anchor="t" lIns="0" rIns="0" tIns="0" bIns="0">
            <a:spAutoFit/>
          </a:bodyPr>
          <a:lstStyle/>
          <a:p>
            <a:pPr algn="l"/>
            <a:r>
              <a:rPr sz="1100" b="1">
                <a:solidFill>
                  <a:srgbClr val="C9A227"/>
                </a:solidFill>
              </a:rPr>
              <a:t>HOUR 1 · 60 MIN</a:t>
            </a:r>
          </a:p>
          <a:p>
            <a:pPr algn="l">
              <a:spcBef>
                <a:spcPts val="200"/>
              </a:spcBef>
            </a:pPr>
            <a:r>
              <a:rPr sz="1500" b="1">
                <a:solidFill>
                  <a:srgbClr val="FFFFFF"/>
                </a:solidFill>
                <a:latin typeface="Georgia"/>
              </a:rPr>
              <a:t>The market</a:t>
            </a:r>
          </a:p>
        </p:txBody>
      </p:sp>
      <p:sp>
        <p:nvSpPr>
          <p:cNvPr id="8" name="TextBox 7"/>
          <p:cNvSpPr txBox="1"/>
          <p:nvPr/>
        </p:nvSpPr>
        <p:spPr>
          <a:xfrm>
            <a:off x="768096" y="2514600"/>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The order book: bids, asks and the spread</a:t>
            </a:r>
          </a:p>
        </p:txBody>
      </p:sp>
      <p:sp>
        <p:nvSpPr>
          <p:cNvPr id="9" name="TextBox 8"/>
          <p:cNvSpPr txBox="1"/>
          <p:nvPr/>
        </p:nvSpPr>
        <p:spPr>
          <a:xfrm>
            <a:off x="768096" y="3172968"/>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Four order types, SEBI's rules, the Medallion Fund</a:t>
            </a:r>
          </a:p>
        </p:txBody>
      </p:sp>
      <p:sp>
        <p:nvSpPr>
          <p:cNvPr id="10" name="TextBox 9"/>
          <p:cNvSpPr txBox="1"/>
          <p:nvPr/>
        </p:nvSpPr>
        <p:spPr>
          <a:xfrm>
            <a:off x="768096" y="3831335"/>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Three signal families: momentum, mean reversion, pairs</a:t>
            </a:r>
          </a:p>
        </p:txBody>
      </p:sp>
      <p:sp>
        <p:nvSpPr>
          <p:cNvPr id="11" name="TextBox 10"/>
          <p:cNvSpPr txBox="1"/>
          <p:nvPr/>
        </p:nvSpPr>
        <p:spPr>
          <a:xfrm>
            <a:off x="768096" y="4489703"/>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Simulation: match five orders on a virtual order book</a:t>
            </a:r>
          </a:p>
        </p:txBody>
      </p:sp>
      <p:sp>
        <p:nvSpPr>
          <p:cNvPr id="12" name="Rectangle 11"/>
          <p:cNvSpPr/>
          <p:nvPr/>
        </p:nvSpPr>
        <p:spPr>
          <a:xfrm>
            <a:off x="4315968"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728216"/>
            <a:ext cx="3200400" cy="566928"/>
          </a:xfrm>
          <a:prstGeom prst="rect">
            <a:avLst/>
          </a:prstGeom>
          <a:noFill/>
        </p:spPr>
        <p:txBody>
          <a:bodyPr wrap="square" anchor="t" lIns="0" rIns="0" tIns="0" bIns="0">
            <a:spAutoFit/>
          </a:bodyPr>
          <a:lstStyle/>
          <a:p>
            <a:pPr algn="l"/>
            <a:r>
              <a:rPr sz="1100" b="1">
                <a:solidFill>
                  <a:srgbClr val="C9A227"/>
                </a:solidFill>
              </a:rPr>
              <a:t>HOUR 2 · 60 MIN</a:t>
            </a:r>
          </a:p>
          <a:p>
            <a:pPr algn="l">
              <a:spcBef>
                <a:spcPts val="200"/>
              </a:spcBef>
            </a:pPr>
            <a:r>
              <a:rPr sz="1500" b="1">
                <a:solidFill>
                  <a:srgbClr val="FFFFFF"/>
                </a:solidFill>
                <a:latin typeface="Georgia"/>
              </a:rPr>
              <a:t>The test</a:t>
            </a:r>
          </a:p>
        </p:txBody>
      </p:sp>
      <p:sp>
        <p:nvSpPr>
          <p:cNvPr id="15" name="TextBox 14"/>
          <p:cNvSpPr txBox="1"/>
          <p:nvPr/>
        </p:nvSpPr>
        <p:spPr>
          <a:xfrm>
            <a:off x="4535424" y="2514600"/>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In-sample, out-of-sample, walk-forward</a:t>
            </a:r>
          </a:p>
        </p:txBody>
      </p:sp>
      <p:sp>
        <p:nvSpPr>
          <p:cNvPr id="16" name="TextBox 15"/>
          <p:cNvSpPr txBox="1"/>
          <p:nvPr/>
        </p:nvSpPr>
        <p:spPr>
          <a:xfrm>
            <a:off x="4535424" y="3172968"/>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Sharpe, Sortino, max drawdown, and costs</a:t>
            </a:r>
          </a:p>
        </p:txBody>
      </p:sp>
      <p:sp>
        <p:nvSpPr>
          <p:cNvPr id="17" name="TextBox 16"/>
          <p:cNvSpPr txBox="1"/>
          <p:nvPr/>
        </p:nvSpPr>
        <p:spPr>
          <a:xfrm>
            <a:off x="4535424" y="3831335"/>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Case: Knight Capital lost $440M in 45 minutes</a:t>
            </a:r>
          </a:p>
        </p:txBody>
      </p:sp>
      <p:sp>
        <p:nvSpPr>
          <p:cNvPr id="18" name="TextBox 17"/>
          <p:cNvSpPr txBox="1"/>
          <p:nvPr/>
        </p:nvSpPr>
        <p:spPr>
          <a:xfrm>
            <a:off x="4535424" y="4489703"/>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Live: Saavi, a VWAP test, the Upstox API, TradingView</a:t>
            </a:r>
          </a:p>
        </p:txBody>
      </p:sp>
      <p:sp>
        <p:nvSpPr>
          <p:cNvPr id="19" name="Rectangle 18"/>
          <p:cNvSpPr/>
          <p:nvPr/>
        </p:nvSpPr>
        <p:spPr>
          <a:xfrm>
            <a:off x="8083296"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2752" y="1728216"/>
            <a:ext cx="3200400" cy="566928"/>
          </a:xfrm>
          <a:prstGeom prst="rect">
            <a:avLst/>
          </a:prstGeom>
          <a:noFill/>
        </p:spPr>
        <p:txBody>
          <a:bodyPr wrap="square" anchor="t" lIns="0" rIns="0" tIns="0" bIns="0">
            <a:spAutoFit/>
          </a:bodyPr>
          <a:lstStyle/>
          <a:p>
            <a:pPr algn="l"/>
            <a:r>
              <a:rPr sz="1100" b="1">
                <a:solidFill>
                  <a:srgbClr val="C9A227"/>
                </a:solidFill>
              </a:rPr>
              <a:t>HOUR 3 · 60 MIN</a:t>
            </a:r>
          </a:p>
          <a:p>
            <a:pPr algn="l">
              <a:spcBef>
                <a:spcPts val="200"/>
              </a:spcBef>
            </a:pPr>
            <a:r>
              <a:rPr sz="1500" b="1">
                <a:solidFill>
                  <a:srgbClr val="FFFFFF"/>
                </a:solidFill>
                <a:latin typeface="Georgia"/>
              </a:rPr>
              <a:t>The lab</a:t>
            </a:r>
          </a:p>
        </p:txBody>
      </p:sp>
      <p:sp>
        <p:nvSpPr>
          <p:cNvPr id="22" name="TextBox 21"/>
          <p:cNvSpPr txBox="1"/>
          <p:nvPr/>
        </p:nvSpPr>
        <p:spPr>
          <a:xfrm>
            <a:off x="8302752" y="2514600"/>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One momentum bot on an NSE stock</a:t>
            </a:r>
          </a:p>
        </p:txBody>
      </p:sp>
      <p:sp>
        <p:nvSpPr>
          <p:cNvPr id="23" name="TextBox 22"/>
          <p:cNvSpPr txBox="1"/>
          <p:nvPr/>
        </p:nvSpPr>
        <p:spPr>
          <a:xfrm>
            <a:off x="8302752" y="3172968"/>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Two years of data, one performance report</a:t>
            </a:r>
          </a:p>
        </p:txBody>
      </p:sp>
      <p:sp>
        <p:nvSpPr>
          <p:cNvPr id="24" name="TextBox 23"/>
          <p:cNvSpPr txBox="1"/>
          <p:nvPr/>
        </p:nvSpPr>
        <p:spPr>
          <a:xfrm>
            <a:off x="8302752" y="3831335"/>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Peer review: read each other's numbers</a:t>
            </a:r>
          </a:p>
        </p:txBody>
      </p:sp>
      <p:sp>
        <p:nvSpPr>
          <p:cNvPr id="25" name="TextBox 24"/>
          <p:cNvSpPr txBox="1"/>
          <p:nvPr/>
        </p:nvSpPr>
        <p:spPr>
          <a:xfrm>
            <a:off x="8302752" y="4489703"/>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Free route at home: Google Colab, no API key</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Our goal for today:  </a:t>
            </a:r>
            <a:r>
              <a:rPr sz="1200" b="0">
                <a:solidFill>
                  <a:srgbClr val="FFFFFF"/>
                </a:solidFill>
              </a:rPr>
              <a:t>one trading rule, tested honestly on two years of NSE data, with a report that says whether to trust it.</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MARKET MICROSTRUCTURE AND TRADING SIGNALS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Where a trade happens, and what tells a bot to trade</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THE ORDER BOOK</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Buyers meet sellers.</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The order book lists every buy order (a bid) and every sell order (an ask). The gap between the best bid and the best ask is the spread. A market order takes the spread now. A limit order waits at a price. A stop-loss order fires when the price crosses a level. An IOC order fills now or cancels.</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Reliance shows bid ₹2,950.00 and ask ₹2,950.50. The spread is 50 paise. A market buy pays ₹2,950.50.</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The spread is the first cost every strategy pays.</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THREE SIGNAL FAMILIES</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Momentum, reversion, pairs.</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Momentum buys what is already going up (RSI, MACD). Mean reversion buys what has fallen too far and waits for it to come back (Bollinger Bands). Pairs trading buys one stock and sells its twin when the gap between them is unusual (cointegration).</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HDFC Bank and ICICI Bank usually move together. When one lags by a lot, the pair trade bets the gap will close.</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Every signal is a rule you can write in one sentence.</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THE PLAYERS AND THE RULES</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Algos trade under SEBI rules.</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SEBI requires every algo order to carry an ID, and the broker and the exchange must approve the strategy first. Co-location rents a server rack inside the exchange building to cut delay to a few microseconds. The exchange can throttle or halt any algo.</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Renaissance's Medallion Fund averaged about 66% a year before fees from 1988 to 2018. It did that with thousands of small statistical bets, not one big call.</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The edge is a small rule, repeated, not a big prediction.</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Why it matters:  </a:t>
            </a:r>
            <a:r>
              <a:rPr sz="1200" b="0">
                <a:solidFill>
                  <a:srgbClr val="FFFFFF"/>
                </a:solidFill>
              </a:rPr>
              <a:t>a bot does not think. It reads the book, checks one rule, and sends one order type.</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SIMULATION EXERCISE · THE VIRTUAL ORDER BOOK</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Five orders, one book: match them by hand</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100" b="0">
                <a:solidFill>
                  <a:srgbClr val="1B2A41"/>
                </a:solidFill>
              </a:rPr>
              <a:t>The book below is Reliance at 10:15. Read the five orders in order and write down what happens to each one.</a:t>
            </a:r>
          </a:p>
        </p:txBody>
      </p:sp>
      <p:sp>
        <p:nvSpPr>
          <p:cNvPr id="6" name="Rectangle 5"/>
          <p:cNvSpPr/>
          <p:nvPr/>
        </p:nvSpPr>
        <p:spPr>
          <a:xfrm>
            <a:off x="548640" y="1773936"/>
            <a:ext cx="4754880" cy="37490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38528"/>
            <a:ext cx="4297680" cy="274320"/>
          </a:xfrm>
          <a:prstGeom prst="rect">
            <a:avLst/>
          </a:prstGeom>
          <a:noFill/>
        </p:spPr>
        <p:txBody>
          <a:bodyPr wrap="square" anchor="t" lIns="0" rIns="0" tIns="0" bIns="0">
            <a:spAutoFit/>
          </a:bodyPr>
          <a:lstStyle/>
          <a:p>
            <a:pPr algn="l"/>
            <a:r>
              <a:rPr sz="1000" b="1">
                <a:solidFill>
                  <a:srgbClr val="3A5C9E"/>
                </a:solidFill>
              </a:rPr>
              <a:t>THE BOOK BEFORE ANY ORDER</a:t>
            </a:r>
          </a:p>
        </p:txBody>
      </p:sp>
      <p:sp>
        <p:nvSpPr>
          <p:cNvPr id="8" name="TextBox 7"/>
          <p:cNvSpPr txBox="1"/>
          <p:nvPr/>
        </p:nvSpPr>
        <p:spPr>
          <a:xfrm>
            <a:off x="804672" y="2286000"/>
            <a:ext cx="1371600" cy="228600"/>
          </a:xfrm>
          <a:prstGeom prst="rect">
            <a:avLst/>
          </a:prstGeom>
          <a:noFill/>
        </p:spPr>
        <p:txBody>
          <a:bodyPr wrap="square" anchor="t" lIns="0" rIns="0" tIns="0" bIns="0">
            <a:spAutoFit/>
          </a:bodyPr>
          <a:lstStyle/>
          <a:p>
            <a:pPr algn="l"/>
            <a:r>
              <a:rPr sz="800" b="1">
                <a:solidFill>
                  <a:srgbClr val="5D6B7E"/>
                </a:solidFill>
              </a:rPr>
              <a:t>PRICE ₹</a:t>
            </a:r>
          </a:p>
        </p:txBody>
      </p:sp>
      <p:sp>
        <p:nvSpPr>
          <p:cNvPr id="9" name="TextBox 8"/>
          <p:cNvSpPr txBox="1"/>
          <p:nvPr/>
        </p:nvSpPr>
        <p:spPr>
          <a:xfrm>
            <a:off x="2286000" y="2286000"/>
            <a:ext cx="914400" cy="228600"/>
          </a:xfrm>
          <a:prstGeom prst="rect">
            <a:avLst/>
          </a:prstGeom>
          <a:noFill/>
        </p:spPr>
        <p:txBody>
          <a:bodyPr wrap="square" anchor="t" lIns="0" rIns="0" tIns="0" bIns="0">
            <a:spAutoFit/>
          </a:bodyPr>
          <a:lstStyle/>
          <a:p>
            <a:pPr algn="l"/>
            <a:r>
              <a:rPr sz="800" b="1">
                <a:solidFill>
                  <a:srgbClr val="5D6B7E"/>
                </a:solidFill>
              </a:rPr>
              <a:t>QTY</a:t>
            </a:r>
          </a:p>
        </p:txBody>
      </p:sp>
      <p:sp>
        <p:nvSpPr>
          <p:cNvPr id="10" name="TextBox 9"/>
          <p:cNvSpPr txBox="1"/>
          <p:nvPr/>
        </p:nvSpPr>
        <p:spPr>
          <a:xfrm>
            <a:off x="3291840" y="2286000"/>
            <a:ext cx="1645920" cy="228600"/>
          </a:xfrm>
          <a:prstGeom prst="rect">
            <a:avLst/>
          </a:prstGeom>
          <a:noFill/>
        </p:spPr>
        <p:txBody>
          <a:bodyPr wrap="square" anchor="t" lIns="0" rIns="0" tIns="0" bIns="0">
            <a:spAutoFit/>
          </a:bodyPr>
          <a:lstStyle/>
          <a:p>
            <a:pPr algn="l"/>
            <a:r>
              <a:rPr sz="800" b="1">
                <a:solidFill>
                  <a:srgbClr val="5D6B7E"/>
                </a:solidFill>
              </a:rPr>
              <a:t>SIDE</a:t>
            </a:r>
          </a:p>
        </p:txBody>
      </p:sp>
      <p:sp>
        <p:nvSpPr>
          <p:cNvPr id="11" name="Rectangle 10"/>
          <p:cNvSpPr/>
          <p:nvPr/>
        </p:nvSpPr>
        <p:spPr>
          <a:xfrm>
            <a:off x="804672" y="2560320"/>
            <a:ext cx="4251960" cy="36576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33472"/>
            <a:ext cx="1371600" cy="274320"/>
          </a:xfrm>
          <a:prstGeom prst="rect">
            <a:avLst/>
          </a:prstGeom>
          <a:noFill/>
        </p:spPr>
        <p:txBody>
          <a:bodyPr wrap="square" anchor="t" lIns="0" rIns="0" tIns="0" bIns="0">
            <a:spAutoFit/>
          </a:bodyPr>
          <a:lstStyle/>
          <a:p>
            <a:pPr algn="l"/>
            <a:r>
              <a:rPr sz="1100" b="1">
                <a:solidFill>
                  <a:srgbClr val="0F2145"/>
                </a:solidFill>
              </a:rPr>
              <a:t>2,951.00</a:t>
            </a:r>
          </a:p>
        </p:txBody>
      </p:sp>
      <p:sp>
        <p:nvSpPr>
          <p:cNvPr id="13" name="TextBox 12"/>
          <p:cNvSpPr txBox="1"/>
          <p:nvPr/>
        </p:nvSpPr>
        <p:spPr>
          <a:xfrm>
            <a:off x="2286000" y="2633472"/>
            <a:ext cx="914400" cy="274320"/>
          </a:xfrm>
          <a:prstGeom prst="rect">
            <a:avLst/>
          </a:prstGeom>
          <a:noFill/>
        </p:spPr>
        <p:txBody>
          <a:bodyPr wrap="square" anchor="t" lIns="0" rIns="0" tIns="0" bIns="0">
            <a:spAutoFit/>
          </a:bodyPr>
          <a:lstStyle/>
          <a:p>
            <a:pPr algn="l"/>
            <a:r>
              <a:rPr sz="1100" b="0">
                <a:solidFill>
                  <a:srgbClr val="1B2A41"/>
                </a:solidFill>
              </a:rPr>
              <a:t>300</a:t>
            </a:r>
          </a:p>
        </p:txBody>
      </p:sp>
      <p:sp>
        <p:nvSpPr>
          <p:cNvPr id="14" name="TextBox 13"/>
          <p:cNvSpPr txBox="1"/>
          <p:nvPr/>
        </p:nvSpPr>
        <p:spPr>
          <a:xfrm>
            <a:off x="3291840" y="2642615"/>
            <a:ext cx="1645920" cy="274320"/>
          </a:xfrm>
          <a:prstGeom prst="rect">
            <a:avLst/>
          </a:prstGeom>
          <a:noFill/>
        </p:spPr>
        <p:txBody>
          <a:bodyPr wrap="square" anchor="t" lIns="0" rIns="0" tIns="0" bIns="0">
            <a:spAutoFit/>
          </a:bodyPr>
          <a:lstStyle/>
          <a:p>
            <a:pPr algn="l"/>
            <a:r>
              <a:rPr sz="900" b="1">
                <a:solidFill>
                  <a:srgbClr val="3A5C9E"/>
                </a:solidFill>
              </a:rPr>
              <a:t>ASK</a:t>
            </a:r>
          </a:p>
        </p:txBody>
      </p:sp>
      <p:sp>
        <p:nvSpPr>
          <p:cNvPr id="15" name="Rectangle 14"/>
          <p:cNvSpPr/>
          <p:nvPr/>
        </p:nvSpPr>
        <p:spPr>
          <a:xfrm>
            <a:off x="804672" y="2980944"/>
            <a:ext cx="4251960" cy="36576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054096"/>
            <a:ext cx="1371600" cy="274320"/>
          </a:xfrm>
          <a:prstGeom prst="rect">
            <a:avLst/>
          </a:prstGeom>
          <a:noFill/>
        </p:spPr>
        <p:txBody>
          <a:bodyPr wrap="square" anchor="t" lIns="0" rIns="0" tIns="0" bIns="0">
            <a:spAutoFit/>
          </a:bodyPr>
          <a:lstStyle/>
          <a:p>
            <a:pPr algn="l"/>
            <a:r>
              <a:rPr sz="1100" b="1">
                <a:solidFill>
                  <a:srgbClr val="0F2145"/>
                </a:solidFill>
              </a:rPr>
              <a:t>2,950.50</a:t>
            </a:r>
          </a:p>
        </p:txBody>
      </p:sp>
      <p:sp>
        <p:nvSpPr>
          <p:cNvPr id="17" name="TextBox 16"/>
          <p:cNvSpPr txBox="1"/>
          <p:nvPr/>
        </p:nvSpPr>
        <p:spPr>
          <a:xfrm>
            <a:off x="2286000" y="3054096"/>
            <a:ext cx="914400" cy="274320"/>
          </a:xfrm>
          <a:prstGeom prst="rect">
            <a:avLst/>
          </a:prstGeom>
          <a:noFill/>
        </p:spPr>
        <p:txBody>
          <a:bodyPr wrap="square" anchor="t" lIns="0" rIns="0" tIns="0" bIns="0">
            <a:spAutoFit/>
          </a:bodyPr>
          <a:lstStyle/>
          <a:p>
            <a:pPr algn="l"/>
            <a:r>
              <a:rPr sz="1100" b="0">
                <a:solidFill>
                  <a:srgbClr val="1B2A41"/>
                </a:solidFill>
              </a:rPr>
              <a:t>500</a:t>
            </a:r>
          </a:p>
        </p:txBody>
      </p:sp>
      <p:sp>
        <p:nvSpPr>
          <p:cNvPr id="18" name="TextBox 17"/>
          <p:cNvSpPr txBox="1"/>
          <p:nvPr/>
        </p:nvSpPr>
        <p:spPr>
          <a:xfrm>
            <a:off x="3291840" y="3063239"/>
            <a:ext cx="1645920" cy="274320"/>
          </a:xfrm>
          <a:prstGeom prst="rect">
            <a:avLst/>
          </a:prstGeom>
          <a:noFill/>
        </p:spPr>
        <p:txBody>
          <a:bodyPr wrap="square" anchor="t" lIns="0" rIns="0" tIns="0" bIns="0">
            <a:spAutoFit/>
          </a:bodyPr>
          <a:lstStyle/>
          <a:p>
            <a:pPr algn="l"/>
            <a:r>
              <a:rPr sz="900" b="1">
                <a:solidFill>
                  <a:srgbClr val="3A5C9E"/>
                </a:solidFill>
              </a:rPr>
              <a:t>BEST ASK</a:t>
            </a:r>
          </a:p>
        </p:txBody>
      </p:sp>
      <p:sp>
        <p:nvSpPr>
          <p:cNvPr id="19" name="TextBox 18"/>
          <p:cNvSpPr txBox="1"/>
          <p:nvPr/>
        </p:nvSpPr>
        <p:spPr>
          <a:xfrm>
            <a:off x="804672" y="3419856"/>
            <a:ext cx="4297680" cy="274320"/>
          </a:xfrm>
          <a:prstGeom prst="rect">
            <a:avLst/>
          </a:prstGeom>
          <a:noFill/>
        </p:spPr>
        <p:txBody>
          <a:bodyPr wrap="square" anchor="t" lIns="0" rIns="0" tIns="0" bIns="0">
            <a:spAutoFit/>
          </a:bodyPr>
          <a:lstStyle/>
          <a:p>
            <a:pPr algn="l"/>
            <a:r>
              <a:rPr sz="900" b="1">
                <a:solidFill>
                  <a:srgbClr val="8F7113"/>
                </a:solidFill>
              </a:rPr>
              <a:t>▲  spread 50 paise  ▼</a:t>
            </a:r>
          </a:p>
        </p:txBody>
      </p:sp>
      <p:sp>
        <p:nvSpPr>
          <p:cNvPr id="20" name="Rectangle 19"/>
          <p:cNvSpPr/>
          <p:nvPr/>
        </p:nvSpPr>
        <p:spPr>
          <a:xfrm>
            <a:off x="804672" y="3712463"/>
            <a:ext cx="4251960" cy="36576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785615"/>
            <a:ext cx="1371600" cy="274320"/>
          </a:xfrm>
          <a:prstGeom prst="rect">
            <a:avLst/>
          </a:prstGeom>
          <a:noFill/>
        </p:spPr>
        <p:txBody>
          <a:bodyPr wrap="square" anchor="t" lIns="0" rIns="0" tIns="0" bIns="0">
            <a:spAutoFit/>
          </a:bodyPr>
          <a:lstStyle/>
          <a:p>
            <a:pPr algn="l"/>
            <a:r>
              <a:rPr sz="1100" b="1">
                <a:solidFill>
                  <a:srgbClr val="0F2145"/>
                </a:solidFill>
              </a:rPr>
              <a:t>2,950.00</a:t>
            </a:r>
          </a:p>
        </p:txBody>
      </p:sp>
      <p:sp>
        <p:nvSpPr>
          <p:cNvPr id="22" name="TextBox 21"/>
          <p:cNvSpPr txBox="1"/>
          <p:nvPr/>
        </p:nvSpPr>
        <p:spPr>
          <a:xfrm>
            <a:off x="2286000" y="3785615"/>
            <a:ext cx="914400" cy="274320"/>
          </a:xfrm>
          <a:prstGeom prst="rect">
            <a:avLst/>
          </a:prstGeom>
          <a:noFill/>
        </p:spPr>
        <p:txBody>
          <a:bodyPr wrap="square" anchor="t" lIns="0" rIns="0" tIns="0" bIns="0">
            <a:spAutoFit/>
          </a:bodyPr>
          <a:lstStyle/>
          <a:p>
            <a:pPr algn="l"/>
            <a:r>
              <a:rPr sz="1100" b="0">
                <a:solidFill>
                  <a:srgbClr val="1B2A41"/>
                </a:solidFill>
              </a:rPr>
              <a:t>400</a:t>
            </a:r>
          </a:p>
        </p:txBody>
      </p:sp>
      <p:sp>
        <p:nvSpPr>
          <p:cNvPr id="23" name="TextBox 22"/>
          <p:cNvSpPr txBox="1"/>
          <p:nvPr/>
        </p:nvSpPr>
        <p:spPr>
          <a:xfrm>
            <a:off x="3291840" y="3794759"/>
            <a:ext cx="1645920" cy="274320"/>
          </a:xfrm>
          <a:prstGeom prst="rect">
            <a:avLst/>
          </a:prstGeom>
          <a:noFill/>
        </p:spPr>
        <p:txBody>
          <a:bodyPr wrap="square" anchor="t" lIns="0" rIns="0" tIns="0" bIns="0">
            <a:spAutoFit/>
          </a:bodyPr>
          <a:lstStyle/>
          <a:p>
            <a:pPr algn="l"/>
            <a:r>
              <a:rPr sz="900" b="1">
                <a:solidFill>
                  <a:srgbClr val="3A5C9E"/>
                </a:solidFill>
              </a:rPr>
              <a:t>BEST BID</a:t>
            </a:r>
          </a:p>
        </p:txBody>
      </p:sp>
      <p:sp>
        <p:nvSpPr>
          <p:cNvPr id="24" name="Rectangle 23"/>
          <p:cNvSpPr/>
          <p:nvPr/>
        </p:nvSpPr>
        <p:spPr>
          <a:xfrm>
            <a:off x="804672" y="4133087"/>
            <a:ext cx="4251960" cy="36576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206240"/>
            <a:ext cx="1371600" cy="274320"/>
          </a:xfrm>
          <a:prstGeom prst="rect">
            <a:avLst/>
          </a:prstGeom>
          <a:noFill/>
        </p:spPr>
        <p:txBody>
          <a:bodyPr wrap="square" anchor="t" lIns="0" rIns="0" tIns="0" bIns="0">
            <a:spAutoFit/>
          </a:bodyPr>
          <a:lstStyle/>
          <a:p>
            <a:pPr algn="l"/>
            <a:r>
              <a:rPr sz="1100" b="1">
                <a:solidFill>
                  <a:srgbClr val="0F2145"/>
                </a:solidFill>
              </a:rPr>
              <a:t>2,949.50</a:t>
            </a:r>
          </a:p>
        </p:txBody>
      </p:sp>
      <p:sp>
        <p:nvSpPr>
          <p:cNvPr id="26" name="TextBox 25"/>
          <p:cNvSpPr txBox="1"/>
          <p:nvPr/>
        </p:nvSpPr>
        <p:spPr>
          <a:xfrm>
            <a:off x="2286000" y="4206240"/>
            <a:ext cx="914400" cy="274320"/>
          </a:xfrm>
          <a:prstGeom prst="rect">
            <a:avLst/>
          </a:prstGeom>
          <a:noFill/>
        </p:spPr>
        <p:txBody>
          <a:bodyPr wrap="square" anchor="t" lIns="0" rIns="0" tIns="0" bIns="0">
            <a:spAutoFit/>
          </a:bodyPr>
          <a:lstStyle/>
          <a:p>
            <a:pPr algn="l"/>
            <a:r>
              <a:rPr sz="1100" b="0">
                <a:solidFill>
                  <a:srgbClr val="1B2A41"/>
                </a:solidFill>
              </a:rPr>
              <a:t>600</a:t>
            </a:r>
          </a:p>
        </p:txBody>
      </p:sp>
      <p:sp>
        <p:nvSpPr>
          <p:cNvPr id="27" name="TextBox 26"/>
          <p:cNvSpPr txBox="1"/>
          <p:nvPr/>
        </p:nvSpPr>
        <p:spPr>
          <a:xfrm>
            <a:off x="3291840" y="4215383"/>
            <a:ext cx="1645920" cy="274320"/>
          </a:xfrm>
          <a:prstGeom prst="rect">
            <a:avLst/>
          </a:prstGeom>
          <a:noFill/>
        </p:spPr>
        <p:txBody>
          <a:bodyPr wrap="square" anchor="t" lIns="0" rIns="0" tIns="0" bIns="0">
            <a:spAutoFit/>
          </a:bodyPr>
          <a:lstStyle/>
          <a:p>
            <a:pPr algn="l"/>
            <a:r>
              <a:rPr sz="900" b="1">
                <a:solidFill>
                  <a:srgbClr val="3A5C9E"/>
                </a:solidFill>
              </a:rPr>
              <a:t>BID</a:t>
            </a:r>
          </a:p>
        </p:txBody>
      </p:sp>
      <p:sp>
        <p:nvSpPr>
          <p:cNvPr id="28" name="Rectangle 27"/>
          <p:cNvSpPr/>
          <p:nvPr/>
        </p:nvSpPr>
        <p:spPr>
          <a:xfrm>
            <a:off x="804672" y="4553712"/>
            <a:ext cx="4251960" cy="36576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626864"/>
            <a:ext cx="1371600" cy="274320"/>
          </a:xfrm>
          <a:prstGeom prst="rect">
            <a:avLst/>
          </a:prstGeom>
          <a:noFill/>
        </p:spPr>
        <p:txBody>
          <a:bodyPr wrap="square" anchor="t" lIns="0" rIns="0" tIns="0" bIns="0">
            <a:spAutoFit/>
          </a:bodyPr>
          <a:lstStyle/>
          <a:p>
            <a:pPr algn="l"/>
            <a:r>
              <a:rPr sz="1100" b="1">
                <a:solidFill>
                  <a:srgbClr val="0F2145"/>
                </a:solidFill>
              </a:rPr>
              <a:t>2,949.00</a:t>
            </a:r>
          </a:p>
        </p:txBody>
      </p:sp>
      <p:sp>
        <p:nvSpPr>
          <p:cNvPr id="30" name="TextBox 29"/>
          <p:cNvSpPr txBox="1"/>
          <p:nvPr/>
        </p:nvSpPr>
        <p:spPr>
          <a:xfrm>
            <a:off x="2286000" y="4626864"/>
            <a:ext cx="914400" cy="274320"/>
          </a:xfrm>
          <a:prstGeom prst="rect">
            <a:avLst/>
          </a:prstGeom>
          <a:noFill/>
        </p:spPr>
        <p:txBody>
          <a:bodyPr wrap="square" anchor="t" lIns="0" rIns="0" tIns="0" bIns="0">
            <a:spAutoFit/>
          </a:bodyPr>
          <a:lstStyle/>
          <a:p>
            <a:pPr algn="l"/>
            <a:r>
              <a:rPr sz="1100" b="0">
                <a:solidFill>
                  <a:srgbClr val="1B2A41"/>
                </a:solidFill>
              </a:rPr>
              <a:t>250</a:t>
            </a:r>
          </a:p>
        </p:txBody>
      </p:sp>
      <p:sp>
        <p:nvSpPr>
          <p:cNvPr id="31" name="TextBox 30"/>
          <p:cNvSpPr txBox="1"/>
          <p:nvPr/>
        </p:nvSpPr>
        <p:spPr>
          <a:xfrm>
            <a:off x="3291840" y="4636007"/>
            <a:ext cx="1645920" cy="274320"/>
          </a:xfrm>
          <a:prstGeom prst="rect">
            <a:avLst/>
          </a:prstGeom>
          <a:noFill/>
        </p:spPr>
        <p:txBody>
          <a:bodyPr wrap="square" anchor="t" lIns="0" rIns="0" tIns="0" bIns="0">
            <a:spAutoFit/>
          </a:bodyPr>
          <a:lstStyle/>
          <a:p>
            <a:pPr algn="l"/>
            <a:r>
              <a:rPr sz="900" b="1">
                <a:solidFill>
                  <a:srgbClr val="3A5C9E"/>
                </a:solidFill>
              </a:rPr>
              <a:t>BID</a:t>
            </a:r>
          </a:p>
        </p:txBody>
      </p:sp>
      <p:sp>
        <p:nvSpPr>
          <p:cNvPr id="32" name="TextBox 31"/>
          <p:cNvSpPr txBox="1"/>
          <p:nvPr/>
        </p:nvSpPr>
        <p:spPr>
          <a:xfrm>
            <a:off x="804672" y="4983480"/>
            <a:ext cx="4297680" cy="457200"/>
          </a:xfrm>
          <a:prstGeom prst="rect">
            <a:avLst/>
          </a:prstGeom>
          <a:noFill/>
        </p:spPr>
        <p:txBody>
          <a:bodyPr wrap="square" anchor="t" lIns="0" rIns="0" tIns="0" bIns="0">
            <a:spAutoFit/>
          </a:bodyPr>
          <a:lstStyle/>
          <a:p>
            <a:pPr algn="l"/>
            <a:r>
              <a:rPr sz="950" b="1">
                <a:solidFill>
                  <a:srgbClr val="5D6B7E"/>
                </a:solidFill>
              </a:rPr>
              <a:t>Sellers sit above the spread, buyers below it. A trade happens only when one side crosses.</a:t>
            </a:r>
          </a:p>
        </p:txBody>
      </p:sp>
      <p:sp>
        <p:nvSpPr>
          <p:cNvPr id="33" name="Rectangle 32"/>
          <p:cNvSpPr/>
          <p:nvPr/>
        </p:nvSpPr>
        <p:spPr>
          <a:xfrm>
            <a:off x="5486400" y="1773936"/>
            <a:ext cx="6153912" cy="37490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42432" y="1938528"/>
            <a:ext cx="5669280" cy="274320"/>
          </a:xfrm>
          <a:prstGeom prst="rect">
            <a:avLst/>
          </a:prstGeom>
          <a:noFill/>
        </p:spPr>
        <p:txBody>
          <a:bodyPr wrap="square" anchor="t" lIns="0" rIns="0" tIns="0" bIns="0">
            <a:spAutoFit/>
          </a:bodyPr>
          <a:lstStyle/>
          <a:p>
            <a:pPr algn="l"/>
            <a:r>
              <a:rPr sz="1000" b="1">
                <a:solidFill>
                  <a:srgbClr val="3A5C9E"/>
                </a:solidFill>
              </a:rPr>
              <a:t>THE FIVE ORDERS, AND WHAT THE BOOK DOES</a:t>
            </a:r>
          </a:p>
        </p:txBody>
      </p:sp>
      <p:sp>
        <p:nvSpPr>
          <p:cNvPr id="35" name="TextBox 34"/>
          <p:cNvSpPr txBox="1"/>
          <p:nvPr/>
        </p:nvSpPr>
        <p:spPr>
          <a:xfrm>
            <a:off x="5742432" y="2286000"/>
            <a:ext cx="320040" cy="365760"/>
          </a:xfrm>
          <a:prstGeom prst="rect">
            <a:avLst/>
          </a:prstGeom>
          <a:noFill/>
        </p:spPr>
        <p:txBody>
          <a:bodyPr wrap="square" anchor="t" lIns="0" rIns="0" tIns="0" bIns="0">
            <a:spAutoFit/>
          </a:bodyPr>
          <a:lstStyle/>
          <a:p>
            <a:pPr algn="l"/>
            <a:r>
              <a:rPr sz="1400" b="1">
                <a:solidFill>
                  <a:srgbClr val="C9A227"/>
                </a:solidFill>
                <a:latin typeface="Georgia"/>
              </a:rPr>
              <a:t>1</a:t>
            </a:r>
          </a:p>
        </p:txBody>
      </p:sp>
      <p:sp>
        <p:nvSpPr>
          <p:cNvPr id="36" name="TextBox 35"/>
          <p:cNvSpPr txBox="1"/>
          <p:nvPr/>
        </p:nvSpPr>
        <p:spPr>
          <a:xfrm>
            <a:off x="6126480" y="2304288"/>
            <a:ext cx="5394960" cy="566928"/>
          </a:xfrm>
          <a:prstGeom prst="rect">
            <a:avLst/>
          </a:prstGeom>
          <a:noFill/>
        </p:spPr>
        <p:txBody>
          <a:bodyPr wrap="square" anchor="t" lIns="0" rIns="0" tIns="0" bIns="0">
            <a:spAutoFit/>
          </a:bodyPr>
          <a:lstStyle/>
          <a:p>
            <a:pPr algn="l"/>
            <a:r>
              <a:rPr sz="1050" b="1">
                <a:solidFill>
                  <a:srgbClr val="0F2145"/>
                </a:solidFill>
              </a:rPr>
              <a:t>Market buy 200</a:t>
            </a:r>
          </a:p>
          <a:p>
            <a:pPr algn="l">
              <a:spcBef>
                <a:spcPts val="100"/>
              </a:spcBef>
            </a:pPr>
            <a:r>
              <a:rPr sz="950" b="0">
                <a:solidFill>
                  <a:srgbClr val="1B2A41"/>
                </a:solidFill>
              </a:rPr>
              <a:t>Fills now at ₹2,950.50, the best ask. The buyer paid the spread. Best ask left: 300.</a:t>
            </a:r>
          </a:p>
        </p:txBody>
      </p:sp>
      <p:sp>
        <p:nvSpPr>
          <p:cNvPr id="37" name="TextBox 36"/>
          <p:cNvSpPr txBox="1"/>
          <p:nvPr/>
        </p:nvSpPr>
        <p:spPr>
          <a:xfrm>
            <a:off x="5742432" y="2834640"/>
            <a:ext cx="320040" cy="365760"/>
          </a:xfrm>
          <a:prstGeom prst="rect">
            <a:avLst/>
          </a:prstGeom>
          <a:noFill/>
        </p:spPr>
        <p:txBody>
          <a:bodyPr wrap="square" anchor="t" lIns="0" rIns="0" tIns="0" bIns="0">
            <a:spAutoFit/>
          </a:bodyPr>
          <a:lstStyle/>
          <a:p>
            <a:pPr algn="l"/>
            <a:r>
              <a:rPr sz="1400" b="1">
                <a:solidFill>
                  <a:srgbClr val="C9A227"/>
                </a:solidFill>
                <a:latin typeface="Georgia"/>
              </a:rPr>
              <a:t>2</a:t>
            </a:r>
          </a:p>
        </p:txBody>
      </p:sp>
      <p:sp>
        <p:nvSpPr>
          <p:cNvPr id="38" name="TextBox 37"/>
          <p:cNvSpPr txBox="1"/>
          <p:nvPr/>
        </p:nvSpPr>
        <p:spPr>
          <a:xfrm>
            <a:off x="6126480" y="2852928"/>
            <a:ext cx="5394960" cy="566928"/>
          </a:xfrm>
          <a:prstGeom prst="rect">
            <a:avLst/>
          </a:prstGeom>
          <a:noFill/>
        </p:spPr>
        <p:txBody>
          <a:bodyPr wrap="square" anchor="t" lIns="0" rIns="0" tIns="0" bIns="0">
            <a:spAutoFit/>
          </a:bodyPr>
          <a:lstStyle/>
          <a:p>
            <a:pPr algn="l"/>
            <a:r>
              <a:rPr sz="1050" b="1">
                <a:solidFill>
                  <a:srgbClr val="0F2145"/>
                </a:solidFill>
              </a:rPr>
              <a:t>Limit buy 200 at ₹2,950.00</a:t>
            </a:r>
          </a:p>
          <a:p>
            <a:pPr algn="l">
              <a:spcBef>
                <a:spcPts val="100"/>
              </a:spcBef>
            </a:pPr>
            <a:r>
              <a:rPr sz="950" b="0">
                <a:solidFill>
                  <a:srgbClr val="1B2A41"/>
                </a:solidFill>
              </a:rPr>
              <a:t>Joins the bid queue behind the 400 already there. It waits. It may never fill.</a:t>
            </a:r>
          </a:p>
        </p:txBody>
      </p:sp>
      <p:sp>
        <p:nvSpPr>
          <p:cNvPr id="39" name="TextBox 38"/>
          <p:cNvSpPr txBox="1"/>
          <p:nvPr/>
        </p:nvSpPr>
        <p:spPr>
          <a:xfrm>
            <a:off x="5742432" y="3383280"/>
            <a:ext cx="320040" cy="365760"/>
          </a:xfrm>
          <a:prstGeom prst="rect">
            <a:avLst/>
          </a:prstGeom>
          <a:noFill/>
        </p:spPr>
        <p:txBody>
          <a:bodyPr wrap="square" anchor="t" lIns="0" rIns="0" tIns="0" bIns="0">
            <a:spAutoFit/>
          </a:bodyPr>
          <a:lstStyle/>
          <a:p>
            <a:pPr algn="l"/>
            <a:r>
              <a:rPr sz="1400" b="1">
                <a:solidFill>
                  <a:srgbClr val="C9A227"/>
                </a:solidFill>
                <a:latin typeface="Georgia"/>
              </a:rPr>
              <a:t>3</a:t>
            </a:r>
          </a:p>
        </p:txBody>
      </p:sp>
      <p:sp>
        <p:nvSpPr>
          <p:cNvPr id="40" name="TextBox 39"/>
          <p:cNvSpPr txBox="1"/>
          <p:nvPr/>
        </p:nvSpPr>
        <p:spPr>
          <a:xfrm>
            <a:off x="6126480" y="3401568"/>
            <a:ext cx="5394960" cy="566928"/>
          </a:xfrm>
          <a:prstGeom prst="rect">
            <a:avLst/>
          </a:prstGeom>
          <a:noFill/>
        </p:spPr>
        <p:txBody>
          <a:bodyPr wrap="square" anchor="t" lIns="0" rIns="0" tIns="0" bIns="0">
            <a:spAutoFit/>
          </a:bodyPr>
          <a:lstStyle/>
          <a:p>
            <a:pPr algn="l"/>
            <a:r>
              <a:rPr sz="1050" b="1">
                <a:solidFill>
                  <a:srgbClr val="0F2145"/>
                </a:solidFill>
              </a:rPr>
              <a:t>Limit sell 300 at ₹2,950.50</a:t>
            </a:r>
          </a:p>
          <a:p>
            <a:pPr algn="l">
              <a:spcBef>
                <a:spcPts val="100"/>
              </a:spcBef>
            </a:pPr>
            <a:r>
              <a:rPr sz="950" b="0">
                <a:solidFill>
                  <a:srgbClr val="1B2A41"/>
                </a:solidFill>
              </a:rPr>
              <a:t>Joins the ask queue. Fills only when a buyer crosses to it.</a:t>
            </a:r>
          </a:p>
        </p:txBody>
      </p:sp>
      <p:sp>
        <p:nvSpPr>
          <p:cNvPr id="41" name="TextBox 40"/>
          <p:cNvSpPr txBox="1"/>
          <p:nvPr/>
        </p:nvSpPr>
        <p:spPr>
          <a:xfrm>
            <a:off x="5742432" y="3931920"/>
            <a:ext cx="320040" cy="365760"/>
          </a:xfrm>
          <a:prstGeom prst="rect">
            <a:avLst/>
          </a:prstGeom>
          <a:noFill/>
        </p:spPr>
        <p:txBody>
          <a:bodyPr wrap="square" anchor="t" lIns="0" rIns="0" tIns="0" bIns="0">
            <a:spAutoFit/>
          </a:bodyPr>
          <a:lstStyle/>
          <a:p>
            <a:pPr algn="l"/>
            <a:r>
              <a:rPr sz="1400" b="1">
                <a:solidFill>
                  <a:srgbClr val="C9A227"/>
                </a:solidFill>
                <a:latin typeface="Georgia"/>
              </a:rPr>
              <a:t>4</a:t>
            </a:r>
          </a:p>
        </p:txBody>
      </p:sp>
      <p:sp>
        <p:nvSpPr>
          <p:cNvPr id="42" name="TextBox 41"/>
          <p:cNvSpPr txBox="1"/>
          <p:nvPr/>
        </p:nvSpPr>
        <p:spPr>
          <a:xfrm>
            <a:off x="6126480" y="3950207"/>
            <a:ext cx="5394960" cy="566928"/>
          </a:xfrm>
          <a:prstGeom prst="rect">
            <a:avLst/>
          </a:prstGeom>
          <a:noFill/>
        </p:spPr>
        <p:txBody>
          <a:bodyPr wrap="square" anchor="t" lIns="0" rIns="0" tIns="0" bIns="0">
            <a:spAutoFit/>
          </a:bodyPr>
          <a:lstStyle/>
          <a:p>
            <a:pPr algn="l"/>
            <a:r>
              <a:rPr sz="1050" b="1">
                <a:solidFill>
                  <a:srgbClr val="0F2145"/>
                </a:solidFill>
              </a:rPr>
              <a:t>Stop-loss sell at ₹2,940</a:t>
            </a:r>
          </a:p>
          <a:p>
            <a:pPr algn="l">
              <a:spcBef>
                <a:spcPts val="100"/>
              </a:spcBef>
            </a:pPr>
            <a:r>
              <a:rPr sz="950" b="0">
                <a:solidFill>
                  <a:srgbClr val="1B2A41"/>
                </a:solidFill>
              </a:rPr>
              <a:t>Sleeps outside the book. It becomes a market sell the moment a trade prints at ₹2,940 or below.</a:t>
            </a:r>
          </a:p>
        </p:txBody>
      </p:sp>
      <p:sp>
        <p:nvSpPr>
          <p:cNvPr id="43" name="TextBox 42"/>
          <p:cNvSpPr txBox="1"/>
          <p:nvPr/>
        </p:nvSpPr>
        <p:spPr>
          <a:xfrm>
            <a:off x="5742432" y="4480559"/>
            <a:ext cx="320040" cy="365760"/>
          </a:xfrm>
          <a:prstGeom prst="rect">
            <a:avLst/>
          </a:prstGeom>
          <a:noFill/>
        </p:spPr>
        <p:txBody>
          <a:bodyPr wrap="square" anchor="t" lIns="0" rIns="0" tIns="0" bIns="0">
            <a:spAutoFit/>
          </a:bodyPr>
          <a:lstStyle/>
          <a:p>
            <a:pPr algn="l"/>
            <a:r>
              <a:rPr sz="1400" b="1">
                <a:solidFill>
                  <a:srgbClr val="C9A227"/>
                </a:solidFill>
                <a:latin typeface="Georgia"/>
              </a:rPr>
              <a:t>5</a:t>
            </a:r>
          </a:p>
        </p:txBody>
      </p:sp>
      <p:sp>
        <p:nvSpPr>
          <p:cNvPr id="44" name="TextBox 43"/>
          <p:cNvSpPr txBox="1"/>
          <p:nvPr/>
        </p:nvSpPr>
        <p:spPr>
          <a:xfrm>
            <a:off x="6126480" y="4498847"/>
            <a:ext cx="5394960" cy="566928"/>
          </a:xfrm>
          <a:prstGeom prst="rect">
            <a:avLst/>
          </a:prstGeom>
          <a:noFill/>
        </p:spPr>
        <p:txBody>
          <a:bodyPr wrap="square" anchor="t" lIns="0" rIns="0" tIns="0" bIns="0">
            <a:spAutoFit/>
          </a:bodyPr>
          <a:lstStyle/>
          <a:p>
            <a:pPr algn="l"/>
            <a:r>
              <a:rPr sz="1050" b="1">
                <a:solidFill>
                  <a:srgbClr val="0F2145"/>
                </a:solidFill>
              </a:rPr>
              <a:t>IOC buy 700 at ₹2,950.50</a:t>
            </a:r>
          </a:p>
          <a:p>
            <a:pPr algn="l">
              <a:spcBef>
                <a:spcPts val="100"/>
              </a:spcBef>
            </a:pPr>
            <a:r>
              <a:rPr sz="950" b="0">
                <a:solidFill>
                  <a:srgbClr val="1B2A41"/>
                </a:solidFill>
              </a:rPr>
              <a:t>500 fill at ₹2,950.50 and the other 200 cancel at once. IOC never waits.</a:t>
            </a:r>
          </a:p>
        </p:txBody>
      </p:sp>
      <p:sp>
        <p:nvSpPr>
          <p:cNvPr id="45" name="TextBox 44"/>
          <p:cNvSpPr txBox="1"/>
          <p:nvPr/>
        </p:nvSpPr>
        <p:spPr>
          <a:xfrm>
            <a:off x="5742432" y="5102352"/>
            <a:ext cx="5669280" cy="411480"/>
          </a:xfrm>
          <a:prstGeom prst="rect">
            <a:avLst/>
          </a:prstGeom>
          <a:noFill/>
        </p:spPr>
        <p:txBody>
          <a:bodyPr wrap="square" anchor="t" lIns="0" rIns="0" tIns="0" bIns="0">
            <a:spAutoFit/>
          </a:bodyPr>
          <a:lstStyle/>
          <a:p>
            <a:pPr algn="l"/>
            <a:r>
              <a:rPr sz="800" b="1">
                <a:solidFill>
                  <a:srgbClr val="8F7113"/>
                </a:solidFill>
              </a:rPr>
              <a:t>IN CLASS  </a:t>
            </a:r>
            <a:r>
              <a:rPr sz="950" b="0">
                <a:solidFill>
                  <a:srgbClr val="1B2A41"/>
                </a:solidFill>
              </a:rPr>
              <a:t>Each group is the exchange for five minutes. One student calls out orders, one keeps the book, one records every fill.</a:t>
            </a:r>
          </a:p>
        </p:txBody>
      </p:sp>
      <p:sp>
        <p:nvSpPr>
          <p:cNvPr id="46" name="Rectangle 4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exercise:  </a:t>
            </a:r>
            <a:r>
              <a:rPr sz="1200" b="0">
                <a:solidFill>
                  <a:srgbClr val="FFFFFF"/>
                </a:solidFill>
              </a:rPr>
              <a:t>match five orders by hand once, and you will never confuse a limit order with a market order again.</a:t>
            </a:r>
          </a:p>
        </p:txBody>
      </p:sp>
      <p:sp>
        <p:nvSpPr>
          <p:cNvPr id="49" name="TextBox 4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50" name="TextBox 4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ONE IDEA BEHIND EVERY BOT</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A trading bot is a goal plus a loop</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GOAL</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What you want, as a rule.</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A goal is one sentence a machine can check. It says what to buy, when to buy it, and when to get out. If you cannot write it in one sentence, the bot cannot run it.</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Buy when the stock closes above its 20-day high. Sell at +2% or at −1%.</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The goal is the rule.</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LOOP</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Same steps, on a timer.</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A loop repeats a short list of steps on a timer. Fetch the price. Check the rule. Act. Write it down. Repeat. The loop never gets bored and never skips a step.</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Every day at 15:36, the loop reads the closing prices of 200 stocks and checks each one against the rule.</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The loop is the clock.</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GOAL + LOOP</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That is a trading agent.</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Put the goal inside the loop and you have a bot. Add a stop, a size limit and a log, and you have a bot you can trust. Every agent in this course is built the same way.</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Goal: sell an options credit spread after a breakout. Loop: scan at 15:36 daily, send the signal to Telegram, record the result at expiry.</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Goal plus loop equals agent.</a:t>
            </a:r>
          </a:p>
        </p:txBody>
      </p:sp>
      <p:sp>
        <p:nvSpPr>
          <p:cNvPr id="26" name="Rectangle 25"/>
          <p:cNvSpPr/>
          <p:nvPr/>
        </p:nvSpPr>
        <p:spPr>
          <a:xfrm>
            <a:off x="4553712" y="3493008"/>
            <a:ext cx="548640" cy="3108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3712" y="3493008"/>
            <a:ext cx="548640" cy="310896"/>
          </a:xfrm>
          <a:prstGeom prst="rect">
            <a:avLst/>
          </a:prstGeom>
          <a:noFill/>
        </p:spPr>
        <p:txBody>
          <a:bodyPr wrap="square" anchor="ctr" lIns="0" rIns="0" tIns="0" bIns="0">
            <a:spAutoFit/>
          </a:bodyPr>
          <a:lstStyle/>
          <a:p>
            <a:pPr algn="ctr"/>
            <a:r>
              <a:rPr sz="800" b="1">
                <a:solidFill>
                  <a:srgbClr val="FFFFFF"/>
                </a:solidFill>
              </a:rPr>
              <a:t>FETCH</a:t>
            </a:r>
          </a:p>
        </p:txBody>
      </p:sp>
      <p:sp>
        <p:nvSpPr>
          <p:cNvPr id="28" name="TextBox 27"/>
          <p:cNvSpPr txBox="1"/>
          <p:nvPr/>
        </p:nvSpPr>
        <p:spPr>
          <a:xfrm>
            <a:off x="5102352" y="3493008"/>
            <a:ext cx="23774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29" name="Rectangle 28"/>
          <p:cNvSpPr/>
          <p:nvPr/>
        </p:nvSpPr>
        <p:spPr>
          <a:xfrm>
            <a:off x="5340096" y="3493008"/>
            <a:ext cx="548640" cy="3108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3493008"/>
            <a:ext cx="548640" cy="310896"/>
          </a:xfrm>
          <a:prstGeom prst="rect">
            <a:avLst/>
          </a:prstGeom>
          <a:noFill/>
        </p:spPr>
        <p:txBody>
          <a:bodyPr wrap="square" anchor="ctr" lIns="0" rIns="0" tIns="0" bIns="0">
            <a:spAutoFit/>
          </a:bodyPr>
          <a:lstStyle/>
          <a:p>
            <a:pPr algn="ctr"/>
            <a:r>
              <a:rPr sz="800" b="1">
                <a:solidFill>
                  <a:srgbClr val="FFFFFF"/>
                </a:solidFill>
              </a:rPr>
              <a:t>CHECK</a:t>
            </a:r>
          </a:p>
        </p:txBody>
      </p:sp>
      <p:sp>
        <p:nvSpPr>
          <p:cNvPr id="31" name="TextBox 30"/>
          <p:cNvSpPr txBox="1"/>
          <p:nvPr/>
        </p:nvSpPr>
        <p:spPr>
          <a:xfrm>
            <a:off x="5888736" y="3493008"/>
            <a:ext cx="23774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32" name="Rectangle 31"/>
          <p:cNvSpPr/>
          <p:nvPr/>
        </p:nvSpPr>
        <p:spPr>
          <a:xfrm>
            <a:off x="6126480" y="3493008"/>
            <a:ext cx="457200" cy="3108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0" y="3493008"/>
            <a:ext cx="457200" cy="310896"/>
          </a:xfrm>
          <a:prstGeom prst="rect">
            <a:avLst/>
          </a:prstGeom>
          <a:noFill/>
        </p:spPr>
        <p:txBody>
          <a:bodyPr wrap="square" anchor="ctr" lIns="0" rIns="0" tIns="0" bIns="0">
            <a:spAutoFit/>
          </a:bodyPr>
          <a:lstStyle/>
          <a:p>
            <a:pPr algn="ctr"/>
            <a:r>
              <a:rPr sz="800" b="1">
                <a:solidFill>
                  <a:srgbClr val="FFFFFF"/>
                </a:solidFill>
              </a:rPr>
              <a:t>ACT</a:t>
            </a:r>
          </a:p>
        </p:txBody>
      </p:sp>
      <p:sp>
        <p:nvSpPr>
          <p:cNvPr id="34" name="TextBox 33"/>
          <p:cNvSpPr txBox="1"/>
          <p:nvPr/>
        </p:nvSpPr>
        <p:spPr>
          <a:xfrm>
            <a:off x="6583680" y="3493008"/>
            <a:ext cx="23774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35" name="Rectangle 34"/>
          <p:cNvSpPr/>
          <p:nvPr/>
        </p:nvSpPr>
        <p:spPr>
          <a:xfrm>
            <a:off x="6821424" y="3493008"/>
            <a:ext cx="457200" cy="3108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21424" y="3493008"/>
            <a:ext cx="457200" cy="310896"/>
          </a:xfrm>
          <a:prstGeom prst="rect">
            <a:avLst/>
          </a:prstGeom>
          <a:noFill/>
        </p:spPr>
        <p:txBody>
          <a:bodyPr wrap="square" anchor="ctr" lIns="0" rIns="0" tIns="0" bIns="0">
            <a:spAutoFit/>
          </a:bodyPr>
          <a:lstStyle/>
          <a:p>
            <a:pPr algn="ctr"/>
            <a:r>
              <a:rPr sz="800" b="1">
                <a:solidFill>
                  <a:srgbClr val="0F2145"/>
                </a:solidFill>
              </a:rPr>
              <a:t>LOG</a:t>
            </a:r>
          </a:p>
        </p:txBody>
      </p:sp>
      <p:sp>
        <p:nvSpPr>
          <p:cNvPr id="37" name="TextBox 36"/>
          <p:cNvSpPr txBox="1"/>
          <p:nvPr/>
        </p:nvSpPr>
        <p:spPr>
          <a:xfrm>
            <a:off x="7278624" y="3493008"/>
            <a:ext cx="32918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38" name="Rectangle 3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One line to remember:  </a:t>
            </a:r>
            <a:r>
              <a:rPr sz="1200" b="0">
                <a:solidFill>
                  <a:srgbClr val="FFFFFF"/>
                </a:solidFill>
              </a:rPr>
              <a:t>the goal is the rule, the loop is the clock, and a bot is nothing more than the two together.</a:t>
            </a:r>
          </a:p>
        </p:txBody>
      </p:sp>
      <p:sp>
        <p:nvSpPr>
          <p:cNvPr id="41" name="TextBox 4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42" name="TextBox 4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BACKTESTING METHODOLOGY AND CASE STUDY</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Backtesting: how to test a rule without fooling yourself</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TEST HONESTLY</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Split the data first.</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In-sample is the data you build the rule on. Out-of-sample is data the rule has never seen. Walk-forward repeats that split year by year. Overfitting is a rule that fits the past and fails the future. Data snooping is trying 100 rules and reporting the one that worked.</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Build on 2019 to 2024. Test on 2025 to 2026 once. A rule that wins 80% in-sample and 55% out-of-sample was fitted, not found.</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Out-of-sample is the only test that counts.</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THREE NUMBERS</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Return, risk, worst fall.</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The Sharpe ratio is the average return divided by its ups and downs. Sortino counts only the downside moves. Max drawdown is the biggest fall from a peak to the next low. Subtract brokerage, STT and the spread before you compute any of them.</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A rule made 20% a year with a 30% max drawdown. Your investor lost a third of the money on the way.</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A Sharpe above 1 after costs is good. Above 3 is usually a bug.</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CASE · KNIGHT CAPITAL</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$440 million in 45 minutes.</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On 1 August 2012 Knight Capital pushed new software to eight servers. One server kept old test code. At the open it sent millions of unwanted orders. Knight lost $440 million before anyone stopped it, and the firm was sold within months.</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The bug was not the strategy. It was a deploy with no kill switch and nobody watching the first minutes.</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Every bot needs an off switch a human can reach.</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exam line:  </a:t>
            </a:r>
            <a:r>
              <a:rPr sz="1200" b="0">
                <a:solidFill>
                  <a:srgbClr val="FFFFFF"/>
                </a:solidFill>
              </a:rPr>
              <a:t>a backtest is a ceiling on what a rule can earn, never a promise.</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LIVE PROJECT · GITHUB.COM/TEJASGJADHAV/INSTITUTIONAL-TRADER</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live project: Saavi, a paper-trading bot that runs daily</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100" b="0">
                <a:solidFill>
                  <a:srgbClr val="1B2A41"/>
                </a:solidFill>
              </a:rPr>
              <a:t>Saavi is slide 4 running for real on NSE options since June 2026. Paper trades only. No order ever goes to the broker.</a:t>
            </a:r>
          </a:p>
        </p:txBody>
      </p:sp>
      <p:sp>
        <p:nvSpPr>
          <p:cNvPr id="6" name="Rectangle 5"/>
          <p:cNvSpPr/>
          <p:nvPr/>
        </p:nvSpPr>
        <p:spPr>
          <a:xfrm>
            <a:off x="548640" y="1773936"/>
            <a:ext cx="576072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38528"/>
            <a:ext cx="5303520" cy="274320"/>
          </a:xfrm>
          <a:prstGeom prst="rect">
            <a:avLst/>
          </a:prstGeom>
          <a:noFill/>
        </p:spPr>
        <p:txBody>
          <a:bodyPr wrap="square" anchor="t" lIns="0" rIns="0" tIns="0" bIns="0">
            <a:spAutoFit/>
          </a:bodyPr>
          <a:lstStyle/>
          <a:p>
            <a:pPr algn="l"/>
            <a:r>
              <a:rPr sz="1000" b="1">
                <a:solidFill>
                  <a:srgbClr val="3A5C9E"/>
                </a:solidFill>
              </a:rPr>
              <a:t>WHAT IT IS</a:t>
            </a:r>
          </a:p>
        </p:txBody>
      </p:sp>
      <p:sp>
        <p:nvSpPr>
          <p:cNvPr id="8" name="TextBox 7"/>
          <p:cNvSpPr txBox="1"/>
          <p:nvPr/>
        </p:nvSpPr>
        <p:spPr>
          <a:xfrm>
            <a:off x="804672" y="2267712"/>
            <a:ext cx="320040" cy="365760"/>
          </a:xfrm>
          <a:prstGeom prst="rect">
            <a:avLst/>
          </a:prstGeom>
          <a:noFill/>
        </p:spPr>
        <p:txBody>
          <a:bodyPr wrap="square" anchor="t" lIns="0" rIns="0" tIns="0" bIns="0">
            <a:spAutoFit/>
          </a:bodyPr>
          <a:lstStyle/>
          <a:p>
            <a:pPr algn="l"/>
            <a:r>
              <a:rPr sz="1400" b="1">
                <a:solidFill>
                  <a:srgbClr val="C9A227"/>
                </a:solidFill>
                <a:latin typeface="Georgia"/>
              </a:rPr>
              <a:t>1</a:t>
            </a:r>
          </a:p>
        </p:txBody>
      </p:sp>
      <p:sp>
        <p:nvSpPr>
          <p:cNvPr id="9" name="TextBox 8"/>
          <p:cNvSpPr txBox="1"/>
          <p:nvPr/>
        </p:nvSpPr>
        <p:spPr>
          <a:xfrm>
            <a:off x="1207008" y="2286000"/>
            <a:ext cx="4892040" cy="502920"/>
          </a:xfrm>
          <a:prstGeom prst="rect">
            <a:avLst/>
          </a:prstGeom>
          <a:noFill/>
        </p:spPr>
        <p:txBody>
          <a:bodyPr wrap="square" anchor="t" lIns="0" rIns="0" tIns="0" bIns="0">
            <a:spAutoFit/>
          </a:bodyPr>
          <a:lstStyle/>
          <a:p>
            <a:pPr algn="l"/>
            <a:r>
              <a:rPr sz="950" b="0">
                <a:solidFill>
                  <a:srgbClr val="1B2A41"/>
                </a:solidFill>
              </a:rPr>
              <a:t>The goal: after a stock breaks out, sell an options credit spread, but only when the credit is at least 40% of the spread width.</a:t>
            </a:r>
          </a:p>
        </p:txBody>
      </p:sp>
      <p:sp>
        <p:nvSpPr>
          <p:cNvPr id="10" name="TextBox 9"/>
          <p:cNvSpPr txBox="1"/>
          <p:nvPr/>
        </p:nvSpPr>
        <p:spPr>
          <a:xfrm>
            <a:off x="804672" y="2761488"/>
            <a:ext cx="320040" cy="365760"/>
          </a:xfrm>
          <a:prstGeom prst="rect">
            <a:avLst/>
          </a:prstGeom>
          <a:noFill/>
        </p:spPr>
        <p:txBody>
          <a:bodyPr wrap="square" anchor="t" lIns="0" rIns="0" tIns="0" bIns="0">
            <a:spAutoFit/>
          </a:bodyPr>
          <a:lstStyle/>
          <a:p>
            <a:pPr algn="l"/>
            <a:r>
              <a:rPr sz="1400" b="1">
                <a:solidFill>
                  <a:srgbClr val="C9A227"/>
                </a:solidFill>
                <a:latin typeface="Georgia"/>
              </a:rPr>
              <a:t>2</a:t>
            </a:r>
          </a:p>
        </p:txBody>
      </p:sp>
      <p:sp>
        <p:nvSpPr>
          <p:cNvPr id="11" name="TextBox 10"/>
          <p:cNvSpPr txBox="1"/>
          <p:nvPr/>
        </p:nvSpPr>
        <p:spPr>
          <a:xfrm>
            <a:off x="1207008" y="2779776"/>
            <a:ext cx="4892040" cy="502920"/>
          </a:xfrm>
          <a:prstGeom prst="rect">
            <a:avLst/>
          </a:prstGeom>
          <a:noFill/>
        </p:spPr>
        <p:txBody>
          <a:bodyPr wrap="square" anchor="t" lIns="0" rIns="0" tIns="0" bIns="0">
            <a:spAutoFit/>
          </a:bodyPr>
          <a:lstStyle/>
          <a:p>
            <a:pPr algn="l"/>
            <a:r>
              <a:rPr sz="950" b="0">
                <a:solidFill>
                  <a:srgbClr val="1B2A41"/>
                </a:solidFill>
              </a:rPr>
              <a:t>The loop: scan at 15:36 every trading day, send each signal to a Telegram channel, record the result at expiry.</a:t>
            </a:r>
          </a:p>
        </p:txBody>
      </p:sp>
      <p:sp>
        <p:nvSpPr>
          <p:cNvPr id="12" name="TextBox 11"/>
          <p:cNvSpPr txBox="1"/>
          <p:nvPr/>
        </p:nvSpPr>
        <p:spPr>
          <a:xfrm>
            <a:off x="804672" y="3255264"/>
            <a:ext cx="320040" cy="365760"/>
          </a:xfrm>
          <a:prstGeom prst="rect">
            <a:avLst/>
          </a:prstGeom>
          <a:noFill/>
        </p:spPr>
        <p:txBody>
          <a:bodyPr wrap="square" anchor="t" lIns="0" rIns="0" tIns="0" bIns="0">
            <a:spAutoFit/>
          </a:bodyPr>
          <a:lstStyle/>
          <a:p>
            <a:pPr algn="l"/>
            <a:r>
              <a:rPr sz="1400" b="1">
                <a:solidFill>
                  <a:srgbClr val="C9A227"/>
                </a:solidFill>
                <a:latin typeface="Georgia"/>
              </a:rPr>
              <a:t>3</a:t>
            </a:r>
          </a:p>
        </p:txBody>
      </p:sp>
      <p:sp>
        <p:nvSpPr>
          <p:cNvPr id="13" name="TextBox 12"/>
          <p:cNvSpPr txBox="1"/>
          <p:nvPr/>
        </p:nvSpPr>
        <p:spPr>
          <a:xfrm>
            <a:off x="1207008" y="3273552"/>
            <a:ext cx="4892040" cy="502920"/>
          </a:xfrm>
          <a:prstGeom prst="rect">
            <a:avLst/>
          </a:prstGeom>
          <a:noFill/>
        </p:spPr>
        <p:txBody>
          <a:bodyPr wrap="square" anchor="t" lIns="0" rIns="0" tIns="0" bIns="0">
            <a:spAutoFit/>
          </a:bodyPr>
          <a:lstStyle/>
          <a:p>
            <a:pPr algn="l"/>
            <a:r>
              <a:rPr sz="950" b="0">
                <a:solidFill>
                  <a:srgbClr val="1B2A41"/>
                </a:solidFill>
              </a:rPr>
              <a:t>The test: 2019 to Sep 2024 in-sample, Oct 2024 onward out-of-sample. The leading book won 83.6% of its out-of-sample trades.</a:t>
            </a:r>
          </a:p>
        </p:txBody>
      </p:sp>
      <p:sp>
        <p:nvSpPr>
          <p:cNvPr id="14" name="TextBox 13"/>
          <p:cNvSpPr txBox="1"/>
          <p:nvPr/>
        </p:nvSpPr>
        <p:spPr>
          <a:xfrm>
            <a:off x="804672" y="3749039"/>
            <a:ext cx="320040" cy="365760"/>
          </a:xfrm>
          <a:prstGeom prst="rect">
            <a:avLst/>
          </a:prstGeom>
          <a:noFill/>
        </p:spPr>
        <p:txBody>
          <a:bodyPr wrap="square" anchor="t" lIns="0" rIns="0" tIns="0" bIns="0">
            <a:spAutoFit/>
          </a:bodyPr>
          <a:lstStyle/>
          <a:p>
            <a:pPr algn="l"/>
            <a:r>
              <a:rPr sz="1400" b="1">
                <a:solidFill>
                  <a:srgbClr val="C9A227"/>
                </a:solidFill>
                <a:latin typeface="Georgia"/>
              </a:rPr>
              <a:t>4</a:t>
            </a:r>
          </a:p>
        </p:txBody>
      </p:sp>
      <p:sp>
        <p:nvSpPr>
          <p:cNvPr id="15" name="TextBox 14"/>
          <p:cNvSpPr txBox="1"/>
          <p:nvPr/>
        </p:nvSpPr>
        <p:spPr>
          <a:xfrm>
            <a:off x="1207008" y="3767327"/>
            <a:ext cx="4892040" cy="502920"/>
          </a:xfrm>
          <a:prstGeom prst="rect">
            <a:avLst/>
          </a:prstGeom>
          <a:noFill/>
        </p:spPr>
        <p:txBody>
          <a:bodyPr wrap="square" anchor="t" lIns="0" rIns="0" tIns="0" bIns="0">
            <a:spAutoFit/>
          </a:bodyPr>
          <a:lstStyle/>
          <a:p>
            <a:pPr algn="l"/>
            <a:r>
              <a:rPr sz="950" b="0">
                <a:solidFill>
                  <a:srgbClr val="1B2A41"/>
                </a:solidFill>
              </a:rPr>
              <a:t>The rule for shutting it down was written before the first trade: 30 closed trades and a 70% win rate, or the book closes.</a:t>
            </a:r>
          </a:p>
        </p:txBody>
      </p:sp>
      <p:sp>
        <p:nvSpPr>
          <p:cNvPr id="16" name="Rectangle 15"/>
          <p:cNvSpPr/>
          <p:nvPr/>
        </p:nvSpPr>
        <p:spPr>
          <a:xfrm>
            <a:off x="6492240" y="1773936"/>
            <a:ext cx="5148072"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48272" y="1938528"/>
            <a:ext cx="4663440" cy="274320"/>
          </a:xfrm>
          <a:prstGeom prst="rect">
            <a:avLst/>
          </a:prstGeom>
          <a:noFill/>
        </p:spPr>
        <p:txBody>
          <a:bodyPr wrap="square" anchor="t" lIns="0" rIns="0" tIns="0" bIns="0">
            <a:spAutoFit/>
          </a:bodyPr>
          <a:lstStyle/>
          <a:p>
            <a:pPr algn="l"/>
            <a:r>
              <a:rPr sz="1000" b="1">
                <a:solidFill>
                  <a:srgbClr val="3A5C9E"/>
                </a:solidFill>
              </a:rPr>
              <a:t>WHAT IT TAUGHT US</a:t>
            </a:r>
          </a:p>
        </p:txBody>
      </p:sp>
      <p:sp>
        <p:nvSpPr>
          <p:cNvPr id="18" name="TextBox 17"/>
          <p:cNvSpPr txBox="1"/>
          <p:nvPr/>
        </p:nvSpPr>
        <p:spPr>
          <a:xfrm>
            <a:off x="6748272" y="2267712"/>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70% win rate with 3% a month was hunted across 3,550 rule variations. None passed.</a:t>
            </a:r>
          </a:p>
        </p:txBody>
      </p:sp>
      <p:sp>
        <p:nvSpPr>
          <p:cNvPr id="19" name="TextBox 18"/>
          <p:cNvSpPr txBox="1"/>
          <p:nvPr/>
        </p:nvSpPr>
        <p:spPr>
          <a:xfrm>
            <a:off x="6748272" y="2743200"/>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stale price bar made 19 trades fire a day late. Code review missed it. Checking the data at trade time caught it.</a:t>
            </a:r>
          </a:p>
        </p:txBody>
      </p:sp>
      <p:sp>
        <p:nvSpPr>
          <p:cNvPr id="20" name="TextBox 19"/>
          <p:cNvSpPr txBox="1"/>
          <p:nvPr/>
        </p:nvSpPr>
        <p:spPr>
          <a:xfrm>
            <a:off x="6748272" y="3218688"/>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backtest cannot see the bid-ask spread. Live, that one gate rejected more than half the candidates.</a:t>
            </a:r>
          </a:p>
        </p:txBody>
      </p:sp>
      <p:sp>
        <p:nvSpPr>
          <p:cNvPr id="21" name="TextBox 20"/>
          <p:cNvSpPr txBox="1"/>
          <p:nvPr/>
        </p:nvSpPr>
        <p:spPr>
          <a:xfrm>
            <a:off x="6748272" y="3694176"/>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Two lines a day in a log beat a hundred backtests.</a:t>
            </a:r>
          </a:p>
        </p:txBody>
      </p:sp>
      <p:sp>
        <p:nvSpPr>
          <p:cNvPr id="22" name="Rectangle 21"/>
          <p:cNvSpPr/>
          <p:nvPr/>
        </p:nvSpPr>
        <p:spPr>
          <a:xfrm>
            <a:off x="548640" y="4434840"/>
            <a:ext cx="576072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4434840"/>
            <a:ext cx="64008" cy="10972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72000"/>
            <a:ext cx="5257800" cy="914400"/>
          </a:xfrm>
          <a:prstGeom prst="rect">
            <a:avLst/>
          </a:prstGeom>
          <a:noFill/>
        </p:spPr>
        <p:txBody>
          <a:bodyPr wrap="square" anchor="t" lIns="0" rIns="0" tIns="0" bIns="0">
            <a:spAutoFit/>
          </a:bodyPr>
          <a:lstStyle/>
          <a:p>
            <a:pPr algn="l"/>
            <a:r>
              <a:rPr sz="1000" b="1">
                <a:solidFill>
                  <a:srgbClr val="8F7113"/>
                </a:solidFill>
              </a:rPr>
              <a:t>GOAL + LOOP, IN THE WILD</a:t>
            </a:r>
          </a:p>
          <a:p>
            <a:pPr algn="l">
              <a:spcBef>
                <a:spcPts val="300"/>
              </a:spcBef>
            </a:pPr>
            <a:r>
              <a:rPr sz="1000" b="0">
                <a:solidFill>
                  <a:srgbClr val="1B2A41"/>
                </a:solidFill>
              </a:rPr>
              <a:t>On 26 August 2026 the loop fired at 15:36:09 on ULTRACEMCO. The signal reached Telegram fifteen seconds later. Nobody typed anything.</a:t>
            </a:r>
          </a:p>
        </p:txBody>
      </p:sp>
      <p:sp>
        <p:nvSpPr>
          <p:cNvPr id="25" name="Rectangle 24"/>
          <p:cNvSpPr/>
          <p:nvPr/>
        </p:nvSpPr>
        <p:spPr>
          <a:xfrm>
            <a:off x="6492240" y="4434840"/>
            <a:ext cx="5148072"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92240" y="4434840"/>
            <a:ext cx="64008" cy="10972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4572000"/>
            <a:ext cx="4617720" cy="914400"/>
          </a:xfrm>
          <a:prstGeom prst="rect">
            <a:avLst/>
          </a:prstGeom>
          <a:noFill/>
        </p:spPr>
        <p:txBody>
          <a:bodyPr wrap="square" anchor="t" lIns="0" rIns="0" tIns="0" bIns="0">
            <a:spAutoFit/>
          </a:bodyPr>
          <a:lstStyle/>
          <a:p>
            <a:pPr algn="l"/>
            <a:r>
              <a:rPr sz="1000" b="1">
                <a:solidFill>
                  <a:srgbClr val="8F7113"/>
                </a:solidFill>
              </a:rPr>
              <a:t>READ IT YOURSELF</a:t>
            </a:r>
          </a:p>
          <a:p>
            <a:pPr algn="l">
              <a:spcBef>
                <a:spcPts val="300"/>
              </a:spcBef>
            </a:pPr>
            <a:r>
              <a:rPr sz="1000" b="0">
                <a:solidFill>
                  <a:srgbClr val="1B2A41"/>
                </a:solidFill>
              </a:rPr>
              <a:t>The repo is public and free to study. Start with README.md, then How_We_Built_The_Strategy.pdf. It is for education only, not advice.</a:t>
            </a:r>
          </a:p>
        </p:txBody>
      </p:sp>
      <p:sp>
        <p:nvSpPr>
          <p:cNvPr id="28" name="Rectangle 2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Why show you this:  </a:t>
            </a:r>
            <a:r>
              <a:rPr sz="1200" b="0">
                <a:solidFill>
                  <a:srgbClr val="FFFFFF"/>
                </a:solidFill>
              </a:rPr>
              <a:t>a rule that survives two years of honest testing is still only a candidate. The live record decides.</a:t>
            </a:r>
          </a:p>
        </p:txBody>
      </p:sp>
      <p:sp>
        <p:nvSpPr>
          <p:cNvPr id="31" name="TextBox 3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2" name="TextBox 3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SAAVI IN PRACTICE · ONE TEST, ONE API, ONE CHART</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Saavi: a VWAP test, the Upstox API, and TradingView</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A LIVE STRATEGY TEST · VWAP</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92% wins, and a loss.</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VWAP is the day's average price weighted by volume. The rule: buy when a stock falls 2% below its VWAP, take profit at +0.20%, stop at −3%, close by 15:20. It ran on 100 F&amp;O stocks from 2019 to 2026, 7,688 trades.</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It won 92% of trades and still lost 0.095% per trade after costs. Doing nothing with the same exits already won 83%.</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The win rate was bought by risking 15 times the target.</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HOW THE BOT CONNECTS · UPSTOX API</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One free token, three calls.</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Upstox gives a free read-only Analytics token. It lives in a .env file, never in the code. Every request sends it as a Bearer header to api.upstox.com. We use three calls: last price, intraday candles, daily candles. There is no trading token, so the software cannot place an order.</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GET /v2/market-quote/ltp with instrument_key NSE_EQ|INE467B01029 returns the TCS price. Upstox keys use the ISIN, not the ticker.</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Read-only by design. The order is always yours.</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THE CHART · TRADINGVIEW</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Claude Code drives the chart.</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TradingView Desktop is connected to Claude Code through an MCP server, the plug from Module 3. One script reads the last 300 bars off the open chart, finds support and resistance from swing highs and lows, draws the zones, and pops a notification when price comes within 0.15% of one.</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node sr.mjs --symbol NSE:NIFTY --watch. The chart is the data source, and the loop polls it every 60 seconds.</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Same idea again: a goal, a loop, and a data plug.</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What Saavi shows:  </a:t>
            </a:r>
            <a:r>
              <a:rPr sz="1200" b="0">
                <a:solidFill>
                  <a:srgbClr val="FFFFFF"/>
                </a:solidFill>
              </a:rPr>
              <a:t>the test says no, the API stays read-only, and the chart is one more tool on the MCP menu.</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IN-CLASS LAB</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lab: one momentum bot, two years of NSE data</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100" b="0">
                <a:solidFill>
                  <a:srgbClr val="1B2A41"/>
                </a:solidFill>
              </a:rPr>
              <a:t>One NSE stock and one rule go in. A performance report comes out: CAGR, Sharpe ratio and max drawdown.</a:t>
            </a:r>
          </a:p>
        </p:txBody>
      </p:sp>
      <p:sp>
        <p:nvSpPr>
          <p:cNvPr id="6" name="Rectangle 5"/>
          <p:cNvSpPr/>
          <p:nvPr/>
        </p:nvSpPr>
        <p:spPr>
          <a:xfrm>
            <a:off x="548640" y="1773936"/>
            <a:ext cx="576072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38528"/>
            <a:ext cx="5303520" cy="274320"/>
          </a:xfrm>
          <a:prstGeom prst="rect">
            <a:avLst/>
          </a:prstGeom>
          <a:noFill/>
        </p:spPr>
        <p:txBody>
          <a:bodyPr wrap="square" anchor="t" lIns="0" rIns="0" tIns="0" bIns="0">
            <a:spAutoFit/>
          </a:bodyPr>
          <a:lstStyle/>
          <a:p>
            <a:pPr algn="l"/>
            <a:r>
              <a:rPr sz="1000" b="1">
                <a:solidFill>
                  <a:srgbClr val="3A5C9E"/>
                </a:solidFill>
              </a:rPr>
              <a:t>THE BUILD</a:t>
            </a:r>
          </a:p>
        </p:txBody>
      </p:sp>
      <p:sp>
        <p:nvSpPr>
          <p:cNvPr id="8" name="TextBox 7"/>
          <p:cNvSpPr txBox="1"/>
          <p:nvPr/>
        </p:nvSpPr>
        <p:spPr>
          <a:xfrm>
            <a:off x="804672" y="2267712"/>
            <a:ext cx="320040" cy="365760"/>
          </a:xfrm>
          <a:prstGeom prst="rect">
            <a:avLst/>
          </a:prstGeom>
          <a:noFill/>
        </p:spPr>
        <p:txBody>
          <a:bodyPr wrap="square" anchor="t" lIns="0" rIns="0" tIns="0" bIns="0">
            <a:spAutoFit/>
          </a:bodyPr>
          <a:lstStyle/>
          <a:p>
            <a:pPr algn="l"/>
            <a:r>
              <a:rPr sz="1400" b="1">
                <a:solidFill>
                  <a:srgbClr val="C9A227"/>
                </a:solidFill>
                <a:latin typeface="Georgia"/>
              </a:rPr>
              <a:t>1</a:t>
            </a:r>
          </a:p>
        </p:txBody>
      </p:sp>
      <p:sp>
        <p:nvSpPr>
          <p:cNvPr id="9" name="TextBox 8"/>
          <p:cNvSpPr txBox="1"/>
          <p:nvPr/>
        </p:nvSpPr>
        <p:spPr>
          <a:xfrm>
            <a:off x="1207008" y="2286000"/>
            <a:ext cx="4892040" cy="502920"/>
          </a:xfrm>
          <a:prstGeom prst="rect">
            <a:avLst/>
          </a:prstGeom>
          <a:noFill/>
        </p:spPr>
        <p:txBody>
          <a:bodyPr wrap="square" anchor="t" lIns="0" rIns="0" tIns="0" bIns="0">
            <a:spAutoFit/>
          </a:bodyPr>
          <a:lstStyle/>
          <a:p>
            <a:pPr algn="l"/>
            <a:r>
              <a:rPr sz="1000" b="0">
                <a:solidFill>
                  <a:srgbClr val="1B2A41"/>
                </a:solidFill>
              </a:rPr>
              <a:t>Pick one NSE stock and download two years of daily prices with yfinance.</a:t>
            </a:r>
          </a:p>
        </p:txBody>
      </p:sp>
      <p:sp>
        <p:nvSpPr>
          <p:cNvPr id="10" name="TextBox 9"/>
          <p:cNvSpPr txBox="1"/>
          <p:nvPr/>
        </p:nvSpPr>
        <p:spPr>
          <a:xfrm>
            <a:off x="804672" y="2761488"/>
            <a:ext cx="320040" cy="365760"/>
          </a:xfrm>
          <a:prstGeom prst="rect">
            <a:avLst/>
          </a:prstGeom>
          <a:noFill/>
        </p:spPr>
        <p:txBody>
          <a:bodyPr wrap="square" anchor="t" lIns="0" rIns="0" tIns="0" bIns="0">
            <a:spAutoFit/>
          </a:bodyPr>
          <a:lstStyle/>
          <a:p>
            <a:pPr algn="l"/>
            <a:r>
              <a:rPr sz="1400" b="1">
                <a:solidFill>
                  <a:srgbClr val="C9A227"/>
                </a:solidFill>
                <a:latin typeface="Georgia"/>
              </a:rPr>
              <a:t>2</a:t>
            </a:r>
          </a:p>
        </p:txBody>
      </p:sp>
      <p:sp>
        <p:nvSpPr>
          <p:cNvPr id="11" name="TextBox 10"/>
          <p:cNvSpPr txBox="1"/>
          <p:nvPr/>
        </p:nvSpPr>
        <p:spPr>
          <a:xfrm>
            <a:off x="1207008" y="2779776"/>
            <a:ext cx="4892040" cy="502920"/>
          </a:xfrm>
          <a:prstGeom prst="rect">
            <a:avLst/>
          </a:prstGeom>
          <a:noFill/>
        </p:spPr>
        <p:txBody>
          <a:bodyPr wrap="square" anchor="t" lIns="0" rIns="0" tIns="0" bIns="0">
            <a:spAutoFit/>
          </a:bodyPr>
          <a:lstStyle/>
          <a:p>
            <a:pPr algn="l"/>
            <a:r>
              <a:rPr sz="1000" b="0">
                <a:solidFill>
                  <a:srgbClr val="1B2A41"/>
                </a:solidFill>
              </a:rPr>
              <a:t>Write the rule: buy when the 20-day average crosses above the 50-day average, sell when it crosses back.</a:t>
            </a:r>
          </a:p>
        </p:txBody>
      </p:sp>
      <p:sp>
        <p:nvSpPr>
          <p:cNvPr id="12" name="TextBox 11"/>
          <p:cNvSpPr txBox="1"/>
          <p:nvPr/>
        </p:nvSpPr>
        <p:spPr>
          <a:xfrm>
            <a:off x="804672" y="3255264"/>
            <a:ext cx="320040" cy="365760"/>
          </a:xfrm>
          <a:prstGeom prst="rect">
            <a:avLst/>
          </a:prstGeom>
          <a:noFill/>
        </p:spPr>
        <p:txBody>
          <a:bodyPr wrap="square" anchor="t" lIns="0" rIns="0" tIns="0" bIns="0">
            <a:spAutoFit/>
          </a:bodyPr>
          <a:lstStyle/>
          <a:p>
            <a:pPr algn="l"/>
            <a:r>
              <a:rPr sz="1400" b="1">
                <a:solidFill>
                  <a:srgbClr val="C9A227"/>
                </a:solidFill>
                <a:latin typeface="Georgia"/>
              </a:rPr>
              <a:t>3</a:t>
            </a:r>
          </a:p>
        </p:txBody>
      </p:sp>
      <p:sp>
        <p:nvSpPr>
          <p:cNvPr id="13" name="TextBox 12"/>
          <p:cNvSpPr txBox="1"/>
          <p:nvPr/>
        </p:nvSpPr>
        <p:spPr>
          <a:xfrm>
            <a:off x="1207008" y="3273552"/>
            <a:ext cx="4892040" cy="502920"/>
          </a:xfrm>
          <a:prstGeom prst="rect">
            <a:avLst/>
          </a:prstGeom>
          <a:noFill/>
        </p:spPr>
        <p:txBody>
          <a:bodyPr wrap="square" anchor="t" lIns="0" rIns="0" tIns="0" bIns="0">
            <a:spAutoFit/>
          </a:bodyPr>
          <a:lstStyle/>
          <a:p>
            <a:pPr algn="l"/>
            <a:r>
              <a:rPr sz="1000" b="0">
                <a:solidFill>
                  <a:srgbClr val="1B2A41"/>
                </a:solidFill>
              </a:rPr>
              <a:t>Run it in Backtrader and read the report: CAGR, Sharpe, max drawdown, number of trades.</a:t>
            </a:r>
          </a:p>
        </p:txBody>
      </p:sp>
      <p:sp>
        <p:nvSpPr>
          <p:cNvPr id="14" name="TextBox 13"/>
          <p:cNvSpPr txBox="1"/>
          <p:nvPr/>
        </p:nvSpPr>
        <p:spPr>
          <a:xfrm>
            <a:off x="804672" y="3749039"/>
            <a:ext cx="320040" cy="365760"/>
          </a:xfrm>
          <a:prstGeom prst="rect">
            <a:avLst/>
          </a:prstGeom>
          <a:noFill/>
        </p:spPr>
        <p:txBody>
          <a:bodyPr wrap="square" anchor="t" lIns="0" rIns="0" tIns="0" bIns="0">
            <a:spAutoFit/>
          </a:bodyPr>
          <a:lstStyle/>
          <a:p>
            <a:pPr algn="l"/>
            <a:r>
              <a:rPr sz="1400" b="1">
                <a:solidFill>
                  <a:srgbClr val="C9A227"/>
                </a:solidFill>
                <a:latin typeface="Georgia"/>
              </a:rPr>
              <a:t>4</a:t>
            </a:r>
          </a:p>
        </p:txBody>
      </p:sp>
      <p:sp>
        <p:nvSpPr>
          <p:cNvPr id="15" name="TextBox 14"/>
          <p:cNvSpPr txBox="1"/>
          <p:nvPr/>
        </p:nvSpPr>
        <p:spPr>
          <a:xfrm>
            <a:off x="1207008" y="3767327"/>
            <a:ext cx="4892040" cy="502920"/>
          </a:xfrm>
          <a:prstGeom prst="rect">
            <a:avLst/>
          </a:prstGeom>
          <a:noFill/>
        </p:spPr>
        <p:txBody>
          <a:bodyPr wrap="square" anchor="t" lIns="0" rIns="0" tIns="0" bIns="0">
            <a:spAutoFit/>
          </a:bodyPr>
          <a:lstStyle/>
          <a:p>
            <a:pPr algn="l"/>
            <a:r>
              <a:rPr sz="1000" b="0">
                <a:solidFill>
                  <a:srgbClr val="1B2A41"/>
                </a:solidFill>
              </a:rPr>
              <a:t>Add costs of 0.1% per trade. Read the report again and watch what changes.</a:t>
            </a:r>
          </a:p>
        </p:txBody>
      </p:sp>
      <p:sp>
        <p:nvSpPr>
          <p:cNvPr id="16" name="Rectangle 15"/>
          <p:cNvSpPr/>
          <p:nvPr/>
        </p:nvSpPr>
        <p:spPr>
          <a:xfrm>
            <a:off x="548640" y="4434840"/>
            <a:ext cx="576072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434840"/>
            <a:ext cx="64008" cy="10058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544568"/>
            <a:ext cx="5257800" cy="868680"/>
          </a:xfrm>
          <a:prstGeom prst="rect">
            <a:avLst/>
          </a:prstGeom>
          <a:noFill/>
        </p:spPr>
        <p:txBody>
          <a:bodyPr wrap="square" anchor="t" lIns="0" rIns="0" tIns="0" bIns="0">
            <a:spAutoFit/>
          </a:bodyPr>
          <a:lstStyle/>
          <a:p>
            <a:pPr algn="l"/>
            <a:r>
              <a:rPr sz="1000" b="1">
                <a:solidFill>
                  <a:srgbClr val="8F7113"/>
                </a:solidFill>
              </a:rPr>
              <a:t>TRY IT FREE AT HOME</a:t>
            </a:r>
          </a:p>
          <a:p>
            <a:pPr algn="l">
              <a:spcBef>
                <a:spcPts val="300"/>
              </a:spcBef>
            </a:pPr>
            <a:r>
              <a:rPr sz="1000" b="0">
                <a:solidFill>
                  <a:srgbClr val="1B2A41"/>
                </a:solidFill>
              </a:rPr>
              <a:t>No API key is needed. Ask any free AI chat to write the Backtrader code for the rule above, then run it in Google Colab in your browser. tejasgjadhav.github.io/AIFINANCE</a:t>
            </a:r>
          </a:p>
        </p:txBody>
      </p:sp>
      <p:sp>
        <p:nvSpPr>
          <p:cNvPr id="19" name="Rectangle 18"/>
          <p:cNvSpPr/>
          <p:nvPr/>
        </p:nvSpPr>
        <p:spPr>
          <a:xfrm>
            <a:off x="6492240" y="1773936"/>
            <a:ext cx="5148072"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48272" y="1938528"/>
            <a:ext cx="4663440" cy="274320"/>
          </a:xfrm>
          <a:prstGeom prst="rect">
            <a:avLst/>
          </a:prstGeom>
          <a:noFill/>
        </p:spPr>
        <p:txBody>
          <a:bodyPr wrap="square" anchor="t" lIns="0" rIns="0" tIns="0" bIns="0">
            <a:spAutoFit/>
          </a:bodyPr>
          <a:lstStyle/>
          <a:p>
            <a:pPr algn="l"/>
            <a:r>
              <a:rPr sz="1000" b="1">
                <a:solidFill>
                  <a:srgbClr val="3A5C9E"/>
                </a:solidFill>
              </a:rPr>
              <a:t>THE CLASS RUN</a:t>
            </a:r>
          </a:p>
        </p:txBody>
      </p:sp>
      <p:sp>
        <p:nvSpPr>
          <p:cNvPr id="21" name="TextBox 20"/>
          <p:cNvSpPr txBox="1"/>
          <p:nvPr/>
        </p:nvSpPr>
        <p:spPr>
          <a:xfrm>
            <a:off x="6748272" y="2267712"/>
            <a:ext cx="4663440" cy="50292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Instructor demo: Claude Code writes and runs the bot from one English brief</a:t>
            </a:r>
          </a:p>
        </p:txBody>
      </p:sp>
      <p:sp>
        <p:nvSpPr>
          <p:cNvPr id="22" name="TextBox 21"/>
          <p:cNvSpPr txBox="1"/>
          <p:nvPr/>
        </p:nvSpPr>
        <p:spPr>
          <a:xfrm>
            <a:off x="6748272" y="2724912"/>
            <a:ext cx="4663440" cy="50292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class picks the stock on the day</a:t>
            </a:r>
          </a:p>
        </p:txBody>
      </p:sp>
      <p:sp>
        <p:nvSpPr>
          <p:cNvPr id="23" name="TextBox 22"/>
          <p:cNvSpPr txBox="1"/>
          <p:nvPr/>
        </p:nvSpPr>
        <p:spPr>
          <a:xfrm>
            <a:off x="6748272" y="3182112"/>
            <a:ext cx="4663440" cy="50292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We read the second year on its own: that is the out-of-sample test</a:t>
            </a:r>
          </a:p>
        </p:txBody>
      </p:sp>
      <p:sp>
        <p:nvSpPr>
          <p:cNvPr id="24" name="TextBox 23"/>
          <p:cNvSpPr txBox="1"/>
          <p:nvPr/>
        </p:nvSpPr>
        <p:spPr>
          <a:xfrm>
            <a:off x="6748272" y="3639312"/>
            <a:ext cx="4663440" cy="50292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Bonus signal: a news headline scored positive or negative by an AI chat</a:t>
            </a:r>
          </a:p>
        </p:txBody>
      </p:sp>
      <p:sp>
        <p:nvSpPr>
          <p:cNvPr id="25" name="Rectangle 24"/>
          <p:cNvSpPr/>
          <p:nvPr/>
        </p:nvSpPr>
        <p:spPr>
          <a:xfrm>
            <a:off x="6492240" y="4434840"/>
            <a:ext cx="5148072"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92240" y="4434840"/>
            <a:ext cx="64008" cy="10058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4544568"/>
            <a:ext cx="4617720" cy="868680"/>
          </a:xfrm>
          <a:prstGeom prst="rect">
            <a:avLst/>
          </a:prstGeom>
          <a:noFill/>
        </p:spPr>
        <p:txBody>
          <a:bodyPr wrap="square" anchor="t" lIns="0" rIns="0" tIns="0" bIns="0">
            <a:spAutoFit/>
          </a:bodyPr>
          <a:lstStyle/>
          <a:p>
            <a:pPr algn="l"/>
            <a:r>
              <a:rPr sz="1000" b="1">
                <a:solidFill>
                  <a:srgbClr val="8F7113"/>
                </a:solidFill>
              </a:rPr>
              <a:t>PEER REVIEW · THE SCORE</a:t>
            </a:r>
          </a:p>
          <a:p>
            <a:pPr algn="l">
              <a:spcBef>
                <a:spcPts val="300"/>
              </a:spcBef>
            </a:pPr>
            <a:r>
              <a:rPr sz="1000" b="0">
                <a:solidFill>
                  <a:srgbClr val="1B2A41"/>
                </a:solidFill>
              </a:rPr>
              <a:t>Swap reports with the next group and score three things: costs are included, the second year is shown on its own, and the drawdown is one you could sit through.</a:t>
            </a:r>
          </a:p>
        </p:txBody>
      </p:sp>
      <p:sp>
        <p:nvSpPr>
          <p:cNvPr id="28" name="TextBox 27"/>
          <p:cNvSpPr txBox="1"/>
          <p:nvPr/>
        </p:nvSpPr>
        <p:spPr>
          <a:xfrm>
            <a:off x="548640" y="5559552"/>
            <a:ext cx="11091672" cy="201168"/>
          </a:xfrm>
          <a:prstGeom prst="rect">
            <a:avLst/>
          </a:prstGeom>
          <a:noFill/>
        </p:spPr>
        <p:txBody>
          <a:bodyPr wrap="square" anchor="t" lIns="0" rIns="0" tIns="0" bIns="0">
            <a:spAutoFit/>
          </a:bodyPr>
          <a:lstStyle/>
          <a:p>
            <a:pPr algn="l"/>
            <a:r>
              <a:rPr sz="800" b="1">
                <a:solidFill>
                  <a:srgbClr val="8F7113"/>
                </a:solidFill>
              </a:rPr>
              <a:t>READING  </a:t>
            </a:r>
            <a:r>
              <a:rPr sz="800" b="0">
                <a:solidFill>
                  <a:srgbClr val="5D6B7E"/>
                </a:solidFill>
              </a:rPr>
              <a:t>Chan (2013) Quantitative Trading, ch. 1–3  ·  Hilpisch (2020) ch. 7  ·  SEBI circular on algorithmic trading (2012)  ·  Backtrader, yfinance and QuantLib docs</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What you have at the end:  </a:t>
            </a:r>
            <a:r>
              <a:rPr sz="1200" b="0">
                <a:solidFill>
                  <a:srgbClr val="FFFFFF"/>
                </a:solidFill>
              </a:rPr>
              <a:t>a bot you wrote as one sentence, and a report that tells you whether to trust it.</a:t>
            </a:r>
          </a:p>
        </p:txBody>
      </p:sp>
      <p:sp>
        <p:nvSpPr>
          <p:cNvPr id="32" name="TextBox 31"/>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3" name="TextBox 32"/>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PRACTICE QUESTIONS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Six questions before the exam</a:t>
            </a:r>
          </a:p>
        </p:txBody>
      </p:sp>
      <p:sp>
        <p:nvSpPr>
          <p:cNvPr id="5" name="Rectangle 4"/>
          <p:cNvSpPr/>
          <p:nvPr/>
        </p:nvSpPr>
        <p:spPr>
          <a:xfrm>
            <a:off x="548640" y="144475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640080" cy="365760"/>
          </a:xfrm>
          <a:prstGeom prst="rect">
            <a:avLst/>
          </a:prstGeom>
          <a:noFill/>
        </p:spPr>
        <p:txBody>
          <a:bodyPr wrap="square" anchor="t" lIns="0" rIns="0" tIns="0" bIns="0">
            <a:spAutoFit/>
          </a:bodyPr>
          <a:lstStyle/>
          <a:p>
            <a:pPr algn="l"/>
            <a:r>
              <a:rPr sz="1400" b="1">
                <a:solidFill>
                  <a:srgbClr val="3A5C9E"/>
                </a:solidFill>
                <a:latin typeface="Georgia"/>
              </a:rPr>
              <a:t>Q1</a:t>
            </a:r>
          </a:p>
        </p:txBody>
      </p:sp>
      <p:sp>
        <p:nvSpPr>
          <p:cNvPr id="8" name="TextBox 7"/>
          <p:cNvSpPr txBox="1"/>
          <p:nvPr/>
        </p:nvSpPr>
        <p:spPr>
          <a:xfrm>
            <a:off x="1554480" y="1499616"/>
            <a:ext cx="9875520" cy="585216"/>
          </a:xfrm>
          <a:prstGeom prst="rect">
            <a:avLst/>
          </a:prstGeom>
          <a:noFill/>
        </p:spPr>
        <p:txBody>
          <a:bodyPr wrap="square" anchor="t" lIns="0" rIns="0" tIns="0" bIns="0">
            <a:spAutoFit/>
          </a:bodyPr>
          <a:lstStyle/>
          <a:p>
            <a:pPr algn="l"/>
            <a:r>
              <a:rPr sz="1050" b="1">
                <a:solidFill>
                  <a:srgbClr val="1B2A41"/>
                </a:solidFill>
              </a:rPr>
              <a:t>Reliance shows bid ₹2,950.00 and ask ₹2,950.50. What does a market buy pay, and what does a limit buy at ₹2,950.00 do?</a:t>
            </a:r>
          </a:p>
          <a:p>
            <a:pPr algn="l">
              <a:spcBef>
                <a:spcPts val="200"/>
              </a:spcBef>
            </a:pPr>
            <a:r>
              <a:rPr sz="900" b="1">
                <a:solidFill>
                  <a:srgbClr val="C9A227"/>
                </a:solidFill>
              </a:rPr>
              <a:t>TIP  </a:t>
            </a:r>
            <a:r>
              <a:rPr sz="900" b="0">
                <a:solidFill>
                  <a:srgbClr val="5D6B7E"/>
                </a:solidFill>
              </a:rPr>
              <a:t>The market buy pays ₹2,950.50 now. The limit buy waits at ₹2,950.00 and may never fill.</a:t>
            </a:r>
          </a:p>
        </p:txBody>
      </p:sp>
      <p:sp>
        <p:nvSpPr>
          <p:cNvPr id="9" name="Rectangle 8"/>
          <p:cNvSpPr/>
          <p:nvPr/>
        </p:nvSpPr>
        <p:spPr>
          <a:xfrm>
            <a:off x="548640" y="217627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7627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40279"/>
            <a:ext cx="640080" cy="365760"/>
          </a:xfrm>
          <a:prstGeom prst="rect">
            <a:avLst/>
          </a:prstGeom>
          <a:noFill/>
        </p:spPr>
        <p:txBody>
          <a:bodyPr wrap="square" anchor="t" lIns="0" rIns="0" tIns="0" bIns="0">
            <a:spAutoFit/>
          </a:bodyPr>
          <a:lstStyle/>
          <a:p>
            <a:pPr algn="l"/>
            <a:r>
              <a:rPr sz="1400" b="1">
                <a:solidFill>
                  <a:srgbClr val="3A5C9E"/>
                </a:solidFill>
                <a:latin typeface="Georgia"/>
              </a:rPr>
              <a:t>Q2</a:t>
            </a:r>
          </a:p>
        </p:txBody>
      </p:sp>
      <p:sp>
        <p:nvSpPr>
          <p:cNvPr id="12" name="TextBox 11"/>
          <p:cNvSpPr txBox="1"/>
          <p:nvPr/>
        </p:nvSpPr>
        <p:spPr>
          <a:xfrm>
            <a:off x="1554480" y="2231136"/>
            <a:ext cx="9875520" cy="585216"/>
          </a:xfrm>
          <a:prstGeom prst="rect">
            <a:avLst/>
          </a:prstGeom>
          <a:noFill/>
        </p:spPr>
        <p:txBody>
          <a:bodyPr wrap="square" anchor="t" lIns="0" rIns="0" tIns="0" bIns="0">
            <a:spAutoFit/>
          </a:bodyPr>
          <a:lstStyle/>
          <a:p>
            <a:pPr algn="l"/>
            <a:r>
              <a:rPr sz="1050" b="1">
                <a:solidFill>
                  <a:srgbClr val="1B2A41"/>
                </a:solidFill>
              </a:rPr>
              <a:t>Sort these into momentum, mean reversion or pairs: RSI, Bollinger Bands, cointegration.</a:t>
            </a:r>
          </a:p>
          <a:p>
            <a:pPr algn="l">
              <a:spcBef>
                <a:spcPts val="200"/>
              </a:spcBef>
            </a:pPr>
            <a:r>
              <a:rPr sz="900" b="1">
                <a:solidFill>
                  <a:srgbClr val="C9A227"/>
                </a:solidFill>
              </a:rPr>
              <a:t>TIP  </a:t>
            </a:r>
            <a:r>
              <a:rPr sz="900" b="0">
                <a:solidFill>
                  <a:srgbClr val="5D6B7E"/>
                </a:solidFill>
              </a:rPr>
              <a:t>RSI is momentum, Bollinger Bands are mean reversion, cointegration is pairs trading.</a:t>
            </a:r>
          </a:p>
        </p:txBody>
      </p:sp>
      <p:sp>
        <p:nvSpPr>
          <p:cNvPr id="13" name="Rectangle 12"/>
          <p:cNvSpPr/>
          <p:nvPr/>
        </p:nvSpPr>
        <p:spPr>
          <a:xfrm>
            <a:off x="548640" y="290779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0779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971799"/>
            <a:ext cx="640080" cy="365760"/>
          </a:xfrm>
          <a:prstGeom prst="rect">
            <a:avLst/>
          </a:prstGeom>
          <a:noFill/>
        </p:spPr>
        <p:txBody>
          <a:bodyPr wrap="square" anchor="t" lIns="0" rIns="0" tIns="0" bIns="0">
            <a:spAutoFit/>
          </a:bodyPr>
          <a:lstStyle/>
          <a:p>
            <a:pPr algn="l"/>
            <a:r>
              <a:rPr sz="1400" b="1">
                <a:solidFill>
                  <a:srgbClr val="3A5C9E"/>
                </a:solidFill>
                <a:latin typeface="Georgia"/>
              </a:rPr>
              <a:t>Q3</a:t>
            </a:r>
          </a:p>
        </p:txBody>
      </p:sp>
      <p:sp>
        <p:nvSpPr>
          <p:cNvPr id="16" name="TextBox 15"/>
          <p:cNvSpPr txBox="1"/>
          <p:nvPr/>
        </p:nvSpPr>
        <p:spPr>
          <a:xfrm>
            <a:off x="1554480" y="2962656"/>
            <a:ext cx="9875520" cy="585216"/>
          </a:xfrm>
          <a:prstGeom prst="rect">
            <a:avLst/>
          </a:prstGeom>
          <a:noFill/>
        </p:spPr>
        <p:txBody>
          <a:bodyPr wrap="square" anchor="t" lIns="0" rIns="0" tIns="0" bIns="0">
            <a:spAutoFit/>
          </a:bodyPr>
          <a:lstStyle/>
          <a:p>
            <a:pPr algn="l"/>
            <a:r>
              <a:rPr sz="1050" b="1">
                <a:solidFill>
                  <a:srgbClr val="1B2A41"/>
                </a:solidFill>
              </a:rPr>
              <a:t>Write a trading bot as a goal plus a loop for a 20-day breakout rule.</a:t>
            </a:r>
          </a:p>
          <a:p>
            <a:pPr algn="l">
              <a:spcBef>
                <a:spcPts val="200"/>
              </a:spcBef>
            </a:pPr>
            <a:r>
              <a:rPr sz="900" b="1">
                <a:solidFill>
                  <a:srgbClr val="C9A227"/>
                </a:solidFill>
              </a:rPr>
              <a:t>TIP  </a:t>
            </a:r>
            <a:r>
              <a:rPr sz="900" b="0">
                <a:solidFill>
                  <a:srgbClr val="5D6B7E"/>
                </a:solidFill>
              </a:rPr>
              <a:t>Goal: buy above the 20-day high, sell at +2% or −1%. Loop: each day fetch the close, check the rule, act, log, repeat.</a:t>
            </a:r>
          </a:p>
        </p:txBody>
      </p:sp>
      <p:sp>
        <p:nvSpPr>
          <p:cNvPr id="17" name="Rectangle 16"/>
          <p:cNvSpPr/>
          <p:nvPr/>
        </p:nvSpPr>
        <p:spPr>
          <a:xfrm>
            <a:off x="548640" y="363931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3931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703320"/>
            <a:ext cx="640080" cy="365760"/>
          </a:xfrm>
          <a:prstGeom prst="rect">
            <a:avLst/>
          </a:prstGeom>
          <a:noFill/>
        </p:spPr>
        <p:txBody>
          <a:bodyPr wrap="square" anchor="t" lIns="0" rIns="0" tIns="0" bIns="0">
            <a:spAutoFit/>
          </a:bodyPr>
          <a:lstStyle/>
          <a:p>
            <a:pPr algn="l"/>
            <a:r>
              <a:rPr sz="1400" b="1">
                <a:solidFill>
                  <a:srgbClr val="3A5C9E"/>
                </a:solidFill>
                <a:latin typeface="Georgia"/>
              </a:rPr>
              <a:t>Q4</a:t>
            </a:r>
          </a:p>
        </p:txBody>
      </p:sp>
      <p:sp>
        <p:nvSpPr>
          <p:cNvPr id="20" name="TextBox 19"/>
          <p:cNvSpPr txBox="1"/>
          <p:nvPr/>
        </p:nvSpPr>
        <p:spPr>
          <a:xfrm>
            <a:off x="1554480" y="3694175"/>
            <a:ext cx="9875520" cy="585216"/>
          </a:xfrm>
          <a:prstGeom prst="rect">
            <a:avLst/>
          </a:prstGeom>
          <a:noFill/>
        </p:spPr>
        <p:txBody>
          <a:bodyPr wrap="square" anchor="t" lIns="0" rIns="0" tIns="0" bIns="0">
            <a:spAutoFit/>
          </a:bodyPr>
          <a:lstStyle/>
          <a:p>
            <a:pPr algn="l"/>
            <a:r>
              <a:rPr sz="1050" b="1">
                <a:solidFill>
                  <a:srgbClr val="1B2A41"/>
                </a:solidFill>
              </a:rPr>
              <a:t>A rule wins 80% in-sample and 55% out-of-sample. What happened, and what do you report?</a:t>
            </a:r>
          </a:p>
          <a:p>
            <a:pPr algn="l">
              <a:spcBef>
                <a:spcPts val="200"/>
              </a:spcBef>
            </a:pPr>
            <a:r>
              <a:rPr sz="900" b="1">
                <a:solidFill>
                  <a:srgbClr val="C9A227"/>
                </a:solidFill>
              </a:rPr>
              <a:t>TIP  </a:t>
            </a:r>
            <a:r>
              <a:rPr sz="900" b="0">
                <a:solidFill>
                  <a:srgbClr val="5D6B7E"/>
                </a:solidFill>
              </a:rPr>
              <a:t>It was overfitted. Report the out-of-sample number, the costs and the drawdown, and do not trade it yet.</a:t>
            </a:r>
          </a:p>
        </p:txBody>
      </p:sp>
      <p:sp>
        <p:nvSpPr>
          <p:cNvPr id="21" name="Rectangle 20"/>
          <p:cNvSpPr/>
          <p:nvPr/>
        </p:nvSpPr>
        <p:spPr>
          <a:xfrm>
            <a:off x="548640" y="437083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37083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434840"/>
            <a:ext cx="640080" cy="365760"/>
          </a:xfrm>
          <a:prstGeom prst="rect">
            <a:avLst/>
          </a:prstGeom>
          <a:noFill/>
        </p:spPr>
        <p:txBody>
          <a:bodyPr wrap="square" anchor="t" lIns="0" rIns="0" tIns="0" bIns="0">
            <a:spAutoFit/>
          </a:bodyPr>
          <a:lstStyle/>
          <a:p>
            <a:pPr algn="l"/>
            <a:r>
              <a:rPr sz="1400" b="1">
                <a:solidFill>
                  <a:srgbClr val="3A5C9E"/>
                </a:solidFill>
                <a:latin typeface="Georgia"/>
              </a:rPr>
              <a:t>Q5</a:t>
            </a:r>
          </a:p>
        </p:txBody>
      </p:sp>
      <p:sp>
        <p:nvSpPr>
          <p:cNvPr id="24" name="TextBox 23"/>
          <p:cNvSpPr txBox="1"/>
          <p:nvPr/>
        </p:nvSpPr>
        <p:spPr>
          <a:xfrm>
            <a:off x="1554480" y="4425695"/>
            <a:ext cx="9875520" cy="585216"/>
          </a:xfrm>
          <a:prstGeom prst="rect">
            <a:avLst/>
          </a:prstGeom>
          <a:noFill/>
        </p:spPr>
        <p:txBody>
          <a:bodyPr wrap="square" anchor="t" lIns="0" rIns="0" tIns="0" bIns="0">
            <a:spAutoFit/>
          </a:bodyPr>
          <a:lstStyle/>
          <a:p>
            <a:pPr algn="l"/>
            <a:r>
              <a:rPr sz="1050" b="1">
                <a:solidFill>
                  <a:srgbClr val="1B2A41"/>
                </a:solidFill>
              </a:rPr>
              <a:t>Two rules both earn 18% a year. One had a 12% max drawdown, the other 40%. Which would you hold, and which number tells you?</a:t>
            </a:r>
          </a:p>
          <a:p>
            <a:pPr algn="l">
              <a:spcBef>
                <a:spcPts val="200"/>
              </a:spcBef>
            </a:pPr>
            <a:r>
              <a:rPr sz="900" b="1">
                <a:solidFill>
                  <a:srgbClr val="C9A227"/>
                </a:solidFill>
              </a:rPr>
              <a:t>TIP  </a:t>
            </a:r>
            <a:r>
              <a:rPr sz="900" b="0">
                <a:solidFill>
                  <a:srgbClr val="5D6B7E"/>
                </a:solidFill>
              </a:rPr>
              <a:t>The 12% one. Max drawdown is the worst fall an investor has to sit through: same return, a third of the pain.</a:t>
            </a:r>
          </a:p>
        </p:txBody>
      </p:sp>
      <p:sp>
        <p:nvSpPr>
          <p:cNvPr id="25" name="Rectangle 24"/>
          <p:cNvSpPr/>
          <p:nvPr/>
        </p:nvSpPr>
        <p:spPr>
          <a:xfrm>
            <a:off x="548640" y="510235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510235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166359"/>
            <a:ext cx="640080" cy="365760"/>
          </a:xfrm>
          <a:prstGeom prst="rect">
            <a:avLst/>
          </a:prstGeom>
          <a:noFill/>
        </p:spPr>
        <p:txBody>
          <a:bodyPr wrap="square" anchor="t" lIns="0" rIns="0" tIns="0" bIns="0">
            <a:spAutoFit/>
          </a:bodyPr>
          <a:lstStyle/>
          <a:p>
            <a:pPr algn="l"/>
            <a:r>
              <a:rPr sz="1400" b="1">
                <a:solidFill>
                  <a:srgbClr val="3A5C9E"/>
                </a:solidFill>
                <a:latin typeface="Georgia"/>
              </a:rPr>
              <a:t>Q6</a:t>
            </a:r>
          </a:p>
        </p:txBody>
      </p:sp>
      <p:sp>
        <p:nvSpPr>
          <p:cNvPr id="28" name="TextBox 27"/>
          <p:cNvSpPr txBox="1"/>
          <p:nvPr/>
        </p:nvSpPr>
        <p:spPr>
          <a:xfrm>
            <a:off x="1554480" y="5157215"/>
            <a:ext cx="9875520" cy="585216"/>
          </a:xfrm>
          <a:prstGeom prst="rect">
            <a:avLst/>
          </a:prstGeom>
          <a:noFill/>
        </p:spPr>
        <p:txBody>
          <a:bodyPr wrap="square" anchor="t" lIns="0" rIns="0" tIns="0" bIns="0">
            <a:spAutoFit/>
          </a:bodyPr>
          <a:lstStyle/>
          <a:p>
            <a:pPr algn="l"/>
            <a:r>
              <a:rPr sz="1050" b="1">
                <a:solidFill>
                  <a:srgbClr val="1B2A41"/>
                </a:solidFill>
              </a:rPr>
              <a:t>What did Knight Capital's failure teach about deploying a bot, and what one control would have saved it?</a:t>
            </a:r>
          </a:p>
          <a:p>
            <a:pPr algn="l">
              <a:spcBef>
                <a:spcPts val="200"/>
              </a:spcBef>
            </a:pPr>
            <a:r>
              <a:rPr sz="900" b="1">
                <a:solidFill>
                  <a:srgbClr val="C9A227"/>
                </a:solidFill>
              </a:rPr>
              <a:t>TIP  </a:t>
            </a:r>
            <a:r>
              <a:rPr sz="900" b="0">
                <a:solidFill>
                  <a:srgbClr val="5D6B7E"/>
                </a:solidFill>
              </a:rPr>
              <a:t>The bug was a bad deploy on one server, not the strategy. A kill switch that a human can reach within minutes.</a:t>
            </a:r>
          </a:p>
        </p:txBody>
      </p:sp>
      <p:sp>
        <p:nvSpPr>
          <p:cNvPr id="29" name="Rectangle 28"/>
          <p:cNvSpPr/>
          <p:nvPr/>
        </p:nvSpPr>
        <p:spPr>
          <a:xfrm>
            <a:off x="548640" y="5870448"/>
            <a:ext cx="11091672" cy="51206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870448"/>
            <a:ext cx="64008" cy="5120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870448"/>
            <a:ext cx="10515600" cy="512064"/>
          </a:xfrm>
          <a:prstGeom prst="rect">
            <a:avLst/>
          </a:prstGeom>
          <a:noFill/>
        </p:spPr>
        <p:txBody>
          <a:bodyPr wrap="square" anchor="ctr" lIns="0" rIns="0" tIns="0" bIns="0">
            <a:spAutoFit/>
          </a:bodyPr>
          <a:lstStyle/>
          <a:p>
            <a:pPr algn="l"/>
            <a:r>
              <a:rPr sz="1100" b="1">
                <a:solidFill>
                  <a:srgbClr val="C9A227"/>
                </a:solidFill>
              </a:rPr>
              <a:t>Before Session 5:  </a:t>
            </a:r>
            <a:r>
              <a:rPr sz="1100" b="0">
                <a:solidFill>
                  <a:srgbClr val="FFFFFF"/>
                </a:solidFill>
              </a:rPr>
              <a:t>write one trading rule in one sentence, and list the three numbers you would need before you trust it.</a:t>
            </a:r>
          </a:p>
        </p:txBody>
      </p:sp>
      <p:sp>
        <p:nvSpPr>
          <p:cNvPr id="32" name="TextBox 31"/>
          <p:cNvSpPr txBox="1"/>
          <p:nvPr/>
        </p:nvSpPr>
        <p:spPr>
          <a:xfrm>
            <a:off x="548640" y="6473952"/>
            <a:ext cx="8229600" cy="228600"/>
          </a:xfrm>
          <a:prstGeom prst="rect">
            <a:avLst/>
          </a:prstGeom>
          <a:noFill/>
        </p:spPr>
        <p:txBody>
          <a:bodyPr wrap="square" anchor="t" lIns="0" rIns="0" tIns="0" bIns="0">
            <a:spAutoFit/>
          </a:bodyPr>
          <a:lstStyle/>
          <a:p>
            <a:pPr algn="l"/>
            <a:r>
              <a:rPr sz="800" b="0">
                <a:solidFill>
                  <a:srgbClr val="5D6B7E"/>
                </a:solidFill>
              </a:rPr>
              <a:t>The tip is the shape of the answer, not the whole answer. Two or three sentences each in the exam.</a:t>
            </a:r>
          </a:p>
        </p:txBody>
      </p:sp>
      <p:sp>
        <p:nvSpPr>
          <p:cNvPr id="33" name="TextBox 32"/>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
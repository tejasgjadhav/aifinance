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14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354312" y="0"/>
            <a:ext cx="2834640" cy="685800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354312" y="0"/>
            <a:ext cx="36576"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32688"/>
            <a:ext cx="8229600" cy="274320"/>
          </a:xfrm>
          <a:prstGeom prst="rect">
            <a:avLst/>
          </a:prstGeom>
          <a:noFill/>
        </p:spPr>
        <p:txBody>
          <a:bodyPr wrap="square" anchor="t" lIns="0" rIns="0" tIns="0" bIns="0">
            <a:spAutoFit/>
          </a:bodyPr>
          <a:lstStyle/>
          <a:p>
            <a:pPr algn="l"/>
            <a:r>
              <a:rPr sz="1200" b="1">
                <a:solidFill>
                  <a:srgbClr val="C9A227"/>
                </a:solidFill>
              </a:rPr>
              <a:t>ISBMS · PGDM 2025–27 · SEMESTER III · SESSION 4 OF 10</a:t>
            </a:r>
          </a:p>
        </p:txBody>
      </p:sp>
      <p:sp>
        <p:nvSpPr>
          <p:cNvPr id="6" name="TextBox 5"/>
          <p:cNvSpPr txBox="1"/>
          <p:nvPr/>
        </p:nvSpPr>
        <p:spPr>
          <a:xfrm>
            <a:off x="548640" y="1371600"/>
            <a:ext cx="8595360" cy="2194560"/>
          </a:xfrm>
          <a:prstGeom prst="rect">
            <a:avLst/>
          </a:prstGeom>
          <a:noFill/>
        </p:spPr>
        <p:txBody>
          <a:bodyPr wrap="square" anchor="t" lIns="0" rIns="0" tIns="0" bIns="0">
            <a:spAutoFit/>
          </a:bodyPr>
          <a:lstStyle/>
          <a:p>
            <a:pPr algn="l"/>
            <a:r>
              <a:rPr sz="5800" b="1">
                <a:solidFill>
                  <a:srgbClr val="FFFFFF"/>
                </a:solidFill>
                <a:latin typeface="Georgia"/>
              </a:rPr>
              <a:t>Module 4</a:t>
            </a:r>
          </a:p>
          <a:p>
            <a:pPr algn="l">
              <a:spcBef>
                <a:spcPts val="1000"/>
              </a:spcBef>
            </a:pPr>
            <a:r>
              <a:rPr sz="2100" b="0">
                <a:solidFill>
                  <a:srgbClr val="C9D6EE"/>
                </a:solidFill>
                <a:latin typeface="Georgia"/>
              </a:rPr>
              <a:t>Algorithmic Trading &amp; Execution Strategies</a:t>
            </a:r>
          </a:p>
        </p:txBody>
      </p:sp>
      <p:sp>
        <p:nvSpPr>
          <p:cNvPr id="7" name="Rectangle 6"/>
          <p:cNvSpPr/>
          <p:nvPr/>
        </p:nvSpPr>
        <p:spPr>
          <a:xfrm>
            <a:off x="548640" y="3913632"/>
            <a:ext cx="4023360" cy="1828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133087"/>
            <a:ext cx="8229600" cy="1097280"/>
          </a:xfrm>
          <a:prstGeom prst="rect">
            <a:avLst/>
          </a:prstGeom>
          <a:noFill/>
        </p:spPr>
        <p:txBody>
          <a:bodyPr wrap="square" anchor="t" lIns="0" rIns="0" tIns="0" bIns="0">
            <a:spAutoFit/>
          </a:bodyPr>
          <a:lstStyle/>
          <a:p>
            <a:pPr algn="l"/>
            <a:r>
              <a:rPr sz="1700" b="1">
                <a:solidFill>
                  <a:srgbClr val="FFFFFF"/>
                </a:solidFill>
              </a:rPr>
              <a:t>Tejas Jadhav, CFA, FRM</a:t>
            </a:r>
          </a:p>
          <a:p>
            <a:pPr algn="l">
              <a:spcBef>
                <a:spcPts val="400"/>
              </a:spcBef>
            </a:pPr>
            <a:r>
              <a:rPr sz="1200" b="0">
                <a:solidFill>
                  <a:srgbClr val="8FA1C4"/>
                </a:solidFill>
              </a:rPr>
              <a:t>Faculty · Agentic AI &amp; Advanced Analytics in Finance (PGDM-SEM3-SPEC-AIFINANCE)</a:t>
            </a:r>
          </a:p>
          <a:p>
            <a:pPr algn="l">
              <a:spcBef>
                <a:spcPts val="300"/>
              </a:spcBef>
            </a:pPr>
            <a:r>
              <a:rPr sz="1200" b="1">
                <a:solidFill>
                  <a:srgbClr val="C9A227"/>
                </a:solidFill>
              </a:rPr>
              <a:t>tejasgjadhav.github.io/AIFINANCE</a:t>
            </a:r>
          </a:p>
        </p:txBody>
      </p:sp>
      <p:sp>
        <p:nvSpPr>
          <p:cNvPr id="9" name="TextBox 8"/>
          <p:cNvSpPr txBox="1"/>
          <p:nvPr/>
        </p:nvSpPr>
        <p:spPr>
          <a:xfrm>
            <a:off x="9646920" y="850392"/>
            <a:ext cx="2194560" cy="274320"/>
          </a:xfrm>
          <a:prstGeom prst="rect">
            <a:avLst/>
          </a:prstGeom>
          <a:noFill/>
        </p:spPr>
        <p:txBody>
          <a:bodyPr wrap="square" anchor="t" lIns="0" rIns="0" tIns="0" bIns="0">
            <a:spAutoFit/>
          </a:bodyPr>
          <a:lstStyle/>
          <a:p>
            <a:pPr algn="l"/>
            <a:r>
              <a:rPr sz="1000" b="1">
                <a:solidFill>
                  <a:srgbClr val="C9A227"/>
                </a:solidFill>
              </a:rPr>
              <a:t>TODAY</a:t>
            </a:r>
          </a:p>
        </p:txBody>
      </p:sp>
      <p:sp>
        <p:nvSpPr>
          <p:cNvPr id="10" name="TextBox 9"/>
          <p:cNvSpPr txBox="1"/>
          <p:nvPr/>
        </p:nvSpPr>
        <p:spPr>
          <a:xfrm>
            <a:off x="9646920" y="1234440"/>
            <a:ext cx="2286000" cy="1005840"/>
          </a:xfrm>
          <a:prstGeom prst="rect">
            <a:avLst/>
          </a:prstGeom>
          <a:noFill/>
        </p:spPr>
        <p:txBody>
          <a:bodyPr wrap="square" anchor="t" lIns="0" rIns="0" tIns="0" bIns="0">
            <a:spAutoFit/>
          </a:bodyPr>
          <a:lstStyle/>
          <a:p>
            <a:pPr algn="l"/>
            <a:r>
              <a:rPr sz="1500" b="1">
                <a:solidFill>
                  <a:srgbClr val="FFFFFF"/>
                </a:solidFill>
                <a:latin typeface="Georgia"/>
              </a:rPr>
              <a:t>3 hours</a:t>
            </a:r>
          </a:p>
          <a:p>
            <a:pPr algn="l">
              <a:spcBef>
                <a:spcPts val="400"/>
              </a:spcBef>
            </a:pPr>
            <a:r>
              <a:rPr sz="1000" b="0">
                <a:solidFill>
                  <a:srgbClr val="8FA1C4"/>
                </a:solidFill>
              </a:rPr>
              <a:t>Hour 1 signals · Hour 2</a:t>
            </a:r>
          </a:p>
          <a:p>
            <a:pPr algn="l">
              <a:spcBef>
                <a:spcPts val="200"/>
              </a:spcBef>
            </a:pPr>
            <a:r>
              <a:rPr sz="1000" b="0">
                <a:solidFill>
                  <a:srgbClr val="8FA1C4"/>
                </a:solidFill>
              </a:rPr>
              <a:t>backtesting · Hour 3 bot lab</a:t>
            </a:r>
          </a:p>
        </p:txBody>
      </p:sp>
      <p:sp>
        <p:nvSpPr>
          <p:cNvPr id="11" name="TextBox 10"/>
          <p:cNvSpPr txBox="1"/>
          <p:nvPr/>
        </p:nvSpPr>
        <p:spPr>
          <a:xfrm>
            <a:off x="9646920" y="2788920"/>
            <a:ext cx="2286000" cy="1005840"/>
          </a:xfrm>
          <a:prstGeom prst="rect">
            <a:avLst/>
          </a:prstGeom>
          <a:noFill/>
        </p:spPr>
        <p:txBody>
          <a:bodyPr wrap="square" anchor="t" lIns="0" rIns="0" tIns="0" bIns="0">
            <a:spAutoFit/>
          </a:bodyPr>
          <a:lstStyle/>
          <a:p>
            <a:pPr algn="l"/>
            <a:r>
              <a:rPr sz="1500" b="1">
                <a:solidFill>
                  <a:srgbClr val="FFFFFF"/>
                </a:solidFill>
                <a:latin typeface="Georgia"/>
              </a:rPr>
              <a:t>No heavy maths</a:t>
            </a:r>
          </a:p>
          <a:p>
            <a:pPr algn="l">
              <a:spcBef>
                <a:spcPts val="400"/>
              </a:spcBef>
            </a:pPr>
            <a:r>
              <a:rPr sz="1000" b="0">
                <a:solidFill>
                  <a:srgbClr val="8FA1C4"/>
                </a:solidFill>
              </a:rPr>
              <a:t>Every idea is one rule you</a:t>
            </a:r>
          </a:p>
          <a:p>
            <a:pPr algn="l">
              <a:spcBef>
                <a:spcPts val="200"/>
              </a:spcBef>
            </a:pPr>
            <a:r>
              <a:rPr sz="1000" b="0">
                <a:solidFill>
                  <a:srgbClr val="8FA1C4"/>
                </a:solidFill>
              </a:rPr>
              <a:t>can write in one sentence.</a:t>
            </a:r>
          </a:p>
        </p:txBody>
      </p:sp>
      <p:sp>
        <p:nvSpPr>
          <p:cNvPr id="12" name="TextBox 11"/>
          <p:cNvSpPr txBox="1"/>
          <p:nvPr/>
        </p:nvSpPr>
        <p:spPr>
          <a:xfrm>
            <a:off x="9646920" y="4343400"/>
            <a:ext cx="2286000" cy="1463040"/>
          </a:xfrm>
          <a:prstGeom prst="rect">
            <a:avLst/>
          </a:prstGeom>
          <a:noFill/>
        </p:spPr>
        <p:txBody>
          <a:bodyPr wrap="square" anchor="t" lIns="0" rIns="0" tIns="0" bIns="0">
            <a:spAutoFit/>
          </a:bodyPr>
          <a:lstStyle/>
          <a:p>
            <a:pPr algn="l"/>
            <a:r>
              <a:rPr sz="4400" b="1">
                <a:solidFill>
                  <a:srgbClr val="C9A227"/>
                </a:solidFill>
                <a:latin typeface="Georgia"/>
              </a:rPr>
              <a:t>1</a:t>
            </a:r>
          </a:p>
          <a:p>
            <a:pPr algn="l">
              <a:spcBef>
                <a:spcPts val="400"/>
              </a:spcBef>
            </a:pPr>
            <a:r>
              <a:rPr sz="900" b="0">
                <a:solidFill>
                  <a:srgbClr val="8FA1C4"/>
                </a:solidFill>
              </a:rPr>
              <a:t>TRADING BOT, BACKTESTED,</a:t>
            </a:r>
          </a:p>
          <a:p>
            <a:pPr algn="l">
              <a:spcBef>
                <a:spcPts val="200"/>
              </a:spcBef>
            </a:pPr>
            <a:r>
              <a:rPr sz="900" b="0">
                <a:solidFill>
                  <a:srgbClr val="8FA1C4"/>
                </a:solidFill>
              </a:rPr>
              <a:t>BEFORE YOU LEAVE</a:t>
            </a:r>
          </a:p>
        </p:txBody>
      </p:sp>
      <p:sp>
        <p:nvSpPr>
          <p:cNvPr id="13" name="TextBox 12"/>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8FA1C4"/>
                </a:solidFill>
              </a:rPr>
              <a:t>ISBMS · PGDM 2025–27 · AGENTIC AI &amp; ADVANCED ANALYTICS IN FINANCE</a:t>
            </a:r>
          </a:p>
        </p:txBody>
      </p:sp>
      <p:sp>
        <p:nvSpPr>
          <p:cNvPr id="14" name="TextBox 13"/>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8FA1C4"/>
                </a:solidFill>
              </a:rPr>
              <a:t>MODULE 4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THE PLAN</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What we do in these three hours</a:t>
            </a:r>
          </a:p>
        </p:txBody>
      </p:sp>
      <p:sp>
        <p:nvSpPr>
          <p:cNvPr id="5" name="Rectangle 4"/>
          <p:cNvSpPr/>
          <p:nvPr/>
        </p:nvSpPr>
        <p:spPr>
          <a:xfrm>
            <a:off x="548640"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3611880" cy="731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728216"/>
            <a:ext cx="3200400" cy="566928"/>
          </a:xfrm>
          <a:prstGeom prst="rect">
            <a:avLst/>
          </a:prstGeom>
          <a:noFill/>
        </p:spPr>
        <p:txBody>
          <a:bodyPr wrap="square" anchor="t" lIns="0" rIns="0" tIns="0" bIns="0">
            <a:spAutoFit/>
          </a:bodyPr>
          <a:lstStyle/>
          <a:p>
            <a:pPr algn="l"/>
            <a:r>
              <a:rPr sz="1100" b="1">
                <a:solidFill>
                  <a:srgbClr val="C9A227"/>
                </a:solidFill>
              </a:rPr>
              <a:t>HOUR 1 · 60 MIN</a:t>
            </a:r>
          </a:p>
          <a:p>
            <a:pPr algn="l">
              <a:spcBef>
                <a:spcPts val="200"/>
              </a:spcBef>
            </a:pPr>
            <a:r>
              <a:rPr sz="1500" b="1">
                <a:solidFill>
                  <a:srgbClr val="FFFFFF"/>
                </a:solidFill>
                <a:latin typeface="Georgia"/>
              </a:rPr>
              <a:t>The market</a:t>
            </a:r>
          </a:p>
        </p:txBody>
      </p:sp>
      <p:sp>
        <p:nvSpPr>
          <p:cNvPr id="8" name="TextBox 7"/>
          <p:cNvSpPr txBox="1"/>
          <p:nvPr/>
        </p:nvSpPr>
        <p:spPr>
          <a:xfrm>
            <a:off x="768096" y="2514600"/>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The order book: bids, asks and the spread</a:t>
            </a:r>
          </a:p>
        </p:txBody>
      </p:sp>
      <p:sp>
        <p:nvSpPr>
          <p:cNvPr id="9" name="TextBox 8"/>
          <p:cNvSpPr txBox="1"/>
          <p:nvPr/>
        </p:nvSpPr>
        <p:spPr>
          <a:xfrm>
            <a:off x="768096" y="3172968"/>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Four order types, SEBI's rules, the Medallion Fund</a:t>
            </a:r>
          </a:p>
        </p:txBody>
      </p:sp>
      <p:sp>
        <p:nvSpPr>
          <p:cNvPr id="10" name="TextBox 9"/>
          <p:cNvSpPr txBox="1"/>
          <p:nvPr/>
        </p:nvSpPr>
        <p:spPr>
          <a:xfrm>
            <a:off x="768096" y="3831335"/>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Three signal families: momentum, mean reversion, pairs</a:t>
            </a:r>
          </a:p>
        </p:txBody>
      </p:sp>
      <p:sp>
        <p:nvSpPr>
          <p:cNvPr id="11" name="TextBox 10"/>
          <p:cNvSpPr txBox="1"/>
          <p:nvPr/>
        </p:nvSpPr>
        <p:spPr>
          <a:xfrm>
            <a:off x="768096" y="4489703"/>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Simulation: match five orders on a virtual order book</a:t>
            </a:r>
          </a:p>
        </p:txBody>
      </p:sp>
      <p:sp>
        <p:nvSpPr>
          <p:cNvPr id="12" name="Rectangle 11"/>
          <p:cNvSpPr/>
          <p:nvPr/>
        </p:nvSpPr>
        <p:spPr>
          <a:xfrm>
            <a:off x="4315968"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1572768"/>
            <a:ext cx="3611880" cy="731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728216"/>
            <a:ext cx="3200400" cy="566928"/>
          </a:xfrm>
          <a:prstGeom prst="rect">
            <a:avLst/>
          </a:prstGeom>
          <a:noFill/>
        </p:spPr>
        <p:txBody>
          <a:bodyPr wrap="square" anchor="t" lIns="0" rIns="0" tIns="0" bIns="0">
            <a:spAutoFit/>
          </a:bodyPr>
          <a:lstStyle/>
          <a:p>
            <a:pPr algn="l"/>
            <a:r>
              <a:rPr sz="1100" b="1">
                <a:solidFill>
                  <a:srgbClr val="C9A227"/>
                </a:solidFill>
              </a:rPr>
              <a:t>HOUR 2 · 60 MIN</a:t>
            </a:r>
          </a:p>
          <a:p>
            <a:pPr algn="l">
              <a:spcBef>
                <a:spcPts val="200"/>
              </a:spcBef>
            </a:pPr>
            <a:r>
              <a:rPr sz="1500" b="1">
                <a:solidFill>
                  <a:srgbClr val="FFFFFF"/>
                </a:solidFill>
                <a:latin typeface="Georgia"/>
              </a:rPr>
              <a:t>The test</a:t>
            </a:r>
          </a:p>
        </p:txBody>
      </p:sp>
      <p:sp>
        <p:nvSpPr>
          <p:cNvPr id="15" name="TextBox 14"/>
          <p:cNvSpPr txBox="1"/>
          <p:nvPr/>
        </p:nvSpPr>
        <p:spPr>
          <a:xfrm>
            <a:off x="4535424" y="2514600"/>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In-sample, out-of-sample, walk-forward</a:t>
            </a:r>
          </a:p>
        </p:txBody>
      </p:sp>
      <p:sp>
        <p:nvSpPr>
          <p:cNvPr id="16" name="TextBox 15"/>
          <p:cNvSpPr txBox="1"/>
          <p:nvPr/>
        </p:nvSpPr>
        <p:spPr>
          <a:xfrm>
            <a:off x="4535424" y="3172968"/>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Sharpe, Sortino, max drawdown, and costs</a:t>
            </a:r>
          </a:p>
        </p:txBody>
      </p:sp>
      <p:sp>
        <p:nvSpPr>
          <p:cNvPr id="17" name="TextBox 16"/>
          <p:cNvSpPr txBox="1"/>
          <p:nvPr/>
        </p:nvSpPr>
        <p:spPr>
          <a:xfrm>
            <a:off x="4535424" y="3831335"/>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Costs, overfitting and data snooping</a:t>
            </a:r>
          </a:p>
        </p:txBody>
      </p:sp>
      <p:sp>
        <p:nvSpPr>
          <p:cNvPr id="18" name="TextBox 17"/>
          <p:cNvSpPr txBox="1"/>
          <p:nvPr/>
        </p:nvSpPr>
        <p:spPr>
          <a:xfrm>
            <a:off x="4535424" y="4489703"/>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Case: Knight Capital lost $440M in 45 minutes</a:t>
            </a:r>
          </a:p>
        </p:txBody>
      </p:sp>
      <p:sp>
        <p:nvSpPr>
          <p:cNvPr id="19" name="Rectangle 18"/>
          <p:cNvSpPr/>
          <p:nvPr/>
        </p:nvSpPr>
        <p:spPr>
          <a:xfrm>
            <a:off x="8083296"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83296" y="1572768"/>
            <a:ext cx="3611880" cy="731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02752" y="1728216"/>
            <a:ext cx="3200400" cy="566928"/>
          </a:xfrm>
          <a:prstGeom prst="rect">
            <a:avLst/>
          </a:prstGeom>
          <a:noFill/>
        </p:spPr>
        <p:txBody>
          <a:bodyPr wrap="square" anchor="t" lIns="0" rIns="0" tIns="0" bIns="0">
            <a:spAutoFit/>
          </a:bodyPr>
          <a:lstStyle/>
          <a:p>
            <a:pPr algn="l"/>
            <a:r>
              <a:rPr sz="1100" b="1">
                <a:solidFill>
                  <a:srgbClr val="C9A227"/>
                </a:solidFill>
              </a:rPr>
              <a:t>HOUR 3 · 60 MIN</a:t>
            </a:r>
          </a:p>
          <a:p>
            <a:pPr algn="l">
              <a:spcBef>
                <a:spcPts val="200"/>
              </a:spcBef>
            </a:pPr>
            <a:r>
              <a:rPr sz="1500" b="1">
                <a:solidFill>
                  <a:srgbClr val="FFFFFF"/>
                </a:solidFill>
                <a:latin typeface="Georgia"/>
              </a:rPr>
              <a:t>The lab</a:t>
            </a:r>
          </a:p>
        </p:txBody>
      </p:sp>
      <p:sp>
        <p:nvSpPr>
          <p:cNvPr id="22" name="TextBox 21"/>
          <p:cNvSpPr txBox="1"/>
          <p:nvPr/>
        </p:nvSpPr>
        <p:spPr>
          <a:xfrm>
            <a:off x="8302752" y="2514600"/>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One sentence into Codex: momentum on NIFTY 50</a:t>
            </a:r>
          </a:p>
        </p:txBody>
      </p:sp>
      <p:sp>
        <p:nvSpPr>
          <p:cNvPr id="23" name="TextBox 22"/>
          <p:cNvSpPr txBox="1"/>
          <p:nvPr/>
        </p:nvSpPr>
        <p:spPr>
          <a:xfrm>
            <a:off x="8302752" y="3172968"/>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Two years of test data, 12 months of signal</a:t>
            </a:r>
          </a:p>
        </p:txBody>
      </p:sp>
      <p:sp>
        <p:nvSpPr>
          <p:cNvPr id="24" name="TextBox 23"/>
          <p:cNvSpPr txBox="1"/>
          <p:nvPr/>
        </p:nvSpPr>
        <p:spPr>
          <a:xfrm>
            <a:off x="8302752" y="3831335"/>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Read the monthly table against the 5% target</a:t>
            </a:r>
          </a:p>
        </p:txBody>
      </p:sp>
      <p:sp>
        <p:nvSpPr>
          <p:cNvPr id="25" name="TextBox 24"/>
          <p:cNvSpPr txBox="1"/>
          <p:nvPr/>
        </p:nvSpPr>
        <p:spPr>
          <a:xfrm>
            <a:off x="8302752" y="4489703"/>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Costs at 25, 50 and 100 bps, live in class</a:t>
            </a:r>
          </a:p>
        </p:txBody>
      </p:sp>
      <p:sp>
        <p:nvSpPr>
          <p:cNvPr id="26" name="Rectangle 25"/>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Our goal for today:  </a:t>
            </a:r>
            <a:r>
              <a:rPr sz="1200" b="0">
                <a:solidFill>
                  <a:srgbClr val="FFFFFF"/>
                </a:solidFill>
              </a:rPr>
              <a:t>one trading rule, tested honestly on two years of NSE data, with a report that says whether to trust it.</a:t>
            </a:r>
          </a:p>
        </p:txBody>
      </p:sp>
      <p:sp>
        <p:nvSpPr>
          <p:cNvPr id="29" name="TextBox 28"/>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0" name="TextBox 29"/>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MARKET MICROSTRUCTURE AND TRADING SIGNALS</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Where a trade happens, and what tells a bot to trade</a:t>
            </a:r>
          </a:p>
        </p:txBody>
      </p:sp>
      <p:sp>
        <p:nvSpPr>
          <p:cNvPr id="5" name="Rectangle 4"/>
          <p:cNvSpPr/>
          <p:nvPr/>
        </p:nvSpPr>
        <p:spPr>
          <a:xfrm>
            <a:off x="548640" y="1572768"/>
            <a:ext cx="3611880" cy="38404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55648"/>
            <a:ext cx="3108960" cy="274320"/>
          </a:xfrm>
          <a:prstGeom prst="rect">
            <a:avLst/>
          </a:prstGeom>
          <a:noFill/>
        </p:spPr>
        <p:txBody>
          <a:bodyPr wrap="square" anchor="t" lIns="0" rIns="0" tIns="0" bIns="0">
            <a:spAutoFit/>
          </a:bodyPr>
          <a:lstStyle/>
          <a:p>
            <a:pPr algn="l"/>
            <a:r>
              <a:rPr sz="1000" b="1">
                <a:solidFill>
                  <a:srgbClr val="3A5C9E"/>
                </a:solidFill>
              </a:rPr>
              <a:t>THE ORDER BOOK</a:t>
            </a:r>
          </a:p>
        </p:txBody>
      </p:sp>
      <p:sp>
        <p:nvSpPr>
          <p:cNvPr id="7" name="TextBox 6"/>
          <p:cNvSpPr txBox="1"/>
          <p:nvPr/>
        </p:nvSpPr>
        <p:spPr>
          <a:xfrm>
            <a:off x="786384"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Buyers meet sellers.</a:t>
            </a:r>
          </a:p>
        </p:txBody>
      </p:sp>
      <p:sp>
        <p:nvSpPr>
          <p:cNvPr id="8" name="TextBox 7"/>
          <p:cNvSpPr txBox="1"/>
          <p:nvPr/>
        </p:nvSpPr>
        <p:spPr>
          <a:xfrm>
            <a:off x="786384" y="2532888"/>
            <a:ext cx="3108960" cy="1417320"/>
          </a:xfrm>
          <a:prstGeom prst="rect">
            <a:avLst/>
          </a:prstGeom>
          <a:noFill/>
        </p:spPr>
        <p:txBody>
          <a:bodyPr wrap="square" anchor="t" lIns="0" rIns="0" tIns="0" bIns="0">
            <a:spAutoFit/>
          </a:bodyPr>
          <a:lstStyle/>
          <a:p>
            <a:pPr algn="l"/>
            <a:r>
              <a:rPr sz="1000" b="0">
                <a:solidFill>
                  <a:srgbClr val="1B2A41"/>
                </a:solidFill>
              </a:rPr>
              <a:t>The order book lists every buy order (a bid) and every sell order (an ask). The gap between the best bid and the best ask is the spread. A market order takes the spread now. A limit order waits at a price. A stop-loss order fires when the price crosses a level. An IOC order fills now or cancels.</a:t>
            </a:r>
          </a:p>
        </p:txBody>
      </p:sp>
      <p:sp>
        <p:nvSpPr>
          <p:cNvPr id="9" name="Rectangle 8"/>
          <p:cNvSpPr/>
          <p:nvPr/>
        </p:nvSpPr>
        <p:spPr>
          <a:xfrm>
            <a:off x="786384"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Reliance shows bid ₹2,950.00 and ask ₹2,950.50. The spread is 50 paise. A market buy pays ₹2,950.50.</a:t>
            </a:r>
          </a:p>
        </p:txBody>
      </p:sp>
      <p:sp>
        <p:nvSpPr>
          <p:cNvPr id="11" name="TextBox 10"/>
          <p:cNvSpPr txBox="1"/>
          <p:nvPr/>
        </p:nvSpPr>
        <p:spPr>
          <a:xfrm>
            <a:off x="786384" y="4956048"/>
            <a:ext cx="3108960" cy="411480"/>
          </a:xfrm>
          <a:prstGeom prst="rect">
            <a:avLst/>
          </a:prstGeom>
          <a:noFill/>
        </p:spPr>
        <p:txBody>
          <a:bodyPr wrap="square" anchor="t" lIns="0" rIns="0" tIns="0" bIns="0">
            <a:spAutoFit/>
          </a:bodyPr>
          <a:lstStyle/>
          <a:p>
            <a:pPr algn="l"/>
            <a:r>
              <a:rPr sz="1000" b="1">
                <a:solidFill>
                  <a:srgbClr val="5D6B7E"/>
                </a:solidFill>
              </a:rPr>
              <a:t>The spread is the first cost every strategy pays.</a:t>
            </a:r>
          </a:p>
        </p:txBody>
      </p:sp>
      <p:sp>
        <p:nvSpPr>
          <p:cNvPr id="12" name="Rectangle 11"/>
          <p:cNvSpPr/>
          <p:nvPr/>
        </p:nvSpPr>
        <p:spPr>
          <a:xfrm>
            <a:off x="4315968" y="1572768"/>
            <a:ext cx="3611880" cy="38404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755648"/>
            <a:ext cx="3108960" cy="274320"/>
          </a:xfrm>
          <a:prstGeom prst="rect">
            <a:avLst/>
          </a:prstGeom>
          <a:noFill/>
        </p:spPr>
        <p:txBody>
          <a:bodyPr wrap="square" anchor="t" lIns="0" rIns="0" tIns="0" bIns="0">
            <a:spAutoFit/>
          </a:bodyPr>
          <a:lstStyle/>
          <a:p>
            <a:pPr algn="l"/>
            <a:r>
              <a:rPr sz="1000" b="1">
                <a:solidFill>
                  <a:srgbClr val="3A5C9E"/>
                </a:solidFill>
              </a:rPr>
              <a:t>THREE SIGNAL FAMILIES</a:t>
            </a:r>
          </a:p>
        </p:txBody>
      </p:sp>
      <p:sp>
        <p:nvSpPr>
          <p:cNvPr id="14" name="TextBox 13"/>
          <p:cNvSpPr txBox="1"/>
          <p:nvPr/>
        </p:nvSpPr>
        <p:spPr>
          <a:xfrm>
            <a:off x="4553712"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Momentum, reversion, pairs.</a:t>
            </a:r>
          </a:p>
        </p:txBody>
      </p:sp>
      <p:sp>
        <p:nvSpPr>
          <p:cNvPr id="15" name="TextBox 14"/>
          <p:cNvSpPr txBox="1"/>
          <p:nvPr/>
        </p:nvSpPr>
        <p:spPr>
          <a:xfrm>
            <a:off x="4553712" y="2532888"/>
            <a:ext cx="3108960" cy="1417320"/>
          </a:xfrm>
          <a:prstGeom prst="rect">
            <a:avLst/>
          </a:prstGeom>
          <a:noFill/>
        </p:spPr>
        <p:txBody>
          <a:bodyPr wrap="square" anchor="t" lIns="0" rIns="0" tIns="0" bIns="0">
            <a:spAutoFit/>
          </a:bodyPr>
          <a:lstStyle/>
          <a:p>
            <a:pPr algn="l"/>
            <a:r>
              <a:rPr sz="1000" b="0">
                <a:solidFill>
                  <a:srgbClr val="1B2A41"/>
                </a:solidFill>
              </a:rPr>
              <a:t>Momentum buys what is already going up (RSI, MACD). Mean reversion buys what has fallen too far and waits for it to come back (Bollinger Bands). Pairs trading buys one stock and sells its twin when the gap between them is unusual (cointegration).</a:t>
            </a:r>
          </a:p>
        </p:txBody>
      </p:sp>
      <p:sp>
        <p:nvSpPr>
          <p:cNvPr id="16" name="Rectangle 15"/>
          <p:cNvSpPr/>
          <p:nvPr/>
        </p:nvSpPr>
        <p:spPr>
          <a:xfrm>
            <a:off x="4553712"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HDFC Bank and ICICI Bank usually move together. When one lags by a lot, the pair trade bets the gap will close.</a:t>
            </a:r>
          </a:p>
        </p:txBody>
      </p:sp>
      <p:sp>
        <p:nvSpPr>
          <p:cNvPr id="18" name="TextBox 17"/>
          <p:cNvSpPr txBox="1"/>
          <p:nvPr/>
        </p:nvSpPr>
        <p:spPr>
          <a:xfrm>
            <a:off x="4553712" y="4956048"/>
            <a:ext cx="3108960" cy="411480"/>
          </a:xfrm>
          <a:prstGeom prst="rect">
            <a:avLst/>
          </a:prstGeom>
          <a:noFill/>
        </p:spPr>
        <p:txBody>
          <a:bodyPr wrap="square" anchor="t" lIns="0" rIns="0" tIns="0" bIns="0">
            <a:spAutoFit/>
          </a:bodyPr>
          <a:lstStyle/>
          <a:p>
            <a:pPr algn="l"/>
            <a:r>
              <a:rPr sz="1000" b="1">
                <a:solidFill>
                  <a:srgbClr val="5D6B7E"/>
                </a:solidFill>
              </a:rPr>
              <a:t>Every signal is a rule you can write in one sentence.</a:t>
            </a:r>
          </a:p>
        </p:txBody>
      </p:sp>
      <p:sp>
        <p:nvSpPr>
          <p:cNvPr id="19" name="Rectangle 18"/>
          <p:cNvSpPr/>
          <p:nvPr/>
        </p:nvSpPr>
        <p:spPr>
          <a:xfrm>
            <a:off x="8083296" y="1572768"/>
            <a:ext cx="3611880"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755648"/>
            <a:ext cx="3108960" cy="274320"/>
          </a:xfrm>
          <a:prstGeom prst="rect">
            <a:avLst/>
          </a:prstGeom>
          <a:noFill/>
        </p:spPr>
        <p:txBody>
          <a:bodyPr wrap="square" anchor="t" lIns="0" rIns="0" tIns="0" bIns="0">
            <a:spAutoFit/>
          </a:bodyPr>
          <a:lstStyle/>
          <a:p>
            <a:pPr algn="l"/>
            <a:r>
              <a:rPr sz="1000" b="1">
                <a:solidFill>
                  <a:srgbClr val="C9A227"/>
                </a:solidFill>
              </a:rPr>
              <a:t>THE PLAYERS AND THE RULES</a:t>
            </a:r>
          </a:p>
        </p:txBody>
      </p:sp>
      <p:sp>
        <p:nvSpPr>
          <p:cNvPr id="21" name="TextBox 20"/>
          <p:cNvSpPr txBox="1"/>
          <p:nvPr/>
        </p:nvSpPr>
        <p:spPr>
          <a:xfrm>
            <a:off x="8321040" y="2048256"/>
            <a:ext cx="3108960" cy="365760"/>
          </a:xfrm>
          <a:prstGeom prst="rect">
            <a:avLst/>
          </a:prstGeom>
          <a:noFill/>
        </p:spPr>
        <p:txBody>
          <a:bodyPr wrap="square" anchor="t" lIns="0" rIns="0" tIns="0" bIns="0">
            <a:spAutoFit/>
          </a:bodyPr>
          <a:lstStyle/>
          <a:p>
            <a:pPr algn="l"/>
            <a:r>
              <a:rPr sz="1500" b="1">
                <a:solidFill>
                  <a:srgbClr val="FFFFFF"/>
                </a:solidFill>
                <a:latin typeface="Georgia"/>
              </a:rPr>
              <a:t>Algos trade under SEBI rules.</a:t>
            </a:r>
          </a:p>
        </p:txBody>
      </p:sp>
      <p:sp>
        <p:nvSpPr>
          <p:cNvPr id="22" name="TextBox 21"/>
          <p:cNvSpPr txBox="1"/>
          <p:nvPr/>
        </p:nvSpPr>
        <p:spPr>
          <a:xfrm>
            <a:off x="8321040" y="2532888"/>
            <a:ext cx="3108960" cy="1417320"/>
          </a:xfrm>
          <a:prstGeom prst="rect">
            <a:avLst/>
          </a:prstGeom>
          <a:noFill/>
        </p:spPr>
        <p:txBody>
          <a:bodyPr wrap="square" anchor="t" lIns="0" rIns="0" tIns="0" bIns="0">
            <a:spAutoFit/>
          </a:bodyPr>
          <a:lstStyle/>
          <a:p>
            <a:pPr algn="l"/>
            <a:r>
              <a:rPr sz="1000" b="0">
                <a:solidFill>
                  <a:srgbClr val="C9D6EE"/>
                </a:solidFill>
              </a:rPr>
              <a:t>SEBI requires every algo order to carry an ID, and the broker and the exchange must approve the strategy first. Co-location rents a server rack inside the exchange building to cut delay to a few microseconds. The exchange can throttle or halt any algo.</a:t>
            </a:r>
          </a:p>
        </p:txBody>
      </p:sp>
      <p:sp>
        <p:nvSpPr>
          <p:cNvPr id="23" name="Rectangle 22"/>
          <p:cNvSpPr/>
          <p:nvPr/>
        </p:nvSpPr>
        <p:spPr>
          <a:xfrm>
            <a:off x="8321040"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Renaissance's Medallion Fund averaged about 66% a year before fees from 1988 to 2018. It did that with thousands of small statistical bets, not one big call.</a:t>
            </a:r>
          </a:p>
        </p:txBody>
      </p:sp>
      <p:sp>
        <p:nvSpPr>
          <p:cNvPr id="25" name="TextBox 24"/>
          <p:cNvSpPr txBox="1"/>
          <p:nvPr/>
        </p:nvSpPr>
        <p:spPr>
          <a:xfrm>
            <a:off x="8321040" y="4956048"/>
            <a:ext cx="3108960" cy="411480"/>
          </a:xfrm>
          <a:prstGeom prst="rect">
            <a:avLst/>
          </a:prstGeom>
          <a:noFill/>
        </p:spPr>
        <p:txBody>
          <a:bodyPr wrap="square" anchor="t" lIns="0" rIns="0" tIns="0" bIns="0">
            <a:spAutoFit/>
          </a:bodyPr>
          <a:lstStyle/>
          <a:p>
            <a:pPr algn="l"/>
            <a:r>
              <a:rPr sz="1000" b="1">
                <a:solidFill>
                  <a:srgbClr val="C9D6EE"/>
                </a:solidFill>
              </a:rPr>
              <a:t>The edge is a small rule, repeated, not a big prediction.</a:t>
            </a:r>
          </a:p>
        </p:txBody>
      </p:sp>
      <p:sp>
        <p:nvSpPr>
          <p:cNvPr id="26" name="Rectangle 25"/>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Why it matters:  </a:t>
            </a:r>
            <a:r>
              <a:rPr sz="1200" b="0">
                <a:solidFill>
                  <a:srgbClr val="FFFFFF"/>
                </a:solidFill>
              </a:rPr>
              <a:t>a bot does not think. It reads the book, checks one rule, and sends one order type.</a:t>
            </a:r>
          </a:p>
        </p:txBody>
      </p:sp>
      <p:sp>
        <p:nvSpPr>
          <p:cNvPr id="29" name="TextBox 28"/>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0" name="TextBox 29"/>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SIMULATION EXERCISE · THE VIRTUAL ORDER BOOK</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Five orders, one book: match them by hand</a:t>
            </a:r>
          </a:p>
        </p:txBody>
      </p:sp>
      <p:sp>
        <p:nvSpPr>
          <p:cNvPr id="5" name="TextBox 4"/>
          <p:cNvSpPr txBox="1"/>
          <p:nvPr/>
        </p:nvSpPr>
        <p:spPr>
          <a:xfrm>
            <a:off x="548640" y="1371600"/>
            <a:ext cx="11091672" cy="274320"/>
          </a:xfrm>
          <a:prstGeom prst="rect">
            <a:avLst/>
          </a:prstGeom>
          <a:noFill/>
        </p:spPr>
        <p:txBody>
          <a:bodyPr wrap="square" anchor="t" lIns="0" rIns="0" tIns="0" bIns="0">
            <a:spAutoFit/>
          </a:bodyPr>
          <a:lstStyle/>
          <a:p>
            <a:pPr algn="l"/>
            <a:r>
              <a:rPr sz="1100" b="0">
                <a:solidFill>
                  <a:srgbClr val="1B2A41"/>
                </a:solidFill>
              </a:rPr>
              <a:t>The book below is Reliance at 10:15. Read the five orders in order and write down what happens to each one.</a:t>
            </a:r>
          </a:p>
        </p:txBody>
      </p:sp>
      <p:sp>
        <p:nvSpPr>
          <p:cNvPr id="6" name="Rectangle 5"/>
          <p:cNvSpPr/>
          <p:nvPr/>
        </p:nvSpPr>
        <p:spPr>
          <a:xfrm>
            <a:off x="548640" y="1773936"/>
            <a:ext cx="4754880" cy="37490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938528"/>
            <a:ext cx="4297680" cy="274320"/>
          </a:xfrm>
          <a:prstGeom prst="rect">
            <a:avLst/>
          </a:prstGeom>
          <a:noFill/>
        </p:spPr>
        <p:txBody>
          <a:bodyPr wrap="square" anchor="t" lIns="0" rIns="0" tIns="0" bIns="0">
            <a:spAutoFit/>
          </a:bodyPr>
          <a:lstStyle/>
          <a:p>
            <a:pPr algn="l"/>
            <a:r>
              <a:rPr sz="1000" b="1">
                <a:solidFill>
                  <a:srgbClr val="3A5C9E"/>
                </a:solidFill>
              </a:rPr>
              <a:t>THE BOOK BEFORE ANY ORDER</a:t>
            </a:r>
          </a:p>
        </p:txBody>
      </p:sp>
      <p:sp>
        <p:nvSpPr>
          <p:cNvPr id="8" name="TextBox 7"/>
          <p:cNvSpPr txBox="1"/>
          <p:nvPr/>
        </p:nvSpPr>
        <p:spPr>
          <a:xfrm>
            <a:off x="804672" y="2286000"/>
            <a:ext cx="1371600" cy="228600"/>
          </a:xfrm>
          <a:prstGeom prst="rect">
            <a:avLst/>
          </a:prstGeom>
          <a:noFill/>
        </p:spPr>
        <p:txBody>
          <a:bodyPr wrap="square" anchor="t" lIns="0" rIns="0" tIns="0" bIns="0">
            <a:spAutoFit/>
          </a:bodyPr>
          <a:lstStyle/>
          <a:p>
            <a:pPr algn="l"/>
            <a:r>
              <a:rPr sz="800" b="1">
                <a:solidFill>
                  <a:srgbClr val="5D6B7E"/>
                </a:solidFill>
              </a:rPr>
              <a:t>PRICE ₹</a:t>
            </a:r>
          </a:p>
        </p:txBody>
      </p:sp>
      <p:sp>
        <p:nvSpPr>
          <p:cNvPr id="9" name="TextBox 8"/>
          <p:cNvSpPr txBox="1"/>
          <p:nvPr/>
        </p:nvSpPr>
        <p:spPr>
          <a:xfrm>
            <a:off x="2286000" y="2286000"/>
            <a:ext cx="914400" cy="228600"/>
          </a:xfrm>
          <a:prstGeom prst="rect">
            <a:avLst/>
          </a:prstGeom>
          <a:noFill/>
        </p:spPr>
        <p:txBody>
          <a:bodyPr wrap="square" anchor="t" lIns="0" rIns="0" tIns="0" bIns="0">
            <a:spAutoFit/>
          </a:bodyPr>
          <a:lstStyle/>
          <a:p>
            <a:pPr algn="l"/>
            <a:r>
              <a:rPr sz="800" b="1">
                <a:solidFill>
                  <a:srgbClr val="5D6B7E"/>
                </a:solidFill>
              </a:rPr>
              <a:t>QTY</a:t>
            </a:r>
          </a:p>
        </p:txBody>
      </p:sp>
      <p:sp>
        <p:nvSpPr>
          <p:cNvPr id="10" name="TextBox 9"/>
          <p:cNvSpPr txBox="1"/>
          <p:nvPr/>
        </p:nvSpPr>
        <p:spPr>
          <a:xfrm>
            <a:off x="3291840" y="2286000"/>
            <a:ext cx="1645920" cy="228600"/>
          </a:xfrm>
          <a:prstGeom prst="rect">
            <a:avLst/>
          </a:prstGeom>
          <a:noFill/>
        </p:spPr>
        <p:txBody>
          <a:bodyPr wrap="square" anchor="t" lIns="0" rIns="0" tIns="0" bIns="0">
            <a:spAutoFit/>
          </a:bodyPr>
          <a:lstStyle/>
          <a:p>
            <a:pPr algn="l"/>
            <a:r>
              <a:rPr sz="800" b="1">
                <a:solidFill>
                  <a:srgbClr val="5D6B7E"/>
                </a:solidFill>
              </a:rPr>
              <a:t>SIDE</a:t>
            </a:r>
          </a:p>
        </p:txBody>
      </p:sp>
      <p:sp>
        <p:nvSpPr>
          <p:cNvPr id="11" name="Rectangle 10"/>
          <p:cNvSpPr/>
          <p:nvPr/>
        </p:nvSpPr>
        <p:spPr>
          <a:xfrm>
            <a:off x="804672" y="2560320"/>
            <a:ext cx="4251960" cy="36576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633472"/>
            <a:ext cx="1371600" cy="274320"/>
          </a:xfrm>
          <a:prstGeom prst="rect">
            <a:avLst/>
          </a:prstGeom>
          <a:noFill/>
        </p:spPr>
        <p:txBody>
          <a:bodyPr wrap="square" anchor="t" lIns="0" rIns="0" tIns="0" bIns="0">
            <a:spAutoFit/>
          </a:bodyPr>
          <a:lstStyle/>
          <a:p>
            <a:pPr algn="l"/>
            <a:r>
              <a:rPr sz="1100" b="1">
                <a:solidFill>
                  <a:srgbClr val="0F2145"/>
                </a:solidFill>
              </a:rPr>
              <a:t>2,951.00</a:t>
            </a:r>
          </a:p>
        </p:txBody>
      </p:sp>
      <p:sp>
        <p:nvSpPr>
          <p:cNvPr id="13" name="TextBox 12"/>
          <p:cNvSpPr txBox="1"/>
          <p:nvPr/>
        </p:nvSpPr>
        <p:spPr>
          <a:xfrm>
            <a:off x="2286000" y="2633472"/>
            <a:ext cx="914400" cy="274320"/>
          </a:xfrm>
          <a:prstGeom prst="rect">
            <a:avLst/>
          </a:prstGeom>
          <a:noFill/>
        </p:spPr>
        <p:txBody>
          <a:bodyPr wrap="square" anchor="t" lIns="0" rIns="0" tIns="0" bIns="0">
            <a:spAutoFit/>
          </a:bodyPr>
          <a:lstStyle/>
          <a:p>
            <a:pPr algn="l"/>
            <a:r>
              <a:rPr sz="1100" b="0">
                <a:solidFill>
                  <a:srgbClr val="1B2A41"/>
                </a:solidFill>
              </a:rPr>
              <a:t>300</a:t>
            </a:r>
          </a:p>
        </p:txBody>
      </p:sp>
      <p:sp>
        <p:nvSpPr>
          <p:cNvPr id="14" name="TextBox 13"/>
          <p:cNvSpPr txBox="1"/>
          <p:nvPr/>
        </p:nvSpPr>
        <p:spPr>
          <a:xfrm>
            <a:off x="3291840" y="2642615"/>
            <a:ext cx="1645920" cy="274320"/>
          </a:xfrm>
          <a:prstGeom prst="rect">
            <a:avLst/>
          </a:prstGeom>
          <a:noFill/>
        </p:spPr>
        <p:txBody>
          <a:bodyPr wrap="square" anchor="t" lIns="0" rIns="0" tIns="0" bIns="0">
            <a:spAutoFit/>
          </a:bodyPr>
          <a:lstStyle/>
          <a:p>
            <a:pPr algn="l"/>
            <a:r>
              <a:rPr sz="900" b="1">
                <a:solidFill>
                  <a:srgbClr val="3A5C9E"/>
                </a:solidFill>
              </a:rPr>
              <a:t>ASK</a:t>
            </a:r>
          </a:p>
        </p:txBody>
      </p:sp>
      <p:sp>
        <p:nvSpPr>
          <p:cNvPr id="15" name="Rectangle 14"/>
          <p:cNvSpPr/>
          <p:nvPr/>
        </p:nvSpPr>
        <p:spPr>
          <a:xfrm>
            <a:off x="804672" y="2980944"/>
            <a:ext cx="4251960" cy="36576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054096"/>
            <a:ext cx="1371600" cy="274320"/>
          </a:xfrm>
          <a:prstGeom prst="rect">
            <a:avLst/>
          </a:prstGeom>
          <a:noFill/>
        </p:spPr>
        <p:txBody>
          <a:bodyPr wrap="square" anchor="t" lIns="0" rIns="0" tIns="0" bIns="0">
            <a:spAutoFit/>
          </a:bodyPr>
          <a:lstStyle/>
          <a:p>
            <a:pPr algn="l"/>
            <a:r>
              <a:rPr sz="1100" b="1">
                <a:solidFill>
                  <a:srgbClr val="0F2145"/>
                </a:solidFill>
              </a:rPr>
              <a:t>2,950.50</a:t>
            </a:r>
          </a:p>
        </p:txBody>
      </p:sp>
      <p:sp>
        <p:nvSpPr>
          <p:cNvPr id="17" name="TextBox 16"/>
          <p:cNvSpPr txBox="1"/>
          <p:nvPr/>
        </p:nvSpPr>
        <p:spPr>
          <a:xfrm>
            <a:off x="2286000" y="3054096"/>
            <a:ext cx="914400" cy="274320"/>
          </a:xfrm>
          <a:prstGeom prst="rect">
            <a:avLst/>
          </a:prstGeom>
          <a:noFill/>
        </p:spPr>
        <p:txBody>
          <a:bodyPr wrap="square" anchor="t" lIns="0" rIns="0" tIns="0" bIns="0">
            <a:spAutoFit/>
          </a:bodyPr>
          <a:lstStyle/>
          <a:p>
            <a:pPr algn="l"/>
            <a:r>
              <a:rPr sz="1100" b="0">
                <a:solidFill>
                  <a:srgbClr val="1B2A41"/>
                </a:solidFill>
              </a:rPr>
              <a:t>500</a:t>
            </a:r>
          </a:p>
        </p:txBody>
      </p:sp>
      <p:sp>
        <p:nvSpPr>
          <p:cNvPr id="18" name="TextBox 17"/>
          <p:cNvSpPr txBox="1"/>
          <p:nvPr/>
        </p:nvSpPr>
        <p:spPr>
          <a:xfrm>
            <a:off x="3291840" y="3063239"/>
            <a:ext cx="1645920" cy="274320"/>
          </a:xfrm>
          <a:prstGeom prst="rect">
            <a:avLst/>
          </a:prstGeom>
          <a:noFill/>
        </p:spPr>
        <p:txBody>
          <a:bodyPr wrap="square" anchor="t" lIns="0" rIns="0" tIns="0" bIns="0">
            <a:spAutoFit/>
          </a:bodyPr>
          <a:lstStyle/>
          <a:p>
            <a:pPr algn="l"/>
            <a:r>
              <a:rPr sz="900" b="1">
                <a:solidFill>
                  <a:srgbClr val="3A5C9E"/>
                </a:solidFill>
              </a:rPr>
              <a:t>BEST ASK</a:t>
            </a:r>
          </a:p>
        </p:txBody>
      </p:sp>
      <p:sp>
        <p:nvSpPr>
          <p:cNvPr id="19" name="TextBox 18"/>
          <p:cNvSpPr txBox="1"/>
          <p:nvPr/>
        </p:nvSpPr>
        <p:spPr>
          <a:xfrm>
            <a:off x="804672" y="3419856"/>
            <a:ext cx="4297680" cy="274320"/>
          </a:xfrm>
          <a:prstGeom prst="rect">
            <a:avLst/>
          </a:prstGeom>
          <a:noFill/>
        </p:spPr>
        <p:txBody>
          <a:bodyPr wrap="square" anchor="t" lIns="0" rIns="0" tIns="0" bIns="0">
            <a:spAutoFit/>
          </a:bodyPr>
          <a:lstStyle/>
          <a:p>
            <a:pPr algn="l"/>
            <a:r>
              <a:rPr sz="900" b="1">
                <a:solidFill>
                  <a:srgbClr val="8F7113"/>
                </a:solidFill>
              </a:rPr>
              <a:t>▲  spread 50 paise  ▼</a:t>
            </a:r>
          </a:p>
        </p:txBody>
      </p:sp>
      <p:sp>
        <p:nvSpPr>
          <p:cNvPr id="20" name="Rectangle 19"/>
          <p:cNvSpPr/>
          <p:nvPr/>
        </p:nvSpPr>
        <p:spPr>
          <a:xfrm>
            <a:off x="804672" y="3712463"/>
            <a:ext cx="4251960" cy="36576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785615"/>
            <a:ext cx="1371600" cy="274320"/>
          </a:xfrm>
          <a:prstGeom prst="rect">
            <a:avLst/>
          </a:prstGeom>
          <a:noFill/>
        </p:spPr>
        <p:txBody>
          <a:bodyPr wrap="square" anchor="t" lIns="0" rIns="0" tIns="0" bIns="0">
            <a:spAutoFit/>
          </a:bodyPr>
          <a:lstStyle/>
          <a:p>
            <a:pPr algn="l"/>
            <a:r>
              <a:rPr sz="1100" b="1">
                <a:solidFill>
                  <a:srgbClr val="0F2145"/>
                </a:solidFill>
              </a:rPr>
              <a:t>2,950.00</a:t>
            </a:r>
          </a:p>
        </p:txBody>
      </p:sp>
      <p:sp>
        <p:nvSpPr>
          <p:cNvPr id="22" name="TextBox 21"/>
          <p:cNvSpPr txBox="1"/>
          <p:nvPr/>
        </p:nvSpPr>
        <p:spPr>
          <a:xfrm>
            <a:off x="2286000" y="3785615"/>
            <a:ext cx="914400" cy="274320"/>
          </a:xfrm>
          <a:prstGeom prst="rect">
            <a:avLst/>
          </a:prstGeom>
          <a:noFill/>
        </p:spPr>
        <p:txBody>
          <a:bodyPr wrap="square" anchor="t" lIns="0" rIns="0" tIns="0" bIns="0">
            <a:spAutoFit/>
          </a:bodyPr>
          <a:lstStyle/>
          <a:p>
            <a:pPr algn="l"/>
            <a:r>
              <a:rPr sz="1100" b="0">
                <a:solidFill>
                  <a:srgbClr val="1B2A41"/>
                </a:solidFill>
              </a:rPr>
              <a:t>400</a:t>
            </a:r>
          </a:p>
        </p:txBody>
      </p:sp>
      <p:sp>
        <p:nvSpPr>
          <p:cNvPr id="23" name="TextBox 22"/>
          <p:cNvSpPr txBox="1"/>
          <p:nvPr/>
        </p:nvSpPr>
        <p:spPr>
          <a:xfrm>
            <a:off x="3291840" y="3794759"/>
            <a:ext cx="1645920" cy="274320"/>
          </a:xfrm>
          <a:prstGeom prst="rect">
            <a:avLst/>
          </a:prstGeom>
          <a:noFill/>
        </p:spPr>
        <p:txBody>
          <a:bodyPr wrap="square" anchor="t" lIns="0" rIns="0" tIns="0" bIns="0">
            <a:spAutoFit/>
          </a:bodyPr>
          <a:lstStyle/>
          <a:p>
            <a:pPr algn="l"/>
            <a:r>
              <a:rPr sz="900" b="1">
                <a:solidFill>
                  <a:srgbClr val="3A5C9E"/>
                </a:solidFill>
              </a:rPr>
              <a:t>BEST BID</a:t>
            </a:r>
          </a:p>
        </p:txBody>
      </p:sp>
      <p:sp>
        <p:nvSpPr>
          <p:cNvPr id="24" name="Rectangle 23"/>
          <p:cNvSpPr/>
          <p:nvPr/>
        </p:nvSpPr>
        <p:spPr>
          <a:xfrm>
            <a:off x="804672" y="4133087"/>
            <a:ext cx="4251960" cy="36576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206240"/>
            <a:ext cx="1371600" cy="274320"/>
          </a:xfrm>
          <a:prstGeom prst="rect">
            <a:avLst/>
          </a:prstGeom>
          <a:noFill/>
        </p:spPr>
        <p:txBody>
          <a:bodyPr wrap="square" anchor="t" lIns="0" rIns="0" tIns="0" bIns="0">
            <a:spAutoFit/>
          </a:bodyPr>
          <a:lstStyle/>
          <a:p>
            <a:pPr algn="l"/>
            <a:r>
              <a:rPr sz="1100" b="1">
                <a:solidFill>
                  <a:srgbClr val="0F2145"/>
                </a:solidFill>
              </a:rPr>
              <a:t>2,949.50</a:t>
            </a:r>
          </a:p>
        </p:txBody>
      </p:sp>
      <p:sp>
        <p:nvSpPr>
          <p:cNvPr id="26" name="TextBox 25"/>
          <p:cNvSpPr txBox="1"/>
          <p:nvPr/>
        </p:nvSpPr>
        <p:spPr>
          <a:xfrm>
            <a:off x="2286000" y="4206240"/>
            <a:ext cx="914400" cy="274320"/>
          </a:xfrm>
          <a:prstGeom prst="rect">
            <a:avLst/>
          </a:prstGeom>
          <a:noFill/>
        </p:spPr>
        <p:txBody>
          <a:bodyPr wrap="square" anchor="t" lIns="0" rIns="0" tIns="0" bIns="0">
            <a:spAutoFit/>
          </a:bodyPr>
          <a:lstStyle/>
          <a:p>
            <a:pPr algn="l"/>
            <a:r>
              <a:rPr sz="1100" b="0">
                <a:solidFill>
                  <a:srgbClr val="1B2A41"/>
                </a:solidFill>
              </a:rPr>
              <a:t>600</a:t>
            </a:r>
          </a:p>
        </p:txBody>
      </p:sp>
      <p:sp>
        <p:nvSpPr>
          <p:cNvPr id="27" name="TextBox 26"/>
          <p:cNvSpPr txBox="1"/>
          <p:nvPr/>
        </p:nvSpPr>
        <p:spPr>
          <a:xfrm>
            <a:off x="3291840" y="4215383"/>
            <a:ext cx="1645920" cy="274320"/>
          </a:xfrm>
          <a:prstGeom prst="rect">
            <a:avLst/>
          </a:prstGeom>
          <a:noFill/>
        </p:spPr>
        <p:txBody>
          <a:bodyPr wrap="square" anchor="t" lIns="0" rIns="0" tIns="0" bIns="0">
            <a:spAutoFit/>
          </a:bodyPr>
          <a:lstStyle/>
          <a:p>
            <a:pPr algn="l"/>
            <a:r>
              <a:rPr sz="900" b="1">
                <a:solidFill>
                  <a:srgbClr val="3A5C9E"/>
                </a:solidFill>
              </a:rPr>
              <a:t>BID</a:t>
            </a:r>
          </a:p>
        </p:txBody>
      </p:sp>
      <p:sp>
        <p:nvSpPr>
          <p:cNvPr id="28" name="Rectangle 27"/>
          <p:cNvSpPr/>
          <p:nvPr/>
        </p:nvSpPr>
        <p:spPr>
          <a:xfrm>
            <a:off x="804672" y="4553712"/>
            <a:ext cx="4251960" cy="36576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4626864"/>
            <a:ext cx="1371600" cy="274320"/>
          </a:xfrm>
          <a:prstGeom prst="rect">
            <a:avLst/>
          </a:prstGeom>
          <a:noFill/>
        </p:spPr>
        <p:txBody>
          <a:bodyPr wrap="square" anchor="t" lIns="0" rIns="0" tIns="0" bIns="0">
            <a:spAutoFit/>
          </a:bodyPr>
          <a:lstStyle/>
          <a:p>
            <a:pPr algn="l"/>
            <a:r>
              <a:rPr sz="1100" b="1">
                <a:solidFill>
                  <a:srgbClr val="0F2145"/>
                </a:solidFill>
              </a:rPr>
              <a:t>2,949.00</a:t>
            </a:r>
          </a:p>
        </p:txBody>
      </p:sp>
      <p:sp>
        <p:nvSpPr>
          <p:cNvPr id="30" name="TextBox 29"/>
          <p:cNvSpPr txBox="1"/>
          <p:nvPr/>
        </p:nvSpPr>
        <p:spPr>
          <a:xfrm>
            <a:off x="2286000" y="4626864"/>
            <a:ext cx="914400" cy="274320"/>
          </a:xfrm>
          <a:prstGeom prst="rect">
            <a:avLst/>
          </a:prstGeom>
          <a:noFill/>
        </p:spPr>
        <p:txBody>
          <a:bodyPr wrap="square" anchor="t" lIns="0" rIns="0" tIns="0" bIns="0">
            <a:spAutoFit/>
          </a:bodyPr>
          <a:lstStyle/>
          <a:p>
            <a:pPr algn="l"/>
            <a:r>
              <a:rPr sz="1100" b="0">
                <a:solidFill>
                  <a:srgbClr val="1B2A41"/>
                </a:solidFill>
              </a:rPr>
              <a:t>250</a:t>
            </a:r>
          </a:p>
        </p:txBody>
      </p:sp>
      <p:sp>
        <p:nvSpPr>
          <p:cNvPr id="31" name="TextBox 30"/>
          <p:cNvSpPr txBox="1"/>
          <p:nvPr/>
        </p:nvSpPr>
        <p:spPr>
          <a:xfrm>
            <a:off x="3291840" y="4636007"/>
            <a:ext cx="1645920" cy="274320"/>
          </a:xfrm>
          <a:prstGeom prst="rect">
            <a:avLst/>
          </a:prstGeom>
          <a:noFill/>
        </p:spPr>
        <p:txBody>
          <a:bodyPr wrap="square" anchor="t" lIns="0" rIns="0" tIns="0" bIns="0">
            <a:spAutoFit/>
          </a:bodyPr>
          <a:lstStyle/>
          <a:p>
            <a:pPr algn="l"/>
            <a:r>
              <a:rPr sz="900" b="1">
                <a:solidFill>
                  <a:srgbClr val="3A5C9E"/>
                </a:solidFill>
              </a:rPr>
              <a:t>BID</a:t>
            </a:r>
          </a:p>
        </p:txBody>
      </p:sp>
      <p:sp>
        <p:nvSpPr>
          <p:cNvPr id="32" name="TextBox 31"/>
          <p:cNvSpPr txBox="1"/>
          <p:nvPr/>
        </p:nvSpPr>
        <p:spPr>
          <a:xfrm>
            <a:off x="804672" y="4983480"/>
            <a:ext cx="4297680" cy="457200"/>
          </a:xfrm>
          <a:prstGeom prst="rect">
            <a:avLst/>
          </a:prstGeom>
          <a:noFill/>
        </p:spPr>
        <p:txBody>
          <a:bodyPr wrap="square" anchor="t" lIns="0" rIns="0" tIns="0" bIns="0">
            <a:spAutoFit/>
          </a:bodyPr>
          <a:lstStyle/>
          <a:p>
            <a:pPr algn="l"/>
            <a:r>
              <a:rPr sz="950" b="1">
                <a:solidFill>
                  <a:srgbClr val="5D6B7E"/>
                </a:solidFill>
              </a:rPr>
              <a:t>Sellers sit above the spread, buyers below it. A trade happens only when one side crosses.</a:t>
            </a:r>
          </a:p>
        </p:txBody>
      </p:sp>
      <p:sp>
        <p:nvSpPr>
          <p:cNvPr id="33" name="Rectangle 32"/>
          <p:cNvSpPr/>
          <p:nvPr/>
        </p:nvSpPr>
        <p:spPr>
          <a:xfrm>
            <a:off x="5486400" y="1773936"/>
            <a:ext cx="6153912" cy="37490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42432" y="1938528"/>
            <a:ext cx="5669280" cy="274320"/>
          </a:xfrm>
          <a:prstGeom prst="rect">
            <a:avLst/>
          </a:prstGeom>
          <a:noFill/>
        </p:spPr>
        <p:txBody>
          <a:bodyPr wrap="square" anchor="t" lIns="0" rIns="0" tIns="0" bIns="0">
            <a:spAutoFit/>
          </a:bodyPr>
          <a:lstStyle/>
          <a:p>
            <a:pPr algn="l"/>
            <a:r>
              <a:rPr sz="1000" b="1">
                <a:solidFill>
                  <a:srgbClr val="3A5C9E"/>
                </a:solidFill>
              </a:rPr>
              <a:t>THE FIVE ORDERS, AND WHAT THE BOOK DOES</a:t>
            </a:r>
          </a:p>
        </p:txBody>
      </p:sp>
      <p:sp>
        <p:nvSpPr>
          <p:cNvPr id="35" name="TextBox 34"/>
          <p:cNvSpPr txBox="1"/>
          <p:nvPr/>
        </p:nvSpPr>
        <p:spPr>
          <a:xfrm>
            <a:off x="5742432" y="2286000"/>
            <a:ext cx="320040" cy="365760"/>
          </a:xfrm>
          <a:prstGeom prst="rect">
            <a:avLst/>
          </a:prstGeom>
          <a:noFill/>
        </p:spPr>
        <p:txBody>
          <a:bodyPr wrap="square" anchor="t" lIns="0" rIns="0" tIns="0" bIns="0">
            <a:spAutoFit/>
          </a:bodyPr>
          <a:lstStyle/>
          <a:p>
            <a:pPr algn="l"/>
            <a:r>
              <a:rPr sz="1400" b="1">
                <a:solidFill>
                  <a:srgbClr val="C9A227"/>
                </a:solidFill>
                <a:latin typeface="Georgia"/>
              </a:rPr>
              <a:t>1</a:t>
            </a:r>
          </a:p>
        </p:txBody>
      </p:sp>
      <p:sp>
        <p:nvSpPr>
          <p:cNvPr id="36" name="TextBox 35"/>
          <p:cNvSpPr txBox="1"/>
          <p:nvPr/>
        </p:nvSpPr>
        <p:spPr>
          <a:xfrm>
            <a:off x="6126480" y="2304288"/>
            <a:ext cx="5394960" cy="566928"/>
          </a:xfrm>
          <a:prstGeom prst="rect">
            <a:avLst/>
          </a:prstGeom>
          <a:noFill/>
        </p:spPr>
        <p:txBody>
          <a:bodyPr wrap="square" anchor="t" lIns="0" rIns="0" tIns="0" bIns="0">
            <a:spAutoFit/>
          </a:bodyPr>
          <a:lstStyle/>
          <a:p>
            <a:pPr algn="l"/>
            <a:r>
              <a:rPr sz="1050" b="1">
                <a:solidFill>
                  <a:srgbClr val="0F2145"/>
                </a:solidFill>
              </a:rPr>
              <a:t>Market buy 200</a:t>
            </a:r>
          </a:p>
          <a:p>
            <a:pPr algn="l">
              <a:spcBef>
                <a:spcPts val="100"/>
              </a:spcBef>
            </a:pPr>
            <a:r>
              <a:rPr sz="950" b="0">
                <a:solidFill>
                  <a:srgbClr val="1B2A41"/>
                </a:solidFill>
              </a:rPr>
              <a:t>Fills now at ₹2,950.50, the best ask. The buyer paid the spread. Best ask left: 300.</a:t>
            </a:r>
          </a:p>
        </p:txBody>
      </p:sp>
      <p:sp>
        <p:nvSpPr>
          <p:cNvPr id="37" name="TextBox 36"/>
          <p:cNvSpPr txBox="1"/>
          <p:nvPr/>
        </p:nvSpPr>
        <p:spPr>
          <a:xfrm>
            <a:off x="5742432" y="2834640"/>
            <a:ext cx="320040" cy="365760"/>
          </a:xfrm>
          <a:prstGeom prst="rect">
            <a:avLst/>
          </a:prstGeom>
          <a:noFill/>
        </p:spPr>
        <p:txBody>
          <a:bodyPr wrap="square" anchor="t" lIns="0" rIns="0" tIns="0" bIns="0">
            <a:spAutoFit/>
          </a:bodyPr>
          <a:lstStyle/>
          <a:p>
            <a:pPr algn="l"/>
            <a:r>
              <a:rPr sz="1400" b="1">
                <a:solidFill>
                  <a:srgbClr val="C9A227"/>
                </a:solidFill>
                <a:latin typeface="Georgia"/>
              </a:rPr>
              <a:t>2</a:t>
            </a:r>
          </a:p>
        </p:txBody>
      </p:sp>
      <p:sp>
        <p:nvSpPr>
          <p:cNvPr id="38" name="TextBox 37"/>
          <p:cNvSpPr txBox="1"/>
          <p:nvPr/>
        </p:nvSpPr>
        <p:spPr>
          <a:xfrm>
            <a:off x="6126480" y="2852928"/>
            <a:ext cx="5394960" cy="566928"/>
          </a:xfrm>
          <a:prstGeom prst="rect">
            <a:avLst/>
          </a:prstGeom>
          <a:noFill/>
        </p:spPr>
        <p:txBody>
          <a:bodyPr wrap="square" anchor="t" lIns="0" rIns="0" tIns="0" bIns="0">
            <a:spAutoFit/>
          </a:bodyPr>
          <a:lstStyle/>
          <a:p>
            <a:pPr algn="l"/>
            <a:r>
              <a:rPr sz="1050" b="1">
                <a:solidFill>
                  <a:srgbClr val="0F2145"/>
                </a:solidFill>
              </a:rPr>
              <a:t>Limit buy 200 at ₹2,950.00</a:t>
            </a:r>
          </a:p>
          <a:p>
            <a:pPr algn="l">
              <a:spcBef>
                <a:spcPts val="100"/>
              </a:spcBef>
            </a:pPr>
            <a:r>
              <a:rPr sz="950" b="0">
                <a:solidFill>
                  <a:srgbClr val="1B2A41"/>
                </a:solidFill>
              </a:rPr>
              <a:t>Joins the bid queue behind the 400 already there. It waits. It may never fill.</a:t>
            </a:r>
          </a:p>
        </p:txBody>
      </p:sp>
      <p:sp>
        <p:nvSpPr>
          <p:cNvPr id="39" name="TextBox 38"/>
          <p:cNvSpPr txBox="1"/>
          <p:nvPr/>
        </p:nvSpPr>
        <p:spPr>
          <a:xfrm>
            <a:off x="5742432" y="3383280"/>
            <a:ext cx="320040" cy="365760"/>
          </a:xfrm>
          <a:prstGeom prst="rect">
            <a:avLst/>
          </a:prstGeom>
          <a:noFill/>
        </p:spPr>
        <p:txBody>
          <a:bodyPr wrap="square" anchor="t" lIns="0" rIns="0" tIns="0" bIns="0">
            <a:spAutoFit/>
          </a:bodyPr>
          <a:lstStyle/>
          <a:p>
            <a:pPr algn="l"/>
            <a:r>
              <a:rPr sz="1400" b="1">
                <a:solidFill>
                  <a:srgbClr val="C9A227"/>
                </a:solidFill>
                <a:latin typeface="Georgia"/>
              </a:rPr>
              <a:t>3</a:t>
            </a:r>
          </a:p>
        </p:txBody>
      </p:sp>
      <p:sp>
        <p:nvSpPr>
          <p:cNvPr id="40" name="TextBox 39"/>
          <p:cNvSpPr txBox="1"/>
          <p:nvPr/>
        </p:nvSpPr>
        <p:spPr>
          <a:xfrm>
            <a:off x="6126480" y="3401568"/>
            <a:ext cx="5394960" cy="566928"/>
          </a:xfrm>
          <a:prstGeom prst="rect">
            <a:avLst/>
          </a:prstGeom>
          <a:noFill/>
        </p:spPr>
        <p:txBody>
          <a:bodyPr wrap="square" anchor="t" lIns="0" rIns="0" tIns="0" bIns="0">
            <a:spAutoFit/>
          </a:bodyPr>
          <a:lstStyle/>
          <a:p>
            <a:pPr algn="l"/>
            <a:r>
              <a:rPr sz="1050" b="1">
                <a:solidFill>
                  <a:srgbClr val="0F2145"/>
                </a:solidFill>
              </a:rPr>
              <a:t>Limit sell 300 at ₹2,950.50</a:t>
            </a:r>
          </a:p>
          <a:p>
            <a:pPr algn="l">
              <a:spcBef>
                <a:spcPts val="100"/>
              </a:spcBef>
            </a:pPr>
            <a:r>
              <a:rPr sz="950" b="0">
                <a:solidFill>
                  <a:srgbClr val="1B2A41"/>
                </a:solidFill>
              </a:rPr>
              <a:t>Joins the ask queue. Fills only when a buyer crosses to it.</a:t>
            </a:r>
          </a:p>
        </p:txBody>
      </p:sp>
      <p:sp>
        <p:nvSpPr>
          <p:cNvPr id="41" name="TextBox 40"/>
          <p:cNvSpPr txBox="1"/>
          <p:nvPr/>
        </p:nvSpPr>
        <p:spPr>
          <a:xfrm>
            <a:off x="5742432" y="3931920"/>
            <a:ext cx="320040" cy="365760"/>
          </a:xfrm>
          <a:prstGeom prst="rect">
            <a:avLst/>
          </a:prstGeom>
          <a:noFill/>
        </p:spPr>
        <p:txBody>
          <a:bodyPr wrap="square" anchor="t" lIns="0" rIns="0" tIns="0" bIns="0">
            <a:spAutoFit/>
          </a:bodyPr>
          <a:lstStyle/>
          <a:p>
            <a:pPr algn="l"/>
            <a:r>
              <a:rPr sz="1400" b="1">
                <a:solidFill>
                  <a:srgbClr val="C9A227"/>
                </a:solidFill>
                <a:latin typeface="Georgia"/>
              </a:rPr>
              <a:t>4</a:t>
            </a:r>
          </a:p>
        </p:txBody>
      </p:sp>
      <p:sp>
        <p:nvSpPr>
          <p:cNvPr id="42" name="TextBox 41"/>
          <p:cNvSpPr txBox="1"/>
          <p:nvPr/>
        </p:nvSpPr>
        <p:spPr>
          <a:xfrm>
            <a:off x="6126480" y="3950207"/>
            <a:ext cx="5394960" cy="566928"/>
          </a:xfrm>
          <a:prstGeom prst="rect">
            <a:avLst/>
          </a:prstGeom>
          <a:noFill/>
        </p:spPr>
        <p:txBody>
          <a:bodyPr wrap="square" anchor="t" lIns="0" rIns="0" tIns="0" bIns="0">
            <a:spAutoFit/>
          </a:bodyPr>
          <a:lstStyle/>
          <a:p>
            <a:pPr algn="l"/>
            <a:r>
              <a:rPr sz="1050" b="1">
                <a:solidFill>
                  <a:srgbClr val="0F2145"/>
                </a:solidFill>
              </a:rPr>
              <a:t>Stop-loss sell at ₹2,940</a:t>
            </a:r>
          </a:p>
          <a:p>
            <a:pPr algn="l">
              <a:spcBef>
                <a:spcPts val="100"/>
              </a:spcBef>
            </a:pPr>
            <a:r>
              <a:rPr sz="950" b="0">
                <a:solidFill>
                  <a:srgbClr val="1B2A41"/>
                </a:solidFill>
              </a:rPr>
              <a:t>Sleeps outside the book. It becomes a market sell the moment a trade prints at ₹2,940 or below.</a:t>
            </a:r>
          </a:p>
        </p:txBody>
      </p:sp>
      <p:sp>
        <p:nvSpPr>
          <p:cNvPr id="43" name="TextBox 42"/>
          <p:cNvSpPr txBox="1"/>
          <p:nvPr/>
        </p:nvSpPr>
        <p:spPr>
          <a:xfrm>
            <a:off x="5742432" y="4480559"/>
            <a:ext cx="320040" cy="365760"/>
          </a:xfrm>
          <a:prstGeom prst="rect">
            <a:avLst/>
          </a:prstGeom>
          <a:noFill/>
        </p:spPr>
        <p:txBody>
          <a:bodyPr wrap="square" anchor="t" lIns="0" rIns="0" tIns="0" bIns="0">
            <a:spAutoFit/>
          </a:bodyPr>
          <a:lstStyle/>
          <a:p>
            <a:pPr algn="l"/>
            <a:r>
              <a:rPr sz="1400" b="1">
                <a:solidFill>
                  <a:srgbClr val="C9A227"/>
                </a:solidFill>
                <a:latin typeface="Georgia"/>
              </a:rPr>
              <a:t>5</a:t>
            </a:r>
          </a:p>
        </p:txBody>
      </p:sp>
      <p:sp>
        <p:nvSpPr>
          <p:cNvPr id="44" name="TextBox 43"/>
          <p:cNvSpPr txBox="1"/>
          <p:nvPr/>
        </p:nvSpPr>
        <p:spPr>
          <a:xfrm>
            <a:off x="6126480" y="4498847"/>
            <a:ext cx="5394960" cy="566928"/>
          </a:xfrm>
          <a:prstGeom prst="rect">
            <a:avLst/>
          </a:prstGeom>
          <a:noFill/>
        </p:spPr>
        <p:txBody>
          <a:bodyPr wrap="square" anchor="t" lIns="0" rIns="0" tIns="0" bIns="0">
            <a:spAutoFit/>
          </a:bodyPr>
          <a:lstStyle/>
          <a:p>
            <a:pPr algn="l"/>
            <a:r>
              <a:rPr sz="1050" b="1">
                <a:solidFill>
                  <a:srgbClr val="0F2145"/>
                </a:solidFill>
              </a:rPr>
              <a:t>IOC buy 700 at ₹2,950.50</a:t>
            </a:r>
          </a:p>
          <a:p>
            <a:pPr algn="l">
              <a:spcBef>
                <a:spcPts val="100"/>
              </a:spcBef>
            </a:pPr>
            <a:r>
              <a:rPr sz="950" b="0">
                <a:solidFill>
                  <a:srgbClr val="1B2A41"/>
                </a:solidFill>
              </a:rPr>
              <a:t>500 fill at ₹2,950.50 and the other 200 cancel at once. IOC never waits.</a:t>
            </a:r>
          </a:p>
        </p:txBody>
      </p:sp>
      <p:sp>
        <p:nvSpPr>
          <p:cNvPr id="45" name="TextBox 44"/>
          <p:cNvSpPr txBox="1"/>
          <p:nvPr/>
        </p:nvSpPr>
        <p:spPr>
          <a:xfrm>
            <a:off x="5742432" y="5102352"/>
            <a:ext cx="5669280" cy="411480"/>
          </a:xfrm>
          <a:prstGeom prst="rect">
            <a:avLst/>
          </a:prstGeom>
          <a:noFill/>
        </p:spPr>
        <p:txBody>
          <a:bodyPr wrap="square" anchor="t" lIns="0" rIns="0" tIns="0" bIns="0">
            <a:spAutoFit/>
          </a:bodyPr>
          <a:lstStyle/>
          <a:p>
            <a:pPr algn="l"/>
            <a:r>
              <a:rPr sz="800" b="1">
                <a:solidFill>
                  <a:srgbClr val="8F7113"/>
                </a:solidFill>
              </a:rPr>
              <a:t>IN CLASS  </a:t>
            </a:r>
            <a:r>
              <a:rPr sz="950" b="0">
                <a:solidFill>
                  <a:srgbClr val="1B2A41"/>
                </a:solidFill>
              </a:rPr>
              <a:t>Each group is the exchange for five minutes. One student calls out orders, one keeps the book, one records every fill.</a:t>
            </a:r>
          </a:p>
        </p:txBody>
      </p:sp>
      <p:sp>
        <p:nvSpPr>
          <p:cNvPr id="46" name="Rectangle 45"/>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The exercise:  </a:t>
            </a:r>
            <a:r>
              <a:rPr sz="1200" b="0">
                <a:solidFill>
                  <a:srgbClr val="FFFFFF"/>
                </a:solidFill>
              </a:rPr>
              <a:t>match five orders by hand once, and you will never confuse a limit order with a market order again.</a:t>
            </a:r>
          </a:p>
        </p:txBody>
      </p:sp>
      <p:sp>
        <p:nvSpPr>
          <p:cNvPr id="49" name="TextBox 48"/>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50" name="TextBox 49"/>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THE ONE IDEA BEHIND EVERY BOT</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A trading bot is a goal plus a loop</a:t>
            </a:r>
          </a:p>
        </p:txBody>
      </p:sp>
      <p:sp>
        <p:nvSpPr>
          <p:cNvPr id="5" name="Rectangle 4"/>
          <p:cNvSpPr/>
          <p:nvPr/>
        </p:nvSpPr>
        <p:spPr>
          <a:xfrm>
            <a:off x="548640" y="1572768"/>
            <a:ext cx="3611880" cy="38404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55648"/>
            <a:ext cx="3108960" cy="274320"/>
          </a:xfrm>
          <a:prstGeom prst="rect">
            <a:avLst/>
          </a:prstGeom>
          <a:noFill/>
        </p:spPr>
        <p:txBody>
          <a:bodyPr wrap="square" anchor="t" lIns="0" rIns="0" tIns="0" bIns="0">
            <a:spAutoFit/>
          </a:bodyPr>
          <a:lstStyle/>
          <a:p>
            <a:pPr algn="l"/>
            <a:r>
              <a:rPr sz="1000" b="1">
                <a:solidFill>
                  <a:srgbClr val="3A5C9E"/>
                </a:solidFill>
              </a:rPr>
              <a:t>GOAL</a:t>
            </a:r>
          </a:p>
        </p:txBody>
      </p:sp>
      <p:sp>
        <p:nvSpPr>
          <p:cNvPr id="7" name="TextBox 6"/>
          <p:cNvSpPr txBox="1"/>
          <p:nvPr/>
        </p:nvSpPr>
        <p:spPr>
          <a:xfrm>
            <a:off x="786384"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What you want, as a rule.</a:t>
            </a:r>
          </a:p>
        </p:txBody>
      </p:sp>
      <p:sp>
        <p:nvSpPr>
          <p:cNvPr id="8" name="TextBox 7"/>
          <p:cNvSpPr txBox="1"/>
          <p:nvPr/>
        </p:nvSpPr>
        <p:spPr>
          <a:xfrm>
            <a:off x="786384" y="2532888"/>
            <a:ext cx="3108960" cy="1417320"/>
          </a:xfrm>
          <a:prstGeom prst="rect">
            <a:avLst/>
          </a:prstGeom>
          <a:noFill/>
        </p:spPr>
        <p:txBody>
          <a:bodyPr wrap="square" anchor="t" lIns="0" rIns="0" tIns="0" bIns="0">
            <a:spAutoFit/>
          </a:bodyPr>
          <a:lstStyle/>
          <a:p>
            <a:pPr algn="l"/>
            <a:r>
              <a:rPr sz="1000" b="0">
                <a:solidFill>
                  <a:srgbClr val="1B2A41"/>
                </a:solidFill>
              </a:rPr>
              <a:t>A goal is one sentence a machine can check. It says what to buy, when to buy it, and when to get out. If you cannot write it in one sentence, the bot cannot run it.</a:t>
            </a:r>
          </a:p>
        </p:txBody>
      </p:sp>
      <p:sp>
        <p:nvSpPr>
          <p:cNvPr id="9" name="Rectangle 8"/>
          <p:cNvSpPr/>
          <p:nvPr/>
        </p:nvSpPr>
        <p:spPr>
          <a:xfrm>
            <a:off x="786384"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Buy when the stock closes above its 20-day high. Sell at +2% or at −1%.</a:t>
            </a:r>
          </a:p>
        </p:txBody>
      </p:sp>
      <p:sp>
        <p:nvSpPr>
          <p:cNvPr id="11" name="TextBox 10"/>
          <p:cNvSpPr txBox="1"/>
          <p:nvPr/>
        </p:nvSpPr>
        <p:spPr>
          <a:xfrm>
            <a:off x="786384" y="4956048"/>
            <a:ext cx="3108960" cy="411480"/>
          </a:xfrm>
          <a:prstGeom prst="rect">
            <a:avLst/>
          </a:prstGeom>
          <a:noFill/>
        </p:spPr>
        <p:txBody>
          <a:bodyPr wrap="square" anchor="t" lIns="0" rIns="0" tIns="0" bIns="0">
            <a:spAutoFit/>
          </a:bodyPr>
          <a:lstStyle/>
          <a:p>
            <a:pPr algn="l"/>
            <a:r>
              <a:rPr sz="1000" b="1">
                <a:solidFill>
                  <a:srgbClr val="5D6B7E"/>
                </a:solidFill>
              </a:rPr>
              <a:t>The goal is the rule.</a:t>
            </a:r>
          </a:p>
        </p:txBody>
      </p:sp>
      <p:sp>
        <p:nvSpPr>
          <p:cNvPr id="12" name="Rectangle 11"/>
          <p:cNvSpPr/>
          <p:nvPr/>
        </p:nvSpPr>
        <p:spPr>
          <a:xfrm>
            <a:off x="4315968" y="1572768"/>
            <a:ext cx="3611880" cy="38404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755648"/>
            <a:ext cx="3108960" cy="274320"/>
          </a:xfrm>
          <a:prstGeom prst="rect">
            <a:avLst/>
          </a:prstGeom>
          <a:noFill/>
        </p:spPr>
        <p:txBody>
          <a:bodyPr wrap="square" anchor="t" lIns="0" rIns="0" tIns="0" bIns="0">
            <a:spAutoFit/>
          </a:bodyPr>
          <a:lstStyle/>
          <a:p>
            <a:pPr algn="l"/>
            <a:r>
              <a:rPr sz="1000" b="1">
                <a:solidFill>
                  <a:srgbClr val="3A5C9E"/>
                </a:solidFill>
              </a:rPr>
              <a:t>LOOP</a:t>
            </a:r>
          </a:p>
        </p:txBody>
      </p:sp>
      <p:sp>
        <p:nvSpPr>
          <p:cNvPr id="14" name="TextBox 13"/>
          <p:cNvSpPr txBox="1"/>
          <p:nvPr/>
        </p:nvSpPr>
        <p:spPr>
          <a:xfrm>
            <a:off x="4553712"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Same steps, on a timer.</a:t>
            </a:r>
          </a:p>
        </p:txBody>
      </p:sp>
      <p:sp>
        <p:nvSpPr>
          <p:cNvPr id="15" name="TextBox 14"/>
          <p:cNvSpPr txBox="1"/>
          <p:nvPr/>
        </p:nvSpPr>
        <p:spPr>
          <a:xfrm>
            <a:off x="4553712" y="2532888"/>
            <a:ext cx="3108960" cy="1417320"/>
          </a:xfrm>
          <a:prstGeom prst="rect">
            <a:avLst/>
          </a:prstGeom>
          <a:noFill/>
        </p:spPr>
        <p:txBody>
          <a:bodyPr wrap="square" anchor="t" lIns="0" rIns="0" tIns="0" bIns="0">
            <a:spAutoFit/>
          </a:bodyPr>
          <a:lstStyle/>
          <a:p>
            <a:pPr algn="l"/>
            <a:r>
              <a:rPr sz="1000" b="0">
                <a:solidFill>
                  <a:srgbClr val="1B2A41"/>
                </a:solidFill>
              </a:rPr>
              <a:t>A loop repeats a short list of steps on a timer. Fetch the price. Check the rule. Act. Write it down. Repeat. The loop never gets bored and never skips a step.</a:t>
            </a:r>
          </a:p>
        </p:txBody>
      </p:sp>
      <p:sp>
        <p:nvSpPr>
          <p:cNvPr id="16" name="Rectangle 15"/>
          <p:cNvSpPr/>
          <p:nvPr/>
        </p:nvSpPr>
        <p:spPr>
          <a:xfrm>
            <a:off x="4553712"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Every day at 15:36, the loop reads the closing prices of 200 stocks and checks each one against the rule.</a:t>
            </a:r>
          </a:p>
        </p:txBody>
      </p:sp>
      <p:sp>
        <p:nvSpPr>
          <p:cNvPr id="18" name="TextBox 17"/>
          <p:cNvSpPr txBox="1"/>
          <p:nvPr/>
        </p:nvSpPr>
        <p:spPr>
          <a:xfrm>
            <a:off x="4553712" y="4956048"/>
            <a:ext cx="3108960" cy="411480"/>
          </a:xfrm>
          <a:prstGeom prst="rect">
            <a:avLst/>
          </a:prstGeom>
          <a:noFill/>
        </p:spPr>
        <p:txBody>
          <a:bodyPr wrap="square" anchor="t" lIns="0" rIns="0" tIns="0" bIns="0">
            <a:spAutoFit/>
          </a:bodyPr>
          <a:lstStyle/>
          <a:p>
            <a:pPr algn="l"/>
            <a:r>
              <a:rPr sz="1000" b="1">
                <a:solidFill>
                  <a:srgbClr val="5D6B7E"/>
                </a:solidFill>
              </a:rPr>
              <a:t>The loop is the clock.</a:t>
            </a:r>
          </a:p>
        </p:txBody>
      </p:sp>
      <p:sp>
        <p:nvSpPr>
          <p:cNvPr id="19" name="Rectangle 18"/>
          <p:cNvSpPr/>
          <p:nvPr/>
        </p:nvSpPr>
        <p:spPr>
          <a:xfrm>
            <a:off x="8083296" y="1572768"/>
            <a:ext cx="3611880"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755648"/>
            <a:ext cx="3108960" cy="274320"/>
          </a:xfrm>
          <a:prstGeom prst="rect">
            <a:avLst/>
          </a:prstGeom>
          <a:noFill/>
        </p:spPr>
        <p:txBody>
          <a:bodyPr wrap="square" anchor="t" lIns="0" rIns="0" tIns="0" bIns="0">
            <a:spAutoFit/>
          </a:bodyPr>
          <a:lstStyle/>
          <a:p>
            <a:pPr algn="l"/>
            <a:r>
              <a:rPr sz="1000" b="1">
                <a:solidFill>
                  <a:srgbClr val="C9A227"/>
                </a:solidFill>
              </a:rPr>
              <a:t>GOAL + LOOP</a:t>
            </a:r>
          </a:p>
        </p:txBody>
      </p:sp>
      <p:sp>
        <p:nvSpPr>
          <p:cNvPr id="21" name="TextBox 20"/>
          <p:cNvSpPr txBox="1"/>
          <p:nvPr/>
        </p:nvSpPr>
        <p:spPr>
          <a:xfrm>
            <a:off x="8321040" y="2048256"/>
            <a:ext cx="3108960" cy="365760"/>
          </a:xfrm>
          <a:prstGeom prst="rect">
            <a:avLst/>
          </a:prstGeom>
          <a:noFill/>
        </p:spPr>
        <p:txBody>
          <a:bodyPr wrap="square" anchor="t" lIns="0" rIns="0" tIns="0" bIns="0">
            <a:spAutoFit/>
          </a:bodyPr>
          <a:lstStyle/>
          <a:p>
            <a:pPr algn="l"/>
            <a:r>
              <a:rPr sz="1500" b="1">
                <a:solidFill>
                  <a:srgbClr val="FFFFFF"/>
                </a:solidFill>
                <a:latin typeface="Georgia"/>
              </a:rPr>
              <a:t>That is a trading agent.</a:t>
            </a:r>
          </a:p>
        </p:txBody>
      </p:sp>
      <p:sp>
        <p:nvSpPr>
          <p:cNvPr id="22" name="TextBox 21"/>
          <p:cNvSpPr txBox="1"/>
          <p:nvPr/>
        </p:nvSpPr>
        <p:spPr>
          <a:xfrm>
            <a:off x="8321040" y="2532888"/>
            <a:ext cx="3108960" cy="1417320"/>
          </a:xfrm>
          <a:prstGeom prst="rect">
            <a:avLst/>
          </a:prstGeom>
          <a:noFill/>
        </p:spPr>
        <p:txBody>
          <a:bodyPr wrap="square" anchor="t" lIns="0" rIns="0" tIns="0" bIns="0">
            <a:spAutoFit/>
          </a:bodyPr>
          <a:lstStyle/>
          <a:p>
            <a:pPr algn="l"/>
            <a:r>
              <a:rPr sz="1000" b="0">
                <a:solidFill>
                  <a:srgbClr val="C9D6EE"/>
                </a:solidFill>
              </a:rPr>
              <a:t>Put the goal inside the loop and you have a bot. Add a stop, a size limit and a log, and you have a bot you can trust. Every agent in this course is built the same way.</a:t>
            </a:r>
          </a:p>
        </p:txBody>
      </p:sp>
      <p:sp>
        <p:nvSpPr>
          <p:cNvPr id="23" name="Rectangle 22"/>
          <p:cNvSpPr/>
          <p:nvPr/>
        </p:nvSpPr>
        <p:spPr>
          <a:xfrm>
            <a:off x="8321040"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Goal: sell an options credit spread after a breakout. Loop: scan at 15:36 daily, send the signal to Telegram, record the result at expiry.</a:t>
            </a:r>
          </a:p>
        </p:txBody>
      </p:sp>
      <p:sp>
        <p:nvSpPr>
          <p:cNvPr id="25" name="TextBox 24"/>
          <p:cNvSpPr txBox="1"/>
          <p:nvPr/>
        </p:nvSpPr>
        <p:spPr>
          <a:xfrm>
            <a:off x="8321040" y="4956048"/>
            <a:ext cx="3108960" cy="411480"/>
          </a:xfrm>
          <a:prstGeom prst="rect">
            <a:avLst/>
          </a:prstGeom>
          <a:noFill/>
        </p:spPr>
        <p:txBody>
          <a:bodyPr wrap="square" anchor="t" lIns="0" rIns="0" tIns="0" bIns="0">
            <a:spAutoFit/>
          </a:bodyPr>
          <a:lstStyle/>
          <a:p>
            <a:pPr algn="l"/>
            <a:r>
              <a:rPr sz="1000" b="1">
                <a:solidFill>
                  <a:srgbClr val="C9D6EE"/>
                </a:solidFill>
              </a:rPr>
              <a:t>Goal plus loop equals agent.</a:t>
            </a:r>
          </a:p>
        </p:txBody>
      </p:sp>
      <p:sp>
        <p:nvSpPr>
          <p:cNvPr id="26" name="Rectangle 25"/>
          <p:cNvSpPr/>
          <p:nvPr/>
        </p:nvSpPr>
        <p:spPr>
          <a:xfrm>
            <a:off x="4553712" y="3493008"/>
            <a:ext cx="548640" cy="31089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3712" y="3493008"/>
            <a:ext cx="548640" cy="310896"/>
          </a:xfrm>
          <a:prstGeom prst="rect">
            <a:avLst/>
          </a:prstGeom>
          <a:noFill/>
        </p:spPr>
        <p:txBody>
          <a:bodyPr wrap="square" anchor="ctr" lIns="0" rIns="0" tIns="0" bIns="0">
            <a:spAutoFit/>
          </a:bodyPr>
          <a:lstStyle/>
          <a:p>
            <a:pPr algn="ctr"/>
            <a:r>
              <a:rPr sz="800" b="1">
                <a:solidFill>
                  <a:srgbClr val="FFFFFF"/>
                </a:solidFill>
              </a:rPr>
              <a:t>FETCH</a:t>
            </a:r>
          </a:p>
        </p:txBody>
      </p:sp>
      <p:sp>
        <p:nvSpPr>
          <p:cNvPr id="28" name="TextBox 27"/>
          <p:cNvSpPr txBox="1"/>
          <p:nvPr/>
        </p:nvSpPr>
        <p:spPr>
          <a:xfrm>
            <a:off x="5102352" y="3493008"/>
            <a:ext cx="237744"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29" name="Rectangle 28"/>
          <p:cNvSpPr/>
          <p:nvPr/>
        </p:nvSpPr>
        <p:spPr>
          <a:xfrm>
            <a:off x="5340096" y="3493008"/>
            <a:ext cx="548640" cy="31089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0096" y="3493008"/>
            <a:ext cx="548640" cy="310896"/>
          </a:xfrm>
          <a:prstGeom prst="rect">
            <a:avLst/>
          </a:prstGeom>
          <a:noFill/>
        </p:spPr>
        <p:txBody>
          <a:bodyPr wrap="square" anchor="ctr" lIns="0" rIns="0" tIns="0" bIns="0">
            <a:spAutoFit/>
          </a:bodyPr>
          <a:lstStyle/>
          <a:p>
            <a:pPr algn="ctr"/>
            <a:r>
              <a:rPr sz="800" b="1">
                <a:solidFill>
                  <a:srgbClr val="FFFFFF"/>
                </a:solidFill>
              </a:rPr>
              <a:t>CHECK</a:t>
            </a:r>
          </a:p>
        </p:txBody>
      </p:sp>
      <p:sp>
        <p:nvSpPr>
          <p:cNvPr id="31" name="TextBox 30"/>
          <p:cNvSpPr txBox="1"/>
          <p:nvPr/>
        </p:nvSpPr>
        <p:spPr>
          <a:xfrm>
            <a:off x="5888736" y="3493008"/>
            <a:ext cx="237744"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32" name="Rectangle 31"/>
          <p:cNvSpPr/>
          <p:nvPr/>
        </p:nvSpPr>
        <p:spPr>
          <a:xfrm>
            <a:off x="6126480" y="3493008"/>
            <a:ext cx="457200" cy="31089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0" y="3493008"/>
            <a:ext cx="457200" cy="310896"/>
          </a:xfrm>
          <a:prstGeom prst="rect">
            <a:avLst/>
          </a:prstGeom>
          <a:noFill/>
        </p:spPr>
        <p:txBody>
          <a:bodyPr wrap="square" anchor="ctr" lIns="0" rIns="0" tIns="0" bIns="0">
            <a:spAutoFit/>
          </a:bodyPr>
          <a:lstStyle/>
          <a:p>
            <a:pPr algn="ctr"/>
            <a:r>
              <a:rPr sz="800" b="1">
                <a:solidFill>
                  <a:srgbClr val="FFFFFF"/>
                </a:solidFill>
              </a:rPr>
              <a:t>ACT</a:t>
            </a:r>
          </a:p>
        </p:txBody>
      </p:sp>
      <p:sp>
        <p:nvSpPr>
          <p:cNvPr id="34" name="TextBox 33"/>
          <p:cNvSpPr txBox="1"/>
          <p:nvPr/>
        </p:nvSpPr>
        <p:spPr>
          <a:xfrm>
            <a:off x="6583680" y="3493008"/>
            <a:ext cx="237744"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35" name="Rectangle 34"/>
          <p:cNvSpPr/>
          <p:nvPr/>
        </p:nvSpPr>
        <p:spPr>
          <a:xfrm>
            <a:off x="6821424" y="3493008"/>
            <a:ext cx="457200" cy="310896"/>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21424" y="3493008"/>
            <a:ext cx="457200" cy="310896"/>
          </a:xfrm>
          <a:prstGeom prst="rect">
            <a:avLst/>
          </a:prstGeom>
          <a:noFill/>
        </p:spPr>
        <p:txBody>
          <a:bodyPr wrap="square" anchor="ctr" lIns="0" rIns="0" tIns="0" bIns="0">
            <a:spAutoFit/>
          </a:bodyPr>
          <a:lstStyle/>
          <a:p>
            <a:pPr algn="ctr"/>
            <a:r>
              <a:rPr sz="800" b="1">
                <a:solidFill>
                  <a:srgbClr val="0F2145"/>
                </a:solidFill>
              </a:rPr>
              <a:t>LOG</a:t>
            </a:r>
          </a:p>
        </p:txBody>
      </p:sp>
      <p:sp>
        <p:nvSpPr>
          <p:cNvPr id="37" name="TextBox 36"/>
          <p:cNvSpPr txBox="1"/>
          <p:nvPr/>
        </p:nvSpPr>
        <p:spPr>
          <a:xfrm>
            <a:off x="7278624" y="3493008"/>
            <a:ext cx="329184"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38" name="Rectangle 37"/>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One line to remember:  </a:t>
            </a:r>
            <a:r>
              <a:rPr sz="1200" b="0">
                <a:solidFill>
                  <a:srgbClr val="FFFFFF"/>
                </a:solidFill>
              </a:rPr>
              <a:t>the goal is the rule, the loop is the clock, and a bot is nothing more than the two together.</a:t>
            </a:r>
          </a:p>
        </p:txBody>
      </p:sp>
      <p:sp>
        <p:nvSpPr>
          <p:cNvPr id="41" name="TextBox 40"/>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42" name="TextBox 41"/>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2 · BACKTESTING METHODOLOGY AND CASE STUDY</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Backtesting: how to test a rule without fooling yourself</a:t>
            </a:r>
          </a:p>
        </p:txBody>
      </p:sp>
      <p:sp>
        <p:nvSpPr>
          <p:cNvPr id="5" name="Rectangle 4"/>
          <p:cNvSpPr/>
          <p:nvPr/>
        </p:nvSpPr>
        <p:spPr>
          <a:xfrm>
            <a:off x="548640" y="1572768"/>
            <a:ext cx="3611880" cy="38404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55648"/>
            <a:ext cx="3108960" cy="274320"/>
          </a:xfrm>
          <a:prstGeom prst="rect">
            <a:avLst/>
          </a:prstGeom>
          <a:noFill/>
        </p:spPr>
        <p:txBody>
          <a:bodyPr wrap="square" anchor="t" lIns="0" rIns="0" tIns="0" bIns="0">
            <a:spAutoFit/>
          </a:bodyPr>
          <a:lstStyle/>
          <a:p>
            <a:pPr algn="l"/>
            <a:r>
              <a:rPr sz="1000" b="1">
                <a:solidFill>
                  <a:srgbClr val="3A5C9E"/>
                </a:solidFill>
              </a:rPr>
              <a:t>TEST HONESTLY</a:t>
            </a:r>
          </a:p>
        </p:txBody>
      </p:sp>
      <p:sp>
        <p:nvSpPr>
          <p:cNvPr id="7" name="TextBox 6"/>
          <p:cNvSpPr txBox="1"/>
          <p:nvPr/>
        </p:nvSpPr>
        <p:spPr>
          <a:xfrm>
            <a:off x="786384"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Split the data first.</a:t>
            </a:r>
          </a:p>
        </p:txBody>
      </p:sp>
      <p:sp>
        <p:nvSpPr>
          <p:cNvPr id="8" name="TextBox 7"/>
          <p:cNvSpPr txBox="1"/>
          <p:nvPr/>
        </p:nvSpPr>
        <p:spPr>
          <a:xfrm>
            <a:off x="786384" y="2532888"/>
            <a:ext cx="3108960" cy="1417320"/>
          </a:xfrm>
          <a:prstGeom prst="rect">
            <a:avLst/>
          </a:prstGeom>
          <a:noFill/>
        </p:spPr>
        <p:txBody>
          <a:bodyPr wrap="square" anchor="t" lIns="0" rIns="0" tIns="0" bIns="0">
            <a:spAutoFit/>
          </a:bodyPr>
          <a:lstStyle/>
          <a:p>
            <a:pPr algn="l"/>
            <a:r>
              <a:rPr sz="1000" b="0">
                <a:solidFill>
                  <a:srgbClr val="1B2A41"/>
                </a:solidFill>
              </a:rPr>
              <a:t>In-sample is the data you build the rule on. Out-of-sample is data the rule has never seen. Walk-forward repeats that split year by year. Overfitting is a rule that fits the past and fails the future. Data snooping is trying 100 rules and reporting the one that worked.</a:t>
            </a:r>
          </a:p>
        </p:txBody>
      </p:sp>
      <p:sp>
        <p:nvSpPr>
          <p:cNvPr id="9" name="Rectangle 8"/>
          <p:cNvSpPr/>
          <p:nvPr/>
        </p:nvSpPr>
        <p:spPr>
          <a:xfrm>
            <a:off x="786384"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Build on 2019 to 2024. Test on 2025 to 2026 once. A rule that wins 80% in-sample and 55% out-of-sample was fitted, not found.</a:t>
            </a:r>
          </a:p>
        </p:txBody>
      </p:sp>
      <p:sp>
        <p:nvSpPr>
          <p:cNvPr id="11" name="TextBox 10"/>
          <p:cNvSpPr txBox="1"/>
          <p:nvPr/>
        </p:nvSpPr>
        <p:spPr>
          <a:xfrm>
            <a:off x="786384" y="4956048"/>
            <a:ext cx="3108960" cy="411480"/>
          </a:xfrm>
          <a:prstGeom prst="rect">
            <a:avLst/>
          </a:prstGeom>
          <a:noFill/>
        </p:spPr>
        <p:txBody>
          <a:bodyPr wrap="square" anchor="t" lIns="0" rIns="0" tIns="0" bIns="0">
            <a:spAutoFit/>
          </a:bodyPr>
          <a:lstStyle/>
          <a:p>
            <a:pPr algn="l"/>
            <a:r>
              <a:rPr sz="1000" b="1">
                <a:solidFill>
                  <a:srgbClr val="5D6B7E"/>
                </a:solidFill>
              </a:rPr>
              <a:t>Out-of-sample is the only test that counts.</a:t>
            </a:r>
          </a:p>
        </p:txBody>
      </p:sp>
      <p:sp>
        <p:nvSpPr>
          <p:cNvPr id="12" name="Rectangle 11"/>
          <p:cNvSpPr/>
          <p:nvPr/>
        </p:nvSpPr>
        <p:spPr>
          <a:xfrm>
            <a:off x="4315968" y="1572768"/>
            <a:ext cx="3611880" cy="38404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755648"/>
            <a:ext cx="3108960" cy="274320"/>
          </a:xfrm>
          <a:prstGeom prst="rect">
            <a:avLst/>
          </a:prstGeom>
          <a:noFill/>
        </p:spPr>
        <p:txBody>
          <a:bodyPr wrap="square" anchor="t" lIns="0" rIns="0" tIns="0" bIns="0">
            <a:spAutoFit/>
          </a:bodyPr>
          <a:lstStyle/>
          <a:p>
            <a:pPr algn="l"/>
            <a:r>
              <a:rPr sz="1000" b="1">
                <a:solidFill>
                  <a:srgbClr val="3A5C9E"/>
                </a:solidFill>
              </a:rPr>
              <a:t>THREE NUMBERS</a:t>
            </a:r>
          </a:p>
        </p:txBody>
      </p:sp>
      <p:sp>
        <p:nvSpPr>
          <p:cNvPr id="14" name="TextBox 13"/>
          <p:cNvSpPr txBox="1"/>
          <p:nvPr/>
        </p:nvSpPr>
        <p:spPr>
          <a:xfrm>
            <a:off x="4553712"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Return, risk, worst fall.</a:t>
            </a:r>
          </a:p>
        </p:txBody>
      </p:sp>
      <p:sp>
        <p:nvSpPr>
          <p:cNvPr id="15" name="TextBox 14"/>
          <p:cNvSpPr txBox="1"/>
          <p:nvPr/>
        </p:nvSpPr>
        <p:spPr>
          <a:xfrm>
            <a:off x="4553712" y="2532888"/>
            <a:ext cx="3108960" cy="1417320"/>
          </a:xfrm>
          <a:prstGeom prst="rect">
            <a:avLst/>
          </a:prstGeom>
          <a:noFill/>
        </p:spPr>
        <p:txBody>
          <a:bodyPr wrap="square" anchor="t" lIns="0" rIns="0" tIns="0" bIns="0">
            <a:spAutoFit/>
          </a:bodyPr>
          <a:lstStyle/>
          <a:p>
            <a:pPr algn="l"/>
            <a:r>
              <a:rPr sz="1000" b="0">
                <a:solidFill>
                  <a:srgbClr val="1B2A41"/>
                </a:solidFill>
              </a:rPr>
              <a:t>The Sharpe ratio is the average return divided by its ups and downs. Sortino counts only the downside moves. Max drawdown is the biggest fall from a peak to the next low. Subtract brokerage, STT and the spread before you compute any of them.</a:t>
            </a:r>
          </a:p>
        </p:txBody>
      </p:sp>
      <p:sp>
        <p:nvSpPr>
          <p:cNvPr id="16" name="Rectangle 15"/>
          <p:cNvSpPr/>
          <p:nvPr/>
        </p:nvSpPr>
        <p:spPr>
          <a:xfrm>
            <a:off x="4553712"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A rule made 20% a year with a 30% max drawdown. Your investor lost a third of the money on the way.</a:t>
            </a:r>
          </a:p>
        </p:txBody>
      </p:sp>
      <p:sp>
        <p:nvSpPr>
          <p:cNvPr id="18" name="TextBox 17"/>
          <p:cNvSpPr txBox="1"/>
          <p:nvPr/>
        </p:nvSpPr>
        <p:spPr>
          <a:xfrm>
            <a:off x="4553712" y="4956048"/>
            <a:ext cx="3108960" cy="411480"/>
          </a:xfrm>
          <a:prstGeom prst="rect">
            <a:avLst/>
          </a:prstGeom>
          <a:noFill/>
        </p:spPr>
        <p:txBody>
          <a:bodyPr wrap="square" anchor="t" lIns="0" rIns="0" tIns="0" bIns="0">
            <a:spAutoFit/>
          </a:bodyPr>
          <a:lstStyle/>
          <a:p>
            <a:pPr algn="l"/>
            <a:r>
              <a:rPr sz="1000" b="1">
                <a:solidFill>
                  <a:srgbClr val="5D6B7E"/>
                </a:solidFill>
              </a:rPr>
              <a:t>A Sharpe above 1 after costs is good. Above 3 is usually a bug.</a:t>
            </a:r>
          </a:p>
        </p:txBody>
      </p:sp>
      <p:sp>
        <p:nvSpPr>
          <p:cNvPr id="19" name="Rectangle 18"/>
          <p:cNvSpPr/>
          <p:nvPr/>
        </p:nvSpPr>
        <p:spPr>
          <a:xfrm>
            <a:off x="8083296" y="1572768"/>
            <a:ext cx="3611880"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755648"/>
            <a:ext cx="3108960" cy="274320"/>
          </a:xfrm>
          <a:prstGeom prst="rect">
            <a:avLst/>
          </a:prstGeom>
          <a:noFill/>
        </p:spPr>
        <p:txBody>
          <a:bodyPr wrap="square" anchor="t" lIns="0" rIns="0" tIns="0" bIns="0">
            <a:spAutoFit/>
          </a:bodyPr>
          <a:lstStyle/>
          <a:p>
            <a:pPr algn="l"/>
            <a:r>
              <a:rPr sz="1000" b="1">
                <a:solidFill>
                  <a:srgbClr val="C9A227"/>
                </a:solidFill>
              </a:rPr>
              <a:t>CASE · KNIGHT CAPITAL</a:t>
            </a:r>
          </a:p>
        </p:txBody>
      </p:sp>
      <p:sp>
        <p:nvSpPr>
          <p:cNvPr id="21" name="TextBox 20"/>
          <p:cNvSpPr txBox="1"/>
          <p:nvPr/>
        </p:nvSpPr>
        <p:spPr>
          <a:xfrm>
            <a:off x="8321040" y="2048256"/>
            <a:ext cx="3108960" cy="365760"/>
          </a:xfrm>
          <a:prstGeom prst="rect">
            <a:avLst/>
          </a:prstGeom>
          <a:noFill/>
        </p:spPr>
        <p:txBody>
          <a:bodyPr wrap="square" anchor="t" lIns="0" rIns="0" tIns="0" bIns="0">
            <a:spAutoFit/>
          </a:bodyPr>
          <a:lstStyle/>
          <a:p>
            <a:pPr algn="l"/>
            <a:r>
              <a:rPr sz="1500" b="1">
                <a:solidFill>
                  <a:srgbClr val="FFFFFF"/>
                </a:solidFill>
                <a:latin typeface="Georgia"/>
              </a:rPr>
              <a:t>$440 million in 45 minutes.</a:t>
            </a:r>
          </a:p>
        </p:txBody>
      </p:sp>
      <p:sp>
        <p:nvSpPr>
          <p:cNvPr id="22" name="TextBox 21"/>
          <p:cNvSpPr txBox="1"/>
          <p:nvPr/>
        </p:nvSpPr>
        <p:spPr>
          <a:xfrm>
            <a:off x="8321040" y="2532888"/>
            <a:ext cx="3108960" cy="1417320"/>
          </a:xfrm>
          <a:prstGeom prst="rect">
            <a:avLst/>
          </a:prstGeom>
          <a:noFill/>
        </p:spPr>
        <p:txBody>
          <a:bodyPr wrap="square" anchor="t" lIns="0" rIns="0" tIns="0" bIns="0">
            <a:spAutoFit/>
          </a:bodyPr>
          <a:lstStyle/>
          <a:p>
            <a:pPr algn="l"/>
            <a:r>
              <a:rPr sz="1000" b="0">
                <a:solidFill>
                  <a:srgbClr val="C9D6EE"/>
                </a:solidFill>
              </a:rPr>
              <a:t>On 1 August 2012 Knight Capital pushed new software to eight servers. One server kept old test code. At the open it sent millions of unwanted orders. Knight lost $440 million before anyone stopped it, and the firm was sold within months.</a:t>
            </a:r>
          </a:p>
        </p:txBody>
      </p:sp>
      <p:sp>
        <p:nvSpPr>
          <p:cNvPr id="23" name="Rectangle 22"/>
          <p:cNvSpPr/>
          <p:nvPr/>
        </p:nvSpPr>
        <p:spPr>
          <a:xfrm>
            <a:off x="8321040"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The bug was not the strategy. It was a deploy with no kill switch and nobody watching the first minutes.</a:t>
            </a:r>
          </a:p>
        </p:txBody>
      </p:sp>
      <p:sp>
        <p:nvSpPr>
          <p:cNvPr id="25" name="TextBox 24"/>
          <p:cNvSpPr txBox="1"/>
          <p:nvPr/>
        </p:nvSpPr>
        <p:spPr>
          <a:xfrm>
            <a:off x="8321040" y="4956048"/>
            <a:ext cx="3108960" cy="411480"/>
          </a:xfrm>
          <a:prstGeom prst="rect">
            <a:avLst/>
          </a:prstGeom>
          <a:noFill/>
        </p:spPr>
        <p:txBody>
          <a:bodyPr wrap="square" anchor="t" lIns="0" rIns="0" tIns="0" bIns="0">
            <a:spAutoFit/>
          </a:bodyPr>
          <a:lstStyle/>
          <a:p>
            <a:pPr algn="l"/>
            <a:r>
              <a:rPr sz="1000" b="1">
                <a:solidFill>
                  <a:srgbClr val="C9D6EE"/>
                </a:solidFill>
              </a:rPr>
              <a:t>Every bot needs an off switch a human can reach.</a:t>
            </a:r>
          </a:p>
        </p:txBody>
      </p:sp>
      <p:sp>
        <p:nvSpPr>
          <p:cNvPr id="26" name="Rectangle 25"/>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The exam line:  </a:t>
            </a:r>
            <a:r>
              <a:rPr sz="1200" b="0">
                <a:solidFill>
                  <a:srgbClr val="FFFFFF"/>
                </a:solidFill>
              </a:rPr>
              <a:t>a backtest is a ceiling on what a rule can earn, never a promise.</a:t>
            </a:r>
          </a:p>
        </p:txBody>
      </p:sp>
      <p:sp>
        <p:nvSpPr>
          <p:cNvPr id="29" name="TextBox 28"/>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0" name="TextBox 29"/>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3 · LIVE LAB IN CODEX</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The lab: one sentence in, a momentum backtest out</a:t>
            </a:r>
          </a:p>
        </p:txBody>
      </p:sp>
      <p:sp>
        <p:nvSpPr>
          <p:cNvPr id="5" name="TextBox 4"/>
          <p:cNvSpPr txBox="1"/>
          <p:nvPr/>
        </p:nvSpPr>
        <p:spPr>
          <a:xfrm>
            <a:off x="548640" y="1371600"/>
            <a:ext cx="11091672" cy="274320"/>
          </a:xfrm>
          <a:prstGeom prst="rect">
            <a:avLst/>
          </a:prstGeom>
          <a:noFill/>
        </p:spPr>
        <p:txBody>
          <a:bodyPr wrap="square" anchor="t" lIns="0" rIns="0" tIns="0" bIns="0">
            <a:spAutoFit/>
          </a:bodyPr>
          <a:lstStyle/>
          <a:p>
            <a:pPr algn="l"/>
            <a:r>
              <a:rPr sz="1100" b="0">
                <a:solidFill>
                  <a:srgbClr val="1B2A41"/>
                </a:solidFill>
              </a:rPr>
              <a:t>We type one English sentence into Codex. Codex writes a plan, asks for approval, then builds and runs the backtest in front of the class.</a:t>
            </a:r>
          </a:p>
        </p:txBody>
      </p:sp>
      <p:sp>
        <p:nvSpPr>
          <p:cNvPr id="6" name="Rectangle 5"/>
          <p:cNvSpPr/>
          <p:nvPr/>
        </p:nvSpPr>
        <p:spPr>
          <a:xfrm>
            <a:off x="548640" y="1773936"/>
            <a:ext cx="512064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938528"/>
            <a:ext cx="4663440" cy="274320"/>
          </a:xfrm>
          <a:prstGeom prst="rect">
            <a:avLst/>
          </a:prstGeom>
          <a:noFill/>
        </p:spPr>
        <p:txBody>
          <a:bodyPr wrap="square" anchor="t" lIns="0" rIns="0" tIns="0" bIns="0">
            <a:spAutoFit/>
          </a:bodyPr>
          <a:lstStyle/>
          <a:p>
            <a:pPr algn="l"/>
            <a:r>
              <a:rPr sz="1000" b="1">
                <a:solidFill>
                  <a:srgbClr val="3A5C9E"/>
                </a:solidFill>
              </a:rPr>
              <a:t>THE BRIEF WE TYPED</a:t>
            </a:r>
          </a:p>
        </p:txBody>
      </p:sp>
      <p:sp>
        <p:nvSpPr>
          <p:cNvPr id="8" name="Rectangle 7"/>
          <p:cNvSpPr/>
          <p:nvPr/>
        </p:nvSpPr>
        <p:spPr>
          <a:xfrm>
            <a:off x="804672" y="2249424"/>
            <a:ext cx="4617720" cy="713232"/>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322576"/>
            <a:ext cx="4343400" cy="603504"/>
          </a:xfrm>
          <a:prstGeom prst="rect">
            <a:avLst/>
          </a:prstGeom>
          <a:noFill/>
        </p:spPr>
        <p:txBody>
          <a:bodyPr wrap="square" anchor="t" lIns="0" rIns="0" tIns="0" bIns="0">
            <a:spAutoFit/>
          </a:bodyPr>
          <a:lstStyle/>
          <a:p>
            <a:pPr algn="l"/>
            <a:r>
              <a:rPr sz="1050" b="0">
                <a:solidFill>
                  <a:srgbClr val="0F2145"/>
                </a:solidFill>
                <a:latin typeface="Georgia"/>
              </a:rPr>
              <a:t>“We want to run a Momentum strategy on last two year NSE data with a goal that we get monthly returns above 5%.”</a:t>
            </a:r>
          </a:p>
        </p:txBody>
      </p:sp>
      <p:sp>
        <p:nvSpPr>
          <p:cNvPr id="10" name="TextBox 9"/>
          <p:cNvSpPr txBox="1"/>
          <p:nvPr/>
        </p:nvSpPr>
        <p:spPr>
          <a:xfrm>
            <a:off x="804672" y="3072384"/>
            <a:ext cx="4663440" cy="274320"/>
          </a:xfrm>
          <a:prstGeom prst="rect">
            <a:avLst/>
          </a:prstGeom>
          <a:noFill/>
        </p:spPr>
        <p:txBody>
          <a:bodyPr wrap="square" anchor="t" lIns="0" rIns="0" tIns="0" bIns="0">
            <a:spAutoFit/>
          </a:bodyPr>
          <a:lstStyle/>
          <a:p>
            <a:pPr algn="l"/>
            <a:r>
              <a:rPr sz="1000" b="1">
                <a:solidFill>
                  <a:srgbClr val="3A5C9E"/>
                </a:solidFill>
              </a:rPr>
              <a:t>WHAT CODEX DID BEFORE WRITING CODE</a:t>
            </a:r>
          </a:p>
        </p:txBody>
      </p:sp>
      <p:sp>
        <p:nvSpPr>
          <p:cNvPr id="11" name="TextBox 10"/>
          <p:cNvSpPr txBox="1"/>
          <p:nvPr/>
        </p:nvSpPr>
        <p:spPr>
          <a:xfrm>
            <a:off x="804672" y="3364992"/>
            <a:ext cx="4663440" cy="50292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Checked the workspace and found no data or code</a:t>
            </a:r>
          </a:p>
        </p:txBody>
      </p:sp>
      <p:sp>
        <p:nvSpPr>
          <p:cNvPr id="12" name="TextBox 11"/>
          <p:cNvSpPr txBox="1"/>
          <p:nvPr/>
        </p:nvSpPr>
        <p:spPr>
          <a:xfrm>
            <a:off x="804672" y="3694176"/>
            <a:ext cx="4663440" cy="50292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Asked us three questions, then searched for NSE data sources</a:t>
            </a:r>
          </a:p>
        </p:txBody>
      </p:sp>
      <p:sp>
        <p:nvSpPr>
          <p:cNvPr id="13" name="TextBox 12"/>
          <p:cNvSpPr txBox="1"/>
          <p:nvPr/>
        </p:nvSpPr>
        <p:spPr>
          <a:xfrm>
            <a:off x="804672" y="4023360"/>
            <a:ext cx="4663440" cy="50292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Wrote a plan and asked “Implement this plan?” before touching a file</a:t>
            </a:r>
          </a:p>
        </p:txBody>
      </p:sp>
      <p:sp>
        <p:nvSpPr>
          <p:cNvPr id="14" name="Rectangle 13"/>
          <p:cNvSpPr/>
          <p:nvPr/>
        </p:nvSpPr>
        <p:spPr>
          <a:xfrm>
            <a:off x="5852160" y="1773936"/>
            <a:ext cx="578815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08192" y="1938528"/>
            <a:ext cx="5303520" cy="274320"/>
          </a:xfrm>
          <a:prstGeom prst="rect">
            <a:avLst/>
          </a:prstGeom>
          <a:noFill/>
        </p:spPr>
        <p:txBody>
          <a:bodyPr wrap="square" anchor="t" lIns="0" rIns="0" tIns="0" bIns="0">
            <a:spAutoFit/>
          </a:bodyPr>
          <a:lstStyle/>
          <a:p>
            <a:pPr algn="l"/>
            <a:r>
              <a:rPr sz="1000" b="1">
                <a:solidFill>
                  <a:srgbClr val="3A5C9E"/>
                </a:solidFill>
              </a:rPr>
              <a:t>THE PLAN CODEX WROTE</a:t>
            </a:r>
          </a:p>
        </p:txBody>
      </p:sp>
      <p:sp>
        <p:nvSpPr>
          <p:cNvPr id="16" name="TextBox 15"/>
          <p:cNvSpPr txBox="1"/>
          <p:nvPr/>
        </p:nvSpPr>
        <p:spPr>
          <a:xfrm>
            <a:off x="6108192" y="2249424"/>
            <a:ext cx="320040" cy="365760"/>
          </a:xfrm>
          <a:prstGeom prst="rect">
            <a:avLst/>
          </a:prstGeom>
          <a:noFill/>
        </p:spPr>
        <p:txBody>
          <a:bodyPr wrap="square" anchor="t" lIns="0" rIns="0" tIns="0" bIns="0">
            <a:spAutoFit/>
          </a:bodyPr>
          <a:lstStyle/>
          <a:p>
            <a:pPr algn="l"/>
            <a:r>
              <a:rPr sz="1300" b="1">
                <a:solidFill>
                  <a:srgbClr val="C9A227"/>
                </a:solidFill>
                <a:latin typeface="Georgia"/>
              </a:rPr>
              <a:t>1</a:t>
            </a:r>
          </a:p>
        </p:txBody>
      </p:sp>
      <p:sp>
        <p:nvSpPr>
          <p:cNvPr id="17" name="TextBox 16"/>
          <p:cNvSpPr txBox="1"/>
          <p:nvPr/>
        </p:nvSpPr>
        <p:spPr>
          <a:xfrm>
            <a:off x="6473952" y="2267712"/>
            <a:ext cx="4983480" cy="457200"/>
          </a:xfrm>
          <a:prstGeom prst="rect">
            <a:avLst/>
          </a:prstGeom>
          <a:noFill/>
        </p:spPr>
        <p:txBody>
          <a:bodyPr wrap="square" anchor="t" lIns="0" rIns="0" tIns="0" bIns="0">
            <a:spAutoFit/>
          </a:bodyPr>
          <a:lstStyle/>
          <a:p>
            <a:pPr algn="l"/>
            <a:r>
              <a:rPr sz="950" b="0">
                <a:solidFill>
                  <a:srgbClr val="1B2A41"/>
                </a:solidFill>
              </a:rPr>
              <a:t>Download 36 months of NSE data: 12 to form the signal, 24 to test on.</a:t>
            </a:r>
          </a:p>
        </p:txBody>
      </p:sp>
      <p:sp>
        <p:nvSpPr>
          <p:cNvPr id="18" name="TextBox 17"/>
          <p:cNvSpPr txBox="1"/>
          <p:nvPr/>
        </p:nvSpPr>
        <p:spPr>
          <a:xfrm>
            <a:off x="6108192" y="2670048"/>
            <a:ext cx="320040" cy="365760"/>
          </a:xfrm>
          <a:prstGeom prst="rect">
            <a:avLst/>
          </a:prstGeom>
          <a:noFill/>
        </p:spPr>
        <p:txBody>
          <a:bodyPr wrap="square" anchor="t" lIns="0" rIns="0" tIns="0" bIns="0">
            <a:spAutoFit/>
          </a:bodyPr>
          <a:lstStyle/>
          <a:p>
            <a:pPr algn="l"/>
            <a:r>
              <a:rPr sz="1300" b="1">
                <a:solidFill>
                  <a:srgbClr val="C9A227"/>
                </a:solidFill>
                <a:latin typeface="Georgia"/>
              </a:rPr>
              <a:t>2</a:t>
            </a:r>
          </a:p>
        </p:txBody>
      </p:sp>
      <p:sp>
        <p:nvSpPr>
          <p:cNvPr id="19" name="TextBox 18"/>
          <p:cNvSpPr txBox="1"/>
          <p:nvPr/>
        </p:nvSpPr>
        <p:spPr>
          <a:xfrm>
            <a:off x="6473952" y="2688336"/>
            <a:ext cx="4983480" cy="457200"/>
          </a:xfrm>
          <a:prstGeom prst="rect">
            <a:avLst/>
          </a:prstGeom>
          <a:noFill/>
        </p:spPr>
        <p:txBody>
          <a:bodyPr wrap="square" anchor="t" lIns="0" rIns="0" tIns="0" bIns="0">
            <a:spAutoFit/>
          </a:bodyPr>
          <a:lstStyle/>
          <a:p>
            <a:pPr algn="l"/>
            <a:r>
              <a:rPr sz="950" b="0">
                <a:solidFill>
                  <a:srgbClr val="1B2A41"/>
                </a:solidFill>
              </a:rPr>
              <a:t>At each month-end, rank the NIFTY 50 stocks by 12-1 momentum: the return from 12 months ago to one month ago.</a:t>
            </a:r>
          </a:p>
        </p:txBody>
      </p:sp>
      <p:sp>
        <p:nvSpPr>
          <p:cNvPr id="20" name="TextBox 19"/>
          <p:cNvSpPr txBox="1"/>
          <p:nvPr/>
        </p:nvSpPr>
        <p:spPr>
          <a:xfrm>
            <a:off x="6108192" y="3090672"/>
            <a:ext cx="320040" cy="365760"/>
          </a:xfrm>
          <a:prstGeom prst="rect">
            <a:avLst/>
          </a:prstGeom>
          <a:noFill/>
        </p:spPr>
        <p:txBody>
          <a:bodyPr wrap="square" anchor="t" lIns="0" rIns="0" tIns="0" bIns="0">
            <a:spAutoFit/>
          </a:bodyPr>
          <a:lstStyle/>
          <a:p>
            <a:pPr algn="l"/>
            <a:r>
              <a:rPr sz="1300" b="1">
                <a:solidFill>
                  <a:srgbClr val="C9A227"/>
                </a:solidFill>
                <a:latin typeface="Georgia"/>
              </a:rPr>
              <a:t>3</a:t>
            </a:r>
          </a:p>
        </p:txBody>
      </p:sp>
      <p:sp>
        <p:nvSpPr>
          <p:cNvPr id="21" name="TextBox 20"/>
          <p:cNvSpPr txBox="1"/>
          <p:nvPr/>
        </p:nvSpPr>
        <p:spPr>
          <a:xfrm>
            <a:off x="6473952" y="3108960"/>
            <a:ext cx="4983480" cy="457200"/>
          </a:xfrm>
          <a:prstGeom prst="rect">
            <a:avLst/>
          </a:prstGeom>
          <a:noFill/>
        </p:spPr>
        <p:txBody>
          <a:bodyPr wrap="square" anchor="t" lIns="0" rIns="0" tIns="0" bIns="0">
            <a:spAutoFit/>
          </a:bodyPr>
          <a:lstStyle/>
          <a:p>
            <a:pPr algn="l"/>
            <a:r>
              <a:rPr sz="950" b="0">
                <a:solidFill>
                  <a:srgbClr val="1B2A41"/>
                </a:solidFill>
              </a:rPr>
              <a:t>Hold the top five at 20% each, long only, and trade at the next session's open.</a:t>
            </a:r>
          </a:p>
        </p:txBody>
      </p:sp>
      <p:sp>
        <p:nvSpPr>
          <p:cNvPr id="22" name="TextBox 21"/>
          <p:cNvSpPr txBox="1"/>
          <p:nvPr/>
        </p:nvSpPr>
        <p:spPr>
          <a:xfrm>
            <a:off x="6108192" y="3511296"/>
            <a:ext cx="320040" cy="365760"/>
          </a:xfrm>
          <a:prstGeom prst="rect">
            <a:avLst/>
          </a:prstGeom>
          <a:noFill/>
        </p:spPr>
        <p:txBody>
          <a:bodyPr wrap="square" anchor="t" lIns="0" rIns="0" tIns="0" bIns="0">
            <a:spAutoFit/>
          </a:bodyPr>
          <a:lstStyle/>
          <a:p>
            <a:pPr algn="l"/>
            <a:r>
              <a:rPr sz="1300" b="1">
                <a:solidFill>
                  <a:srgbClr val="C9A227"/>
                </a:solidFill>
                <a:latin typeface="Georgia"/>
              </a:rPr>
              <a:t>4</a:t>
            </a:r>
          </a:p>
        </p:txBody>
      </p:sp>
      <p:sp>
        <p:nvSpPr>
          <p:cNvPr id="23" name="TextBox 22"/>
          <p:cNvSpPr txBox="1"/>
          <p:nvPr/>
        </p:nvSpPr>
        <p:spPr>
          <a:xfrm>
            <a:off x="6473952" y="3529584"/>
            <a:ext cx="4983480" cy="457200"/>
          </a:xfrm>
          <a:prstGeom prst="rect">
            <a:avLst/>
          </a:prstGeom>
          <a:noFill/>
        </p:spPr>
        <p:txBody>
          <a:bodyPr wrap="square" anchor="t" lIns="0" rIns="0" tIns="0" bIns="0">
            <a:spAutoFit/>
          </a:bodyPr>
          <a:lstStyle/>
          <a:p>
            <a:pPr algn="l"/>
            <a:r>
              <a:rPr sz="950" b="0">
                <a:solidFill>
                  <a:srgbClr val="1B2A41"/>
                </a:solidFill>
              </a:rPr>
              <a:t>Charge 25, 50 and 100 bps round trip, and compare each run to the NIFTY 50 total return.</a:t>
            </a:r>
          </a:p>
        </p:txBody>
      </p:sp>
      <p:sp>
        <p:nvSpPr>
          <p:cNvPr id="24" name="TextBox 23"/>
          <p:cNvSpPr txBox="1"/>
          <p:nvPr/>
        </p:nvSpPr>
        <p:spPr>
          <a:xfrm>
            <a:off x="6108192" y="3931920"/>
            <a:ext cx="320040" cy="365760"/>
          </a:xfrm>
          <a:prstGeom prst="rect">
            <a:avLst/>
          </a:prstGeom>
          <a:noFill/>
        </p:spPr>
        <p:txBody>
          <a:bodyPr wrap="square" anchor="t" lIns="0" rIns="0" tIns="0" bIns="0">
            <a:spAutoFit/>
          </a:bodyPr>
          <a:lstStyle/>
          <a:p>
            <a:pPr algn="l"/>
            <a:r>
              <a:rPr sz="1300" b="1">
                <a:solidFill>
                  <a:srgbClr val="C9A227"/>
                </a:solidFill>
                <a:latin typeface="Georgia"/>
              </a:rPr>
              <a:t>5</a:t>
            </a:r>
          </a:p>
        </p:txBody>
      </p:sp>
      <p:sp>
        <p:nvSpPr>
          <p:cNvPr id="25" name="TextBox 24"/>
          <p:cNvSpPr txBox="1"/>
          <p:nvPr/>
        </p:nvSpPr>
        <p:spPr>
          <a:xfrm>
            <a:off x="6473952" y="3950207"/>
            <a:ext cx="4983480" cy="457200"/>
          </a:xfrm>
          <a:prstGeom prst="rect">
            <a:avLst/>
          </a:prstGeom>
          <a:noFill/>
        </p:spPr>
        <p:txBody>
          <a:bodyPr wrap="square" anchor="t" lIns="0" rIns="0" tIns="0" bIns="0">
            <a:spAutoFit/>
          </a:bodyPr>
          <a:lstStyle/>
          <a:p>
            <a:pPr algn="l"/>
            <a:r>
              <a:rPr sz="950" b="0">
                <a:solidFill>
                  <a:srgbClr val="1B2A41"/>
                </a:solidFill>
              </a:rPr>
              <a:t>Write out holdings, turnover, trades, NAV and monthly returns. Halt on missing history instead of filling it.</a:t>
            </a:r>
          </a:p>
        </p:txBody>
      </p:sp>
      <p:sp>
        <p:nvSpPr>
          <p:cNvPr id="26" name="Rectangle 25"/>
          <p:cNvSpPr/>
          <p:nvPr/>
        </p:nvSpPr>
        <p:spPr>
          <a:xfrm>
            <a:off x="548640" y="4572000"/>
            <a:ext cx="5120640"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572000"/>
            <a:ext cx="64008" cy="10058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681728"/>
            <a:ext cx="4663440" cy="868680"/>
          </a:xfrm>
          <a:prstGeom prst="rect">
            <a:avLst/>
          </a:prstGeom>
          <a:noFill/>
        </p:spPr>
        <p:txBody>
          <a:bodyPr wrap="square" anchor="t" lIns="0" rIns="0" tIns="0" bIns="0">
            <a:spAutoFit/>
          </a:bodyPr>
          <a:lstStyle/>
          <a:p>
            <a:pPr algn="l"/>
            <a:r>
              <a:rPr sz="1000" b="1">
                <a:solidFill>
                  <a:srgbClr val="8F7113"/>
                </a:solidFill>
              </a:rPr>
              <a:t>WHAT YOU DO IN CLASS</a:t>
            </a:r>
          </a:p>
          <a:p>
            <a:pPr algn="l">
              <a:spcBef>
                <a:spcPts val="300"/>
              </a:spcBef>
            </a:pPr>
            <a:r>
              <a:rPr sz="1000" b="0">
                <a:solidFill>
                  <a:srgbClr val="1B2A41"/>
                </a:solidFill>
              </a:rPr>
              <a:t>Approve the plan. Read the monthly return table and count the months above 5%. Then read the same table at 25, 50 and 100 bps and see what costs take away.</a:t>
            </a:r>
          </a:p>
        </p:txBody>
      </p:sp>
      <p:sp>
        <p:nvSpPr>
          <p:cNvPr id="29" name="Rectangle 28"/>
          <p:cNvSpPr/>
          <p:nvPr/>
        </p:nvSpPr>
        <p:spPr>
          <a:xfrm>
            <a:off x="5852160" y="4572000"/>
            <a:ext cx="5788152"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852160" y="4572000"/>
            <a:ext cx="64008" cy="10058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26480" y="4681728"/>
            <a:ext cx="5303520" cy="868680"/>
          </a:xfrm>
          <a:prstGeom prst="rect">
            <a:avLst/>
          </a:prstGeom>
          <a:noFill/>
        </p:spPr>
        <p:txBody>
          <a:bodyPr wrap="square" anchor="t" lIns="0" rIns="0" tIns="0" bIns="0">
            <a:spAutoFit/>
          </a:bodyPr>
          <a:lstStyle/>
          <a:p>
            <a:pPr algn="l"/>
            <a:r>
              <a:rPr sz="1000" b="1">
                <a:solidFill>
                  <a:srgbClr val="8F7113"/>
                </a:solidFill>
              </a:rPr>
              <a:t>THE LESSON</a:t>
            </a:r>
          </a:p>
          <a:p>
            <a:pPr algn="l">
              <a:spcBef>
                <a:spcPts val="300"/>
              </a:spcBef>
            </a:pPr>
            <a:r>
              <a:rPr sz="1000" b="0">
                <a:solidFill>
                  <a:srgbClr val="1B2A41"/>
                </a:solidFill>
              </a:rPr>
              <a:t>Codex called 5% a month an aggressive target and treated it as a constraint to test, not a return to promise. That is the right habit. The goal was our sentence. Codex turned it into a loop of month-ends.</a:t>
            </a:r>
          </a:p>
        </p:txBody>
      </p:sp>
      <p:sp>
        <p:nvSpPr>
          <p:cNvPr id="32" name="Rectangle 31"/>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What you have at the end:  </a:t>
            </a:r>
            <a:r>
              <a:rPr sz="1200" b="0">
                <a:solidFill>
                  <a:srgbClr val="FFFFFF"/>
                </a:solidFill>
              </a:rPr>
              <a:t>a backtest you wrote as one sentence, and a monthly table that says whether 5% a month was ever real.</a:t>
            </a:r>
          </a:p>
        </p:txBody>
      </p:sp>
      <p:sp>
        <p:nvSpPr>
          <p:cNvPr id="35" name="TextBox 34"/>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6" name="TextBox 35"/>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PRACTICE QUESTIONS</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Six questions before the exam</a:t>
            </a:r>
          </a:p>
        </p:txBody>
      </p:sp>
      <p:sp>
        <p:nvSpPr>
          <p:cNvPr id="5" name="Rectangle 4"/>
          <p:cNvSpPr/>
          <p:nvPr/>
        </p:nvSpPr>
        <p:spPr>
          <a:xfrm>
            <a:off x="548640" y="1444752"/>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44752"/>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08760"/>
            <a:ext cx="640080" cy="365760"/>
          </a:xfrm>
          <a:prstGeom prst="rect">
            <a:avLst/>
          </a:prstGeom>
          <a:noFill/>
        </p:spPr>
        <p:txBody>
          <a:bodyPr wrap="square" anchor="t" lIns="0" rIns="0" tIns="0" bIns="0">
            <a:spAutoFit/>
          </a:bodyPr>
          <a:lstStyle/>
          <a:p>
            <a:pPr algn="l"/>
            <a:r>
              <a:rPr sz="1400" b="1">
                <a:solidFill>
                  <a:srgbClr val="3A5C9E"/>
                </a:solidFill>
                <a:latin typeface="Georgia"/>
              </a:rPr>
              <a:t>Q1</a:t>
            </a:r>
          </a:p>
        </p:txBody>
      </p:sp>
      <p:sp>
        <p:nvSpPr>
          <p:cNvPr id="8" name="TextBox 7"/>
          <p:cNvSpPr txBox="1"/>
          <p:nvPr/>
        </p:nvSpPr>
        <p:spPr>
          <a:xfrm>
            <a:off x="1554480" y="1499616"/>
            <a:ext cx="9875520" cy="585216"/>
          </a:xfrm>
          <a:prstGeom prst="rect">
            <a:avLst/>
          </a:prstGeom>
          <a:noFill/>
        </p:spPr>
        <p:txBody>
          <a:bodyPr wrap="square" anchor="t" lIns="0" rIns="0" tIns="0" bIns="0">
            <a:spAutoFit/>
          </a:bodyPr>
          <a:lstStyle/>
          <a:p>
            <a:pPr algn="l"/>
            <a:r>
              <a:rPr sz="1050" b="1">
                <a:solidFill>
                  <a:srgbClr val="1B2A41"/>
                </a:solidFill>
              </a:rPr>
              <a:t>Reliance shows bid ₹2,950.00 and ask ₹2,950.50. What does a market buy pay, and what does a limit buy at ₹2,950.00 do?</a:t>
            </a:r>
          </a:p>
          <a:p>
            <a:pPr algn="l">
              <a:spcBef>
                <a:spcPts val="200"/>
              </a:spcBef>
            </a:pPr>
            <a:r>
              <a:rPr sz="900" b="1">
                <a:solidFill>
                  <a:srgbClr val="C9A227"/>
                </a:solidFill>
              </a:rPr>
              <a:t>TIP  </a:t>
            </a:r>
            <a:r>
              <a:rPr sz="900" b="0">
                <a:solidFill>
                  <a:srgbClr val="5D6B7E"/>
                </a:solidFill>
              </a:rPr>
              <a:t>The market buy pays ₹2,950.50 now. The limit buy waits at ₹2,950.00 and may never fill.</a:t>
            </a:r>
          </a:p>
        </p:txBody>
      </p:sp>
      <p:sp>
        <p:nvSpPr>
          <p:cNvPr id="9" name="Rectangle 8"/>
          <p:cNvSpPr/>
          <p:nvPr/>
        </p:nvSpPr>
        <p:spPr>
          <a:xfrm>
            <a:off x="548640" y="2176272"/>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76272"/>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240279"/>
            <a:ext cx="640080" cy="365760"/>
          </a:xfrm>
          <a:prstGeom prst="rect">
            <a:avLst/>
          </a:prstGeom>
          <a:noFill/>
        </p:spPr>
        <p:txBody>
          <a:bodyPr wrap="square" anchor="t" lIns="0" rIns="0" tIns="0" bIns="0">
            <a:spAutoFit/>
          </a:bodyPr>
          <a:lstStyle/>
          <a:p>
            <a:pPr algn="l"/>
            <a:r>
              <a:rPr sz="1400" b="1">
                <a:solidFill>
                  <a:srgbClr val="3A5C9E"/>
                </a:solidFill>
                <a:latin typeface="Georgia"/>
              </a:rPr>
              <a:t>Q2</a:t>
            </a:r>
          </a:p>
        </p:txBody>
      </p:sp>
      <p:sp>
        <p:nvSpPr>
          <p:cNvPr id="12" name="TextBox 11"/>
          <p:cNvSpPr txBox="1"/>
          <p:nvPr/>
        </p:nvSpPr>
        <p:spPr>
          <a:xfrm>
            <a:off x="1554480" y="2231136"/>
            <a:ext cx="9875520" cy="585216"/>
          </a:xfrm>
          <a:prstGeom prst="rect">
            <a:avLst/>
          </a:prstGeom>
          <a:noFill/>
        </p:spPr>
        <p:txBody>
          <a:bodyPr wrap="square" anchor="t" lIns="0" rIns="0" tIns="0" bIns="0">
            <a:spAutoFit/>
          </a:bodyPr>
          <a:lstStyle/>
          <a:p>
            <a:pPr algn="l"/>
            <a:r>
              <a:rPr sz="1050" b="1">
                <a:solidFill>
                  <a:srgbClr val="1B2A41"/>
                </a:solidFill>
              </a:rPr>
              <a:t>Sort these into momentum, mean reversion or pairs: RSI, Bollinger Bands, cointegration.</a:t>
            </a:r>
          </a:p>
          <a:p>
            <a:pPr algn="l">
              <a:spcBef>
                <a:spcPts val="200"/>
              </a:spcBef>
            </a:pPr>
            <a:r>
              <a:rPr sz="900" b="1">
                <a:solidFill>
                  <a:srgbClr val="C9A227"/>
                </a:solidFill>
              </a:rPr>
              <a:t>TIP  </a:t>
            </a:r>
            <a:r>
              <a:rPr sz="900" b="0">
                <a:solidFill>
                  <a:srgbClr val="5D6B7E"/>
                </a:solidFill>
              </a:rPr>
              <a:t>RSI is momentum, Bollinger Bands are mean reversion, cointegration is pairs trading.</a:t>
            </a:r>
          </a:p>
        </p:txBody>
      </p:sp>
      <p:sp>
        <p:nvSpPr>
          <p:cNvPr id="13" name="Rectangle 12"/>
          <p:cNvSpPr/>
          <p:nvPr/>
        </p:nvSpPr>
        <p:spPr>
          <a:xfrm>
            <a:off x="548640" y="290779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0779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971799"/>
            <a:ext cx="640080" cy="365760"/>
          </a:xfrm>
          <a:prstGeom prst="rect">
            <a:avLst/>
          </a:prstGeom>
          <a:noFill/>
        </p:spPr>
        <p:txBody>
          <a:bodyPr wrap="square" anchor="t" lIns="0" rIns="0" tIns="0" bIns="0">
            <a:spAutoFit/>
          </a:bodyPr>
          <a:lstStyle/>
          <a:p>
            <a:pPr algn="l"/>
            <a:r>
              <a:rPr sz="1400" b="1">
                <a:solidFill>
                  <a:srgbClr val="3A5C9E"/>
                </a:solidFill>
                <a:latin typeface="Georgia"/>
              </a:rPr>
              <a:t>Q3</a:t>
            </a:r>
          </a:p>
        </p:txBody>
      </p:sp>
      <p:sp>
        <p:nvSpPr>
          <p:cNvPr id="16" name="TextBox 15"/>
          <p:cNvSpPr txBox="1"/>
          <p:nvPr/>
        </p:nvSpPr>
        <p:spPr>
          <a:xfrm>
            <a:off x="1554480" y="2962656"/>
            <a:ext cx="9875520" cy="585216"/>
          </a:xfrm>
          <a:prstGeom prst="rect">
            <a:avLst/>
          </a:prstGeom>
          <a:noFill/>
        </p:spPr>
        <p:txBody>
          <a:bodyPr wrap="square" anchor="t" lIns="0" rIns="0" tIns="0" bIns="0">
            <a:spAutoFit/>
          </a:bodyPr>
          <a:lstStyle/>
          <a:p>
            <a:pPr algn="l"/>
            <a:r>
              <a:rPr sz="1050" b="1">
                <a:solidFill>
                  <a:srgbClr val="1B2A41"/>
                </a:solidFill>
              </a:rPr>
              <a:t>Write a trading bot as a goal plus a loop for a 20-day breakout rule.</a:t>
            </a:r>
          </a:p>
          <a:p>
            <a:pPr algn="l">
              <a:spcBef>
                <a:spcPts val="200"/>
              </a:spcBef>
            </a:pPr>
            <a:r>
              <a:rPr sz="900" b="1">
                <a:solidFill>
                  <a:srgbClr val="C9A227"/>
                </a:solidFill>
              </a:rPr>
              <a:t>TIP  </a:t>
            </a:r>
            <a:r>
              <a:rPr sz="900" b="0">
                <a:solidFill>
                  <a:srgbClr val="5D6B7E"/>
                </a:solidFill>
              </a:rPr>
              <a:t>Goal: buy above the 20-day high, sell at +2% or −1%. Loop: each day fetch the close, check the rule, act, log, repeat.</a:t>
            </a:r>
          </a:p>
        </p:txBody>
      </p:sp>
      <p:sp>
        <p:nvSpPr>
          <p:cNvPr id="17" name="Rectangle 16"/>
          <p:cNvSpPr/>
          <p:nvPr/>
        </p:nvSpPr>
        <p:spPr>
          <a:xfrm>
            <a:off x="548640" y="363931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63931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703320"/>
            <a:ext cx="640080" cy="365760"/>
          </a:xfrm>
          <a:prstGeom prst="rect">
            <a:avLst/>
          </a:prstGeom>
          <a:noFill/>
        </p:spPr>
        <p:txBody>
          <a:bodyPr wrap="square" anchor="t" lIns="0" rIns="0" tIns="0" bIns="0">
            <a:spAutoFit/>
          </a:bodyPr>
          <a:lstStyle/>
          <a:p>
            <a:pPr algn="l"/>
            <a:r>
              <a:rPr sz="1400" b="1">
                <a:solidFill>
                  <a:srgbClr val="3A5C9E"/>
                </a:solidFill>
                <a:latin typeface="Georgia"/>
              </a:rPr>
              <a:t>Q4</a:t>
            </a:r>
          </a:p>
        </p:txBody>
      </p:sp>
      <p:sp>
        <p:nvSpPr>
          <p:cNvPr id="20" name="TextBox 19"/>
          <p:cNvSpPr txBox="1"/>
          <p:nvPr/>
        </p:nvSpPr>
        <p:spPr>
          <a:xfrm>
            <a:off x="1554480" y="3694175"/>
            <a:ext cx="9875520" cy="585216"/>
          </a:xfrm>
          <a:prstGeom prst="rect">
            <a:avLst/>
          </a:prstGeom>
          <a:noFill/>
        </p:spPr>
        <p:txBody>
          <a:bodyPr wrap="square" anchor="t" lIns="0" rIns="0" tIns="0" bIns="0">
            <a:spAutoFit/>
          </a:bodyPr>
          <a:lstStyle/>
          <a:p>
            <a:pPr algn="l"/>
            <a:r>
              <a:rPr sz="1050" b="1">
                <a:solidFill>
                  <a:srgbClr val="1B2A41"/>
                </a:solidFill>
              </a:rPr>
              <a:t>A rule wins 80% in-sample and 55% out-of-sample. What happened, and what do you report?</a:t>
            </a:r>
          </a:p>
          <a:p>
            <a:pPr algn="l">
              <a:spcBef>
                <a:spcPts val="200"/>
              </a:spcBef>
            </a:pPr>
            <a:r>
              <a:rPr sz="900" b="1">
                <a:solidFill>
                  <a:srgbClr val="C9A227"/>
                </a:solidFill>
              </a:rPr>
              <a:t>TIP  </a:t>
            </a:r>
            <a:r>
              <a:rPr sz="900" b="0">
                <a:solidFill>
                  <a:srgbClr val="5D6B7E"/>
                </a:solidFill>
              </a:rPr>
              <a:t>It was overfitted. Report the out-of-sample number, the costs and the drawdown, and do not trade it yet.</a:t>
            </a:r>
          </a:p>
        </p:txBody>
      </p:sp>
      <p:sp>
        <p:nvSpPr>
          <p:cNvPr id="21" name="Rectangle 20"/>
          <p:cNvSpPr/>
          <p:nvPr/>
        </p:nvSpPr>
        <p:spPr>
          <a:xfrm>
            <a:off x="548640" y="437083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437083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434840"/>
            <a:ext cx="640080" cy="365760"/>
          </a:xfrm>
          <a:prstGeom prst="rect">
            <a:avLst/>
          </a:prstGeom>
          <a:noFill/>
        </p:spPr>
        <p:txBody>
          <a:bodyPr wrap="square" anchor="t" lIns="0" rIns="0" tIns="0" bIns="0">
            <a:spAutoFit/>
          </a:bodyPr>
          <a:lstStyle/>
          <a:p>
            <a:pPr algn="l"/>
            <a:r>
              <a:rPr sz="1400" b="1">
                <a:solidFill>
                  <a:srgbClr val="3A5C9E"/>
                </a:solidFill>
                <a:latin typeface="Georgia"/>
              </a:rPr>
              <a:t>Q5</a:t>
            </a:r>
          </a:p>
        </p:txBody>
      </p:sp>
      <p:sp>
        <p:nvSpPr>
          <p:cNvPr id="24" name="TextBox 23"/>
          <p:cNvSpPr txBox="1"/>
          <p:nvPr/>
        </p:nvSpPr>
        <p:spPr>
          <a:xfrm>
            <a:off x="1554480" y="4425695"/>
            <a:ext cx="9875520" cy="585216"/>
          </a:xfrm>
          <a:prstGeom prst="rect">
            <a:avLst/>
          </a:prstGeom>
          <a:noFill/>
        </p:spPr>
        <p:txBody>
          <a:bodyPr wrap="square" anchor="t" lIns="0" rIns="0" tIns="0" bIns="0">
            <a:spAutoFit/>
          </a:bodyPr>
          <a:lstStyle/>
          <a:p>
            <a:pPr algn="l"/>
            <a:r>
              <a:rPr sz="1050" b="1">
                <a:solidFill>
                  <a:srgbClr val="1B2A41"/>
                </a:solidFill>
              </a:rPr>
              <a:t>Two rules both earn 18% a year. One had a 12% max drawdown, the other 40%. Which would you hold, and which number tells you?</a:t>
            </a:r>
          </a:p>
          <a:p>
            <a:pPr algn="l">
              <a:spcBef>
                <a:spcPts val="200"/>
              </a:spcBef>
            </a:pPr>
            <a:r>
              <a:rPr sz="900" b="1">
                <a:solidFill>
                  <a:srgbClr val="C9A227"/>
                </a:solidFill>
              </a:rPr>
              <a:t>TIP  </a:t>
            </a:r>
            <a:r>
              <a:rPr sz="900" b="0">
                <a:solidFill>
                  <a:srgbClr val="5D6B7E"/>
                </a:solidFill>
              </a:rPr>
              <a:t>The 12% one. Max drawdown is the worst fall an investor has to sit through: same return, a third of the pain.</a:t>
            </a:r>
          </a:p>
        </p:txBody>
      </p:sp>
      <p:sp>
        <p:nvSpPr>
          <p:cNvPr id="25" name="Rectangle 24"/>
          <p:cNvSpPr/>
          <p:nvPr/>
        </p:nvSpPr>
        <p:spPr>
          <a:xfrm>
            <a:off x="548640" y="510235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510235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166359"/>
            <a:ext cx="640080" cy="365760"/>
          </a:xfrm>
          <a:prstGeom prst="rect">
            <a:avLst/>
          </a:prstGeom>
          <a:noFill/>
        </p:spPr>
        <p:txBody>
          <a:bodyPr wrap="square" anchor="t" lIns="0" rIns="0" tIns="0" bIns="0">
            <a:spAutoFit/>
          </a:bodyPr>
          <a:lstStyle/>
          <a:p>
            <a:pPr algn="l"/>
            <a:r>
              <a:rPr sz="1400" b="1">
                <a:solidFill>
                  <a:srgbClr val="3A5C9E"/>
                </a:solidFill>
                <a:latin typeface="Georgia"/>
              </a:rPr>
              <a:t>Q6</a:t>
            </a:r>
          </a:p>
        </p:txBody>
      </p:sp>
      <p:sp>
        <p:nvSpPr>
          <p:cNvPr id="28" name="TextBox 27"/>
          <p:cNvSpPr txBox="1"/>
          <p:nvPr/>
        </p:nvSpPr>
        <p:spPr>
          <a:xfrm>
            <a:off x="1554480" y="5157215"/>
            <a:ext cx="9875520" cy="585216"/>
          </a:xfrm>
          <a:prstGeom prst="rect">
            <a:avLst/>
          </a:prstGeom>
          <a:noFill/>
        </p:spPr>
        <p:txBody>
          <a:bodyPr wrap="square" anchor="t" lIns="0" rIns="0" tIns="0" bIns="0">
            <a:spAutoFit/>
          </a:bodyPr>
          <a:lstStyle/>
          <a:p>
            <a:pPr algn="l"/>
            <a:r>
              <a:rPr sz="1050" b="1">
                <a:solidFill>
                  <a:srgbClr val="1B2A41"/>
                </a:solidFill>
              </a:rPr>
              <a:t>What did Knight Capital's failure teach about deploying a bot, and what one control would have saved it?</a:t>
            </a:r>
          </a:p>
          <a:p>
            <a:pPr algn="l">
              <a:spcBef>
                <a:spcPts val="200"/>
              </a:spcBef>
            </a:pPr>
            <a:r>
              <a:rPr sz="900" b="1">
                <a:solidFill>
                  <a:srgbClr val="C9A227"/>
                </a:solidFill>
              </a:rPr>
              <a:t>TIP  </a:t>
            </a:r>
            <a:r>
              <a:rPr sz="900" b="0">
                <a:solidFill>
                  <a:srgbClr val="5D6B7E"/>
                </a:solidFill>
              </a:rPr>
              <a:t>The bug was a bad deploy on one server, not the strategy. A kill switch that a human can reach within minutes.</a:t>
            </a:r>
          </a:p>
        </p:txBody>
      </p:sp>
      <p:sp>
        <p:nvSpPr>
          <p:cNvPr id="29" name="Rectangle 28"/>
          <p:cNvSpPr/>
          <p:nvPr/>
        </p:nvSpPr>
        <p:spPr>
          <a:xfrm>
            <a:off x="548640" y="5870448"/>
            <a:ext cx="11091672" cy="51206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5870448"/>
            <a:ext cx="64008" cy="5120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870448"/>
            <a:ext cx="10515600" cy="512064"/>
          </a:xfrm>
          <a:prstGeom prst="rect">
            <a:avLst/>
          </a:prstGeom>
          <a:noFill/>
        </p:spPr>
        <p:txBody>
          <a:bodyPr wrap="square" anchor="ctr" lIns="0" rIns="0" tIns="0" bIns="0">
            <a:spAutoFit/>
          </a:bodyPr>
          <a:lstStyle/>
          <a:p>
            <a:pPr algn="l"/>
            <a:r>
              <a:rPr sz="1100" b="1">
                <a:solidFill>
                  <a:srgbClr val="C9A227"/>
                </a:solidFill>
              </a:rPr>
              <a:t>Before Session 5:  </a:t>
            </a:r>
            <a:r>
              <a:rPr sz="1100" b="0">
                <a:solidFill>
                  <a:srgbClr val="FFFFFF"/>
                </a:solidFill>
              </a:rPr>
              <a:t>write one trading rule in one sentence, and list the three numbers you would need before you trust it.</a:t>
            </a:r>
          </a:p>
        </p:txBody>
      </p:sp>
      <p:sp>
        <p:nvSpPr>
          <p:cNvPr id="32" name="TextBox 31"/>
          <p:cNvSpPr txBox="1"/>
          <p:nvPr/>
        </p:nvSpPr>
        <p:spPr>
          <a:xfrm>
            <a:off x="548640" y="6473952"/>
            <a:ext cx="8229600" cy="228600"/>
          </a:xfrm>
          <a:prstGeom prst="rect">
            <a:avLst/>
          </a:prstGeom>
          <a:noFill/>
        </p:spPr>
        <p:txBody>
          <a:bodyPr wrap="square" anchor="t" lIns="0" rIns="0" tIns="0" bIns="0">
            <a:spAutoFit/>
          </a:bodyPr>
          <a:lstStyle/>
          <a:p>
            <a:pPr algn="l"/>
            <a:r>
              <a:rPr sz="800" b="0">
                <a:solidFill>
                  <a:srgbClr val="5D6B7E"/>
                </a:solidFill>
              </a:rPr>
              <a:t>The tip is the shape of the answer, not the whole answer. Two or three sentences each in the exam.</a:t>
            </a:r>
          </a:p>
        </p:txBody>
      </p:sp>
      <p:sp>
        <p:nvSpPr>
          <p:cNvPr id="33" name="TextBox 32"/>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
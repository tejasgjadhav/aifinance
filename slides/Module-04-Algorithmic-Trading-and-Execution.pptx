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4" r:id="rId4"/>
    <p:sldId id="265" r:id="rId5"/>
    <p:sldId id="260" r:id="rId6"/>
    <p:sldId id="266" r:id="rId7"/>
    <p:sldId id="261" r:id="rId8"/>
    <p:sldId id="268" r:id="rId9"/>
    <p:sldId id="262" r:id="rId10"/>
    <p:sldId id="263" r:id="rId11"/>
    <p:sldId id="269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364"/>
    <p:restoredTop sz="94668"/>
  </p:normalViewPr>
  <p:slideViewPr>
    <p:cSldViewPr snapToGrid="0" snapToObjects="1">
      <p:cViewPr varScale="1">
        <p:scale>
          <a:sx n="105" d="100"/>
          <a:sy n="105" d="100"/>
        </p:scale>
        <p:origin x="744" y="20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1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354312" y="0"/>
            <a:ext cx="2834640" cy="6858000"/>
          </a:xfrm>
          <a:prstGeom prst="rect">
            <a:avLst/>
          </a:prstGeom>
          <a:solidFill>
            <a:srgbClr val="0B1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9354312" y="0"/>
            <a:ext cx="36576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ISBMS · PGDM 2025–27 · SEMESTER III · SESSION 4 OF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8595360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800" b="1">
                <a:solidFill>
                  <a:srgbClr val="FFFFFF"/>
                </a:solidFill>
                <a:latin typeface="Georgia"/>
              </a:rPr>
              <a:t>Module 4</a:t>
            </a:r>
          </a:p>
          <a:p>
            <a:pPr algn="l">
              <a:spcBef>
                <a:spcPts val="1000"/>
              </a:spcBef>
            </a:pPr>
            <a:r>
              <a:rPr sz="2100" b="0">
                <a:solidFill>
                  <a:srgbClr val="C9D6EE"/>
                </a:solidFill>
                <a:latin typeface="Georgia"/>
              </a:rPr>
              <a:t>Algorithmic Trading &amp; Execution Strategies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913632"/>
            <a:ext cx="4023360" cy="1828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4133087"/>
            <a:ext cx="82296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</a:rPr>
              <a:t>Tejas Jadhav, CFA, FRM</a:t>
            </a:r>
          </a:p>
          <a:p>
            <a:pPr algn="l">
              <a:spcBef>
                <a:spcPts val="400"/>
              </a:spcBef>
            </a:pPr>
            <a:r>
              <a:rPr sz="1200" b="0">
                <a:solidFill>
                  <a:srgbClr val="8FA1C4"/>
                </a:solidFill>
              </a:rPr>
              <a:t>Faculty · Agentic AI &amp; Advanced Analytics in Finance (PGDM-SEM3-SPEC-AIFINANCE)</a:t>
            </a:r>
          </a:p>
          <a:p>
            <a:pPr algn="l">
              <a:spcBef>
                <a:spcPts val="300"/>
              </a:spcBef>
            </a:pPr>
            <a:r>
              <a:rPr sz="1200" b="1">
                <a:solidFill>
                  <a:srgbClr val="C9A227"/>
                </a:solidFill>
              </a:rPr>
              <a:t>tejasgjadhav.github.io/AIFINANCE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46920" y="850392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TODAY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46920" y="1234440"/>
            <a:ext cx="22860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Georgia"/>
              </a:rPr>
              <a:t>3 hours</a:t>
            </a:r>
          </a:p>
          <a:p>
            <a:pPr algn="l">
              <a:spcBef>
                <a:spcPts val="400"/>
              </a:spcBef>
            </a:pPr>
            <a:r>
              <a:rPr sz="1000" b="0">
                <a:solidFill>
                  <a:srgbClr val="8FA1C4"/>
                </a:solidFill>
              </a:rPr>
              <a:t>Hour 1 signals · Hour 2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8FA1C4"/>
                </a:solidFill>
              </a:rPr>
              <a:t>backtesting · Hour 3 bot lab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46920" y="2788920"/>
            <a:ext cx="22860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Georgia"/>
              </a:rPr>
              <a:t>No heavy maths</a:t>
            </a:r>
          </a:p>
          <a:p>
            <a:pPr algn="l">
              <a:spcBef>
                <a:spcPts val="400"/>
              </a:spcBef>
            </a:pPr>
            <a:r>
              <a:rPr sz="1000" b="0">
                <a:solidFill>
                  <a:srgbClr val="8FA1C4"/>
                </a:solidFill>
              </a:rPr>
              <a:t>Every idea is one rule you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8FA1C4"/>
                </a:solidFill>
              </a:rPr>
              <a:t>can write in one sentence.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46920" y="4343400"/>
            <a:ext cx="22860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400" b="1">
                <a:solidFill>
                  <a:srgbClr val="C9A227"/>
                </a:solidFill>
                <a:latin typeface="Georgia"/>
              </a:rPr>
              <a:t>1</a:t>
            </a:r>
          </a:p>
          <a:p>
            <a:pPr algn="l">
              <a:spcBef>
                <a:spcPts val="400"/>
              </a:spcBef>
            </a:pPr>
            <a:r>
              <a:rPr sz="900" b="0">
                <a:solidFill>
                  <a:srgbClr val="8FA1C4"/>
                </a:solidFill>
              </a:rPr>
              <a:t>TRADING BOT, BACKTESTED,</a:t>
            </a:r>
          </a:p>
          <a:p>
            <a:pPr algn="l">
              <a:spcBef>
                <a:spcPts val="200"/>
              </a:spcBef>
            </a:pPr>
            <a:r>
              <a:rPr sz="900" b="0">
                <a:solidFill>
                  <a:srgbClr val="8FA1C4"/>
                </a:solidFill>
              </a:rPr>
              <a:t>BEFORE YOU LEAVE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8FA1C4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8FA1C4"/>
                </a:solidFill>
              </a:rPr>
              <a:t>MODULE 4  · 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THE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What we do in these three hours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72768"/>
            <a:ext cx="3611880" cy="39776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1572768"/>
            <a:ext cx="3611880" cy="73152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68096" y="1728216"/>
            <a:ext cx="320040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1 · 60 MIN</a:t>
            </a:r>
          </a:p>
          <a:p>
            <a:pPr algn="l">
              <a:spcBef>
                <a:spcPts val="200"/>
              </a:spcBef>
            </a:pPr>
            <a:r>
              <a:rPr sz="1500" b="1">
                <a:solidFill>
                  <a:srgbClr val="FFFFFF"/>
                </a:solidFill>
                <a:latin typeface="Georgia"/>
              </a:rPr>
              <a:t>The market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2514600"/>
            <a:ext cx="32004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▪  </a:t>
            </a:r>
            <a:r>
              <a:rPr sz="1100" b="0">
                <a:solidFill>
                  <a:srgbClr val="1B2A41"/>
                </a:solidFill>
              </a:rPr>
              <a:t>The order book: bids, asks and the spread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3172968"/>
            <a:ext cx="32004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dirty="0">
                <a:solidFill>
                  <a:srgbClr val="C9A227"/>
                </a:solidFill>
              </a:rPr>
              <a:t>▪  </a:t>
            </a:r>
            <a:r>
              <a:rPr lang="en-US" sz="1100" b="1" dirty="0">
                <a:solidFill>
                  <a:srgbClr val="1B2A41"/>
                </a:solidFill>
              </a:rPr>
              <a:t>O</a:t>
            </a:r>
            <a:r>
              <a:rPr sz="1100" b="0" dirty="0">
                <a:solidFill>
                  <a:srgbClr val="1B2A41"/>
                </a:solidFill>
              </a:rPr>
              <a:t>rder types, SEBI's rules, the Medallion Fund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3831335"/>
            <a:ext cx="32004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▪  </a:t>
            </a:r>
            <a:r>
              <a:rPr sz="1100" b="0">
                <a:solidFill>
                  <a:srgbClr val="1B2A41"/>
                </a:solidFill>
              </a:rPr>
              <a:t>Three signal families: momentum, mean reversion, pairs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4489703"/>
            <a:ext cx="32004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dirty="0">
                <a:solidFill>
                  <a:srgbClr val="C9A227"/>
                </a:solidFill>
              </a:rPr>
              <a:t>▪  </a:t>
            </a:r>
            <a:r>
              <a:rPr sz="1100" b="0" dirty="0">
                <a:solidFill>
                  <a:srgbClr val="1B2A41"/>
                </a:solidFill>
              </a:rPr>
              <a:t>Simulation: match five orders on a virtual order book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5968" y="1572768"/>
            <a:ext cx="3611880" cy="39776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315968" y="1572768"/>
            <a:ext cx="3611880" cy="73152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35424" y="1728216"/>
            <a:ext cx="320040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2 · 60 MIN</a:t>
            </a:r>
          </a:p>
          <a:p>
            <a:pPr algn="l">
              <a:spcBef>
                <a:spcPts val="200"/>
              </a:spcBef>
            </a:pPr>
            <a:r>
              <a:rPr sz="1500" b="1">
                <a:solidFill>
                  <a:srgbClr val="FFFFFF"/>
                </a:solidFill>
                <a:latin typeface="Georgia"/>
              </a:rPr>
              <a:t>The 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35424" y="2514600"/>
            <a:ext cx="32004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▪  </a:t>
            </a:r>
            <a:r>
              <a:rPr sz="1100" b="0">
                <a:solidFill>
                  <a:srgbClr val="1B2A41"/>
                </a:solidFill>
              </a:rPr>
              <a:t>In-sample, out-of-sample, walk-forward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35424" y="3172968"/>
            <a:ext cx="32004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▪  </a:t>
            </a:r>
            <a:r>
              <a:rPr sz="1100" b="0">
                <a:solidFill>
                  <a:srgbClr val="1B2A41"/>
                </a:solidFill>
              </a:rPr>
              <a:t>Sharpe, Sortino, max drawdown, and costs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35424" y="3831335"/>
            <a:ext cx="32004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▪  </a:t>
            </a:r>
            <a:r>
              <a:rPr sz="1100" b="0">
                <a:solidFill>
                  <a:srgbClr val="1B2A41"/>
                </a:solidFill>
              </a:rPr>
              <a:t>Costs, overfitting and data snooping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35424" y="4489703"/>
            <a:ext cx="32004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▪  </a:t>
            </a:r>
            <a:r>
              <a:rPr sz="1100" b="0">
                <a:solidFill>
                  <a:srgbClr val="1B2A41"/>
                </a:solidFill>
              </a:rPr>
              <a:t>Case: Knight Capital lost $440M in 45 minutes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83296" y="1572768"/>
            <a:ext cx="3611880" cy="39776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083296" y="1572768"/>
            <a:ext cx="3611880" cy="73152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302752" y="1728216"/>
            <a:ext cx="320040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3 · 60 MIN</a:t>
            </a:r>
          </a:p>
          <a:p>
            <a:pPr algn="l">
              <a:spcBef>
                <a:spcPts val="200"/>
              </a:spcBef>
            </a:pPr>
            <a:r>
              <a:rPr sz="1500" b="1">
                <a:solidFill>
                  <a:srgbClr val="FFFFFF"/>
                </a:solidFill>
                <a:latin typeface="Georgia"/>
              </a:rPr>
              <a:t>The lab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02752" y="2514600"/>
            <a:ext cx="32004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▪  </a:t>
            </a:r>
            <a:r>
              <a:rPr sz="1100" b="0">
                <a:solidFill>
                  <a:srgbClr val="1B2A41"/>
                </a:solidFill>
              </a:rPr>
              <a:t>One sentence into Codex: momentum on NIFTY 50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2752" y="3172968"/>
            <a:ext cx="32004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▪  </a:t>
            </a:r>
            <a:r>
              <a:rPr sz="1100" b="0">
                <a:solidFill>
                  <a:srgbClr val="1B2A41"/>
                </a:solidFill>
              </a:rPr>
              <a:t>Two years of test data, 12 months of signal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02752" y="3831335"/>
            <a:ext cx="32004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▪  </a:t>
            </a:r>
            <a:r>
              <a:rPr sz="1100" b="0">
                <a:solidFill>
                  <a:srgbClr val="1B2A41"/>
                </a:solidFill>
              </a:rPr>
              <a:t>Read the monthly table against the 5% target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02752" y="4489703"/>
            <a:ext cx="32004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▪  </a:t>
            </a:r>
            <a:r>
              <a:rPr sz="1100" b="0">
                <a:solidFill>
                  <a:srgbClr val="1B2A41"/>
                </a:solidFill>
              </a:rPr>
              <a:t>Costs at 25, 50 and 100 bps, live in class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Our goal for today:  </a:t>
            </a:r>
            <a:r>
              <a:rPr sz="1200" b="0">
                <a:solidFill>
                  <a:srgbClr val="FFFFFF"/>
                </a:solidFill>
              </a:rPr>
              <a:t>one trading rule, tested honestly on two years of NSE data, with a report that says whether to trust it.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4  · 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hart with text and images&#10;&#10;Description automatically generated with medium confidence">
            <a:extLst>
              <a:ext uri="{FF2B5EF4-FFF2-40B4-BE49-F238E27FC236}">
                <a16:creationId xmlns:a16="http://schemas.microsoft.com/office/drawing/2014/main" id="{E88E0A56-6C4B-1549-399E-F3CCC49141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00565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5" name="Picture 4" descr="A chart with graphs and charts&#10;&#10;Description automatically generated with medium confidence">
            <a:extLst>
              <a:ext uri="{FF2B5EF4-FFF2-40B4-BE49-F238E27FC236}">
                <a16:creationId xmlns:a16="http://schemas.microsoft.com/office/drawing/2014/main" id="{7B381EF4-AF05-F3C9-C3C6-D84D6D5B3D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16449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THE ONE IDEA BEHIND EVERY BOT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A trading bot is a goal plus a loop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72768"/>
            <a:ext cx="3611880" cy="3840480"/>
          </a:xfrm>
          <a:prstGeom prst="rect">
            <a:avLst/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86384" y="1755648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GOAL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2048256"/>
            <a:ext cx="3108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0F2145"/>
                </a:solidFill>
                <a:latin typeface="Georgia"/>
              </a:rPr>
              <a:t>What you want, as a rule.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532888"/>
            <a:ext cx="3108960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1B2A41"/>
                </a:solidFill>
              </a:rPr>
              <a:t>A goal is one sentence a machine can check. It says what to buy, when to buy it, and when to get out. If you cannot write it in one sentence, the bot cannot run it.</a:t>
            </a:r>
          </a:p>
        </p:txBody>
      </p:sp>
      <p:sp>
        <p:nvSpPr>
          <p:cNvPr id="9" name="Rectangle 8"/>
          <p:cNvSpPr/>
          <p:nvPr/>
        </p:nvSpPr>
        <p:spPr>
          <a:xfrm>
            <a:off x="786384" y="3968496"/>
            <a:ext cx="313639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50976" y="4059936"/>
            <a:ext cx="28346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>
                <a:solidFill>
                  <a:srgbClr val="3A5C9E"/>
                </a:solidFill>
              </a:rPr>
              <a:t>EXAMPLE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1B2A41"/>
                </a:solidFill>
              </a:rPr>
              <a:t>Buy when the stock closes above its 20-day high. Sell at +2% or at −1%.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4956048"/>
            <a:ext cx="31089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5D6B7E"/>
                </a:solidFill>
              </a:rPr>
              <a:t>The goal is the rule.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5968" y="1572768"/>
            <a:ext cx="3611880" cy="3840480"/>
          </a:xfrm>
          <a:prstGeom prst="rect">
            <a:avLst/>
          </a:prstGeom>
          <a:solidFill>
            <a:srgbClr val="D5E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53712" y="1755648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LOOP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3712" y="2048256"/>
            <a:ext cx="3108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0F2145"/>
                </a:solidFill>
                <a:latin typeface="Georgia"/>
              </a:rPr>
              <a:t>Same steps, on a timer.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3712" y="2532888"/>
            <a:ext cx="3108960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1B2A41"/>
                </a:solidFill>
              </a:rPr>
              <a:t>A loop repeats a short list of steps on a timer. Fetch the price. Check the rule. Act. Write it down. Repeat. The loop never gets bored and never skips a step.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53712" y="3968496"/>
            <a:ext cx="313639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718304" y="4059936"/>
            <a:ext cx="28346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>
                <a:solidFill>
                  <a:srgbClr val="3A5C9E"/>
                </a:solidFill>
              </a:rPr>
              <a:t>EXAMPLE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1B2A41"/>
                </a:solidFill>
              </a:rPr>
              <a:t>Every day at 15:36, the loop reads the closing prices of 200 stocks and checks each one against the rule.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53712" y="4956048"/>
            <a:ext cx="31089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5D6B7E"/>
                </a:solidFill>
              </a:rPr>
              <a:t>The loop is the clock.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83296" y="1572768"/>
            <a:ext cx="3611880" cy="384048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321040" y="1755648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GOAL + LOOP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2048256"/>
            <a:ext cx="3108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Georgia"/>
              </a:rPr>
              <a:t>That is a trading agent.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2532888"/>
            <a:ext cx="3108960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C9D6EE"/>
                </a:solidFill>
              </a:rPr>
              <a:t>Put the goal inside the loop and you have a bot. Add a stop, a size limit and a log, and you have a bot you can trust. Every agent in this course is built the same way.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21040" y="3968496"/>
            <a:ext cx="313639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485632" y="4059936"/>
            <a:ext cx="28346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>
                <a:solidFill>
                  <a:srgbClr val="3A5C9E"/>
                </a:solidFill>
              </a:rPr>
              <a:t>EXAMPLE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1B2A41"/>
                </a:solidFill>
              </a:rPr>
              <a:t>Goal: sell an options credit spread after a breakout. Loop: scan at 15:36 daily, send the signal to Telegram, record the result at expiry.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4956048"/>
            <a:ext cx="31089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C9D6EE"/>
                </a:solidFill>
              </a:rPr>
              <a:t>Goal plus loop equals agent.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53712" y="3493008"/>
            <a:ext cx="548640" cy="310896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553712" y="3493008"/>
            <a:ext cx="54864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FETCH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02352" y="3493008"/>
            <a:ext cx="237744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>
                <a:solidFill>
                  <a:srgbClr val="C9A227"/>
                </a:solidFill>
              </a:rPr>
              <a:t>→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340096" y="3493008"/>
            <a:ext cx="548640" cy="310896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340096" y="3493008"/>
            <a:ext cx="54864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CHECK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88736" y="3493008"/>
            <a:ext cx="237744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>
                <a:solidFill>
                  <a:srgbClr val="C9A227"/>
                </a:solidFill>
              </a:rPr>
              <a:t>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26480" y="3493008"/>
            <a:ext cx="457200" cy="310896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126480" y="3493008"/>
            <a:ext cx="4572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ACT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0" y="3493008"/>
            <a:ext cx="237744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>
                <a:solidFill>
                  <a:srgbClr val="C9A227"/>
                </a:solidFill>
              </a:rPr>
              <a:t>→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821424" y="3493008"/>
            <a:ext cx="457200" cy="31089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821424" y="3493008"/>
            <a:ext cx="4572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0F2145"/>
                </a:solidFill>
              </a:rPr>
              <a:t>LOG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78624" y="3493008"/>
            <a:ext cx="329184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>
                <a:solidFill>
                  <a:srgbClr val="C9A227"/>
                </a:solidFill>
              </a:rPr>
              <a:t>↺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One line to remember:  </a:t>
            </a:r>
            <a:r>
              <a:rPr sz="1200" b="0">
                <a:solidFill>
                  <a:srgbClr val="FFFFFF"/>
                </a:solidFill>
              </a:rPr>
              <a:t>the goal is the rule, the loop is the clock, and a bot is nothing more than the two together.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4  · 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hart with text and images&#10;&#10;Description automatically generated">
            <a:extLst>
              <a:ext uri="{FF2B5EF4-FFF2-40B4-BE49-F238E27FC236}">
                <a16:creationId xmlns:a16="http://schemas.microsoft.com/office/drawing/2014/main" id="{04D464AC-D819-74B3-B91F-85341854EB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"/>
            <a:ext cx="12192000" cy="7257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85898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2 · BACKTESTING METHODOLOGY AND CASE 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Backtesting: how to test a rule without fooling yourself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72768"/>
            <a:ext cx="3611880" cy="3840480"/>
          </a:xfrm>
          <a:prstGeom prst="rect">
            <a:avLst/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86384" y="1755648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TEST HONESTLY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2048256"/>
            <a:ext cx="3108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0F2145"/>
                </a:solidFill>
                <a:latin typeface="Georgia"/>
              </a:rPr>
              <a:t>Split the data first.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532888"/>
            <a:ext cx="3108960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1B2A41"/>
                </a:solidFill>
              </a:rPr>
              <a:t>In-sample is the data you build the rule on. Out-of-sample is data the rule has never seen. Walk-forward repeats that split year by year. Overfitting is a rule that fits the past and fails the future. Data snooping is trying 100 rules and reporting the one that worked.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786384" y="3968496"/>
            <a:ext cx="313639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50976" y="4059936"/>
            <a:ext cx="28346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>
                <a:solidFill>
                  <a:srgbClr val="3A5C9E"/>
                </a:solidFill>
              </a:rPr>
              <a:t>EXAMPLE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1B2A41"/>
                </a:solidFill>
              </a:rPr>
              <a:t>Build on 2019 to 2024. Test on 2025 to 2026 once. A rule that wins 80% in-sample and 55% out-of-sample was fitted, not found.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4956048"/>
            <a:ext cx="31089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5D6B7E"/>
                </a:solidFill>
              </a:rPr>
              <a:t>Out-of-sample is the only test that counts.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5968" y="1572768"/>
            <a:ext cx="3611880" cy="3840480"/>
          </a:xfrm>
          <a:prstGeom prst="rect">
            <a:avLst/>
          </a:prstGeom>
          <a:solidFill>
            <a:srgbClr val="D5E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53712" y="1755648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THREE NUMBERS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3712" y="2048256"/>
            <a:ext cx="3108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0F2145"/>
                </a:solidFill>
                <a:latin typeface="Georgia"/>
              </a:rPr>
              <a:t>Return, risk, worst fall.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3712" y="2532888"/>
            <a:ext cx="3108960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1B2A41"/>
                </a:solidFill>
              </a:rPr>
              <a:t>The Sharpe ratio is the average return divided by its ups and downs. Sortino counts only the downside moves. Max drawdown is the biggest fall from a peak to the next low. Subtract brokerage, STT and the spread before you compute any of them.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53712" y="3968496"/>
            <a:ext cx="313639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718304" y="4059936"/>
            <a:ext cx="28346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>
                <a:solidFill>
                  <a:srgbClr val="3A5C9E"/>
                </a:solidFill>
              </a:rPr>
              <a:t>EXAMPLE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1B2A41"/>
                </a:solidFill>
              </a:rPr>
              <a:t>A rule made 20% a year with a 30% max drawdown. Your investor lost a third of the money on the way.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53712" y="4956048"/>
            <a:ext cx="31089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5D6B7E"/>
                </a:solidFill>
              </a:rPr>
              <a:t>A Sharpe above 1 after costs is good. Above 3 is usually a bug.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83296" y="1572768"/>
            <a:ext cx="3611880" cy="384048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321040" y="1755648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CASE · KNIGHT CAPITAL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2048256"/>
            <a:ext cx="3108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Georgia"/>
              </a:rPr>
              <a:t>$440 million in 45 minutes.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2532888"/>
            <a:ext cx="3108960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C9D6EE"/>
                </a:solidFill>
              </a:rPr>
              <a:t>On 1 August 2012 Knight Capital pushed new software to eight servers. One server kept old test code. At the open it sent millions of unwanted orders. Knight lost $440 million before anyone stopped it, and the firm was sold within months.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21040" y="3968496"/>
            <a:ext cx="313639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485632" y="4059936"/>
            <a:ext cx="28346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>
                <a:solidFill>
                  <a:srgbClr val="3A5C9E"/>
                </a:solidFill>
              </a:rPr>
              <a:t>EXAMPLE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1B2A41"/>
                </a:solidFill>
              </a:rPr>
              <a:t>The bug was not the strategy. It was a deploy with no kill switch and nobody watching the first minutes.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4956048"/>
            <a:ext cx="31089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C9D6EE"/>
                </a:solidFill>
              </a:rPr>
              <a:t>Every bot needs an off switch a human can reach.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The exam line:  </a:t>
            </a:r>
            <a:r>
              <a:rPr sz="1200" b="0">
                <a:solidFill>
                  <a:srgbClr val="FFFFFF"/>
                </a:solidFill>
              </a:rPr>
              <a:t>a backtest is a ceiling on what a rule can earn, never a promise.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4  ·  06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hart of a trading order&#10;&#10;Description automatically generated">
            <a:extLst>
              <a:ext uri="{FF2B5EF4-FFF2-40B4-BE49-F238E27FC236}">
                <a16:creationId xmlns:a16="http://schemas.microsoft.com/office/drawing/2014/main" id="{A0FEA185-2C12-D368-D847-D53C7C00C8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609"/>
            <a:ext cx="12192000" cy="68313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27404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3 · LIVE LAB IN CODEX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The lab: one sentence in, a momentum backtest 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1B2A41"/>
                </a:solidFill>
              </a:rPr>
              <a:t>We type one English sentence into Codex. Codex writes a plan, asks for approval, then builds and runs the backtest in front of the class.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73936"/>
            <a:ext cx="5120640" cy="2651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4672" y="1938528"/>
            <a:ext cx="4663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THE BRIEF WE TYPED</a:t>
            </a:r>
          </a:p>
        </p:txBody>
      </p:sp>
      <p:sp>
        <p:nvSpPr>
          <p:cNvPr id="8" name="Rectangle 7"/>
          <p:cNvSpPr/>
          <p:nvPr/>
        </p:nvSpPr>
        <p:spPr>
          <a:xfrm>
            <a:off x="804672" y="2249424"/>
            <a:ext cx="4617720" cy="713232"/>
          </a:xfrm>
          <a:prstGeom prst="rect">
            <a:avLst/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50976" y="2322576"/>
            <a:ext cx="4343400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0F2145"/>
                </a:solidFill>
                <a:latin typeface="Georgia"/>
              </a:rPr>
              <a:t>“We want to run a Momentum strategy on last two year NSE data with a goal that we get monthly returns above 5%.”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3072384"/>
            <a:ext cx="4663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WHAT CODEX DID BEFORE WRITING CODE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3364992"/>
            <a:ext cx="46634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>
                <a:solidFill>
                  <a:srgbClr val="C9A227"/>
                </a:solidFill>
              </a:rPr>
              <a:t>▪  </a:t>
            </a:r>
            <a:r>
              <a:rPr sz="950" b="0">
                <a:solidFill>
                  <a:srgbClr val="1B2A41"/>
                </a:solidFill>
              </a:rPr>
              <a:t>Checked the workspace and found no data or code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3694176"/>
            <a:ext cx="46634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>
                <a:solidFill>
                  <a:srgbClr val="C9A227"/>
                </a:solidFill>
              </a:rPr>
              <a:t>▪  </a:t>
            </a:r>
            <a:r>
              <a:rPr sz="950" b="0">
                <a:solidFill>
                  <a:srgbClr val="1B2A41"/>
                </a:solidFill>
              </a:rPr>
              <a:t>Asked us three questions, then searched for NSE data sources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4023360"/>
            <a:ext cx="46634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>
                <a:solidFill>
                  <a:srgbClr val="C9A227"/>
                </a:solidFill>
              </a:rPr>
              <a:t>▪  </a:t>
            </a:r>
            <a:r>
              <a:rPr sz="950" b="0">
                <a:solidFill>
                  <a:srgbClr val="1B2A41"/>
                </a:solidFill>
              </a:rPr>
              <a:t>Wrote a plan and asked “Implement this plan?” before touching a file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52160" y="1773936"/>
            <a:ext cx="5788152" cy="2651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108192" y="1938528"/>
            <a:ext cx="5303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THE PLAN CODEX WROTE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08192" y="2249424"/>
            <a:ext cx="320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C9A227"/>
                </a:solidFill>
                <a:latin typeface="Georgia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267712"/>
            <a:ext cx="4983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1B2A41"/>
                </a:solidFill>
              </a:rPr>
              <a:t>Download 36 months of NSE data: 12 to form the signal, 24 to test 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08192" y="2670048"/>
            <a:ext cx="320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C9A227"/>
                </a:solidFill>
                <a:latin typeface="Georgia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3952" y="2688336"/>
            <a:ext cx="4983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1B2A41"/>
                </a:solidFill>
              </a:rPr>
              <a:t>At each month-end, rank the NIFTY 50 stocks by 12-1 momentum: the return from 12 months ago to one month ago.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08192" y="3090672"/>
            <a:ext cx="320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C9A227"/>
                </a:solidFill>
                <a:latin typeface="Georgia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3952" y="3108960"/>
            <a:ext cx="4983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1B2A41"/>
                </a:solidFill>
              </a:rPr>
              <a:t>Hold the top five at 20% each, long only, and trade at the next session's open.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08192" y="3511296"/>
            <a:ext cx="320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C9A227"/>
                </a:solidFill>
                <a:latin typeface="Georgi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3952" y="3529584"/>
            <a:ext cx="4983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1B2A41"/>
                </a:solidFill>
              </a:rPr>
              <a:t>Charge 25, 50 and 100 bps round trip, and compare each run to the NIFTY 50 total return.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08192" y="3931920"/>
            <a:ext cx="320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C9A227"/>
                </a:solidFill>
                <a:latin typeface="Georgia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73952" y="3950207"/>
            <a:ext cx="4983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1B2A41"/>
                </a:solidFill>
              </a:rPr>
              <a:t>Write out holdings, turnover, trades, NAV and monthly returns. Halt on missing history instead of filling it.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4572000"/>
            <a:ext cx="5120640" cy="1005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548640" y="4572000"/>
            <a:ext cx="64008" cy="100584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22960" y="4681728"/>
            <a:ext cx="466344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8F7113"/>
                </a:solidFill>
              </a:rPr>
              <a:t>WHAT YOU DO IN CLASS</a:t>
            </a:r>
          </a:p>
          <a:p>
            <a:pPr algn="l">
              <a:spcBef>
                <a:spcPts val="300"/>
              </a:spcBef>
            </a:pPr>
            <a:r>
              <a:rPr sz="1000" b="0">
                <a:solidFill>
                  <a:srgbClr val="1B2A41"/>
                </a:solidFill>
              </a:rPr>
              <a:t>Approve the plan. Read the monthly return table and count the months above 5%. Then read the same table at 25, 50 and 100 bps and see what costs take away.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852160" y="4572000"/>
            <a:ext cx="5788152" cy="1005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5852160" y="4572000"/>
            <a:ext cx="64008" cy="100584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126480" y="4681728"/>
            <a:ext cx="530352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8F7113"/>
                </a:solidFill>
              </a:rPr>
              <a:t>THE LESSON</a:t>
            </a:r>
          </a:p>
          <a:p>
            <a:pPr algn="l">
              <a:spcBef>
                <a:spcPts val="300"/>
              </a:spcBef>
            </a:pPr>
            <a:r>
              <a:rPr sz="1000" b="0">
                <a:solidFill>
                  <a:srgbClr val="1B2A41"/>
                </a:solidFill>
              </a:rPr>
              <a:t>Codex called 5% a month an aggressive target and treated it as a constraint to test, not a return to promise. That is the right habit. The goal was our sentence. Codex turned it into a loop of month-ends.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What you have at the end:  </a:t>
            </a:r>
            <a:r>
              <a:rPr sz="1200" b="0">
                <a:solidFill>
                  <a:srgbClr val="FFFFFF"/>
                </a:solidFill>
              </a:rPr>
              <a:t>a backtest you wrote as one sentence, and a monthly table that says whether 5% a month was ever real.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4  ·  07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PRACTICE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Six questions before the exam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44752"/>
            <a:ext cx="11091672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1444752"/>
            <a:ext cx="64008" cy="676656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1508760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3A5C9E"/>
                </a:solidFill>
                <a:latin typeface="Georgia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499616"/>
            <a:ext cx="9875520" cy="585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>
                <a:solidFill>
                  <a:srgbClr val="1B2A41"/>
                </a:solidFill>
              </a:rPr>
              <a:t>Reliance shows bid ₹2,950.00 and ask ₹2,950.50. What does a market buy pay, and what does a limit buy at ₹2,950.00 do?</a:t>
            </a:r>
          </a:p>
          <a:p>
            <a:pPr algn="l">
              <a:spcBef>
                <a:spcPts val="2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00" b="0">
                <a:solidFill>
                  <a:srgbClr val="5D6B7E"/>
                </a:solidFill>
              </a:rPr>
              <a:t>The market buy pays ₹2,950.50 now. The limit buy waits at ₹2,950.00 and may never fill.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176272"/>
            <a:ext cx="11091672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48640" y="2176272"/>
            <a:ext cx="64008" cy="676656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2240279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3A5C9E"/>
                </a:solidFill>
                <a:latin typeface="Georgia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231136"/>
            <a:ext cx="9875520" cy="585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dirty="0">
                <a:solidFill>
                  <a:srgbClr val="1B2A41"/>
                </a:solidFill>
              </a:rPr>
              <a:t>Sort these into momentum, mean reversion or pairs: RSI, Bollinger Bands, cointegration.</a:t>
            </a:r>
          </a:p>
          <a:p>
            <a:pPr algn="l">
              <a:spcBef>
                <a:spcPts val="200"/>
              </a:spcBef>
            </a:pPr>
            <a:r>
              <a:rPr sz="900" b="1" dirty="0">
                <a:solidFill>
                  <a:srgbClr val="C9A227"/>
                </a:solidFill>
              </a:rPr>
              <a:t>TIP  </a:t>
            </a:r>
            <a:r>
              <a:rPr sz="900" b="0" dirty="0">
                <a:solidFill>
                  <a:srgbClr val="5D6B7E"/>
                </a:solidFill>
              </a:rPr>
              <a:t>RSI is momentum, Bollinger Bands are mean reversion, cointegration is pairs trading.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907791"/>
            <a:ext cx="11091672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48640" y="2907791"/>
            <a:ext cx="64008" cy="676656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2960" y="2971799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3A5C9E"/>
                </a:solidFill>
                <a:latin typeface="Georgia"/>
              </a:rPr>
              <a:t>Q3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2962656"/>
            <a:ext cx="9875520" cy="585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>
                <a:solidFill>
                  <a:srgbClr val="1B2A41"/>
                </a:solidFill>
              </a:rPr>
              <a:t>Write a trading bot as a goal plus a loop for a 20-day breakout rule.</a:t>
            </a:r>
          </a:p>
          <a:p>
            <a:pPr algn="l">
              <a:spcBef>
                <a:spcPts val="2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00" b="0">
                <a:solidFill>
                  <a:srgbClr val="5D6B7E"/>
                </a:solidFill>
              </a:rPr>
              <a:t>Goal: buy above the 20-day high, sell at +2% or −1%. Loop: each day fetch the close, check the rule, act, log, repeat.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639311"/>
            <a:ext cx="11091672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48640" y="3639311"/>
            <a:ext cx="64008" cy="676656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2960" y="3703320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3A5C9E"/>
                </a:solidFill>
                <a:latin typeface="Georgia"/>
              </a:rPr>
              <a:t>Q4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3694175"/>
            <a:ext cx="9875520" cy="585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>
                <a:solidFill>
                  <a:srgbClr val="1B2A41"/>
                </a:solidFill>
              </a:rPr>
              <a:t>A rule wins 80% in-sample and 55% out-of-sample. What happened, and what do you report?</a:t>
            </a:r>
          </a:p>
          <a:p>
            <a:pPr algn="l">
              <a:spcBef>
                <a:spcPts val="2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00" b="0">
                <a:solidFill>
                  <a:srgbClr val="5D6B7E"/>
                </a:solidFill>
              </a:rPr>
              <a:t>It was overfitted. Report the out-of-sample number, the costs and the drawdown, and do not trade it yet.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370831"/>
            <a:ext cx="11091672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548640" y="4370831"/>
            <a:ext cx="64008" cy="676656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2960" y="4434840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3A5C9E"/>
                </a:solidFill>
                <a:latin typeface="Georgia"/>
              </a:rPr>
              <a:t>Q5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4425695"/>
            <a:ext cx="9875520" cy="585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>
                <a:solidFill>
                  <a:srgbClr val="1B2A41"/>
                </a:solidFill>
              </a:rPr>
              <a:t>Two rules both earn 18% a year. One had a 12% max drawdown, the other 40%. Which would you hold, and which number tells you?</a:t>
            </a:r>
          </a:p>
          <a:p>
            <a:pPr algn="l">
              <a:spcBef>
                <a:spcPts val="2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00" b="0">
                <a:solidFill>
                  <a:srgbClr val="5D6B7E"/>
                </a:solidFill>
              </a:rPr>
              <a:t>The 12% one. Max drawdown is the worst fall an investor has to sit through: same return, a third of the pain.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5102351"/>
            <a:ext cx="11091672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548640" y="5102351"/>
            <a:ext cx="64008" cy="676656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22960" y="5166359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3A5C9E"/>
                </a:solidFill>
                <a:latin typeface="Georgia"/>
              </a:rPr>
              <a:t>Q6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54480" y="5157215"/>
            <a:ext cx="9875520" cy="585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>
                <a:solidFill>
                  <a:srgbClr val="1B2A41"/>
                </a:solidFill>
              </a:rPr>
              <a:t>What did Knight Capital's failure teach about deploying a bot, and what one control would have saved it?</a:t>
            </a:r>
          </a:p>
          <a:p>
            <a:pPr algn="l">
              <a:spcBef>
                <a:spcPts val="2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00" b="0">
                <a:solidFill>
                  <a:srgbClr val="5D6B7E"/>
                </a:solidFill>
              </a:rPr>
              <a:t>The bug was a bad deploy on one server, not the strategy. A kill switch that a human can reach within minutes.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The tip is the shape of the answer, not the whole answer. Two or three sentences each in the exam.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4  ·  08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PRACTICE QUESTIONS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59536"/>
            <a:ext cx="11091672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859536"/>
            <a:ext cx="64008" cy="676656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923544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3A5C9E"/>
                </a:solidFill>
                <a:latin typeface="Georgia"/>
              </a:rPr>
              <a:t>Q7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914400"/>
            <a:ext cx="9875520" cy="585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>
                <a:solidFill>
                  <a:srgbClr val="1B2A41"/>
                </a:solidFill>
              </a:rPr>
              <a:t>You want to buy Infosys only if it dips to ₹1,500, and you will not chase it. Which order type, and what is the risk?</a:t>
            </a:r>
          </a:p>
          <a:p>
            <a:pPr algn="l">
              <a:spcBef>
                <a:spcPts val="2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00" b="0">
                <a:solidFill>
                  <a:srgbClr val="5D6B7E"/>
                </a:solidFill>
              </a:rPr>
              <a:t>A limit buy at ₹1,500. It waits in the queue and may never fill if the price does not come down.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591056"/>
            <a:ext cx="11091672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48640" y="1591056"/>
            <a:ext cx="64008" cy="676656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1655063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3A5C9E"/>
                </a:solidFill>
                <a:latin typeface="Georgia"/>
              </a:rPr>
              <a:t>Q8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1645920"/>
            <a:ext cx="9875520" cy="585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dirty="0">
                <a:solidFill>
                  <a:srgbClr val="1B2A41"/>
                </a:solidFill>
              </a:rPr>
              <a:t>You hold a stock at ₹800 and want out automatically if it falls to ₹760. Which order type, and what happens if it opens at ₹740 after a gap?</a:t>
            </a:r>
          </a:p>
          <a:p>
            <a:pPr algn="l">
              <a:spcBef>
                <a:spcPts val="200"/>
              </a:spcBef>
            </a:pPr>
            <a:r>
              <a:rPr sz="900" b="1" dirty="0">
                <a:solidFill>
                  <a:srgbClr val="C9A227"/>
                </a:solidFill>
              </a:rPr>
              <a:t>TIP  </a:t>
            </a:r>
            <a:r>
              <a:rPr sz="900" b="0" dirty="0">
                <a:solidFill>
                  <a:srgbClr val="5D6B7E"/>
                </a:solidFill>
              </a:rPr>
              <a:t>A stop-loss at ₹760. It becomes a market sell once ₹760 trades, so in a gap it fills near ₹740, not at ₹760.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322575"/>
            <a:ext cx="11091672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48640" y="2322575"/>
            <a:ext cx="64008" cy="676656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2960" y="2386583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3A5C9E"/>
                </a:solidFill>
                <a:latin typeface="Georgia"/>
              </a:rPr>
              <a:t>Q9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2377440"/>
            <a:ext cx="9875520" cy="585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>
                <a:solidFill>
                  <a:srgbClr val="1B2A41"/>
                </a:solidFill>
              </a:rPr>
              <a:t>When would a trading bot send an IOC order instead of a limit order?</a:t>
            </a:r>
          </a:p>
          <a:p>
            <a:pPr algn="l">
              <a:spcBef>
                <a:spcPts val="2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00" b="0">
                <a:solidFill>
                  <a:srgbClr val="5D6B7E"/>
                </a:solidFill>
              </a:rPr>
              <a:t>When it must not leave an order sitting in the book, such as near the close or in a fast move. IOC fills what it can now and cancels the rest.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054095"/>
            <a:ext cx="11091672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48640" y="3054095"/>
            <a:ext cx="64008" cy="676656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2960" y="3118104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3A5C9E"/>
                </a:solidFill>
                <a:latin typeface="Georgia"/>
              </a:rPr>
              <a:t>Q10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3108959"/>
            <a:ext cx="9875520" cy="585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>
                <a:solidFill>
                  <a:srgbClr val="1B2A41"/>
                </a:solidFill>
              </a:rPr>
              <a:t>Write the loop for a bot that trades a 20-day breakout on daily closes. List the steps in order and say what it logs.</a:t>
            </a:r>
          </a:p>
          <a:p>
            <a:pPr algn="l">
              <a:spcBef>
                <a:spcPts val="2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00" b="0">
                <a:solidFill>
                  <a:srgbClr val="5D6B7E"/>
                </a:solidFill>
              </a:rPr>
              <a:t>After each close: fetch the 20-day high and today's close, check the rule, size the trade, place the order with its stop, log the signal and the fill, wait for tomorrow.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785615"/>
            <a:ext cx="11091672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548640" y="3785615"/>
            <a:ext cx="64008" cy="676656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2960" y="3849624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3A5C9E"/>
                </a:solidFill>
                <a:latin typeface="Georgia"/>
              </a:rPr>
              <a:t>Q11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3840479"/>
            <a:ext cx="9875520" cy="585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>
                <a:solidFill>
                  <a:srgbClr val="1B2A41"/>
                </a:solidFill>
              </a:rPr>
              <a:t>Your bot's loop runs every minute. What must sit in the loop before the order step so that Knight Capital cannot repeat?</a:t>
            </a:r>
          </a:p>
          <a:p>
            <a:pPr algn="l">
              <a:spcBef>
                <a:spcPts val="2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00" b="0">
                <a:solidFill>
                  <a:srgbClr val="5D6B7E"/>
                </a:solidFill>
              </a:rPr>
              <a:t>A kill-switch check: a cap on orders per minute and a daily loss cap. If either trips, the loop stops sending and alerts a human.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5870448"/>
            <a:ext cx="11091672" cy="51206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548640" y="5870448"/>
            <a:ext cx="64008" cy="5120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22960" y="5870448"/>
            <a:ext cx="1051560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Before Session 5:  </a:t>
            </a:r>
            <a:r>
              <a:rPr sz="1100" b="0">
                <a:solidFill>
                  <a:srgbClr val="FFFFFF"/>
                </a:solidFill>
              </a:rPr>
              <a:t>write one trading rule in one sentence, and list the three numbers you would need before you trust it.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The tip is the shape of the answer, not the whole answer. Two or three sentences each in the exam.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4  ·  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59</TotalTime>
  <Words>1666</Words>
  <Application>Microsoft Macintosh PowerPoint</Application>
  <PresentationFormat>Widescreen</PresentationFormat>
  <Paragraphs>145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Tejas Jadhav</cp:lastModifiedBy>
  <cp:revision>3</cp:revision>
  <dcterms:created xsi:type="dcterms:W3CDTF">2013-01-27T09:14:16Z</dcterms:created>
  <dcterms:modified xsi:type="dcterms:W3CDTF">2026-09-05T00:48:03Z</dcterms:modified>
  <cp:category/>
</cp:coreProperties>
</file>
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17"/>
    <p:sldId id="262" r:id="rId8"/>
    <p:sldId id="263" r:id="rId9"/>
    <p:sldId id="264" r:id="rId10"/>
    <p:sldId id="265" r:id="rId11"/>
    <p:sldId id="268" r:id="rId18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9"/>
  </p:normalViewPr>
  <p:slideViewPr>
    <p:cSldViewPr snapToGrid="0" snapToObjects="1">
      <p:cViewPr varScale="1">
        <p:scale>
          <a:sx n="119" d="100"/>
          <a:sy n="119" d="100"/>
        </p:scale>
        <p:origin x="21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ISBMS · PGDM 2025–27 · SEMESTER III · SESSION 2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FFFFFF"/>
                </a:solidFill>
                <a:latin typeface="Georgia"/>
              </a:rPr>
              <a:t>Module 2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C9D6EE"/>
                </a:solidFill>
                <a:latin typeface="Georgia"/>
              </a:rPr>
              <a:t>Prompt Engineering &amp; RAG for Financial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</a:rPr>
              <a:t>Tejas Jadhav, CFA, FRM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0" i="0">
                <a:solidFill>
                  <a:srgbClr val="8FA1C4"/>
                </a:solidFill>
              </a:rPr>
              <a:t>Faculty · Agentic AI &amp; Advanced Analytics in Finance (PGDM-SEM3-SPEC-AIFINANCE)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1" i="0">
                <a:solidFill>
                  <a:srgbClr val="C9A227"/>
                </a:solidFill>
              </a:rPr>
              <a:t>tejasgjadhav.github.io/AIFINANCE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3 hours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 b="0" i="0">
                <a:solidFill>
                  <a:srgbClr val="8FA1C4"/>
                </a:solidFill>
              </a:rPr>
              <a:t>Hour 1 prompts · Hour 2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FA1C4"/>
                </a:solidFill>
              </a:rPr>
              <a:t>RAG pipeline · Hour 3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7889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dirty="0">
                <a:solidFill>
                  <a:srgbClr val="FFFFFF"/>
                </a:solidFill>
                <a:latin typeface="Georgia"/>
              </a:rPr>
              <a:t>Plain English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 b="0" i="0" dirty="0">
                <a:solidFill>
                  <a:srgbClr val="8FA1C4"/>
                </a:solidFill>
              </a:rPr>
              <a:t>A prompt is written in English.</a:t>
            </a:r>
          </a:p>
          <a:p>
            <a:pPr algn="l">
              <a:lnSpc>
                <a:spcPct val="105000"/>
              </a:lnSpc>
            </a:pPr>
            <a:r>
              <a:rPr sz="1000" b="0" i="0" dirty="0">
                <a:solidFill>
                  <a:srgbClr val="8FA1C4"/>
                </a:solidFill>
              </a:rPr>
              <a:t>Hours 1 and 2 need no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3434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900" b="0" i="0">
                <a:solidFill>
                  <a:srgbClr val="8FA1C4"/>
                </a:solidFill>
              </a:rPr>
              <a:t>Q&amp;A BOT ON AN IPO PROSPECTUS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FA1C4"/>
                </a:solidFill>
              </a:rPr>
              <a:t>BUILT 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8FA1C4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8FA1C4"/>
                </a:solidFill>
              </a:rPr>
              <a:t>MODULE 2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What we do in these three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1 · 60 MIN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The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Zero-shot, few-shot, chain-of-thought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099816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Role prompting — “You are a CFO…”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685032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Output formats: JSON, markdown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27024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Hallucination — the risk and the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855464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Pair activity: one query, four prompts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572768"/>
            <a:ext cx="3611880" cy="731520"/>
          </a:xfrm>
          <a:prstGeom prst="rect">
            <a:avLst/>
          </a:prstGeom>
          <a:solidFill>
            <a:srgbClr val="8F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2 · 60 MIN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The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Why a model cannot read 200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099816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Chunking a financial 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685032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Embeddings and vector databases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427024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Retrieval, then re-ranking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4855464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Self-consistency and tree-of-thought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83296" y="1572768"/>
            <a:ext cx="3611880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2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3 · 60 MIN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The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One NSE IPO prospectus as the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099816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LlamaIndex + ChromaDB + Claude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685032"/>
            <a:ext cx="3200400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 dirty="0">
                <a:solidFill>
                  <a:srgbClr val="C9A227"/>
                </a:solidFill>
              </a:rPr>
              <a:t>▪  </a:t>
            </a:r>
            <a:r>
              <a:rPr sz="1100" b="0" i="0" dirty="0">
                <a:solidFill>
                  <a:srgbClr val="1B2A41"/>
                </a:solidFill>
              </a:rPr>
              <a:t>Build the Q&amp;A 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27024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Ten investor questions, scored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855464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  </a:t>
            </a:r>
            <a:r>
              <a:rPr sz="1100" b="0" i="0">
                <a:solidFill>
                  <a:srgbClr val="1B2A41"/>
                </a:solidFill>
              </a:rPr>
              <a:t>Case: SEBI DRHP analysis using RAG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Our goal for today:  </a:t>
            </a:r>
            <a:r>
              <a:rPr sz="1200" b="0" i="0">
                <a:solidFill>
                  <a:srgbClr val="FFFFFF"/>
                </a:solidFill>
              </a:rPr>
              <a:t>a bot that answers investor questions from a 200-page IPO prospectus and shows the page each answer came from.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1 ·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Three ways to ask: zero-shot, few-shot, chain-of-thought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ZERO-SHOT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F2145"/>
                </a:solidFill>
                <a:latin typeface="Georgia"/>
              </a:rPr>
              <a:t>Just 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603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</a:rPr>
              <a:t>You state the task and nothing else. The model answers from its training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794760"/>
            <a:ext cx="313639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91363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3A5C9E"/>
                </a:solidFill>
              </a:rPr>
              <a:t>EXAMPLE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“Classify this cost as capex or opex: licence fee for the new core banking system.”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8646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5D6B7E"/>
                </a:solidFill>
              </a:rPr>
              <a:t>Use it for routine tasks the model has seen a thousand times.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FEW-SHOT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F2145"/>
                </a:solidFill>
                <a:latin typeface="Georgia"/>
              </a:rPr>
              <a:t>Show it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603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</a:rPr>
              <a:t>You give two or three solved examples, then the real task. The model copies the pattern.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794760"/>
            <a:ext cx="313639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18304" y="391363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3A5C9E"/>
                </a:solidFill>
              </a:rPr>
              <a:t>EXAMPLE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Show two costs already labelled capex or opex, then the third for the model to label the same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8646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5D6B7E"/>
                </a:solidFill>
              </a:rPr>
              <a:t>Use it when the format must match yours exactly.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</a:rPr>
              <a:t>CHAIN-OF-THOUGHT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Georgia"/>
              </a:rPr>
              <a:t>Ask for the steps.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603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9D6EE"/>
                </a:solidFill>
              </a:rPr>
              <a:t>You ask it to reason step by step before answering. The steps become visible, so errors can be caught.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794760"/>
            <a:ext cx="313639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391363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3A5C9E"/>
                </a:solidFill>
              </a:rPr>
              <a:t>EXAMPLE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“Compute the current ratio step by step, then end with one line stating the ratio.”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8646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</a:rPr>
              <a:t>Use it for arithmetic and multi-step logic.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The order of use:  </a:t>
            </a:r>
            <a:r>
              <a:rPr sz="1200" b="0" i="0">
                <a:solidFill>
                  <a:srgbClr val="FFFFFF"/>
                </a:solidFill>
              </a:rPr>
              <a:t>start zero-shot. Add examples when the format matters. Ask for the steps when there is arithmetic.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1 ·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Role prompting and output formatting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5468112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77393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ROLE 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66543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F2145"/>
                </a:solidFill>
                <a:latin typeface="Georgia"/>
              </a:rPr>
              <a:t>“You are a CFO…”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78608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</a:rPr>
              <a:t>A role sets vocabulary, depth and audience in one line. The same question returns a different answer for a CFO, an auditor and a retail investor.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3675887"/>
            <a:ext cx="4956048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3803904"/>
            <a:ext cx="462686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3A5C9E"/>
                </a:solidFill>
              </a:rPr>
              <a:t>EXAMPLE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“You are the CFO of a mid-size NBFC. Explain the Q1 margin drop to the board in five bullets, no jargon.”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718304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5D6B7E"/>
                </a:solidFill>
              </a:rPr>
              <a:t>A role is context, not magic. It adds no facts the model does not have.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72768"/>
            <a:ext cx="5468112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77393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OUTPUT FORMATTING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066543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F2145"/>
                </a:solidFill>
                <a:latin typeface="Georgia"/>
              </a:rPr>
              <a:t>Ask for the shape you will 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578608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</a:rPr>
              <a:t>Prose is for reading. JSON and markdown tables are for code and spreadsheets. Fix the format and the same prompt runs every quarter.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28232" y="3675887"/>
            <a:ext cx="4956048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92824" y="3803904"/>
            <a:ext cx="462686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3A5C9E"/>
                </a:solidFill>
              </a:rPr>
              <a:t>EXAMPLE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Return only: {"company": "", "revenue_cr": 0, "period": ""} — no other 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718304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5D6B7E"/>
                </a:solidFill>
              </a:rPr>
              <a:t>A fixed format is what lets Python validate the answer.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The skeleton:  </a:t>
            </a:r>
            <a:r>
              <a:rPr sz="1200" b="0" i="0">
                <a:solidFill>
                  <a:srgbClr val="FFFFFF"/>
                </a:solidFill>
              </a:rPr>
              <a:t>state the role at the top, the task in the middle, the output format at the bottom. Every reusable prompt this semester follows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1 · 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Hallucination: the risk, then the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4892040" cy="4005072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77393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</a:rPr>
              <a:t>THE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66543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Georgia"/>
              </a:rPr>
              <a:t>It fills the gap with plausible words.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4389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9D6EE"/>
                </a:solidFill>
              </a:rPr>
              <a:t>An LLM has no database of truth — Module 1 said it. It predicts the next word. When it lacks a fact, it can produce an EPS, a fine, a circular number that reads exactly like a real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4224528"/>
            <a:ext cx="43891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4370832"/>
            <a:ext cx="40599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3A5C9E"/>
                </a:solidFill>
              </a:rPr>
              <a:t>EXAMPLE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Asked for an EPS with no document attached, a model can return ₹42.18 in full confidence. The number does not exist.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6093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THE FOUR FIXES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956816"/>
            <a:ext cx="58338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06440" y="1956816"/>
            <a:ext cx="64008" cy="65836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62472" y="1956816"/>
            <a:ext cx="53949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Ground it.  </a:t>
            </a:r>
            <a:r>
              <a:rPr sz="1050" b="0" i="0">
                <a:solidFill>
                  <a:srgbClr val="1B2A41"/>
                </a:solidFill>
              </a:rPr>
              <a:t>Attach the filing, or retrieve it with RAG. The model answers from the page, not from memory.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688336"/>
            <a:ext cx="58338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2688336"/>
            <a:ext cx="64008" cy="65836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62472" y="2688336"/>
            <a:ext cx="53949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Allow “not found”.  </a:t>
            </a:r>
            <a:r>
              <a:rPr sz="1050" b="0" i="0">
                <a:solidFill>
                  <a:srgbClr val="1B2A41"/>
                </a:solidFill>
              </a:rPr>
              <a:t>Tell it to say so when the source is silent. An allowed no beats a confident guess.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3419856"/>
            <a:ext cx="58338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06440" y="3419856"/>
            <a:ext cx="64008" cy="65836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62472" y="3419856"/>
            <a:ext cx="53949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Demand citations.  </a:t>
            </a:r>
            <a:r>
              <a:rPr sz="1050" b="0" i="0">
                <a:solidFill>
                  <a:srgbClr val="1B2A41"/>
                </a:solidFill>
              </a:rPr>
              <a:t>Every number carries the page or clause it came from.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4151376"/>
            <a:ext cx="58338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06440" y="4151376"/>
            <a:ext cx="64008" cy="65836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62472" y="4151376"/>
            <a:ext cx="53949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Verify the numbers.  </a:t>
            </a:r>
            <a:r>
              <a:rPr sz="1050" b="0" i="0">
                <a:solidFill>
                  <a:srgbClr val="1B2A41"/>
                </a:solidFill>
              </a:rPr>
              <a:t>Recompute in Python or Excel anything that leaves your desk.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C9A227"/>
                </a:solidFill>
              </a:rPr>
              <a:t>The desk rule:  </a:t>
            </a:r>
            <a:r>
              <a:rPr sz="1200" b="0" i="0" dirty="0">
                <a:solidFill>
                  <a:srgbClr val="FFFFFF"/>
                </a:solidFill>
              </a:rPr>
              <a:t>an unverified number never leaves your desk. Check it against the filing before anyone else sees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1 · 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Hallucination: what it is, and its three 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64008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430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WHAT IT IS   </a:t>
            </a:r>
            <a:r>
              <a:rPr sz="1100" b="0" i="0">
                <a:solidFill>
                  <a:srgbClr val="1B2A41"/>
                </a:solidFill>
              </a:rPr>
              <a:t>A hallucination is a confident answer that is false. The model predicts the next plausible word. When it lacks a fact, it fills the gap and does not flag the guess.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87168"/>
            <a:ext cx="5532120" cy="30540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6700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</a:rPr>
              <a:t>THE QUESTION IT GOT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62656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Georgia"/>
              </a:rPr>
              <a:t>One wrong answer cost $100 billion.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50292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9D6EE"/>
                </a:solidFill>
              </a:rPr>
              <a:t>Google demoed its chatbot Bard in February 2023. The demo asked: “What new discoveries from the James Webb Space Telescope can I tell my nine-year-old about?”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C9D6EE"/>
                </a:solidFill>
              </a:rPr>
              <a:t>Bard answered that the telescope took the very first picture of a planet outside our solar system. The first such picture was actually taken in 2004.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1" i="0">
                <a:solidFill>
                  <a:srgbClr val="FFFFFF"/>
                </a:solidFill>
              </a:rPr>
              <a:t>Alphabet’s shares fell about nine percent that day, roughly $100 billion of market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23744"/>
            <a:ext cx="5285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THE THREE 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871216"/>
            <a:ext cx="528523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2871216"/>
            <a:ext cx="64008" cy="84124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871216"/>
            <a:ext cx="482803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1 · Fact hallucination.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It states a wrong fact with full confidence. Example: an EPS quoted to two decimals for a company that never published 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803904"/>
            <a:ext cx="528523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3803904"/>
            <a:ext cx="64008" cy="84124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3803904"/>
            <a:ext cx="482803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2 · Source hallucination.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It invents the evidence. Example: a New York brief cited six court cases ChatGPT made up, and the court fined the lawyers $5,000 (Mata v. Avianca, 2023).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4736592"/>
            <a:ext cx="528523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4736592"/>
            <a:ext cx="64008" cy="84124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4736592"/>
            <a:ext cx="482803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3 · Context hallucination.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It contradicts the document it was given. Example: Air Canada’s bot promised a refund its own policy pages never offered, and a tribunal made the airline pay (2024).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How RAG grounds it:  </a:t>
            </a:r>
            <a:r>
              <a:rPr sz="1200" b="0" i="0">
                <a:solidFill>
                  <a:srgbClr val="FFFFFF"/>
                </a:solidFill>
              </a:rPr>
              <a:t>the bot answers only from the pages it retrieved, and every answer carries its page, so a wrong one is caught in one look.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A227"/>
                </a:solidFill>
              </a:rPr>
              <a:t>HOUR 2 · RAG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0F2145"/>
                </a:solidFill>
                <a:latin typeface="Georgia"/>
              </a:rPr>
              <a:t>What is RAG? Retrieval-Augmented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64008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43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3A5C9E"/>
                </a:solidFill>
              </a:rPr>
              <a:t>THE FULL FORM   </a:t>
            </a:r>
            <a:r>
              <a:rPr sz="1100" b="0">
                <a:solidFill>
                  <a:srgbClr val="1B2A41"/>
                </a:solidFill>
              </a:rPr>
              <a:t>RAG stands for Retrieval-Augmented Generation. It connects the model to documents it never saw in training, so it answers from your pages instead of its memory.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87168"/>
            <a:ext cx="3611880" cy="210312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615184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C9A227"/>
                </a:solidFill>
                <a:latin typeface="Georgia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3467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F2145"/>
                </a:solidFill>
                <a:latin typeface="Georgia"/>
              </a:rPr>
              <a:t>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803904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B2A41"/>
                </a:solidFill>
              </a:rPr>
              <a:t>The bot searches your document first and pulls out the passages that match the question.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487168"/>
            <a:ext cx="3611880" cy="210312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615184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C9A227"/>
                </a:solidFill>
                <a:latin typeface="Georgi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3467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F2145"/>
                </a:solidFill>
                <a:latin typeface="Georgia"/>
              </a:rPr>
              <a:t>Augmented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803904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B2A41"/>
                </a:solidFill>
              </a:rPr>
              <a:t>Those passages are pasted into the prompt, next to the question, as context the model must 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487168"/>
            <a:ext cx="3611880" cy="21031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615184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C9A227"/>
                </a:solidFill>
                <a:latin typeface="Georgia"/>
              </a:rPr>
              <a:t>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467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Georgia"/>
              </a:rPr>
              <a:t>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03904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9D6EE"/>
                </a:solidFill>
              </a:rPr>
              <a:t>The model writes the answer from those passages and cites the page each fact came from.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00600"/>
            <a:ext cx="1109167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800600"/>
            <a:ext cx="64008" cy="7772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00600"/>
            <a:ext cx="10543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3A5C9E"/>
                </a:solidFill>
              </a:rPr>
              <a:t>THE CLASSROOM ANALOGY   </a:t>
            </a:r>
            <a:r>
              <a:rPr sz="1100" b="0">
                <a:solidFill>
                  <a:srgbClr val="1B2A41"/>
                </a:solidFill>
              </a:rPr>
              <a:t>A plain chatbot sits a closed-book exam and answers from memory. A RAG bot sits an open-book exam: it finds the page first, answers from it, and writes the page number in the margin.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C9A227"/>
                </a:solidFill>
              </a:rPr>
              <a:t>Say it as one sentence:  </a:t>
            </a:r>
            <a:r>
              <a:rPr sz="1200" b="0">
                <a:solidFill>
                  <a:srgbClr val="FFFFFF"/>
                </a:solidFill>
              </a:rPr>
              <a:t>retrieve the pages, augment the prompt, generate the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D6B7E"/>
                </a:solidFill>
              </a:rPr>
              <a:t>MODULE 2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2 · THE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RAG: the bot reads your document before it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64008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4303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THE PROBLEM   </a:t>
            </a:r>
            <a:r>
              <a:rPr sz="1100" b="0" i="0">
                <a:solidFill>
                  <a:srgbClr val="1B2A41"/>
                </a:solidFill>
              </a:rPr>
              <a:t>The model never read your prospectus — its training ended before the filing existed, and 200 pages do not fit a prompt comfortably. So we fetch the right pages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15184"/>
            <a:ext cx="17602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760220" cy="45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798064"/>
            <a:ext cx="14676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1 ·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310128"/>
            <a:ext cx="146761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2A41"/>
                </a:solidFill>
              </a:rPr>
              <a:t>We start from one 200-page IPO prospectus (DRHP).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4930" y="2615184"/>
            <a:ext cx="17602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14930" y="2615184"/>
            <a:ext cx="1760220" cy="45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1234" y="2798064"/>
            <a:ext cx="14676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2 ·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1234" y="3310128"/>
            <a:ext cx="146761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2A41"/>
                </a:solidFill>
              </a:rPr>
              <a:t>Split it into passages a few hundred tokens long.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1220" y="2615184"/>
            <a:ext cx="17602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81220" y="2615184"/>
            <a:ext cx="1760220" cy="45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27524" y="2798064"/>
            <a:ext cx="14676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3 · 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7524" y="3310128"/>
            <a:ext cx="146761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2A41"/>
                </a:solidFill>
              </a:rPr>
              <a:t>Each chunk becomes numbers that capture meaning — Sentence Transformers.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7511" y="2615184"/>
            <a:ext cx="17602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47511" y="2615184"/>
            <a:ext cx="1760220" cy="45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3815" y="2798064"/>
            <a:ext cx="14676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4 ·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3815" y="3310128"/>
            <a:ext cx="146761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2A41"/>
                </a:solidFill>
              </a:rPr>
              <a:t>Chunks and embeddings go into a vector database — ChromaDB, Pinecone.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3801" y="2615184"/>
            <a:ext cx="17602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13801" y="2615184"/>
            <a:ext cx="1760220" cy="45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60105" y="2798064"/>
            <a:ext cx="14676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5 · RETRIEVE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0105" y="3310128"/>
            <a:ext cx="146761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2A41"/>
                </a:solidFill>
              </a:rPr>
              <a:t>Your question is embedded too; the store returns the closest chunks.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80092" y="2615184"/>
            <a:ext cx="17602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80092" y="2615184"/>
            <a:ext cx="1760220" cy="45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26396" y="2798064"/>
            <a:ext cx="14676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6 · 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6396" y="3310128"/>
            <a:ext cx="146761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2A41"/>
                </a:solidFill>
              </a:rPr>
              <a:t>The model writes from those chunks and cites the pages.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Retrieval-Augmented Generation:  </a:t>
            </a:r>
            <a:r>
              <a:rPr sz="1200" b="0" i="0">
                <a:solidFill>
                  <a:srgbClr val="FFFFFF"/>
                </a:solidFill>
              </a:rPr>
              <a:t>retrieve the right pages first, then generate the answer from them. The R happens before the 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2 ·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Four choices that decide whether the bot is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2670048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64008" cy="3977639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755648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CHUNKING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39696"/>
            <a:ext cx="2231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2145"/>
                </a:solidFill>
                <a:latin typeface="Georgia"/>
              </a:rPr>
              <a:t>Cut by meaning, not by size.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017520"/>
            <a:ext cx="2231136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Split at section boundaries and keep every table whole. Overlap the edges so no sentence is cut in half.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1572768"/>
            <a:ext cx="2670048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74136" y="1572768"/>
            <a:ext cx="64008" cy="3977639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1755648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39696"/>
            <a:ext cx="2231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2145"/>
                </a:solidFill>
                <a:latin typeface="Georgia"/>
              </a:rPr>
              <a:t>Meaning becomes numbers.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17520"/>
            <a:ext cx="2231136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Close meanings land close together, so “revenue” finds “turnover” and “top line”. Sentence Transformers is the standard tool.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1" y="1572768"/>
            <a:ext cx="2670048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1" y="1572768"/>
            <a:ext cx="64008" cy="3977639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5" y="1755648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RETRIEVE &amp; RE-RANK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2139696"/>
            <a:ext cx="2231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2145"/>
                </a:solidFill>
                <a:latin typeface="Georgia"/>
              </a:rPr>
              <a:t>Shortlist, then interview.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5" y="3017520"/>
            <a:ext cx="2231136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The first search is quick and pulls about 20 chunks that look close. A slower second look keeps the best 5. The model reads only those 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5128" y="1572768"/>
            <a:ext cx="2670048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25128" y="1572768"/>
            <a:ext cx="64008" cy="3977639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62872" y="1755648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ASK MORE THAN ONCE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139696"/>
            <a:ext cx="2231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2145"/>
                </a:solidFill>
                <a:latin typeface="Georgia"/>
              </a:rPr>
              <a:t>Ask again, then vote.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017520"/>
            <a:ext cx="2231136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Self-consistency asks the same question three times and takes the most common answer. Tree-of-thought tries a few solution paths and keeps the best. Both cost tokens, so save them for hard questions.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When the bot is wrong:  </a:t>
            </a:r>
            <a:r>
              <a:rPr sz="1200" b="0" i="0">
                <a:solidFill>
                  <a:srgbClr val="FFFFFF"/>
                </a:solidFill>
              </a:rPr>
              <a:t>look first at which chunks it was given. Most bad answers are retrieval failures, not model failures.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37376" y="4526280"/>
            <a:ext cx="2231136" cy="8686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626864"/>
            <a:ext cx="195681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950">
                <a:solidFill>
                  <a:srgbClr val="1B2A41"/>
                </a:solidFill>
              </a:rPr>
              <a:t>Screen 100 CVs fast, shortlist 20, interview 5. Re-ranking is the interview.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62872" y="4526280"/>
            <a:ext cx="2231136" cy="8686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9176" y="4626864"/>
            <a:ext cx="195681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950">
                <a:solidFill>
                  <a:srgbClr val="1B2A41"/>
                </a:solidFill>
              </a:rPr>
              <a:t>Three analysts compute one ratio. Two get 1.8, one gets 2.4. You go with 1.8.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3 ·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The lab: a Q&amp;A bot on a real IPO prospectus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</a:rPr>
              <a:t>We build one bot on one prospectus and put ten questions to it. Everything runs in VS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73936"/>
            <a:ext cx="576072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THE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860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304288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Download one NSE IPO prospectus (DRHP) from sebi.gov.in, about 200 pages.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5292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71216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LlamaIndex splits and embeds it; ChromaDB stores the chunks.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38144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Claude answers each question from the retrieved chunks and cites the pages.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5760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251960"/>
            <a:ext cx="64008" cy="1280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407408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F7113"/>
                </a:solidFill>
              </a:rPr>
              <a:t>TRY IT FREE AT HOME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A41"/>
                </a:solidFill>
              </a:rPr>
              <a:t>No paid account is needed. Upload the same PDF to any free AI chat, ask the same ten questions, and compare its answers with the class bot’s cited pages.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773936"/>
            <a:ext cx="5148072" cy="2331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193852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</a:rPr>
              <a:t>THE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231136"/>
            <a:ext cx="46634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C9A227"/>
                </a:solidFill>
              </a:rPr>
              <a:t>▪  </a:t>
            </a:r>
            <a:r>
              <a:rPr sz="1050" b="0" i="0">
                <a:solidFill>
                  <a:srgbClr val="FFFFFF"/>
                </a:solidFill>
              </a:rPr>
              <a:t>Where does the fresh-issue money go?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</a:rPr>
              <a:t>▪  </a:t>
            </a:r>
            <a:r>
              <a:rPr sz="1050" b="0" i="0">
                <a:solidFill>
                  <a:srgbClr val="FFFFFF"/>
                </a:solidFill>
              </a:rPr>
              <a:t>What is the promoter holding after the offer?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</a:rPr>
              <a:t>▪  </a:t>
            </a:r>
            <a:r>
              <a:rPr sz="1050" b="0" i="0">
                <a:solidFill>
                  <a:srgbClr val="FFFFFF"/>
                </a:solidFill>
              </a:rPr>
              <a:t>Which three risk factors come first?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C9D6EE"/>
                </a:solidFill>
              </a:rPr>
              <a:t>You write the other seven.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58444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D6EE"/>
                </a:solidFill>
              </a:rPr>
              <a:t>Each answer is scored right, wrong or not found, and the cited page is checked in the PDF.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251960"/>
            <a:ext cx="5148072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92240" y="4251960"/>
            <a:ext cx="64008" cy="128016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4407408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INDUSTRY CASE · SEBI DRHP ANALYSIS USING RAG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A41"/>
                </a:solidFill>
              </a:rPr>
              <a:t>Every DRHP is public on sebi.gov.in the day it is filed. The same pipeline gives an analyst a first pass in minutes, and the cited pages make it checkable.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What you have at the end:  </a:t>
            </a:r>
            <a:r>
              <a:rPr sz="1200" b="0" i="0">
                <a:solidFill>
                  <a:srgbClr val="FFFFFF"/>
                </a:solidFill>
              </a:rPr>
              <a:t>a bot that answered ten investor questions from a document it had never seen, and a score sheet saying how often it was right.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PRACTICE QUESTIONS · PART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Six questions on today’s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5506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36776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When do you move from zero-shot to few-shot, and what do the examples buy you?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Move when the output format or the judgement must match yours. The examples teach the pattern.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5973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41448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Why does “You are a CFO…” change the answer? Name the three things a role sets.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Vocabulary, depth and audience. It adds no new facts.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82112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182112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46120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Why ask for JSON instead of prose when the output feeds a spreadsheet?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A fixed format can be parsed and validated by code. Prose cannot.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86784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986784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50792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What is hallucination, and what are its three types?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A confident answer that is false. Fact: a wrong number stated with confidence. Source: invented evidence. Context: it contradicts the document it was given.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91456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791456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87375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55464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Why build RAG instead of pasting all 200 pages into the chat?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Cost, context limits and focus. Retrieval sends only the few passages that matter.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596128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67842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60136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A search for “revenue” must also find “turnover”. Which stage makes that work?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Embeddings. They map meaning to numbers, so synonyms land close together.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PRACTICE QUESTIONS · PART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99669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978408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What is the CRAFT prompt technique? Name the three things a role sets.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Context, Role, Action, Format, Tone. A role sets vocabulary, depth and audience, and it adds no new facts.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19072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0136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783080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How will you reduce hallucination? (This was asked in an Accenture strategy interview.)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Give it the document (RAG), demand a page citation for every number, allow “I don't know”, fix the output format, and check every number with code.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23744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523744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6060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587752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You are a research analyst valuing Zomato for a long-term horizon. Write the best prompt in CRAFT format.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Context: Zomato, latest annual results, long-term view. Role: equity research analyst. Action: value it by DCF and peer multiples, list the risks. Format: one-page memo with a table. Tone: plain, board-ready.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28416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328416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41071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92424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How will you build a RAG pipeline for the 550-page Shiprocket DRHP, which would cost over a million tokens to paste? List the steps.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Load the PDF, chunk it by section, embed each chunk, store the vectors in a database, retrieve the top chunks for each question, and generate the answer with page citations.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PRACTICE QUESTIONS · 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Three cases from the 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64008" cy="12344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3A5C9E"/>
                </a:solidFill>
                <a:latin typeface="Georgia"/>
              </a:rPr>
              <a:t>Q11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19072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B2A41"/>
                </a:solidFill>
                <a:latin typeface="Calibri"/>
              </a:rPr>
              <a:t>The CFO wants last quarter’s segment results as a board-ready table, from the same prompt every quarter. Write the prompt’s three parts.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1050" b="0" i="0">
                <a:solidFill>
                  <a:srgbClr val="5D6B7E"/>
                </a:solidFill>
                <a:latin typeface="Calibri"/>
              </a:rPr>
              <a:t>State the role at the top, the task in the middle, and the exact table format at the bottom, with a “not found” rule for missing lines.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44368"/>
            <a:ext cx="110916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944368"/>
            <a:ext cx="64008" cy="12344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3A5C9E"/>
                </a:solidFill>
                <a:latin typeface="Georgia"/>
              </a:rPr>
              <a:t>Q12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90672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B2A41"/>
                </a:solidFill>
                <a:latin typeface="Calibri"/>
              </a:rPr>
              <a:t>Your prospectus bot answers a risk-factor question with text from the marketing section. Which stage failed, and what do you change?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1050" b="0" i="0">
                <a:solidFill>
                  <a:srgbClr val="5D6B7E"/>
                </a:solidFill>
                <a:latin typeface="Calibri"/>
              </a:rPr>
              <a:t>Retrieval, or the chunking before it. Chunk by section, keep headings with their text, and re-rank so the risk-factor chunks win.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15968"/>
            <a:ext cx="110916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315968"/>
            <a:ext cx="64008" cy="12344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46227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3A5C9E"/>
                </a:solidFill>
                <a:latin typeface="Georgia"/>
              </a:rPr>
              <a:t>Q13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462272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B2A41"/>
                </a:solidFill>
                <a:latin typeface="Calibri"/>
              </a:rPr>
              <a:t>The bot returns a promoter stake the PDF never states. Which two controls stop that number reaching the investor?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  <a:latin typeface="Calibri"/>
              </a:rPr>
              <a:t>TIP  </a:t>
            </a:r>
            <a:r>
              <a:rPr sz="1050" b="0" i="0">
                <a:solidFill>
                  <a:srgbClr val="5D6B7E"/>
                </a:solidFill>
                <a:latin typeface="Calibri"/>
              </a:rPr>
              <a:t>Require a page citation for every number, and instruct “not found” when the source is silent. A human checks the cited page before it goes 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Before Session 3:  </a:t>
            </a:r>
            <a:r>
              <a:rPr sz="1100" b="0" i="0">
                <a:solidFill>
                  <a:srgbClr val="1B2A41"/>
                </a:solidFill>
              </a:rPr>
              <a:t>pick any live DRHP on sebi.gov.in, read its risk-factors section, and write the ten questions you would put to a bot about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2331</Words>
  <Application>Microsoft Macintosh PowerPoint</Application>
  <PresentationFormat>Widescreen</PresentationFormat>
  <Paragraphs>211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2</cp:revision>
  <dcterms:created xsi:type="dcterms:W3CDTF">2013-01-27T09:14:16Z</dcterms:created>
  <dcterms:modified xsi:type="dcterms:W3CDTF">2026-08-21T19:01:07Z</dcterms:modified>
  <cp:category/>
</cp:coreProperties>
</file>
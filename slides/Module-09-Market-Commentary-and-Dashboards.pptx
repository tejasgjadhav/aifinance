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54312" y="0"/>
            <a:ext cx="2834640" cy="6858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54312" y="0"/>
            <a:ext cx="3657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ISBMS · PGDM 2025–27 · SEMESTER III · SESSION 9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595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Georgia"/>
              </a:rPr>
              <a:t>Module 9</a:t>
            </a:r>
          </a:p>
          <a:p>
            <a:pPr algn="l">
              <a:spcBef>
                <a:spcPts val="1000"/>
              </a:spcBef>
            </a:pPr>
            <a:r>
              <a:rPr sz="2100" b="0">
                <a:solidFill>
                  <a:srgbClr val="C9D6EE"/>
                </a:solidFill>
                <a:latin typeface="Georgia"/>
              </a:rPr>
              <a:t>Market Commentary and Valuation Dashboards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13632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Faculty · Agentic AI &amp; Advanced Analytics in Finance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8FA1C4"/>
                </a:solidFill>
              </a:rPr>
              <a:t>PGDM-SEM3-SPEC-AIFINANCE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C9A227"/>
                </a:solidFill>
              </a:rPr>
              <a:t>tejasgjadhav.github.io/AIFINANCE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8503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234440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Three questions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Is the news good or bad?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What is a company worth?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Can a dashboard run itself?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315468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Live today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Our daily market dashboard,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then you build your 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45262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C9A227"/>
                </a:solidFill>
                <a:latin typeface="Georgia"/>
              </a:rPr>
              <a:t>1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8FA1C4"/>
                </a:solidFill>
              </a:rPr>
              <a:t>PRE-MARKET DASHBOARD,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8FA1C4"/>
                </a:solidFill>
              </a:rPr>
              <a:t>BUILT BEFORE YOU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FA1C4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8FA1C4"/>
                </a:solidFill>
              </a:rPr>
              <a:t>MODULE 9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FINANCIAL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Sentiment analysis: is this news good or bad?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WHAT IT IS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Scoring the mood of text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model reads a headline or a transcript and labels it positive, negative or neutral.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FINBERT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A model trained on finance text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version of BERT trained on financial news and reports. It is free to download.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TRAP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Tone is not impact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“Crude oil falls as supply concerns ease” is good news for India. A word list and FinBERT both call it negative.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1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Collect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Gather NSE announcements and news headlines each morning.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2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Clean and score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Remove noise, then score each item with FinBERT.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STEP 3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Write the commentary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AI writes a short note from the scores, and a person checks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Remember:  </a:t>
            </a:r>
            <a:r>
              <a:rPr sz="1200" b="0">
                <a:solidFill>
                  <a:srgbClr val="FFFFFF"/>
                </a:solidFill>
              </a:rPr>
              <a:t>sentiment scores the tone of the words. Who benefits needs context from a person or an LLM, and it is never a decision to buy.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9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EARNINGS CALLS AND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Reading earnings calls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6811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495604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KEY PHRASES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What management stresses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Phrases like “guidance raised” or “margin pressure” are pulled out of a long transcript.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63040"/>
            <a:ext cx="546811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664208"/>
            <a:ext cx="495604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EVENT SIGNALS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News that moves prices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results date, a rating change or a big order is tagged as an event.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21024"/>
            <a:ext cx="546811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21024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822192"/>
            <a:ext cx="495604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CASE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AI earnings summaries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Bloomberg Intelligence uses AI to summarise earnings calls, so an analyst reads one page, not fifty.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621024"/>
            <a:ext cx="546811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621024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3822192"/>
            <a:ext cx="495604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THE RULE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Check against the source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Every number in an AI summary must match the transcript or the filing.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Live demo:  </a:t>
            </a:r>
            <a:r>
              <a:rPr sz="1200" b="0">
                <a:solidFill>
                  <a:srgbClr val="FFFFFF"/>
                </a:solidFill>
              </a:rPr>
              <a:t>FinBERT scores the lines of an NSE earnings call transcript, one by 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9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VALUATION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DCF: what a company is worth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1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Project cash flows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Grow last year's free cash flow for five years. In our lab: ₹1,000 crore growing 12% a year.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2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Discount them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Divide each year's cash by (1 + WACC) to the power of the year. Our WACC is 11%.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3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Add a terminal value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Value every year after year 5 in one number, growing 5% a year, then discount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4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Per share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Subtract net debt of ₹1,500 crore and divide by 50 crore shares. Result: about ₹439 a share.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WHERE AI HELPS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Assumptions and explanation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AI can draft the assumptions and explain the result. It never does the arithmetic.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WHERE PYTHON HELPS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The calculation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Python does every multiplication and division, so the answer can be checked.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Sensitivity:  </a:t>
            </a:r>
            <a:r>
              <a:rPr sz="1200" b="0">
                <a:solidFill>
                  <a:srgbClr val="FFFFFF"/>
                </a:solidFill>
              </a:rPr>
              <a:t>most of the value sits in the terminal value, so a small change in WACC moves the answer a lot.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9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COMPARABLE COMPANIES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Comparables: is it cheap or dear against its peers?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P/E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Price to earnings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Share price ÷ earnings per share. A price of ₹440 and EPS of ₹22 gives a P/E of 20.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EV/EBITDA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Whole business value to operating profit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Enterprise value ÷ EBITDA. It ignores how the company is financed.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P/BV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Price to book value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Share price ÷ book value per share. Common for banks.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HOW TO USE THEM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Compare with peers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If peers trade at a P/E of 25 and our company at 20, ask why before calling it cheap.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DATA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Damodaran and ESG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Professor Damodaran publishes free industry multiples. ESG scores can adjust the risk view.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WHERE AI HELPS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Collecting the multiples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AI pulls the multiples out of filings. Python lines them up and checks them.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Remember:  </a:t>
            </a:r>
            <a:r>
              <a:rPr sz="1200" b="0">
                <a:solidFill>
                  <a:srgbClr val="FFFFFF"/>
                </a:solidFill>
              </a:rPr>
              <a:t>a multiple is a quick check. A DCF explains why the value is what it 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9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THE CASE · OUR DAILY MARKET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A dashboard that is ready before the market opens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TOP STRIP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markets at a glance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Nifty 50, Sensex, Brent crude, USD/INR and India VIX, with their last change.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OVERNIGHT CUES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What happened while we slept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GIFT Nifty, US markets and currency moves, pointing to the likely open.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SUMMARY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A short morning brief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paragraph that ties the overnight cues and the news together.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NEWS FEED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Five to eight headlines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day's main stories, each with its source.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WHEN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Every weekday, 8:30 AM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It refreshes itself 45 minutes before the 9:15 AM open.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WHO TOUCHES IT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Nobody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No one opens a laptop. The page is simply there each morning.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Today:  </a:t>
            </a:r>
            <a:r>
              <a:rPr sz="1200" b="0">
                <a:solidFill>
                  <a:srgbClr val="FFFFFF"/>
                </a:solidFill>
              </a:rPr>
              <a:t>you see it live, then you build a smaller version of it in Hour 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9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THE CASE · HOW IT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What runs every weekday at 6:30 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2057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0574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169164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9A227"/>
                </a:solidFill>
                <a:latin typeface="Georgia"/>
              </a:rPr>
              <a:t>1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0F2145"/>
                </a:solidFill>
                <a:latin typeface="Georgia"/>
              </a:rPr>
              <a:t>Routine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B2A41"/>
                </a:solidFill>
              </a:rPr>
              <a:t>daily-update.yml starts the job at 6:30 AM IST, Monday to Friday.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7752" y="237744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7208" y="1508760"/>
            <a:ext cx="2057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07208" y="1508760"/>
            <a:ext cx="20574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664208"/>
            <a:ext cx="169164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9A227"/>
                </a:solidFill>
                <a:latin typeface="Georgia"/>
              </a:rPr>
              <a:t>2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0F2145"/>
                </a:solidFill>
                <a:latin typeface="Georgia"/>
              </a:rPr>
              <a:t>Python script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B2A41"/>
                </a:solidFill>
              </a:rPr>
              <a:t>update_dashboard.py takes the API key from the GitHub secret and sends the prompt template and today's page.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7744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5776" y="1508760"/>
            <a:ext cx="2057400" cy="21031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65776" y="1508760"/>
            <a:ext cx="20574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6" y="1664208"/>
            <a:ext cx="169164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9A227"/>
                </a:solidFill>
                <a:latin typeface="Georgia"/>
              </a:rPr>
              <a:t>3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Claude API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C9D6EE"/>
                </a:solidFill>
              </a:rPr>
              <a:t>Runs ten or more web searches, gives a source for each number, and writes “not found” rather than guess.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237744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24344" y="1508760"/>
            <a:ext cx="2057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24344" y="1508760"/>
            <a:ext cx="20574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3" y="1664208"/>
            <a:ext cx="169164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9A227"/>
                </a:solidFill>
                <a:latin typeface="Georgia"/>
              </a:rPr>
              <a:t>4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0F2145"/>
                </a:solidFill>
                <a:latin typeface="Georgia"/>
              </a:rPr>
              <a:t>Safety check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B2A41"/>
                </a:solidFill>
              </a:rPr>
              <a:t>If the new page is incomplete or the disclaimer is missing, yesterday's page stays.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2377440"/>
            <a:ext cx="237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82912" y="1508760"/>
            <a:ext cx="20574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82912" y="1508760"/>
            <a:ext cx="20574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5792" y="1664208"/>
            <a:ext cx="169164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9A227"/>
                </a:solidFill>
                <a:latin typeface="Georgia"/>
              </a:rPr>
              <a:t>5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0F2145"/>
                </a:solidFill>
                <a:latin typeface="Georgia"/>
              </a:rPr>
              <a:t>Publish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1B2A41"/>
                </a:solidFill>
              </a:rPr>
              <a:t>index.html is committed to GitHub and goes live on GitHub Pages.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94760"/>
            <a:ext cx="546811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79476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995928"/>
            <a:ext cx="495604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WHAT WORKS WELL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It runs itself, reliably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One prompt built it. A routine, a fixed template, a safety check and free hosting run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794760"/>
            <a:ext cx="5468112" cy="18288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79476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3995928"/>
            <a:ext cx="495604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WHAT WE WOULD IMPROVE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Numbers in Python, words in AI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Today Claude finds and works out the numbers. A bank would fetch them in Python and let AI only write.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Governance:  </a:t>
            </a:r>
            <a:r>
              <a:rPr sz="1200" b="0">
                <a:solidFill>
                  <a:srgbClr val="FFFFFF"/>
                </a:solidFill>
              </a:rPr>
              <a:t>the API key sits in GitHub's secret store, and the job stops if the key is missing.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9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THE LIVE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Build a dashboard that updates itself every morning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56332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5633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214426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1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GitHub setup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Create a public repository and turn on Actions write access and Pages.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0420" y="1463040"/>
            <a:ext cx="2656332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0420" y="1463040"/>
            <a:ext cx="265633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6452" y="1664208"/>
            <a:ext cx="214426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2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API key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Create a key at console.anthropic.com and save it as a repository secret.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63040"/>
            <a:ext cx="2656332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265633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664208"/>
            <a:ext cx="214426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3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Connect Claude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At claude.ai/code, connect GitHub and allow the Claude app on the repository.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83980" y="1463040"/>
            <a:ext cx="2656332" cy="219456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83980" y="1463040"/>
            <a:ext cx="265633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0012" y="1664208"/>
            <a:ext cx="214426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STEP 4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Paste the prompt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Claude writes the page, the script and the 6:30 AM routine. Merge, then run it once.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Two bills:  </a:t>
            </a:r>
            <a:r>
              <a:rPr sz="1200" b="0">
                <a:solidFill>
                  <a:srgbClr val="FFFFFF"/>
                </a:solidFill>
              </a:rPr>
              <a:t>a Claude plan lets Claude write the files, and the API key pays for each morning update.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9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CLASS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Ten questions, ten marks, five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WHERE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On the course website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Open “Class assignments (A and B)” on the Module 9 card.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PASSWORD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Given in class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Class A and Class B each have their own tab and their own password.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FORMAT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True or false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Ten questions on Modules 1 to 8, one at a time, 30 seconds each.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RULES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Stay on the page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Leaving the tab loses the question on screen. You cannot go 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MARKING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Automatic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Your score appears as soon as you finish.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LEADERBOARD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First attempt only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Each class has its own leaderboard. Only your first attempt counts.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Before you start:  </a:t>
            </a:r>
            <a:r>
              <a:rPr sz="1200" b="0">
                <a:solidFill>
                  <a:srgbClr val="FFFFFF"/>
                </a:solidFill>
              </a:rPr>
              <a:t>enter your full name and your roll number. Use one device and a steady connection.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9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Simple questions before the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26464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sentiment analysis?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Scoring text as positive, negative or neutral.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84248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84248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939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039112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FinBERT?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A BERT language model trained on financial text to score sentiment.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96896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596896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066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651760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Why can even FinBERT get a headline wrong?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It scores the tone of the words, not who benefits. Falling crude helps India, yet it scores negative.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9544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09544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3192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264408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are the four steps of a DCF?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Project cash flows, discount them, add a terminal value, convert to per-share value.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22191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22191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3192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77055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does P/E tell you?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How many rupees investors pay for one rupee of earnings.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34840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4456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489703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Why should Python, not AI, do the arithmetic?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Python gives the same checkable answer every time. A number an AI produced is hard to defend.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047488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047488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15721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102351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How does the daily market dashboard update itself?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A schedule runs a script, Claude searches and writes the page, a check runs, and the page is published.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660136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660136"/>
            <a:ext cx="64008" cy="54864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76986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5714999"/>
            <a:ext cx="9966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should the dashboard do if a number is missing?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Refuse to publish and say which input is missing.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ISBMS · PGDM 2025–27 · AGENTIC AI &amp; ADVANCED ANALYTICS IN FINANCE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9  ·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
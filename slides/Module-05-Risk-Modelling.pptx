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5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5</a:t>
            </a:r>
          </a:p>
          <a:p>
            <a:pPr algn="l">
              <a:spcBef>
                <a:spcPts val="1000"/>
              </a:spcBef>
            </a:pPr>
            <a:r>
              <a:rPr sz="2100" b="0">
                <a:solidFill>
                  <a:srgbClr val="C9D6EE"/>
                </a:solidFill>
                <a:latin typeface="Georgia"/>
              </a:rPr>
              <a:t>Risk Modelling — PD Models &amp; Monte Carlo VaR</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Two questions</a:t>
            </a:r>
          </a:p>
          <a:p>
            <a:pPr algn="l">
              <a:spcBef>
                <a:spcPts val="400"/>
              </a:spcBef>
            </a:pPr>
            <a:r>
              <a:rPr sz="1000" b="0">
                <a:solidFill>
                  <a:srgbClr val="8FA1C4"/>
                </a:solidFill>
              </a:rPr>
              <a:t>Will this borrower pay?</a:t>
            </a:r>
          </a:p>
          <a:p>
            <a:pPr algn="l">
              <a:spcBef>
                <a:spcPts val="200"/>
              </a:spcBef>
            </a:pPr>
            <a:r>
              <a:rPr sz="1000" b="0">
                <a:solidFill>
                  <a:srgbClr val="8FA1C4"/>
                </a:solidFill>
              </a:rPr>
              <a:t>How much can this book lose?</a:t>
            </a:r>
          </a:p>
        </p:txBody>
      </p:sp>
      <p:sp>
        <p:nvSpPr>
          <p:cNvPr id="11" name="TextBox 10"/>
          <p:cNvSpPr txBox="1"/>
          <p:nvPr/>
        </p:nvSpPr>
        <p:spPr>
          <a:xfrm>
            <a:off x="9646920" y="2788920"/>
            <a:ext cx="2286000" cy="1097280"/>
          </a:xfrm>
          <a:prstGeom prst="rect">
            <a:avLst/>
          </a:prstGeom>
          <a:noFill/>
        </p:spPr>
        <p:txBody>
          <a:bodyPr wrap="square" anchor="t" lIns="0" rIns="0" tIns="0" bIns="0">
            <a:spAutoFit/>
          </a:bodyPr>
          <a:lstStyle/>
          <a:p>
            <a:pPr algn="l"/>
            <a:r>
              <a:rPr sz="1500" b="1">
                <a:solidFill>
                  <a:srgbClr val="FFFFFF"/>
                </a:solidFill>
                <a:latin typeface="Georgia"/>
              </a:rPr>
              <a:t>No heavy maths</a:t>
            </a:r>
          </a:p>
          <a:p>
            <a:pPr algn="l">
              <a:spcBef>
                <a:spcPts val="400"/>
              </a:spcBef>
            </a:pPr>
            <a:r>
              <a:rPr sz="1000" b="0">
                <a:solidFill>
                  <a:srgbClr val="8FA1C4"/>
                </a:solidFill>
              </a:rPr>
              <a:t>Every number today comes</a:t>
            </a:r>
          </a:p>
          <a:p>
            <a:pPr algn="l">
              <a:spcBef>
                <a:spcPts val="200"/>
              </a:spcBef>
            </a:pPr>
            <a:r>
              <a:rPr sz="1000" b="0">
                <a:solidFill>
                  <a:srgbClr val="8FA1C4"/>
                </a:solidFill>
              </a:rPr>
              <a:t>from one multiplication or</a:t>
            </a:r>
          </a:p>
          <a:p>
            <a:pPr algn="l">
              <a:spcBef>
                <a:spcPts val="200"/>
              </a:spcBef>
            </a:pPr>
            <a:r>
              <a:rPr sz="1000" b="0">
                <a:solidFill>
                  <a:srgbClr val="8FA1C4"/>
                </a:solidFill>
              </a:rPr>
              <a:t>one sorted list.</a:t>
            </a:r>
          </a:p>
        </p:txBody>
      </p:sp>
      <p:sp>
        <p:nvSpPr>
          <p:cNvPr id="12" name="TextBox 11"/>
          <p:cNvSpPr txBox="1"/>
          <p:nvPr/>
        </p:nvSpPr>
        <p:spPr>
          <a:xfrm>
            <a:off x="9646920" y="443484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VaR ENGINE, BUILT AND</a:t>
            </a:r>
          </a:p>
          <a:p>
            <a:pPr algn="l">
              <a:spcBef>
                <a:spcPts val="200"/>
              </a:spcBef>
            </a:pPr>
            <a:r>
              <a:rPr sz="900" b="0">
                <a:solidFill>
                  <a:srgbClr val="8FA1C4"/>
                </a:solidFill>
              </a:rPr>
              <a:t>READ, 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5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47088"/>
            <a:ext cx="3108960" cy="274320"/>
          </a:xfrm>
          <a:prstGeom prst="rect">
            <a:avLst/>
          </a:prstGeom>
          <a:noFill/>
        </p:spPr>
        <p:txBody>
          <a:bodyPr wrap="square" anchor="t" lIns="0" rIns="0" tIns="0" bIns="0">
            <a:spAutoFit/>
          </a:bodyPr>
          <a:lstStyle/>
          <a:p>
            <a:pPr algn="l"/>
            <a:r>
              <a:rPr sz="950" b="1">
                <a:solidFill>
                  <a:srgbClr val="3A5C9E"/>
                </a:solidFill>
              </a:rPr>
              <a:t>HOUR 1 · 60 MIN</a:t>
            </a:r>
          </a:p>
        </p:txBody>
      </p:sp>
      <p:sp>
        <p:nvSpPr>
          <p:cNvPr id="8" name="TextBox 7"/>
          <p:cNvSpPr txBox="1"/>
          <p:nvPr/>
        </p:nvSpPr>
        <p:spPr>
          <a:xfrm>
            <a:off x="804672"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Will they pay?</a:t>
            </a:r>
          </a:p>
        </p:txBody>
      </p:sp>
      <p:sp>
        <p:nvSpPr>
          <p:cNvPr id="9" name="TextBox 8"/>
          <p:cNvSpPr txBox="1"/>
          <p:nvPr/>
        </p:nvSpPr>
        <p:spPr>
          <a:xfrm>
            <a:off x="804672"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PD, LGD and EAD, and the one line that joins them</a:t>
            </a:r>
          </a:p>
        </p:txBody>
      </p:sp>
      <p:sp>
        <p:nvSpPr>
          <p:cNvPr id="10" name="TextBox 9"/>
          <p:cNvSpPr txBox="1"/>
          <p:nvPr/>
        </p:nvSpPr>
        <p:spPr>
          <a:xfrm>
            <a:off x="804672"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Basel II and where the bank is allowed to use its own model</a:t>
            </a:r>
          </a:p>
        </p:txBody>
      </p:sp>
      <p:sp>
        <p:nvSpPr>
          <p:cNvPr id="11" name="TextBox 10"/>
          <p:cNvSpPr txBox="1"/>
          <p:nvPr/>
        </p:nvSpPr>
        <p:spPr>
          <a:xfrm>
            <a:off x="804672"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Building a PD model: logistic regression, trees, XGBoost</a:t>
            </a:r>
          </a:p>
        </p:txBody>
      </p:sp>
      <p:sp>
        <p:nvSpPr>
          <p:cNvPr id="12" name="TextBox 11"/>
          <p:cNvSpPr txBox="1"/>
          <p:nvPr/>
        </p:nvSpPr>
        <p:spPr>
          <a:xfrm>
            <a:off x="804672"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Reading the score: Gini, KS, AUC-ROC, and SHAP</a:t>
            </a:r>
          </a:p>
        </p:txBody>
      </p:sp>
      <p:sp>
        <p:nvSpPr>
          <p:cNvPr id="13" name="Rectangle 12"/>
          <p:cNvSpPr/>
          <p:nvPr/>
        </p:nvSpPr>
        <p:spPr>
          <a:xfrm>
            <a:off x="4315968"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847088"/>
            <a:ext cx="3108960" cy="274320"/>
          </a:xfrm>
          <a:prstGeom prst="rect">
            <a:avLst/>
          </a:prstGeom>
          <a:noFill/>
        </p:spPr>
        <p:txBody>
          <a:bodyPr wrap="square" anchor="t" lIns="0" rIns="0" tIns="0" bIns="0">
            <a:spAutoFit/>
          </a:bodyPr>
          <a:lstStyle/>
          <a:p>
            <a:pPr algn="l"/>
            <a:r>
              <a:rPr sz="950" b="1">
                <a:solidFill>
                  <a:srgbClr val="3A5C9E"/>
                </a:solidFill>
              </a:rPr>
              <a:t>HOUR 2 · 60 MIN</a:t>
            </a:r>
          </a:p>
        </p:txBody>
      </p:sp>
      <p:sp>
        <p:nvSpPr>
          <p:cNvPr id="16" name="TextBox 15"/>
          <p:cNvSpPr txBox="1"/>
          <p:nvPr/>
        </p:nvSpPr>
        <p:spPr>
          <a:xfrm>
            <a:off x="4572000"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How much can we lose?</a:t>
            </a:r>
          </a:p>
        </p:txBody>
      </p:sp>
      <p:sp>
        <p:nvSpPr>
          <p:cNvPr id="17" name="TextBox 16"/>
          <p:cNvSpPr txBox="1"/>
          <p:nvPr/>
        </p:nvSpPr>
        <p:spPr>
          <a:xfrm>
            <a:off x="4572000"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Three ways to compute VaR, and why they disagree</a:t>
            </a:r>
          </a:p>
        </p:txBody>
      </p:sp>
      <p:sp>
        <p:nvSpPr>
          <p:cNvPr id="18" name="TextBox 17"/>
          <p:cNvSpPr txBox="1"/>
          <p:nvPr/>
        </p:nvSpPr>
        <p:spPr>
          <a:xfrm>
            <a:off x="4572000"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10,000 simulated days on a multi-asset portfolio</a:t>
            </a:r>
          </a:p>
        </p:txBody>
      </p:sp>
      <p:sp>
        <p:nvSpPr>
          <p:cNvPr id="19" name="TextBox 18"/>
          <p:cNvSpPr txBox="1"/>
          <p:nvPr/>
        </p:nvSpPr>
        <p:spPr>
          <a:xfrm>
            <a:off x="4572000"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CVaR: the question VaR refuses to answer</a:t>
            </a:r>
          </a:p>
        </p:txBody>
      </p:sp>
      <p:sp>
        <p:nvSpPr>
          <p:cNvPr id="20" name="TextBox 19"/>
          <p:cNvSpPr txBox="1"/>
          <p:nvPr/>
        </p:nvSpPr>
        <p:spPr>
          <a:xfrm>
            <a:off x="4572000"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Basel III thresholds at 95% and 99%</a:t>
            </a:r>
          </a:p>
        </p:txBody>
      </p:sp>
      <p:sp>
        <p:nvSpPr>
          <p:cNvPr id="21" name="Rectangle 20"/>
          <p:cNvSpPr/>
          <p:nvPr/>
        </p:nvSpPr>
        <p:spPr>
          <a:xfrm>
            <a:off x="8083296"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1847088"/>
            <a:ext cx="3108960" cy="274320"/>
          </a:xfrm>
          <a:prstGeom prst="rect">
            <a:avLst/>
          </a:prstGeom>
          <a:noFill/>
        </p:spPr>
        <p:txBody>
          <a:bodyPr wrap="square" anchor="t" lIns="0" rIns="0" tIns="0" bIns="0">
            <a:spAutoFit/>
          </a:bodyPr>
          <a:lstStyle/>
          <a:p>
            <a:pPr algn="l"/>
            <a:r>
              <a:rPr sz="950" b="1">
                <a:solidFill>
                  <a:srgbClr val="3A5C9E"/>
                </a:solidFill>
              </a:rPr>
              <a:t>HOUR 3 · 60 MIN</a:t>
            </a:r>
          </a:p>
        </p:txBody>
      </p:sp>
      <p:sp>
        <p:nvSpPr>
          <p:cNvPr id="24" name="TextBox 23"/>
          <p:cNvSpPr txBox="1"/>
          <p:nvPr/>
        </p:nvSpPr>
        <p:spPr>
          <a:xfrm>
            <a:off x="8339327"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Build it</a:t>
            </a:r>
          </a:p>
        </p:txBody>
      </p:sp>
      <p:sp>
        <p:nvSpPr>
          <p:cNvPr id="25" name="TextBox 24"/>
          <p:cNvSpPr txBox="1"/>
          <p:nvPr/>
        </p:nvSpPr>
        <p:spPr>
          <a:xfrm>
            <a:off x="8339327"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Monte Carlo VaR engine on five NSE stocks</a:t>
            </a:r>
          </a:p>
        </p:txBody>
      </p:sp>
      <p:sp>
        <p:nvSpPr>
          <p:cNvPr id="26" name="TextBox 25"/>
          <p:cNvSpPr txBox="1"/>
          <p:nvPr/>
        </p:nvSpPr>
        <p:spPr>
          <a:xfrm>
            <a:off x="8339327"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10,000 paths, then 95% and 99% VaR and CVaR</a:t>
            </a:r>
          </a:p>
        </p:txBody>
      </p:sp>
      <p:sp>
        <p:nvSpPr>
          <p:cNvPr id="27" name="TextBox 26"/>
          <p:cNvSpPr txBox="1"/>
          <p:nvPr/>
        </p:nvSpPr>
        <p:spPr>
          <a:xfrm>
            <a:off x="8339327"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An AI-written risk note, checked against the numbers</a:t>
            </a:r>
          </a:p>
        </p:txBody>
      </p:sp>
      <p:sp>
        <p:nvSpPr>
          <p:cNvPr id="28" name="TextBox 27"/>
          <p:cNvSpPr txBox="1"/>
          <p:nvPr/>
        </p:nvSpPr>
        <p:spPr>
          <a:xfrm>
            <a:off x="8339327"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One PDF report you can hand to somebody</a:t>
            </a:r>
          </a:p>
        </p:txBody>
      </p:sp>
      <p:sp>
        <p:nvSpPr>
          <p:cNvPr id="29" name="Rectangle 28"/>
          <p:cNvSpPr/>
          <p:nvPr/>
        </p:nvSpPr>
        <p:spPr>
          <a:xfrm>
            <a:off x="548640" y="4956048"/>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956048"/>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4956048"/>
            <a:ext cx="10515600" cy="603504"/>
          </a:xfrm>
          <a:prstGeom prst="rect">
            <a:avLst/>
          </a:prstGeom>
          <a:noFill/>
        </p:spPr>
        <p:txBody>
          <a:bodyPr wrap="square" anchor="ctr" lIns="0" rIns="0" tIns="0" bIns="0">
            <a:spAutoFit/>
          </a:bodyPr>
          <a:lstStyle/>
          <a:p>
            <a:pPr algn="l"/>
            <a:r>
              <a:rPr sz="1100" b="1">
                <a:solidFill>
                  <a:srgbClr val="3A5C9E"/>
                </a:solidFill>
              </a:rPr>
              <a:t>THE GRADED ASSIGNMENT IS INTRODUCED TODAY.  </a:t>
            </a:r>
            <a:r>
              <a:rPr sz="1100" b="0">
                <a:solidFill>
                  <a:srgbClr val="1B2A41"/>
                </a:solidFill>
              </a:rPr>
              <a:t>You will build a risk report on a portfolio of your own and defend the numbers in it.</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whole module in one line:  </a:t>
            </a:r>
            <a:r>
              <a:rPr sz="1200" b="0">
                <a:solidFill>
                  <a:srgbClr val="FFFFFF"/>
                </a:solidFill>
              </a:rPr>
              <a:t>two questions, two numbers, and the honesty to say how wrong each number could be.</a:t>
            </a:r>
          </a:p>
        </p:txBody>
      </p:sp>
      <p:sp>
        <p:nvSpPr>
          <p:cNvPr id="35" name="TextBox 3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CREDIT RISK</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Three numbers, one multiplication</a:t>
            </a:r>
          </a:p>
        </p:txBody>
      </p:sp>
      <p:sp>
        <p:nvSpPr>
          <p:cNvPr id="5" name="Rectangle 4"/>
          <p:cNvSpPr/>
          <p:nvPr/>
        </p:nvSpPr>
        <p:spPr>
          <a:xfrm>
            <a:off x="548640"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73936"/>
            <a:ext cx="1371600" cy="457200"/>
          </a:xfrm>
          <a:prstGeom prst="rect">
            <a:avLst/>
          </a:prstGeom>
          <a:noFill/>
        </p:spPr>
        <p:txBody>
          <a:bodyPr wrap="square" anchor="t" lIns="0" rIns="0" tIns="0" bIns="0">
            <a:spAutoFit/>
          </a:bodyPr>
          <a:lstStyle/>
          <a:p>
            <a:pPr algn="l"/>
            <a:r>
              <a:rPr sz="2600" b="1">
                <a:solidFill>
                  <a:srgbClr val="0F2145"/>
                </a:solidFill>
                <a:latin typeface="Georgia"/>
              </a:rPr>
              <a:t>PD</a:t>
            </a:r>
          </a:p>
        </p:txBody>
      </p:sp>
      <p:sp>
        <p:nvSpPr>
          <p:cNvPr id="7" name="TextBox 6"/>
          <p:cNvSpPr txBox="1"/>
          <p:nvPr/>
        </p:nvSpPr>
        <p:spPr>
          <a:xfrm>
            <a:off x="804672" y="2286000"/>
            <a:ext cx="3108960" cy="274320"/>
          </a:xfrm>
          <a:prstGeom prst="rect">
            <a:avLst/>
          </a:prstGeom>
          <a:noFill/>
        </p:spPr>
        <p:txBody>
          <a:bodyPr wrap="square" anchor="t" lIns="0" rIns="0" tIns="0" bIns="0">
            <a:spAutoFit/>
          </a:bodyPr>
          <a:lstStyle/>
          <a:p>
            <a:pPr algn="l"/>
            <a:r>
              <a:rPr sz="1000" b="1">
                <a:solidFill>
                  <a:srgbClr val="3A5C9E"/>
                </a:solidFill>
              </a:rPr>
              <a:t>Probability of Default</a:t>
            </a:r>
          </a:p>
        </p:txBody>
      </p:sp>
      <p:sp>
        <p:nvSpPr>
          <p:cNvPr id="8" name="TextBox 7"/>
          <p:cNvSpPr txBox="1"/>
          <p:nvPr/>
        </p:nvSpPr>
        <p:spPr>
          <a:xfrm>
            <a:off x="804672" y="2596896"/>
            <a:ext cx="3108960" cy="548640"/>
          </a:xfrm>
          <a:prstGeom prst="rect">
            <a:avLst/>
          </a:prstGeom>
          <a:noFill/>
        </p:spPr>
        <p:txBody>
          <a:bodyPr wrap="square" anchor="t" lIns="0" rIns="0" tIns="0" bIns="0">
            <a:spAutoFit/>
          </a:bodyPr>
          <a:lstStyle/>
          <a:p>
            <a:pPr algn="l"/>
            <a:r>
              <a:rPr sz="1050" b="0">
                <a:solidFill>
                  <a:srgbClr val="1B2A41"/>
                </a:solidFill>
              </a:rPr>
              <a:t>How likely is it that this borrower stops paying in the next year?</a:t>
            </a:r>
          </a:p>
        </p:txBody>
      </p:sp>
      <p:sp>
        <p:nvSpPr>
          <p:cNvPr id="9" name="Rectangle 8"/>
          <p:cNvSpPr/>
          <p:nvPr/>
        </p:nvSpPr>
        <p:spPr>
          <a:xfrm>
            <a:off x="2834640"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34640" y="1737360"/>
            <a:ext cx="1097280" cy="457200"/>
          </a:xfrm>
          <a:prstGeom prst="rect">
            <a:avLst/>
          </a:prstGeom>
          <a:noFill/>
        </p:spPr>
        <p:txBody>
          <a:bodyPr wrap="square" anchor="ctr" lIns="0" rIns="0" tIns="0" bIns="0">
            <a:spAutoFit/>
          </a:bodyPr>
          <a:lstStyle/>
          <a:p>
            <a:pPr algn="ctr"/>
            <a:r>
              <a:rPr sz="1300" b="1">
                <a:solidFill>
                  <a:srgbClr val="3A5C9E"/>
                </a:solidFill>
              </a:rPr>
              <a:t>4%</a:t>
            </a:r>
          </a:p>
        </p:txBody>
      </p:sp>
      <p:sp>
        <p:nvSpPr>
          <p:cNvPr id="11" name="Rectangle 10"/>
          <p:cNvSpPr/>
          <p:nvPr/>
        </p:nvSpPr>
        <p:spPr>
          <a:xfrm>
            <a:off x="4315968"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73936"/>
            <a:ext cx="1371600" cy="457200"/>
          </a:xfrm>
          <a:prstGeom prst="rect">
            <a:avLst/>
          </a:prstGeom>
          <a:noFill/>
        </p:spPr>
        <p:txBody>
          <a:bodyPr wrap="square" anchor="t" lIns="0" rIns="0" tIns="0" bIns="0">
            <a:spAutoFit/>
          </a:bodyPr>
          <a:lstStyle/>
          <a:p>
            <a:pPr algn="l"/>
            <a:r>
              <a:rPr sz="2600" b="1">
                <a:solidFill>
                  <a:srgbClr val="0F2145"/>
                </a:solidFill>
                <a:latin typeface="Georgia"/>
              </a:rPr>
              <a:t>LGD</a:t>
            </a:r>
          </a:p>
        </p:txBody>
      </p:sp>
      <p:sp>
        <p:nvSpPr>
          <p:cNvPr id="13" name="TextBox 12"/>
          <p:cNvSpPr txBox="1"/>
          <p:nvPr/>
        </p:nvSpPr>
        <p:spPr>
          <a:xfrm>
            <a:off x="4572000" y="2286000"/>
            <a:ext cx="3108960" cy="274320"/>
          </a:xfrm>
          <a:prstGeom prst="rect">
            <a:avLst/>
          </a:prstGeom>
          <a:noFill/>
        </p:spPr>
        <p:txBody>
          <a:bodyPr wrap="square" anchor="t" lIns="0" rIns="0" tIns="0" bIns="0">
            <a:spAutoFit/>
          </a:bodyPr>
          <a:lstStyle/>
          <a:p>
            <a:pPr algn="l"/>
            <a:r>
              <a:rPr sz="1000" b="1">
                <a:solidFill>
                  <a:srgbClr val="3A5C9E"/>
                </a:solidFill>
              </a:rPr>
              <a:t>Loss Given Default</a:t>
            </a:r>
          </a:p>
        </p:txBody>
      </p:sp>
      <p:sp>
        <p:nvSpPr>
          <p:cNvPr id="14" name="TextBox 13"/>
          <p:cNvSpPr txBox="1"/>
          <p:nvPr/>
        </p:nvSpPr>
        <p:spPr>
          <a:xfrm>
            <a:off x="4572000" y="2596896"/>
            <a:ext cx="3108960" cy="548640"/>
          </a:xfrm>
          <a:prstGeom prst="rect">
            <a:avLst/>
          </a:prstGeom>
          <a:noFill/>
        </p:spPr>
        <p:txBody>
          <a:bodyPr wrap="square" anchor="t" lIns="0" rIns="0" tIns="0" bIns="0">
            <a:spAutoFit/>
          </a:bodyPr>
          <a:lstStyle/>
          <a:p>
            <a:pPr algn="l"/>
            <a:r>
              <a:rPr sz="1050" b="0">
                <a:solidFill>
                  <a:srgbClr val="1B2A41"/>
                </a:solidFill>
              </a:rPr>
              <a:t>If they do stop, how much of the money do we never get back?</a:t>
            </a:r>
          </a:p>
        </p:txBody>
      </p:sp>
      <p:sp>
        <p:nvSpPr>
          <p:cNvPr id="15" name="Rectangle 14"/>
          <p:cNvSpPr/>
          <p:nvPr/>
        </p:nvSpPr>
        <p:spPr>
          <a:xfrm>
            <a:off x="6601968"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1737360"/>
            <a:ext cx="1097280" cy="457200"/>
          </a:xfrm>
          <a:prstGeom prst="rect">
            <a:avLst/>
          </a:prstGeom>
          <a:noFill/>
        </p:spPr>
        <p:txBody>
          <a:bodyPr wrap="square" anchor="ctr" lIns="0" rIns="0" tIns="0" bIns="0">
            <a:spAutoFit/>
          </a:bodyPr>
          <a:lstStyle/>
          <a:p>
            <a:pPr algn="ctr"/>
            <a:r>
              <a:rPr sz="1300" b="1">
                <a:solidFill>
                  <a:srgbClr val="3A5C9E"/>
                </a:solidFill>
              </a:rPr>
              <a:t>45%</a:t>
            </a:r>
          </a:p>
        </p:txBody>
      </p:sp>
      <p:sp>
        <p:nvSpPr>
          <p:cNvPr id="17" name="Rectangle 16"/>
          <p:cNvSpPr/>
          <p:nvPr/>
        </p:nvSpPr>
        <p:spPr>
          <a:xfrm>
            <a:off x="8083296"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7" y="1773936"/>
            <a:ext cx="1371600" cy="457200"/>
          </a:xfrm>
          <a:prstGeom prst="rect">
            <a:avLst/>
          </a:prstGeom>
          <a:noFill/>
        </p:spPr>
        <p:txBody>
          <a:bodyPr wrap="square" anchor="t" lIns="0" rIns="0" tIns="0" bIns="0">
            <a:spAutoFit/>
          </a:bodyPr>
          <a:lstStyle/>
          <a:p>
            <a:pPr algn="l"/>
            <a:r>
              <a:rPr sz="2600" b="1">
                <a:solidFill>
                  <a:srgbClr val="0F2145"/>
                </a:solidFill>
                <a:latin typeface="Georgia"/>
              </a:rPr>
              <a:t>EAD</a:t>
            </a:r>
          </a:p>
        </p:txBody>
      </p:sp>
      <p:sp>
        <p:nvSpPr>
          <p:cNvPr id="19" name="TextBox 18"/>
          <p:cNvSpPr txBox="1"/>
          <p:nvPr/>
        </p:nvSpPr>
        <p:spPr>
          <a:xfrm>
            <a:off x="8339327" y="2286000"/>
            <a:ext cx="3108960" cy="274320"/>
          </a:xfrm>
          <a:prstGeom prst="rect">
            <a:avLst/>
          </a:prstGeom>
          <a:noFill/>
        </p:spPr>
        <p:txBody>
          <a:bodyPr wrap="square" anchor="t" lIns="0" rIns="0" tIns="0" bIns="0">
            <a:spAutoFit/>
          </a:bodyPr>
          <a:lstStyle/>
          <a:p>
            <a:pPr algn="l"/>
            <a:r>
              <a:rPr sz="1000" b="1">
                <a:solidFill>
                  <a:srgbClr val="3A5C9E"/>
                </a:solidFill>
              </a:rPr>
              <a:t>Exposure at Default</a:t>
            </a:r>
          </a:p>
        </p:txBody>
      </p:sp>
      <p:sp>
        <p:nvSpPr>
          <p:cNvPr id="20" name="TextBox 19"/>
          <p:cNvSpPr txBox="1"/>
          <p:nvPr/>
        </p:nvSpPr>
        <p:spPr>
          <a:xfrm>
            <a:off x="8339327" y="2596896"/>
            <a:ext cx="3108960" cy="548640"/>
          </a:xfrm>
          <a:prstGeom prst="rect">
            <a:avLst/>
          </a:prstGeom>
          <a:noFill/>
        </p:spPr>
        <p:txBody>
          <a:bodyPr wrap="square" anchor="t" lIns="0" rIns="0" tIns="0" bIns="0">
            <a:spAutoFit/>
          </a:bodyPr>
          <a:lstStyle/>
          <a:p>
            <a:pPr algn="l"/>
            <a:r>
              <a:rPr sz="1050" b="0">
                <a:solidFill>
                  <a:srgbClr val="1B2A41"/>
                </a:solidFill>
              </a:rPr>
              <a:t>How much will actually be outstanding on the day they stop?</a:t>
            </a:r>
          </a:p>
        </p:txBody>
      </p:sp>
      <p:sp>
        <p:nvSpPr>
          <p:cNvPr id="21" name="Rectangle 20"/>
          <p:cNvSpPr/>
          <p:nvPr/>
        </p:nvSpPr>
        <p:spPr>
          <a:xfrm>
            <a:off x="10369296"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69296" y="1737360"/>
            <a:ext cx="1097280" cy="457200"/>
          </a:xfrm>
          <a:prstGeom prst="rect">
            <a:avLst/>
          </a:prstGeom>
          <a:noFill/>
        </p:spPr>
        <p:txBody>
          <a:bodyPr wrap="square" anchor="ctr" lIns="0" rIns="0" tIns="0" bIns="0">
            <a:spAutoFit/>
          </a:bodyPr>
          <a:lstStyle/>
          <a:p>
            <a:pPr algn="ctr"/>
            <a:r>
              <a:rPr sz="1300" b="1">
                <a:solidFill>
                  <a:srgbClr val="3A5C9E"/>
                </a:solidFill>
              </a:rPr>
              <a:t>₹8,00,000</a:t>
            </a:r>
          </a:p>
        </p:txBody>
      </p:sp>
      <p:sp>
        <p:nvSpPr>
          <p:cNvPr id="23" name="Rectangle 22"/>
          <p:cNvSpPr/>
          <p:nvPr/>
        </p:nvSpPr>
        <p:spPr>
          <a:xfrm>
            <a:off x="548640" y="3584448"/>
            <a:ext cx="11091672" cy="78638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3584448"/>
            <a:ext cx="64008" cy="78638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10515600" cy="786384"/>
          </a:xfrm>
          <a:prstGeom prst="rect">
            <a:avLst/>
          </a:prstGeom>
          <a:noFill/>
        </p:spPr>
        <p:txBody>
          <a:bodyPr wrap="square" anchor="ctr" lIns="0" rIns="0" tIns="0" bIns="0">
            <a:spAutoFit/>
          </a:bodyPr>
          <a:lstStyle/>
          <a:p>
            <a:pPr algn="l"/>
            <a:r>
              <a:rPr sz="1700" b="1">
                <a:solidFill>
                  <a:srgbClr val="C9A227"/>
                </a:solidFill>
                <a:latin typeface="Georgia"/>
              </a:rPr>
              <a:t>EXPECTED LOSS  =  PD  ×  LGD  ×  EAD      </a:t>
            </a:r>
            <a:r>
              <a:rPr sz="1700" b="1">
                <a:solidFill>
                  <a:srgbClr val="FFFFFF"/>
                </a:solidFill>
                <a:latin typeface="Georgia"/>
              </a:rPr>
              <a:t>4%  ×  45%  ×  ₹8,00,000  =  ₹14,400 per loan</a:t>
            </a:r>
          </a:p>
        </p:txBody>
      </p:sp>
      <p:sp>
        <p:nvSpPr>
          <p:cNvPr id="26" name="TextBox 25"/>
          <p:cNvSpPr txBox="1"/>
          <p:nvPr/>
        </p:nvSpPr>
        <p:spPr>
          <a:xfrm>
            <a:off x="548640" y="4572000"/>
            <a:ext cx="5486400" cy="1097280"/>
          </a:xfrm>
          <a:prstGeom prst="rect">
            <a:avLst/>
          </a:prstGeom>
          <a:noFill/>
        </p:spPr>
        <p:txBody>
          <a:bodyPr wrap="square" anchor="t" lIns="0" rIns="0" tIns="0" bIns="0">
            <a:spAutoFit/>
          </a:bodyPr>
          <a:lstStyle/>
          <a:p>
            <a:pPr algn="l"/>
            <a:r>
              <a:rPr sz="1500" b="1">
                <a:solidFill>
                  <a:srgbClr val="0F2145"/>
                </a:solidFill>
                <a:latin typeface="Georgia"/>
              </a:rPr>
              <a:t>Say it in words</a:t>
            </a:r>
          </a:p>
          <a:p>
            <a:pPr algn="l">
              <a:spcBef>
                <a:spcPts val="600"/>
              </a:spcBef>
            </a:pPr>
            <a:r>
              <a:rPr sz="1150" b="0">
                <a:solidFill>
                  <a:srgbClr val="1B2A41"/>
                </a:solidFill>
              </a:rPr>
              <a:t>Out of a hundred loans like this one, four go bad. When one goes bad we lose 45 paise in the rupee on the ₹8 lakh still outstanding. So we price ₹14,400 into every loan, whether it goes bad or not.</a:t>
            </a:r>
          </a:p>
        </p:txBody>
      </p:sp>
      <p:sp>
        <p:nvSpPr>
          <p:cNvPr id="27" name="TextBox 26"/>
          <p:cNvSpPr txBox="1"/>
          <p:nvPr/>
        </p:nvSpPr>
        <p:spPr>
          <a:xfrm>
            <a:off x="6309360" y="4572000"/>
            <a:ext cx="5330952" cy="1097280"/>
          </a:xfrm>
          <a:prstGeom prst="rect">
            <a:avLst/>
          </a:prstGeom>
          <a:noFill/>
        </p:spPr>
        <p:txBody>
          <a:bodyPr wrap="square" anchor="t" lIns="0" rIns="0" tIns="0" bIns="0">
            <a:spAutoFit/>
          </a:bodyPr>
          <a:lstStyle/>
          <a:p>
            <a:pPr algn="l"/>
            <a:r>
              <a:rPr sz="1500" b="1">
                <a:solidFill>
                  <a:srgbClr val="0F2145"/>
                </a:solidFill>
                <a:latin typeface="Georgia"/>
              </a:rPr>
              <a:t>The part students miss</a:t>
            </a:r>
          </a:p>
          <a:p>
            <a:pPr algn="l">
              <a:spcBef>
                <a:spcPts val="600"/>
              </a:spcBef>
            </a:pPr>
            <a:r>
              <a:rPr sz="1150" b="0">
                <a:solidFill>
                  <a:srgbClr val="1B2A41"/>
                </a:solidFill>
              </a:rPr>
              <a:t>Expected loss is a cost, not a surprise. It is budgeted and priced in. Capital is held for the UNEXPECTED loss, which is the year four loans becomes eleven.</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Basel II, in one sentence:  </a:t>
            </a:r>
            <a:r>
              <a:rPr sz="1200" b="0">
                <a:solidFill>
                  <a:srgbClr val="FFFFFF"/>
                </a:solidFill>
              </a:rPr>
              <a:t>a bank that can prove its own PD, LGD and EAD models work is allowed to use them to set its own capital.</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BUILDING THE MODEL</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From a balance sheet to a probability</a:t>
            </a:r>
          </a:p>
        </p:txBody>
      </p:sp>
      <p:sp>
        <p:nvSpPr>
          <p:cNvPr id="5" name="TextBox 4"/>
          <p:cNvSpPr txBox="1"/>
          <p:nvPr/>
        </p:nvSpPr>
        <p:spPr>
          <a:xfrm>
            <a:off x="548640" y="1481328"/>
            <a:ext cx="11091672" cy="310896"/>
          </a:xfrm>
          <a:prstGeom prst="rect">
            <a:avLst/>
          </a:prstGeom>
          <a:noFill/>
        </p:spPr>
        <p:txBody>
          <a:bodyPr wrap="square" anchor="t" lIns="0" rIns="0" tIns="0" bIns="0">
            <a:spAutoFit/>
          </a:bodyPr>
          <a:lstStyle/>
          <a:p>
            <a:pPr algn="l"/>
            <a:r>
              <a:rPr sz="1200" b="0">
                <a:solidFill>
                  <a:srgbClr val="5D6B7E"/>
                </a:solidFill>
              </a:rPr>
              <a:t>You start with things you already know about the borrower, and you end with one number between 0 and 1.</a:t>
            </a:r>
          </a:p>
        </p:txBody>
      </p:sp>
      <p:sp>
        <p:nvSpPr>
          <p:cNvPr id="6" name="Rectangle 5"/>
          <p:cNvSpPr/>
          <p:nvPr/>
        </p:nvSpPr>
        <p:spPr>
          <a:xfrm>
            <a:off x="548640" y="1920240"/>
            <a:ext cx="3611880" cy="3108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39696"/>
            <a:ext cx="3108960" cy="274320"/>
          </a:xfrm>
          <a:prstGeom prst="rect">
            <a:avLst/>
          </a:prstGeom>
          <a:noFill/>
        </p:spPr>
        <p:txBody>
          <a:bodyPr wrap="square" anchor="t" lIns="0" rIns="0" tIns="0" bIns="0">
            <a:spAutoFit/>
          </a:bodyPr>
          <a:lstStyle/>
          <a:p>
            <a:pPr algn="l"/>
            <a:r>
              <a:rPr sz="950" b="1">
                <a:solidFill>
                  <a:srgbClr val="3A5C9E"/>
                </a:solidFill>
              </a:rPr>
              <a:t>WHAT GOES IN</a:t>
            </a:r>
          </a:p>
        </p:txBody>
      </p:sp>
      <p:sp>
        <p:nvSpPr>
          <p:cNvPr id="8" name="TextBox 7"/>
          <p:cNvSpPr txBox="1"/>
          <p:nvPr/>
        </p:nvSpPr>
        <p:spPr>
          <a:xfrm>
            <a:off x="804672" y="2450592"/>
            <a:ext cx="3108960" cy="365760"/>
          </a:xfrm>
          <a:prstGeom prst="rect">
            <a:avLst/>
          </a:prstGeom>
          <a:noFill/>
        </p:spPr>
        <p:txBody>
          <a:bodyPr wrap="square" anchor="t" lIns="0" rIns="0" tIns="0" bIns="0">
            <a:spAutoFit/>
          </a:bodyPr>
          <a:lstStyle/>
          <a:p>
            <a:pPr algn="l"/>
            <a:r>
              <a:rPr sz="1400" b="1">
                <a:solidFill>
                  <a:srgbClr val="0F2145"/>
                </a:solidFill>
                <a:latin typeface="Georgia"/>
              </a:rPr>
              <a:t>The ratios you already compute</a:t>
            </a:r>
          </a:p>
        </p:txBody>
      </p:sp>
      <p:sp>
        <p:nvSpPr>
          <p:cNvPr id="9" name="TextBox 8"/>
          <p:cNvSpPr txBox="1"/>
          <p:nvPr/>
        </p:nvSpPr>
        <p:spPr>
          <a:xfrm>
            <a:off x="804672" y="296265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Current ratio and quick ratio</a:t>
            </a:r>
          </a:p>
        </p:txBody>
      </p:sp>
      <p:sp>
        <p:nvSpPr>
          <p:cNvPr id="10" name="TextBox 9"/>
          <p:cNvSpPr txBox="1"/>
          <p:nvPr/>
        </p:nvSpPr>
        <p:spPr>
          <a:xfrm>
            <a:off x="804672" y="343814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Debt to equity, and interest cover</a:t>
            </a:r>
          </a:p>
        </p:txBody>
      </p:sp>
      <p:sp>
        <p:nvSpPr>
          <p:cNvPr id="11" name="TextBox 10"/>
          <p:cNvSpPr txBox="1"/>
          <p:nvPr/>
        </p:nvSpPr>
        <p:spPr>
          <a:xfrm>
            <a:off x="804672" y="3913632"/>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Sales growth and margin trend</a:t>
            </a:r>
          </a:p>
        </p:txBody>
      </p:sp>
      <p:sp>
        <p:nvSpPr>
          <p:cNvPr id="12" name="TextBox 11"/>
          <p:cNvSpPr txBox="1"/>
          <p:nvPr/>
        </p:nvSpPr>
        <p:spPr>
          <a:xfrm>
            <a:off x="804672" y="438912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Behaviour: how often they paid late</a:t>
            </a:r>
          </a:p>
        </p:txBody>
      </p:sp>
      <p:sp>
        <p:nvSpPr>
          <p:cNvPr id="13" name="Rectangle 12"/>
          <p:cNvSpPr/>
          <p:nvPr/>
        </p:nvSpPr>
        <p:spPr>
          <a:xfrm>
            <a:off x="4315968" y="1920240"/>
            <a:ext cx="3611880" cy="31089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139696"/>
            <a:ext cx="3108960" cy="274320"/>
          </a:xfrm>
          <a:prstGeom prst="rect">
            <a:avLst/>
          </a:prstGeom>
          <a:noFill/>
        </p:spPr>
        <p:txBody>
          <a:bodyPr wrap="square" anchor="t" lIns="0" rIns="0" tIns="0" bIns="0">
            <a:spAutoFit/>
          </a:bodyPr>
          <a:lstStyle/>
          <a:p>
            <a:pPr algn="l"/>
            <a:r>
              <a:rPr sz="950" b="1">
                <a:solidFill>
                  <a:srgbClr val="C9A227"/>
                </a:solidFill>
              </a:rPr>
              <a:t>THE MODEL</a:t>
            </a:r>
          </a:p>
        </p:txBody>
      </p:sp>
      <p:sp>
        <p:nvSpPr>
          <p:cNvPr id="15" name="TextBox 14"/>
          <p:cNvSpPr txBox="1"/>
          <p:nvPr/>
        </p:nvSpPr>
        <p:spPr>
          <a:xfrm>
            <a:off x="4572000" y="2450592"/>
            <a:ext cx="3108960" cy="365760"/>
          </a:xfrm>
          <a:prstGeom prst="rect">
            <a:avLst/>
          </a:prstGeom>
          <a:noFill/>
        </p:spPr>
        <p:txBody>
          <a:bodyPr wrap="square" anchor="t" lIns="0" rIns="0" tIns="0" bIns="0">
            <a:spAutoFit/>
          </a:bodyPr>
          <a:lstStyle/>
          <a:p>
            <a:pPr algn="l"/>
            <a:r>
              <a:rPr sz="1400" b="1">
                <a:solidFill>
                  <a:srgbClr val="FFFFFF"/>
                </a:solidFill>
                <a:latin typeface="Georgia"/>
              </a:rPr>
              <a:t>Three choices, in order of age</a:t>
            </a:r>
          </a:p>
        </p:txBody>
      </p:sp>
      <p:sp>
        <p:nvSpPr>
          <p:cNvPr id="16" name="TextBox 15"/>
          <p:cNvSpPr txBox="1"/>
          <p:nvPr/>
        </p:nvSpPr>
        <p:spPr>
          <a:xfrm>
            <a:off x="4572000" y="296265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Logistic regression: a formula you can print</a:t>
            </a:r>
          </a:p>
        </p:txBody>
      </p:sp>
      <p:sp>
        <p:nvSpPr>
          <p:cNvPr id="17" name="TextBox 16"/>
          <p:cNvSpPr txBox="1"/>
          <p:nvPr/>
        </p:nvSpPr>
        <p:spPr>
          <a:xfrm>
            <a:off x="4572000" y="343814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Decision tree: a flowchart of if-then splits</a:t>
            </a:r>
          </a:p>
        </p:txBody>
      </p:sp>
      <p:sp>
        <p:nvSpPr>
          <p:cNvPr id="18" name="TextBox 17"/>
          <p:cNvSpPr txBox="1"/>
          <p:nvPr/>
        </p:nvSpPr>
        <p:spPr>
          <a:xfrm>
            <a:off x="4572000" y="3913632"/>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XGBoost: hundreds of small trees, voting</a:t>
            </a:r>
          </a:p>
        </p:txBody>
      </p:sp>
      <p:sp>
        <p:nvSpPr>
          <p:cNvPr id="19" name="TextBox 18"/>
          <p:cNvSpPr txBox="1"/>
          <p:nvPr/>
        </p:nvSpPr>
        <p:spPr>
          <a:xfrm>
            <a:off x="4572000" y="438912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Regulated lending still leans on the first</a:t>
            </a:r>
          </a:p>
        </p:txBody>
      </p:sp>
      <p:sp>
        <p:nvSpPr>
          <p:cNvPr id="20" name="Rectangle 19"/>
          <p:cNvSpPr/>
          <p:nvPr/>
        </p:nvSpPr>
        <p:spPr>
          <a:xfrm>
            <a:off x="8083296" y="1920240"/>
            <a:ext cx="3611880" cy="3108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2139696"/>
            <a:ext cx="3108960" cy="274320"/>
          </a:xfrm>
          <a:prstGeom prst="rect">
            <a:avLst/>
          </a:prstGeom>
          <a:noFill/>
        </p:spPr>
        <p:txBody>
          <a:bodyPr wrap="square" anchor="t" lIns="0" rIns="0" tIns="0" bIns="0">
            <a:spAutoFit/>
          </a:bodyPr>
          <a:lstStyle/>
          <a:p>
            <a:pPr algn="l"/>
            <a:r>
              <a:rPr sz="950" b="1">
                <a:solidFill>
                  <a:srgbClr val="3A5C9E"/>
                </a:solidFill>
              </a:rPr>
              <a:t>WHAT COMES OUT</a:t>
            </a:r>
          </a:p>
        </p:txBody>
      </p:sp>
      <p:sp>
        <p:nvSpPr>
          <p:cNvPr id="22" name="TextBox 21"/>
          <p:cNvSpPr txBox="1"/>
          <p:nvPr/>
        </p:nvSpPr>
        <p:spPr>
          <a:xfrm>
            <a:off x="8339327" y="2450592"/>
            <a:ext cx="3108960" cy="365760"/>
          </a:xfrm>
          <a:prstGeom prst="rect">
            <a:avLst/>
          </a:prstGeom>
          <a:noFill/>
        </p:spPr>
        <p:txBody>
          <a:bodyPr wrap="square" anchor="t" lIns="0" rIns="0" tIns="0" bIns="0">
            <a:spAutoFit/>
          </a:bodyPr>
          <a:lstStyle/>
          <a:p>
            <a:pPr algn="l"/>
            <a:r>
              <a:rPr sz="1400" b="1">
                <a:solidFill>
                  <a:srgbClr val="0F2145"/>
                </a:solidFill>
                <a:latin typeface="Georgia"/>
              </a:rPr>
              <a:t>One probability, per borrower</a:t>
            </a:r>
          </a:p>
        </p:txBody>
      </p:sp>
      <p:sp>
        <p:nvSpPr>
          <p:cNvPr id="23" name="TextBox 22"/>
          <p:cNvSpPr txBox="1"/>
          <p:nvPr/>
        </p:nvSpPr>
        <p:spPr>
          <a:xfrm>
            <a:off x="8339327" y="296265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0.04 means four in a hundred, not 'risky'</a:t>
            </a:r>
          </a:p>
        </p:txBody>
      </p:sp>
      <p:sp>
        <p:nvSpPr>
          <p:cNvPr id="24" name="TextBox 23"/>
          <p:cNvSpPr txBox="1"/>
          <p:nvPr/>
        </p:nvSpPr>
        <p:spPr>
          <a:xfrm>
            <a:off x="8339327" y="343814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cut-off turns it into approve or decline</a:t>
            </a:r>
          </a:p>
        </p:txBody>
      </p:sp>
      <p:sp>
        <p:nvSpPr>
          <p:cNvPr id="25" name="TextBox 24"/>
          <p:cNvSpPr txBox="1"/>
          <p:nvPr/>
        </p:nvSpPr>
        <p:spPr>
          <a:xfrm>
            <a:off x="8339327" y="3913632"/>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cut-off is a business decision</a:t>
            </a:r>
          </a:p>
        </p:txBody>
      </p:sp>
      <p:sp>
        <p:nvSpPr>
          <p:cNvPr id="26" name="TextBox 25"/>
          <p:cNvSpPr txBox="1"/>
          <p:nvPr/>
        </p:nvSpPr>
        <p:spPr>
          <a:xfrm>
            <a:off x="8339327" y="438912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Move the cut-off and the losses move</a:t>
            </a:r>
          </a:p>
        </p:txBody>
      </p:sp>
      <p:sp>
        <p:nvSpPr>
          <p:cNvPr id="27" name="Rectangle 26"/>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trade you are making:  </a:t>
            </a:r>
            <a:r>
              <a:rPr sz="1200" b="0">
                <a:solidFill>
                  <a:srgbClr val="FFFFFF"/>
                </a:solidFill>
              </a:rPr>
              <a:t>the newer the model, the better it predicts and the harder it is to explain to the person you just declined.</a:t>
            </a:r>
          </a:p>
        </p:txBody>
      </p:sp>
      <p:sp>
        <p:nvSpPr>
          <p:cNvPr id="30" name="TextBox 29"/>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1" name="TextBox 30"/>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DOES THE MODEL ACTUALLY WORK?</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Four checks, in plain English</a:t>
            </a:r>
          </a:p>
        </p:txBody>
      </p:sp>
      <p:sp>
        <p:nvSpPr>
          <p:cNvPr id="5" name="Rectangle 4"/>
          <p:cNvSpPr/>
          <p:nvPr/>
        </p:nvSpPr>
        <p:spPr>
          <a:xfrm>
            <a:off x="548640" y="1572768"/>
            <a:ext cx="5486400" cy="1225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54864" cy="1225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37360"/>
            <a:ext cx="4937760" cy="292608"/>
          </a:xfrm>
          <a:prstGeom prst="rect">
            <a:avLst/>
          </a:prstGeom>
          <a:noFill/>
        </p:spPr>
        <p:txBody>
          <a:bodyPr wrap="square" anchor="t" lIns="0" rIns="0" tIns="0" bIns="0">
            <a:spAutoFit/>
          </a:bodyPr>
          <a:lstStyle/>
          <a:p>
            <a:pPr algn="l"/>
            <a:r>
              <a:rPr sz="1100" b="1">
                <a:solidFill>
                  <a:srgbClr val="3A5C9E"/>
                </a:solidFill>
              </a:rPr>
              <a:t>AUC-ROC</a:t>
            </a:r>
          </a:p>
        </p:txBody>
      </p:sp>
      <p:sp>
        <p:nvSpPr>
          <p:cNvPr id="8" name="TextBox 7"/>
          <p:cNvSpPr txBox="1"/>
          <p:nvPr/>
        </p:nvSpPr>
        <p:spPr>
          <a:xfrm>
            <a:off x="822959" y="2084832"/>
            <a:ext cx="4937760" cy="640080"/>
          </a:xfrm>
          <a:prstGeom prst="rect">
            <a:avLst/>
          </a:prstGeom>
          <a:noFill/>
        </p:spPr>
        <p:txBody>
          <a:bodyPr wrap="square" anchor="t" lIns="0" rIns="0" tIns="0" bIns="0">
            <a:spAutoFit/>
          </a:bodyPr>
          <a:lstStyle/>
          <a:p>
            <a:pPr algn="l"/>
            <a:r>
              <a:rPr sz="1050" b="0">
                <a:solidFill>
                  <a:srgbClr val="1B2A41"/>
                </a:solidFill>
              </a:rPr>
              <a:t>Pick one borrower who defaulted and one who did not, at random. AUC is the chance the model scored the defaulter as riskier. 0.5 is a coin flip. A real model sits near 0.75.</a:t>
            </a:r>
          </a:p>
        </p:txBody>
      </p:sp>
      <p:sp>
        <p:nvSpPr>
          <p:cNvPr id="9" name="Rectangle 8"/>
          <p:cNvSpPr/>
          <p:nvPr/>
        </p:nvSpPr>
        <p:spPr>
          <a:xfrm>
            <a:off x="6153912" y="1572768"/>
            <a:ext cx="5486400" cy="1225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53912" y="1572768"/>
            <a:ext cx="54864" cy="1225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1" y="1737360"/>
            <a:ext cx="4937760" cy="292608"/>
          </a:xfrm>
          <a:prstGeom prst="rect">
            <a:avLst/>
          </a:prstGeom>
          <a:noFill/>
        </p:spPr>
        <p:txBody>
          <a:bodyPr wrap="square" anchor="t" lIns="0" rIns="0" tIns="0" bIns="0">
            <a:spAutoFit/>
          </a:bodyPr>
          <a:lstStyle/>
          <a:p>
            <a:pPr algn="l"/>
            <a:r>
              <a:rPr sz="1100" b="1">
                <a:solidFill>
                  <a:srgbClr val="3A5C9E"/>
                </a:solidFill>
              </a:rPr>
              <a:t>GINI</a:t>
            </a:r>
          </a:p>
        </p:txBody>
      </p:sp>
      <p:sp>
        <p:nvSpPr>
          <p:cNvPr id="12" name="TextBox 11"/>
          <p:cNvSpPr txBox="1"/>
          <p:nvPr/>
        </p:nvSpPr>
        <p:spPr>
          <a:xfrm>
            <a:off x="6428231" y="2084832"/>
            <a:ext cx="4937760" cy="640080"/>
          </a:xfrm>
          <a:prstGeom prst="rect">
            <a:avLst/>
          </a:prstGeom>
          <a:noFill/>
        </p:spPr>
        <p:txBody>
          <a:bodyPr wrap="square" anchor="t" lIns="0" rIns="0" tIns="0" bIns="0">
            <a:spAutoFit/>
          </a:bodyPr>
          <a:lstStyle/>
          <a:p>
            <a:pPr algn="l"/>
            <a:r>
              <a:rPr sz="1050" b="0">
                <a:solidFill>
                  <a:srgbClr val="1B2A41"/>
                </a:solidFill>
              </a:rPr>
              <a:t>The same information on a different scale: Gini = 2 × AUC − 1. A working scorecard is usually somewhere around 0.5. Banks quote this one out of habit.</a:t>
            </a:r>
          </a:p>
        </p:txBody>
      </p:sp>
      <p:sp>
        <p:nvSpPr>
          <p:cNvPr id="13" name="Rectangle 12"/>
          <p:cNvSpPr/>
          <p:nvPr/>
        </p:nvSpPr>
        <p:spPr>
          <a:xfrm>
            <a:off x="548640" y="2944368"/>
            <a:ext cx="5486400" cy="1225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44368"/>
            <a:ext cx="54864" cy="1225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108960"/>
            <a:ext cx="4937760" cy="292608"/>
          </a:xfrm>
          <a:prstGeom prst="rect">
            <a:avLst/>
          </a:prstGeom>
          <a:noFill/>
        </p:spPr>
        <p:txBody>
          <a:bodyPr wrap="square" anchor="t" lIns="0" rIns="0" tIns="0" bIns="0">
            <a:spAutoFit/>
          </a:bodyPr>
          <a:lstStyle/>
          <a:p>
            <a:pPr algn="l"/>
            <a:r>
              <a:rPr sz="1100" b="1">
                <a:solidFill>
                  <a:srgbClr val="3A5C9E"/>
                </a:solidFill>
              </a:rPr>
              <a:t>KS STATISTIC</a:t>
            </a:r>
          </a:p>
        </p:txBody>
      </p:sp>
      <p:sp>
        <p:nvSpPr>
          <p:cNvPr id="16" name="TextBox 15"/>
          <p:cNvSpPr txBox="1"/>
          <p:nvPr/>
        </p:nvSpPr>
        <p:spPr>
          <a:xfrm>
            <a:off x="822959" y="3456432"/>
            <a:ext cx="4937760" cy="640080"/>
          </a:xfrm>
          <a:prstGeom prst="rect">
            <a:avLst/>
          </a:prstGeom>
          <a:noFill/>
        </p:spPr>
        <p:txBody>
          <a:bodyPr wrap="square" anchor="t" lIns="0" rIns="0" tIns="0" bIns="0">
            <a:spAutoFit/>
          </a:bodyPr>
          <a:lstStyle/>
          <a:p>
            <a:pPr algn="l"/>
            <a:r>
              <a:rPr sz="1050" b="0">
                <a:solidFill>
                  <a:srgbClr val="1B2A41"/>
                </a:solidFill>
              </a:rPr>
              <a:t>The widest gap between the good borrowers and the bad ones as you move down the score. It tells you where to put the cut-off.</a:t>
            </a:r>
          </a:p>
        </p:txBody>
      </p:sp>
      <p:sp>
        <p:nvSpPr>
          <p:cNvPr id="17" name="Rectangle 16"/>
          <p:cNvSpPr/>
          <p:nvPr/>
        </p:nvSpPr>
        <p:spPr>
          <a:xfrm>
            <a:off x="6153912" y="2944368"/>
            <a:ext cx="5486400" cy="1225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3912" y="2944368"/>
            <a:ext cx="54864" cy="1225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1" y="3108960"/>
            <a:ext cx="4937760" cy="292608"/>
          </a:xfrm>
          <a:prstGeom prst="rect">
            <a:avLst/>
          </a:prstGeom>
          <a:noFill/>
        </p:spPr>
        <p:txBody>
          <a:bodyPr wrap="square" anchor="t" lIns="0" rIns="0" tIns="0" bIns="0">
            <a:spAutoFit/>
          </a:bodyPr>
          <a:lstStyle/>
          <a:p>
            <a:pPr algn="l"/>
            <a:r>
              <a:rPr sz="1100" b="1">
                <a:solidFill>
                  <a:srgbClr val="3A5C9E"/>
                </a:solidFill>
              </a:rPr>
              <a:t>SHAP</a:t>
            </a:r>
          </a:p>
        </p:txBody>
      </p:sp>
      <p:sp>
        <p:nvSpPr>
          <p:cNvPr id="20" name="TextBox 19"/>
          <p:cNvSpPr txBox="1"/>
          <p:nvPr/>
        </p:nvSpPr>
        <p:spPr>
          <a:xfrm>
            <a:off x="6428231" y="3456432"/>
            <a:ext cx="4937760" cy="640080"/>
          </a:xfrm>
          <a:prstGeom prst="rect">
            <a:avLst/>
          </a:prstGeom>
          <a:noFill/>
        </p:spPr>
        <p:txBody>
          <a:bodyPr wrap="square" anchor="t" lIns="0" rIns="0" tIns="0" bIns="0">
            <a:spAutoFit/>
          </a:bodyPr>
          <a:lstStyle/>
          <a:p>
            <a:pPr algn="l"/>
            <a:r>
              <a:rPr sz="1050" b="0">
                <a:solidFill>
                  <a:srgbClr val="1B2A41"/>
                </a:solidFill>
              </a:rPr>
              <a:t>Which input pushed THIS applicant's score up or down. It is how you answer the only question the customer asks, which is why they were declined.</a:t>
            </a:r>
          </a:p>
        </p:txBody>
      </p:sp>
      <p:sp>
        <p:nvSpPr>
          <p:cNvPr id="21" name="Rectangle 20"/>
          <p:cNvSpPr/>
          <p:nvPr/>
        </p:nvSpPr>
        <p:spPr>
          <a:xfrm>
            <a:off x="548640" y="4370832"/>
            <a:ext cx="11091672" cy="120700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370832"/>
            <a:ext cx="64008" cy="12070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535424"/>
            <a:ext cx="10515600" cy="914400"/>
          </a:xfrm>
          <a:prstGeom prst="rect">
            <a:avLst/>
          </a:prstGeom>
          <a:noFill/>
        </p:spPr>
        <p:txBody>
          <a:bodyPr wrap="square" anchor="t" lIns="0" rIns="0" tIns="0" bIns="0">
            <a:spAutoFit/>
          </a:bodyPr>
          <a:lstStyle/>
          <a:p>
            <a:pPr algn="l"/>
            <a:r>
              <a:rPr sz="1000" b="1">
                <a:solidFill>
                  <a:srgbClr val="C9A227"/>
                </a:solidFill>
              </a:rPr>
              <a:t>CASE  ·  WHEN A LENDER'S PD MODEL FAILS</a:t>
            </a:r>
          </a:p>
          <a:p>
            <a:pPr algn="l">
              <a:spcBef>
                <a:spcPts val="500"/>
              </a:spcBef>
            </a:pPr>
            <a:r>
              <a:rPr sz="1100" b="0">
                <a:solidFill>
                  <a:srgbClr val="C9D6EE"/>
                </a:solidFill>
              </a:rPr>
              <a:t>The pattern repeats. A lender trains on a boom, so the model has never seen a downturn. Approvals rise because the model is confident. Nobody can explain an individual decline, so the complaints land with the regulator. The finding is rarely the mathematics. It is that the lender could not show how the model was built, tested or monitored.</a:t>
            </a:r>
          </a:p>
        </p:txBody>
      </p:sp>
      <p:sp>
        <p:nvSpPr>
          <p:cNvPr id="24" name="TextBox 23"/>
          <p:cNvSpPr txBox="1"/>
          <p:nvPr/>
        </p:nvSpPr>
        <p:spPr>
          <a:xfrm>
            <a:off x="548640" y="5760720"/>
            <a:ext cx="11091672" cy="365760"/>
          </a:xfrm>
          <a:prstGeom prst="rect">
            <a:avLst/>
          </a:prstGeom>
          <a:noFill/>
        </p:spPr>
        <p:txBody>
          <a:bodyPr wrap="square" anchor="t" lIns="0" rIns="0" tIns="0" bIns="0">
            <a:spAutoFit/>
          </a:bodyPr>
          <a:lstStyle/>
          <a:p>
            <a:pPr algn="l"/>
            <a:r>
              <a:rPr sz="1400" b="1">
                <a:solidFill>
                  <a:srgbClr val="0F2145"/>
                </a:solidFill>
                <a:latin typeface="Georgia"/>
              </a:rPr>
              <a:t>A model you cannot explain is a model you cannot defend, and defending it is the job.</a:t>
            </a:r>
          </a:p>
        </p:txBody>
      </p:sp>
      <p:sp>
        <p:nvSpPr>
          <p:cNvPr id="25" name="TextBox 2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MARKET RISK</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VaR is one sentence. The rest is how you compute it.</a:t>
            </a:r>
          </a:p>
        </p:txBody>
      </p:sp>
      <p:sp>
        <p:nvSpPr>
          <p:cNvPr id="5" name="Rectangle 4"/>
          <p:cNvSpPr/>
          <p:nvPr/>
        </p:nvSpPr>
        <p:spPr>
          <a:xfrm>
            <a:off x="548640" y="1463040"/>
            <a:ext cx="11091672" cy="69494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63040"/>
            <a:ext cx="64008" cy="69494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515600" cy="694944"/>
          </a:xfrm>
          <a:prstGeom prst="rect">
            <a:avLst/>
          </a:prstGeom>
          <a:noFill/>
        </p:spPr>
        <p:txBody>
          <a:bodyPr wrap="square" anchor="ctr" lIns="0" rIns="0" tIns="0" bIns="0">
            <a:spAutoFit/>
          </a:bodyPr>
          <a:lstStyle/>
          <a:p>
            <a:pPr algn="l"/>
            <a:r>
              <a:rPr sz="1200" b="1">
                <a:solidFill>
                  <a:srgbClr val="C9A227"/>
                </a:solidFill>
              </a:rPr>
              <a:t>A 99% one-day VaR of ₹6,60,000 means this:  </a:t>
            </a:r>
            <a:r>
              <a:rPr sz="1200" b="0">
                <a:solidFill>
                  <a:srgbClr val="FFFFFF"/>
                </a:solidFill>
              </a:rPr>
              <a:t>on 99 days out of 100, we should lose less than ₹6,60,000. It says nothing about the hundredth day.</a:t>
            </a:r>
          </a:p>
        </p:txBody>
      </p:sp>
      <p:sp>
        <p:nvSpPr>
          <p:cNvPr id="8" name="Rectangle 7"/>
          <p:cNvSpPr/>
          <p:nvPr/>
        </p:nvSpPr>
        <p:spPr>
          <a:xfrm>
            <a:off x="548640"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542032"/>
            <a:ext cx="3108960" cy="274320"/>
          </a:xfrm>
          <a:prstGeom prst="rect">
            <a:avLst/>
          </a:prstGeom>
          <a:noFill/>
        </p:spPr>
        <p:txBody>
          <a:bodyPr wrap="square" anchor="t" lIns="0" rIns="0" tIns="0" bIns="0">
            <a:spAutoFit/>
          </a:bodyPr>
          <a:lstStyle/>
          <a:p>
            <a:pPr algn="l"/>
            <a:r>
              <a:rPr sz="1000" b="1">
                <a:solidFill>
                  <a:srgbClr val="3A5C9E"/>
                </a:solidFill>
              </a:rPr>
              <a:t>HISTORICAL SIMULATION</a:t>
            </a:r>
          </a:p>
        </p:txBody>
      </p:sp>
      <p:sp>
        <p:nvSpPr>
          <p:cNvPr id="10" name="TextBox 9"/>
          <p:cNvSpPr txBox="1"/>
          <p:nvPr/>
        </p:nvSpPr>
        <p:spPr>
          <a:xfrm>
            <a:off x="804672" y="2871216"/>
            <a:ext cx="3108960" cy="566928"/>
          </a:xfrm>
          <a:prstGeom prst="rect">
            <a:avLst/>
          </a:prstGeom>
          <a:noFill/>
        </p:spPr>
        <p:txBody>
          <a:bodyPr wrap="square" anchor="t" lIns="0" rIns="0" tIns="0" bIns="0">
            <a:spAutoFit/>
          </a:bodyPr>
          <a:lstStyle/>
          <a:p>
            <a:pPr algn="l"/>
            <a:r>
              <a:rPr sz="1100" b="1">
                <a:solidFill>
                  <a:srgbClr val="0F2145"/>
                </a:solidFill>
              </a:rPr>
              <a:t>Replay the last 500 days that actually happened.</a:t>
            </a:r>
          </a:p>
        </p:txBody>
      </p:sp>
      <p:sp>
        <p:nvSpPr>
          <p:cNvPr id="11" name="TextBox 10"/>
          <p:cNvSpPr txBox="1"/>
          <p:nvPr/>
        </p:nvSpPr>
        <p:spPr>
          <a:xfrm>
            <a:off x="804672" y="352958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Assumes nothing about the shape of returns.</a:t>
            </a:r>
          </a:p>
        </p:txBody>
      </p:sp>
      <p:sp>
        <p:nvSpPr>
          <p:cNvPr id="12" name="TextBox 11"/>
          <p:cNvSpPr txBox="1"/>
          <p:nvPr/>
        </p:nvSpPr>
        <p:spPr>
          <a:xfrm>
            <a:off x="804672" y="402336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5D6B7E"/>
                </a:solidFill>
              </a:rPr>
              <a:t>You only ever see what already occurred.</a:t>
            </a:r>
          </a:p>
        </p:txBody>
      </p:sp>
      <p:sp>
        <p:nvSpPr>
          <p:cNvPr id="13" name="Rectangle 12"/>
          <p:cNvSpPr/>
          <p:nvPr/>
        </p:nvSpPr>
        <p:spPr>
          <a:xfrm>
            <a:off x="4315968"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542032"/>
            <a:ext cx="3108960" cy="274320"/>
          </a:xfrm>
          <a:prstGeom prst="rect">
            <a:avLst/>
          </a:prstGeom>
          <a:noFill/>
        </p:spPr>
        <p:txBody>
          <a:bodyPr wrap="square" anchor="t" lIns="0" rIns="0" tIns="0" bIns="0">
            <a:spAutoFit/>
          </a:bodyPr>
          <a:lstStyle/>
          <a:p>
            <a:pPr algn="l"/>
            <a:r>
              <a:rPr sz="1000" b="1">
                <a:solidFill>
                  <a:srgbClr val="3A5C9E"/>
                </a:solidFill>
              </a:rPr>
              <a:t>PARAMETRIC</a:t>
            </a:r>
          </a:p>
        </p:txBody>
      </p:sp>
      <p:sp>
        <p:nvSpPr>
          <p:cNvPr id="15" name="TextBox 14"/>
          <p:cNvSpPr txBox="1"/>
          <p:nvPr/>
        </p:nvSpPr>
        <p:spPr>
          <a:xfrm>
            <a:off x="4572000" y="2871216"/>
            <a:ext cx="3108960" cy="566928"/>
          </a:xfrm>
          <a:prstGeom prst="rect">
            <a:avLst/>
          </a:prstGeom>
          <a:noFill/>
        </p:spPr>
        <p:txBody>
          <a:bodyPr wrap="square" anchor="t" lIns="0" rIns="0" tIns="0" bIns="0">
            <a:spAutoFit/>
          </a:bodyPr>
          <a:lstStyle/>
          <a:p>
            <a:pPr algn="l"/>
            <a:r>
              <a:rPr sz="1100" b="1">
                <a:solidFill>
                  <a:srgbClr val="0F2145"/>
                </a:solidFill>
              </a:rPr>
              <a:t>Assume a normal curve and use one volatility number.</a:t>
            </a:r>
          </a:p>
        </p:txBody>
      </p:sp>
      <p:sp>
        <p:nvSpPr>
          <p:cNvPr id="16" name="TextBox 15"/>
          <p:cNvSpPr txBox="1"/>
          <p:nvPr/>
        </p:nvSpPr>
        <p:spPr>
          <a:xfrm>
            <a:off x="4572000" y="352958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Fast, and you can do it in a spreadsheet.</a:t>
            </a:r>
          </a:p>
        </p:txBody>
      </p:sp>
      <p:sp>
        <p:nvSpPr>
          <p:cNvPr id="17" name="TextBox 16"/>
          <p:cNvSpPr txBox="1"/>
          <p:nvPr/>
        </p:nvSpPr>
        <p:spPr>
          <a:xfrm>
            <a:off x="4572000" y="402336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5D6B7E"/>
                </a:solidFill>
              </a:rPr>
              <a:t>Real markets have fatter tails than normal.</a:t>
            </a:r>
          </a:p>
        </p:txBody>
      </p:sp>
      <p:sp>
        <p:nvSpPr>
          <p:cNvPr id="18" name="Rectangle 17"/>
          <p:cNvSpPr/>
          <p:nvPr/>
        </p:nvSpPr>
        <p:spPr>
          <a:xfrm>
            <a:off x="8083296" y="2340864"/>
            <a:ext cx="3611880" cy="221284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9327" y="2542032"/>
            <a:ext cx="3108960" cy="274320"/>
          </a:xfrm>
          <a:prstGeom prst="rect">
            <a:avLst/>
          </a:prstGeom>
          <a:noFill/>
        </p:spPr>
        <p:txBody>
          <a:bodyPr wrap="square" anchor="t" lIns="0" rIns="0" tIns="0" bIns="0">
            <a:spAutoFit/>
          </a:bodyPr>
          <a:lstStyle/>
          <a:p>
            <a:pPr algn="l"/>
            <a:r>
              <a:rPr sz="1000" b="1">
                <a:solidFill>
                  <a:srgbClr val="C9A227"/>
                </a:solidFill>
              </a:rPr>
              <a:t>MONTE CARLO</a:t>
            </a:r>
          </a:p>
        </p:txBody>
      </p:sp>
      <p:sp>
        <p:nvSpPr>
          <p:cNvPr id="20" name="TextBox 19"/>
          <p:cNvSpPr txBox="1"/>
          <p:nvPr/>
        </p:nvSpPr>
        <p:spPr>
          <a:xfrm>
            <a:off x="8339327" y="2871216"/>
            <a:ext cx="3108960" cy="566928"/>
          </a:xfrm>
          <a:prstGeom prst="rect">
            <a:avLst/>
          </a:prstGeom>
          <a:noFill/>
        </p:spPr>
        <p:txBody>
          <a:bodyPr wrap="square" anchor="t" lIns="0" rIns="0" tIns="0" bIns="0">
            <a:spAutoFit/>
          </a:bodyPr>
          <a:lstStyle/>
          <a:p>
            <a:pPr algn="l"/>
            <a:r>
              <a:rPr sz="1100" b="1">
                <a:solidFill>
                  <a:srgbClr val="FFFFFF"/>
                </a:solidFill>
              </a:rPr>
              <a:t>Invent 10,000 tomorrows from volatility and correlation.</a:t>
            </a:r>
          </a:p>
        </p:txBody>
      </p:sp>
      <p:sp>
        <p:nvSpPr>
          <p:cNvPr id="21" name="TextBox 20"/>
          <p:cNvSpPr txBox="1"/>
          <p:nvPr/>
        </p:nvSpPr>
        <p:spPr>
          <a:xfrm>
            <a:off x="8339327" y="352958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Handles many assets and odd payoffs.</a:t>
            </a:r>
          </a:p>
        </p:txBody>
      </p:sp>
      <p:sp>
        <p:nvSpPr>
          <p:cNvPr id="22" name="TextBox 21"/>
          <p:cNvSpPr txBox="1"/>
          <p:nvPr/>
        </p:nvSpPr>
        <p:spPr>
          <a:xfrm>
            <a:off x="8339327" y="402336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Only as good as the assumptions you fed it.</a:t>
            </a:r>
          </a:p>
        </p:txBody>
      </p:sp>
      <p:sp>
        <p:nvSpPr>
          <p:cNvPr id="23" name="TextBox 22"/>
          <p:cNvSpPr txBox="1"/>
          <p:nvPr/>
        </p:nvSpPr>
        <p:spPr>
          <a:xfrm>
            <a:off x="548640" y="4718304"/>
            <a:ext cx="5486400" cy="1005840"/>
          </a:xfrm>
          <a:prstGeom prst="rect">
            <a:avLst/>
          </a:prstGeom>
          <a:noFill/>
        </p:spPr>
        <p:txBody>
          <a:bodyPr wrap="square" anchor="t" lIns="0" rIns="0" tIns="0" bIns="0">
            <a:spAutoFit/>
          </a:bodyPr>
          <a:lstStyle/>
          <a:p>
            <a:pPr algn="l"/>
            <a:r>
              <a:rPr sz="1500" b="1">
                <a:solidFill>
                  <a:srgbClr val="0F2145"/>
                </a:solidFill>
                <a:latin typeface="Georgia"/>
              </a:rPr>
              <a:t>CVaR, the question VaR ducks</a:t>
            </a:r>
          </a:p>
          <a:p>
            <a:pPr algn="l">
              <a:spcBef>
                <a:spcPts val="600"/>
              </a:spcBef>
            </a:pPr>
            <a:r>
              <a:rPr sz="1100" b="0">
                <a:solidFill>
                  <a:srgbClr val="1B2A41"/>
                </a:solidFill>
              </a:rPr>
              <a:t>VaR tells you the edge of the bad 1%. CVaR tells you the average loss once you are inside it. VaR says ₹6.6 lakh; CVaR might say ₹9.4 lakh.</a:t>
            </a:r>
          </a:p>
        </p:txBody>
      </p:sp>
      <p:sp>
        <p:nvSpPr>
          <p:cNvPr id="24" name="TextBox 23"/>
          <p:cNvSpPr txBox="1"/>
          <p:nvPr/>
        </p:nvSpPr>
        <p:spPr>
          <a:xfrm>
            <a:off x="6309360" y="4718304"/>
            <a:ext cx="5330952" cy="1005840"/>
          </a:xfrm>
          <a:prstGeom prst="rect">
            <a:avLst/>
          </a:prstGeom>
          <a:noFill/>
        </p:spPr>
        <p:txBody>
          <a:bodyPr wrap="square" anchor="t" lIns="0" rIns="0" tIns="0" bIns="0">
            <a:spAutoFit/>
          </a:bodyPr>
          <a:lstStyle/>
          <a:p>
            <a:pPr algn="l"/>
            <a:r>
              <a:rPr sz="1500" b="1">
                <a:solidFill>
                  <a:srgbClr val="0F2145"/>
                </a:solidFill>
                <a:latin typeface="Georgia"/>
              </a:rPr>
              <a:t>Basel III asks for both levels</a:t>
            </a:r>
          </a:p>
          <a:p>
            <a:pPr algn="l">
              <a:spcBef>
                <a:spcPts val="600"/>
              </a:spcBef>
            </a:pPr>
            <a:r>
              <a:rPr sz="1100" b="0">
                <a:solidFill>
                  <a:srgbClr val="1B2A41"/>
                </a:solidFill>
              </a:rPr>
              <a:t>95% and 99% are the thresholds you report. Run all three methods on the same portfolio and you get three different answers. That gap is the lesson.</a:t>
            </a:r>
          </a:p>
        </p:txBody>
      </p:sp>
      <p:sp>
        <p:nvSpPr>
          <p:cNvPr id="25" name="TextBox 2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Build it, compare it, then test it</a:t>
            </a:r>
          </a:p>
        </p:txBody>
      </p:sp>
      <p:sp>
        <p:nvSpPr>
          <p:cNvPr id="5" name="Rectangle 4"/>
          <p:cNvSpPr/>
          <p:nvPr/>
        </p:nvSpPr>
        <p:spPr>
          <a:xfrm>
            <a:off x="548640" y="1444752"/>
            <a:ext cx="11091672" cy="621792"/>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6217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515600" cy="621792"/>
          </a:xfrm>
          <a:prstGeom prst="rect">
            <a:avLst/>
          </a:prstGeom>
          <a:noFill/>
        </p:spPr>
        <p:txBody>
          <a:bodyPr wrap="square" anchor="ctr" lIns="0" rIns="0" tIns="0" bIns="0">
            <a:spAutoFit/>
          </a:bodyPr>
          <a:lstStyle/>
          <a:p>
            <a:pPr algn="l"/>
            <a:r>
              <a:rPr sz="850" b="1">
                <a:solidFill>
                  <a:srgbClr val="C9A227"/>
                </a:solidFill>
              </a:rPr>
              <a:t>THE SENTENCE WE TYPE</a:t>
            </a:r>
          </a:p>
          <a:p>
            <a:pPr algn="l">
              <a:spcBef>
                <a:spcPts val="200"/>
              </a:spcBef>
            </a:pPr>
            <a:r>
              <a:rPr sz="1300" b="1">
                <a:solidFill>
                  <a:srgbClr val="FFFFFF"/>
                </a:solidFill>
                <a:latin typeface="Georgia"/>
              </a:rPr>
              <a:t>“Build a Monte Carlo VaR engine for five NSE stocks, run 10,000 paths, and give me 95% and 99% VaR and CVaR.”</a:t>
            </a:r>
          </a:p>
        </p:txBody>
      </p:sp>
      <p:sp>
        <p:nvSpPr>
          <p:cNvPr id="8" name="Rectangle 7"/>
          <p:cNvSpPr/>
          <p:nvPr/>
        </p:nvSpPr>
        <p:spPr>
          <a:xfrm>
            <a:off x="548640"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14016"/>
            <a:ext cx="3099816" cy="274320"/>
          </a:xfrm>
          <a:prstGeom prst="rect">
            <a:avLst/>
          </a:prstGeom>
          <a:noFill/>
        </p:spPr>
        <p:txBody>
          <a:bodyPr wrap="square" anchor="t" lIns="0" rIns="0" tIns="0" bIns="0">
            <a:spAutoFit/>
          </a:bodyPr>
          <a:lstStyle/>
          <a:p>
            <a:pPr algn="l"/>
            <a:r>
              <a:rPr sz="950" b="1">
                <a:solidFill>
                  <a:srgbClr val="3A5C9E"/>
                </a:solidFill>
              </a:rPr>
              <a:t>PART A  ·  35 MIN</a:t>
            </a:r>
          </a:p>
        </p:txBody>
      </p:sp>
      <p:sp>
        <p:nvSpPr>
          <p:cNvPr id="10" name="TextBox 9"/>
          <p:cNvSpPr txBox="1"/>
          <p:nvPr/>
        </p:nvSpPr>
        <p:spPr>
          <a:xfrm>
            <a:off x="804672" y="2724912"/>
            <a:ext cx="3099816" cy="402336"/>
          </a:xfrm>
          <a:prstGeom prst="rect">
            <a:avLst/>
          </a:prstGeom>
          <a:noFill/>
        </p:spPr>
        <p:txBody>
          <a:bodyPr wrap="square" anchor="t" lIns="0" rIns="0" tIns="0" bIns="0">
            <a:spAutoFit/>
          </a:bodyPr>
          <a:lstStyle/>
          <a:p>
            <a:pPr algn="l"/>
            <a:r>
              <a:rPr sz="1700" b="1">
                <a:solidFill>
                  <a:srgbClr val="0F2145"/>
                </a:solidFill>
                <a:latin typeface="Georgia"/>
              </a:rPr>
              <a:t>Build it</a:t>
            </a:r>
          </a:p>
        </p:txBody>
      </p:sp>
      <p:sp>
        <p:nvSpPr>
          <p:cNvPr id="11" name="TextBox 10"/>
          <p:cNvSpPr txBox="1"/>
          <p:nvPr/>
        </p:nvSpPr>
        <p:spPr>
          <a:xfrm>
            <a:off x="804672" y="3255264"/>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Five NSE stocks, two years of daily returns</a:t>
            </a:r>
          </a:p>
        </p:txBody>
      </p:sp>
      <p:sp>
        <p:nvSpPr>
          <p:cNvPr id="12" name="TextBox 11"/>
          <p:cNvSpPr txBox="1"/>
          <p:nvPr/>
        </p:nvSpPr>
        <p:spPr>
          <a:xfrm>
            <a:off x="804672" y="3767328"/>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Each stock's volatility, and how the five move together</a:t>
            </a:r>
          </a:p>
        </p:txBody>
      </p:sp>
      <p:sp>
        <p:nvSpPr>
          <p:cNvPr id="13" name="TextBox 12"/>
          <p:cNvSpPr txBox="1"/>
          <p:nvPr/>
        </p:nvSpPr>
        <p:spPr>
          <a:xfrm>
            <a:off x="804672" y="4279392"/>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Ten thousand simulated tomorrows</a:t>
            </a:r>
          </a:p>
        </p:txBody>
      </p:sp>
      <p:sp>
        <p:nvSpPr>
          <p:cNvPr id="14" name="TextBox 13"/>
          <p:cNvSpPr txBox="1"/>
          <p:nvPr/>
        </p:nvSpPr>
        <p:spPr>
          <a:xfrm>
            <a:off x="804672" y="4791456"/>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Sort them: the 100th worst is your 99% VaR, and the tail past it is CVaR</a:t>
            </a:r>
          </a:p>
        </p:txBody>
      </p:sp>
      <p:sp>
        <p:nvSpPr>
          <p:cNvPr id="15" name="Rectangle 14"/>
          <p:cNvSpPr/>
          <p:nvPr/>
        </p:nvSpPr>
        <p:spPr>
          <a:xfrm>
            <a:off x="4315968"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414016"/>
            <a:ext cx="3099816" cy="274320"/>
          </a:xfrm>
          <a:prstGeom prst="rect">
            <a:avLst/>
          </a:prstGeom>
          <a:noFill/>
        </p:spPr>
        <p:txBody>
          <a:bodyPr wrap="square" anchor="t" lIns="0" rIns="0" tIns="0" bIns="0">
            <a:spAutoFit/>
          </a:bodyPr>
          <a:lstStyle/>
          <a:p>
            <a:pPr algn="l"/>
            <a:r>
              <a:rPr sz="950" b="1">
                <a:solidFill>
                  <a:srgbClr val="3A5C9E"/>
                </a:solidFill>
              </a:rPr>
              <a:t>PART B  ·  10 MIN</a:t>
            </a:r>
          </a:p>
        </p:txBody>
      </p:sp>
      <p:sp>
        <p:nvSpPr>
          <p:cNvPr id="17" name="TextBox 16"/>
          <p:cNvSpPr txBox="1"/>
          <p:nvPr/>
        </p:nvSpPr>
        <p:spPr>
          <a:xfrm>
            <a:off x="4572000" y="2724912"/>
            <a:ext cx="3099816" cy="402336"/>
          </a:xfrm>
          <a:prstGeom prst="rect">
            <a:avLst/>
          </a:prstGeom>
          <a:noFill/>
        </p:spPr>
        <p:txBody>
          <a:bodyPr wrap="square" anchor="t" lIns="0" rIns="0" tIns="0" bIns="0">
            <a:spAutoFit/>
          </a:bodyPr>
          <a:lstStyle/>
          <a:p>
            <a:pPr algn="l"/>
            <a:r>
              <a:rPr sz="1700" b="1">
                <a:solidFill>
                  <a:srgbClr val="0F2145"/>
                </a:solidFill>
                <a:latin typeface="Georgia"/>
              </a:rPr>
              <a:t>Compare it</a:t>
            </a:r>
          </a:p>
        </p:txBody>
      </p:sp>
      <p:sp>
        <p:nvSpPr>
          <p:cNvPr id="18" name="TextBox 17"/>
          <p:cNvSpPr txBox="1"/>
          <p:nvPr/>
        </p:nvSpPr>
        <p:spPr>
          <a:xfrm>
            <a:off x="4572000" y="3255264"/>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Run the same portfolio through historical and parametric</a:t>
            </a:r>
          </a:p>
        </p:txBody>
      </p:sp>
      <p:sp>
        <p:nvSpPr>
          <p:cNvPr id="19" name="TextBox 18"/>
          <p:cNvSpPr txBox="1"/>
          <p:nvPr/>
        </p:nvSpPr>
        <p:spPr>
          <a:xfrm>
            <a:off x="4572000" y="3767328"/>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Three methods, three different answers</a:t>
            </a:r>
          </a:p>
        </p:txBody>
      </p:sp>
      <p:sp>
        <p:nvSpPr>
          <p:cNvPr id="20" name="TextBox 19"/>
          <p:cNvSpPr txBox="1"/>
          <p:nvPr/>
        </p:nvSpPr>
        <p:spPr>
          <a:xfrm>
            <a:off x="4572000" y="4279392"/>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Which one do you report, and why that one?</a:t>
            </a:r>
          </a:p>
        </p:txBody>
      </p:sp>
      <p:sp>
        <p:nvSpPr>
          <p:cNvPr id="21" name="TextBox 20"/>
          <p:cNvSpPr txBox="1"/>
          <p:nvPr/>
        </p:nvSpPr>
        <p:spPr>
          <a:xfrm>
            <a:off x="4572000" y="4791456"/>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gap between them is your uncertainty, made visible</a:t>
            </a:r>
          </a:p>
        </p:txBody>
      </p:sp>
      <p:sp>
        <p:nvSpPr>
          <p:cNvPr id="22" name="Rectangle 21"/>
          <p:cNvSpPr/>
          <p:nvPr/>
        </p:nvSpPr>
        <p:spPr>
          <a:xfrm>
            <a:off x="8083296" y="2212848"/>
            <a:ext cx="3557016" cy="30540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2414016"/>
            <a:ext cx="3044952" cy="274320"/>
          </a:xfrm>
          <a:prstGeom prst="rect">
            <a:avLst/>
          </a:prstGeom>
          <a:noFill/>
        </p:spPr>
        <p:txBody>
          <a:bodyPr wrap="square" anchor="t" lIns="0" rIns="0" tIns="0" bIns="0">
            <a:spAutoFit/>
          </a:bodyPr>
          <a:lstStyle/>
          <a:p>
            <a:pPr algn="l"/>
            <a:r>
              <a:rPr sz="950" b="1">
                <a:solidFill>
                  <a:srgbClr val="C9A227"/>
                </a:solidFill>
              </a:rPr>
              <a:t>PART C  ·  15 MIN</a:t>
            </a:r>
          </a:p>
        </p:txBody>
      </p:sp>
      <p:sp>
        <p:nvSpPr>
          <p:cNvPr id="24" name="TextBox 23"/>
          <p:cNvSpPr txBox="1"/>
          <p:nvPr/>
        </p:nvSpPr>
        <p:spPr>
          <a:xfrm>
            <a:off x="8339327" y="2724912"/>
            <a:ext cx="3044952" cy="402336"/>
          </a:xfrm>
          <a:prstGeom prst="rect">
            <a:avLst/>
          </a:prstGeom>
          <a:noFill/>
        </p:spPr>
        <p:txBody>
          <a:bodyPr wrap="square" anchor="t" lIns="0" rIns="0" tIns="0" bIns="0">
            <a:spAutoFit/>
          </a:bodyPr>
          <a:lstStyle/>
          <a:p>
            <a:pPr algn="l"/>
            <a:r>
              <a:rPr sz="1700" b="1">
                <a:solidFill>
                  <a:srgbClr val="FFFFFF"/>
                </a:solidFill>
                <a:latin typeface="Georgia"/>
              </a:rPr>
              <a:t>Test it</a:t>
            </a:r>
          </a:p>
        </p:txBody>
      </p:sp>
      <p:sp>
        <p:nvSpPr>
          <p:cNvPr id="25" name="TextBox 24"/>
          <p:cNvSpPr txBox="1"/>
          <p:nvPr/>
        </p:nvSpPr>
        <p:spPr>
          <a:xfrm>
            <a:off x="8339327" y="3255264"/>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Count the breaches over 250 real trading days</a:t>
            </a:r>
          </a:p>
        </p:txBody>
      </p:sp>
      <p:sp>
        <p:nvSpPr>
          <p:cNvPr id="26" name="TextBox 25"/>
          <p:cNvSpPr txBox="1"/>
          <p:nvPr/>
        </p:nvSpPr>
        <p:spPr>
          <a:xfrm>
            <a:off x="8339327" y="3767328"/>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At 99% you expect two or three, not nine</a:t>
            </a:r>
          </a:p>
        </p:txBody>
      </p:sp>
      <p:sp>
        <p:nvSpPr>
          <p:cNvPr id="27" name="TextBox 26"/>
          <p:cNvSpPr txBox="1"/>
          <p:nvPr/>
        </p:nvSpPr>
        <p:spPr>
          <a:xfrm>
            <a:off x="8339327" y="4279392"/>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Basel zones: 0-4 green, 5-9 yellow, 10 or more red</a:t>
            </a:r>
          </a:p>
        </p:txBody>
      </p:sp>
      <p:sp>
        <p:nvSpPr>
          <p:cNvPr id="28" name="TextBox 27"/>
          <p:cNvSpPr txBox="1"/>
          <p:nvPr/>
        </p:nvSpPr>
        <p:spPr>
          <a:xfrm>
            <a:off x="8339327" y="4791456"/>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A red zone means rebuild it, not explain it away</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Part C matters most:  </a:t>
            </a:r>
            <a:r>
              <a:rPr sz="1200" b="0">
                <a:solidFill>
                  <a:srgbClr val="FFFFFF"/>
                </a:solidFill>
              </a:rPr>
              <a:t>building a VaR takes 35 minutes. Finding out it breached nine times when it should have breached three takes 15.</a:t>
            </a:r>
          </a:p>
        </p:txBody>
      </p:sp>
      <p:sp>
        <p:nvSpPr>
          <p:cNvPr id="32" name="TextBox 31"/>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anchor="t" lIns="0" rIns="0" tIns="0" bIns="0">
            <a:spAutoFit/>
          </a:bodyPr>
          <a:lstStyle/>
          <a:p>
            <a:pPr algn="l"/>
            <a:r>
              <a:rPr sz="1050" b="1">
                <a:solidFill>
                  <a:srgbClr val="1B2A41"/>
                </a:solidFill>
              </a:rPr>
              <a:t>A loan has PD 3%, LGD 40% and EAD ₹5,00,000. What is the expected loss, and who pays it?</a:t>
            </a:r>
          </a:p>
          <a:p>
            <a:pPr algn="l">
              <a:spcBef>
                <a:spcPts val="200"/>
              </a:spcBef>
            </a:pPr>
            <a:r>
              <a:rPr sz="900" b="1">
                <a:solidFill>
                  <a:srgbClr val="C9A227"/>
                </a:solidFill>
              </a:rPr>
              <a:t>TIP  </a:t>
            </a:r>
            <a:r>
              <a:rPr sz="900" b="0">
                <a:solidFill>
                  <a:srgbClr val="5D6B7E"/>
                </a:solidFill>
              </a:rPr>
              <a:t>₹6,000. The borrower pays it, priced into the interest rate, whether or not this loan goes bad.</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40279"/>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anchor="t" lIns="0" rIns="0" tIns="0" bIns="0">
            <a:spAutoFit/>
          </a:bodyPr>
          <a:lstStyle/>
          <a:p>
            <a:pPr algn="l"/>
            <a:r>
              <a:rPr sz="1050" b="1">
                <a:solidFill>
                  <a:srgbClr val="1B2A41"/>
                </a:solidFill>
              </a:rPr>
              <a:t>Explain the difference between expected loss and unexpected loss, and what each is funded by.</a:t>
            </a:r>
          </a:p>
          <a:p>
            <a:pPr algn="l">
              <a:spcBef>
                <a:spcPts val="200"/>
              </a:spcBef>
            </a:pPr>
            <a:r>
              <a:rPr sz="900" b="1">
                <a:solidFill>
                  <a:srgbClr val="C9A227"/>
                </a:solidFill>
              </a:rPr>
              <a:t>TIP  </a:t>
            </a:r>
            <a:r>
              <a:rPr sz="900" b="0">
                <a:solidFill>
                  <a:srgbClr val="5D6B7E"/>
                </a:solidFill>
              </a:rPr>
              <a:t>Expected loss is budgeted and priced in. Unexpected loss is the bad year, and capital is held against it.</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71799"/>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anchor="t" lIns="0" rIns="0" tIns="0" bIns="0">
            <a:spAutoFit/>
          </a:bodyPr>
          <a:lstStyle/>
          <a:p>
            <a:pPr algn="l"/>
            <a:r>
              <a:rPr sz="1050" b="1">
                <a:solidFill>
                  <a:srgbClr val="1B2A41"/>
                </a:solidFill>
              </a:rPr>
              <a:t>A PD model scores AUC 0.78. Say what that means without using the word AUC.</a:t>
            </a:r>
          </a:p>
          <a:p>
            <a:pPr algn="l">
              <a:spcBef>
                <a:spcPts val="200"/>
              </a:spcBef>
            </a:pPr>
            <a:r>
              <a:rPr sz="900" b="1">
                <a:solidFill>
                  <a:srgbClr val="C9A227"/>
                </a:solidFill>
              </a:rPr>
              <a:t>TIP  </a:t>
            </a:r>
            <a:r>
              <a:rPr sz="900" b="0">
                <a:solidFill>
                  <a:srgbClr val="5D6B7E"/>
                </a:solidFill>
              </a:rPr>
              <a:t>Take a defaulter and a non-defaulter at random; 78 times in 100 the model scores the defaulter as riskier.</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703320"/>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20" name="TextBox 19"/>
          <p:cNvSpPr txBox="1"/>
          <p:nvPr/>
        </p:nvSpPr>
        <p:spPr>
          <a:xfrm>
            <a:off x="1554480" y="3694175"/>
            <a:ext cx="9875520" cy="585216"/>
          </a:xfrm>
          <a:prstGeom prst="rect">
            <a:avLst/>
          </a:prstGeom>
          <a:noFill/>
        </p:spPr>
        <p:txBody>
          <a:bodyPr wrap="square" anchor="t" lIns="0" rIns="0" tIns="0" bIns="0">
            <a:spAutoFit/>
          </a:bodyPr>
          <a:lstStyle/>
          <a:p>
            <a:pPr algn="l"/>
            <a:r>
              <a:rPr sz="1050" b="1">
                <a:solidFill>
                  <a:srgbClr val="1B2A41"/>
                </a:solidFill>
              </a:rPr>
              <a:t>Your XGBoost model beats the logistic regression. Give one reason you might still ship the regression.</a:t>
            </a:r>
          </a:p>
          <a:p>
            <a:pPr algn="l">
              <a:spcBef>
                <a:spcPts val="200"/>
              </a:spcBef>
            </a:pPr>
            <a:r>
              <a:rPr sz="900" b="1">
                <a:solidFill>
                  <a:srgbClr val="C9A227"/>
                </a:solidFill>
              </a:rPr>
              <a:t>TIP  </a:t>
            </a:r>
            <a:r>
              <a:rPr sz="900" b="0">
                <a:solidFill>
                  <a:srgbClr val="5D6B7E"/>
                </a:solidFill>
              </a:rPr>
              <a:t>You can print it, explain a single decline, and defend it to a regulator. Accuracy is not the only test.</a:t>
            </a: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34840"/>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anchor="t" lIns="0" rIns="0" tIns="0" bIns="0">
            <a:spAutoFit/>
          </a:bodyPr>
          <a:lstStyle/>
          <a:p>
            <a:pPr algn="l"/>
            <a:r>
              <a:rPr sz="1050" b="1">
                <a:solidFill>
                  <a:srgbClr val="1B2A41"/>
                </a:solidFill>
              </a:rPr>
              <a:t>Historical, parametric and Monte Carlo give three different VaRs on one portfolio. Why, and which do you report?</a:t>
            </a:r>
          </a:p>
          <a:p>
            <a:pPr algn="l">
              <a:spcBef>
                <a:spcPts val="200"/>
              </a:spcBef>
            </a:pPr>
            <a:r>
              <a:rPr sz="900" b="1">
                <a:solidFill>
                  <a:srgbClr val="C9A227"/>
                </a:solidFill>
              </a:rPr>
              <a:t>TIP  </a:t>
            </a:r>
            <a:r>
              <a:rPr sz="900" b="0">
                <a:solidFill>
                  <a:srgbClr val="5D6B7E"/>
                </a:solidFill>
              </a:rPr>
              <a:t>Each assumes something different about returns. Report the method your policy names, and disclose the other two.</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66359"/>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anchor="t" lIns="0" rIns="0" tIns="0" bIns="0">
            <a:spAutoFit/>
          </a:bodyPr>
          <a:lstStyle/>
          <a:p>
            <a:pPr algn="l"/>
            <a:r>
              <a:rPr sz="1050" b="1">
                <a:solidFill>
                  <a:srgbClr val="1B2A41"/>
                </a:solidFill>
              </a:rPr>
              <a:t>Your 99% one-day VaR is ₹6.6 lakh. In 250 trading days you breach it nine times. What does that tell you?</a:t>
            </a:r>
          </a:p>
          <a:p>
            <a:pPr algn="l">
              <a:spcBef>
                <a:spcPts val="200"/>
              </a:spcBef>
            </a:pPr>
            <a:r>
              <a:rPr sz="900" b="1">
                <a:solidFill>
                  <a:srgbClr val="C9A227"/>
                </a:solidFill>
              </a:rPr>
              <a:t>TIP  </a:t>
            </a:r>
            <a:r>
              <a:rPr sz="900" b="0">
                <a:solidFill>
                  <a:srgbClr val="5D6B7E"/>
                </a:solidFill>
              </a:rPr>
              <a:t>You expected about 2 or 3. Nine says the model understates risk, and it must be rebuilt, not explained away.</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Before Session 6:  </a:t>
            </a:r>
            <a:r>
              <a:rPr sz="1100" b="0">
                <a:solidFill>
                  <a:srgbClr val="FFFFFF"/>
                </a:solidFill>
              </a:rPr>
              <a:t>pick five listed stocks, and write down the one thing that would make all five fall together.</a:t>
            </a:r>
          </a:p>
        </p:txBody>
      </p:sp>
      <p:sp>
        <p:nvSpPr>
          <p:cNvPr id="32" name="TextBox 31"/>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5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
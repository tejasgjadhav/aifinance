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ISBMS · PGDM 2025–27 · SEMESTER III · SESSION 5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5</a:t>
            </a:r>
          </a:p>
          <a:p>
            <a:pPr algn="l">
              <a:spcBef>
                <a:spcPts val="1000"/>
              </a:spcBef>
            </a:pPr>
            <a:r>
              <a:rPr sz="2100" b="0">
                <a:solidFill>
                  <a:srgbClr val="C9D6EE"/>
                </a:solidFill>
                <a:latin typeface="Georgia"/>
              </a:rPr>
              <a:t>Risk Modelling — PD Models &amp; Monte Carlo VaR</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Faculty · Agentic AI &amp; Advanced Analytics in Finance (PGDM-SEM3-SPEC-AIFINANCE)</a:t>
            </a:r>
          </a:p>
          <a:p>
            <a:pPr algn="l">
              <a:spcBef>
                <a:spcPts val="300"/>
              </a:spcBef>
            </a:pPr>
            <a:r>
              <a:rPr sz="1200" b="1">
                <a:solidFill>
                  <a:srgbClr val="C9A227"/>
                </a:solidFill>
              </a:rPr>
              <a:t>tejasgjadhav.github.io/AIFINANCE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Two questions</a:t>
            </a:r>
          </a:p>
          <a:p>
            <a:pPr algn="l">
              <a:spcBef>
                <a:spcPts val="400"/>
              </a:spcBef>
            </a:pPr>
            <a:r>
              <a:rPr sz="1000" b="0">
                <a:solidFill>
                  <a:srgbClr val="8FA1C4"/>
                </a:solidFill>
              </a:rPr>
              <a:t>Will this borrower pay?</a:t>
            </a:r>
          </a:p>
          <a:p>
            <a:pPr algn="l">
              <a:spcBef>
                <a:spcPts val="200"/>
              </a:spcBef>
            </a:pPr>
            <a:r>
              <a:rPr sz="1000" b="0">
                <a:solidFill>
                  <a:srgbClr val="8FA1C4"/>
                </a:solidFill>
              </a:rPr>
              <a:t>How much can this book lose?</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No heavy maths</a:t>
            </a:r>
          </a:p>
          <a:p>
            <a:pPr algn="l">
              <a:spcBef>
                <a:spcPts val="400"/>
              </a:spcBef>
            </a:pPr>
            <a:r>
              <a:rPr sz="1000" b="0">
                <a:solidFill>
                  <a:srgbClr val="8FA1C4"/>
                </a:solidFill>
              </a:rPr>
              <a:t>Every number today comes</a:t>
            </a:r>
          </a:p>
          <a:p>
            <a:pPr algn="l">
              <a:spcBef>
                <a:spcPts val="200"/>
              </a:spcBef>
            </a:pPr>
            <a:r>
              <a:rPr sz="1000" b="0">
                <a:solidFill>
                  <a:srgbClr val="8FA1C4"/>
                </a:solidFill>
              </a:rPr>
              <a:t>from one multiplication or</a:t>
            </a:r>
          </a:p>
          <a:p>
            <a:pPr algn="l">
              <a:spcBef>
                <a:spcPts val="200"/>
              </a:spcBef>
            </a:pPr>
            <a:r>
              <a:rPr sz="1000" b="0">
                <a:solidFill>
                  <a:srgbClr val="8FA1C4"/>
                </a:solidFill>
              </a:rPr>
              <a:t>one sorted list.</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VaR ENGINE, BUILT AND</a:t>
            </a:r>
          </a:p>
          <a:p>
            <a:pPr algn="l">
              <a:spcBef>
                <a:spcPts val="200"/>
              </a:spcBef>
            </a:pPr>
            <a:r>
              <a:rPr sz="900" b="0">
                <a:solidFill>
                  <a:srgbClr val="8FA1C4"/>
                </a:solidFill>
              </a:rPr>
              <a:t>READ,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ISBMS · PGDM 2025–27 · AGENTIC AI &amp; ADVANCED ANALYTICS IN FINANCE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5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Will they pay?</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PD, LGD and EAD, and the one line that joins them</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Basel II and where the bank is allowed to use its own model</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Building a PD model: logistic regression, trees, XGBoost</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Reading the score: Gini, KS, AUC-ROC, and SHAP</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How much can we lose?</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Three ways to compute VaR, and why they disagree</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10,000 simulated days on a multi-asset portfolio</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CVaR: the question VaR refuses to answer</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Basel III thresholds at 95% and 99%</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 Monte Carlo VaR engine on five NSE stocks</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10,000 paths, then 95% and 99% VaR and CVaR</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An AI-written risk note, checked against the numbers</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One PDF report you can hand to somebody</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THE GRADED ASSIGNMENT IS INTRODUCED TODAY.  </a:t>
            </a:r>
            <a:r>
              <a:rPr sz="1100" b="0">
                <a:solidFill>
                  <a:srgbClr val="1B2A41"/>
                </a:solidFill>
              </a:rPr>
              <a:t>You will build a risk report on a portfolio of your own and defend the numbers in it.</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  </a:t>
            </a:r>
            <a:r>
              <a:rPr sz="1200" b="0">
                <a:solidFill>
                  <a:srgbClr val="FFFFFF"/>
                </a:solidFill>
              </a:rPr>
              <a:t>two questions, two numbers, and the honesty to say how wrong each number could be.</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CREDIT RISK</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Three numbers, one multiplication</a:t>
            </a:r>
          </a:p>
        </p:txBody>
      </p:sp>
      <p:sp>
        <p:nvSpPr>
          <p:cNvPr id="5" name="Rectangle 4"/>
          <p:cNvSpPr/>
          <p:nvPr/>
        </p:nvSpPr>
        <p:spPr>
          <a:xfrm>
            <a:off x="548640"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73936"/>
            <a:ext cx="1371600" cy="457200"/>
          </a:xfrm>
          <a:prstGeom prst="rect">
            <a:avLst/>
          </a:prstGeom>
          <a:noFill/>
        </p:spPr>
        <p:txBody>
          <a:bodyPr wrap="square" anchor="t" lIns="0" rIns="0" tIns="0" bIns="0">
            <a:spAutoFit/>
          </a:bodyPr>
          <a:lstStyle/>
          <a:p>
            <a:pPr algn="l"/>
            <a:r>
              <a:rPr sz="2600" b="1">
                <a:solidFill>
                  <a:srgbClr val="0F2145"/>
                </a:solidFill>
                <a:latin typeface="Georgia"/>
              </a:rPr>
              <a:t>PD</a:t>
            </a:r>
          </a:p>
        </p:txBody>
      </p:sp>
      <p:sp>
        <p:nvSpPr>
          <p:cNvPr id="7" name="TextBox 6"/>
          <p:cNvSpPr txBox="1"/>
          <p:nvPr/>
        </p:nvSpPr>
        <p:spPr>
          <a:xfrm>
            <a:off x="804672" y="2286000"/>
            <a:ext cx="3108960" cy="274320"/>
          </a:xfrm>
          <a:prstGeom prst="rect">
            <a:avLst/>
          </a:prstGeom>
          <a:noFill/>
        </p:spPr>
        <p:txBody>
          <a:bodyPr wrap="square" anchor="t" lIns="0" rIns="0" tIns="0" bIns="0">
            <a:spAutoFit/>
          </a:bodyPr>
          <a:lstStyle/>
          <a:p>
            <a:pPr algn="l"/>
            <a:r>
              <a:rPr sz="1000" b="1">
                <a:solidFill>
                  <a:srgbClr val="3A5C9E"/>
                </a:solidFill>
              </a:rPr>
              <a:t>Probability of Default</a:t>
            </a:r>
          </a:p>
        </p:txBody>
      </p:sp>
      <p:sp>
        <p:nvSpPr>
          <p:cNvPr id="8" name="TextBox 7"/>
          <p:cNvSpPr txBox="1"/>
          <p:nvPr/>
        </p:nvSpPr>
        <p:spPr>
          <a:xfrm>
            <a:off x="804672" y="2596896"/>
            <a:ext cx="3108960" cy="548640"/>
          </a:xfrm>
          <a:prstGeom prst="rect">
            <a:avLst/>
          </a:prstGeom>
          <a:noFill/>
        </p:spPr>
        <p:txBody>
          <a:bodyPr wrap="square" anchor="t" lIns="0" rIns="0" tIns="0" bIns="0">
            <a:spAutoFit/>
          </a:bodyPr>
          <a:lstStyle/>
          <a:p>
            <a:pPr algn="l"/>
            <a:r>
              <a:rPr sz="1050" b="0">
                <a:solidFill>
                  <a:srgbClr val="1B2A41"/>
                </a:solidFill>
              </a:rPr>
              <a:t>How likely is it that this borrower stops paying in the next year?</a:t>
            </a:r>
          </a:p>
        </p:txBody>
      </p:sp>
      <p:sp>
        <p:nvSpPr>
          <p:cNvPr id="9" name="Rectangle 8"/>
          <p:cNvSpPr/>
          <p:nvPr/>
        </p:nvSpPr>
        <p:spPr>
          <a:xfrm>
            <a:off x="2834640"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1737360"/>
            <a:ext cx="1097280" cy="457200"/>
          </a:xfrm>
          <a:prstGeom prst="rect">
            <a:avLst/>
          </a:prstGeom>
          <a:noFill/>
        </p:spPr>
        <p:txBody>
          <a:bodyPr wrap="square" anchor="ctr" lIns="0" rIns="0" tIns="0" bIns="0">
            <a:spAutoFit/>
          </a:bodyPr>
          <a:lstStyle/>
          <a:p>
            <a:pPr algn="ctr"/>
            <a:r>
              <a:rPr sz="1300" b="1">
                <a:solidFill>
                  <a:srgbClr val="3A5C9E"/>
                </a:solidFill>
              </a:rPr>
              <a:t>4%</a:t>
            </a:r>
          </a:p>
        </p:txBody>
      </p:sp>
      <p:sp>
        <p:nvSpPr>
          <p:cNvPr id="11" name="Rectangle 10"/>
          <p:cNvSpPr/>
          <p:nvPr/>
        </p:nvSpPr>
        <p:spPr>
          <a:xfrm>
            <a:off x="4315968"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73936"/>
            <a:ext cx="1371600" cy="457200"/>
          </a:xfrm>
          <a:prstGeom prst="rect">
            <a:avLst/>
          </a:prstGeom>
          <a:noFill/>
        </p:spPr>
        <p:txBody>
          <a:bodyPr wrap="square" anchor="t" lIns="0" rIns="0" tIns="0" bIns="0">
            <a:spAutoFit/>
          </a:bodyPr>
          <a:lstStyle/>
          <a:p>
            <a:pPr algn="l"/>
            <a:r>
              <a:rPr sz="2600" b="1">
                <a:solidFill>
                  <a:srgbClr val="0F2145"/>
                </a:solidFill>
                <a:latin typeface="Georgia"/>
              </a:rPr>
              <a:t>LGD</a:t>
            </a:r>
          </a:p>
        </p:txBody>
      </p:sp>
      <p:sp>
        <p:nvSpPr>
          <p:cNvPr id="13" name="TextBox 12"/>
          <p:cNvSpPr txBox="1"/>
          <p:nvPr/>
        </p:nvSpPr>
        <p:spPr>
          <a:xfrm>
            <a:off x="4572000" y="2286000"/>
            <a:ext cx="3108960" cy="274320"/>
          </a:xfrm>
          <a:prstGeom prst="rect">
            <a:avLst/>
          </a:prstGeom>
          <a:noFill/>
        </p:spPr>
        <p:txBody>
          <a:bodyPr wrap="square" anchor="t" lIns="0" rIns="0" tIns="0" bIns="0">
            <a:spAutoFit/>
          </a:bodyPr>
          <a:lstStyle/>
          <a:p>
            <a:pPr algn="l"/>
            <a:r>
              <a:rPr sz="1000" b="1">
                <a:solidFill>
                  <a:srgbClr val="3A5C9E"/>
                </a:solidFill>
              </a:rPr>
              <a:t>Loss Given Default</a:t>
            </a:r>
          </a:p>
        </p:txBody>
      </p:sp>
      <p:sp>
        <p:nvSpPr>
          <p:cNvPr id="14" name="TextBox 13"/>
          <p:cNvSpPr txBox="1"/>
          <p:nvPr/>
        </p:nvSpPr>
        <p:spPr>
          <a:xfrm>
            <a:off x="4572000" y="2596896"/>
            <a:ext cx="3108960" cy="548640"/>
          </a:xfrm>
          <a:prstGeom prst="rect">
            <a:avLst/>
          </a:prstGeom>
          <a:noFill/>
        </p:spPr>
        <p:txBody>
          <a:bodyPr wrap="square" anchor="t" lIns="0" rIns="0" tIns="0" bIns="0">
            <a:spAutoFit/>
          </a:bodyPr>
          <a:lstStyle/>
          <a:p>
            <a:pPr algn="l"/>
            <a:r>
              <a:rPr sz="1050" b="0">
                <a:solidFill>
                  <a:srgbClr val="1B2A41"/>
                </a:solidFill>
              </a:rPr>
              <a:t>If they do stop, how much of the money do we never get back?</a:t>
            </a:r>
          </a:p>
        </p:txBody>
      </p:sp>
      <p:sp>
        <p:nvSpPr>
          <p:cNvPr id="15" name="Rectangle 14"/>
          <p:cNvSpPr/>
          <p:nvPr/>
        </p:nvSpPr>
        <p:spPr>
          <a:xfrm>
            <a:off x="6601968"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1968" y="1737360"/>
            <a:ext cx="1097280" cy="457200"/>
          </a:xfrm>
          <a:prstGeom prst="rect">
            <a:avLst/>
          </a:prstGeom>
          <a:noFill/>
        </p:spPr>
        <p:txBody>
          <a:bodyPr wrap="square" anchor="ctr" lIns="0" rIns="0" tIns="0" bIns="0">
            <a:spAutoFit/>
          </a:bodyPr>
          <a:lstStyle/>
          <a:p>
            <a:pPr algn="ctr"/>
            <a:r>
              <a:rPr sz="1300" b="1">
                <a:solidFill>
                  <a:srgbClr val="3A5C9E"/>
                </a:solidFill>
              </a:rPr>
              <a:t>45%</a:t>
            </a:r>
          </a:p>
        </p:txBody>
      </p:sp>
      <p:sp>
        <p:nvSpPr>
          <p:cNvPr id="17" name="Rectangle 16"/>
          <p:cNvSpPr/>
          <p:nvPr/>
        </p:nvSpPr>
        <p:spPr>
          <a:xfrm>
            <a:off x="8083296"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773936"/>
            <a:ext cx="1371600" cy="457200"/>
          </a:xfrm>
          <a:prstGeom prst="rect">
            <a:avLst/>
          </a:prstGeom>
          <a:noFill/>
        </p:spPr>
        <p:txBody>
          <a:bodyPr wrap="square" anchor="t" lIns="0" rIns="0" tIns="0" bIns="0">
            <a:spAutoFit/>
          </a:bodyPr>
          <a:lstStyle/>
          <a:p>
            <a:pPr algn="l"/>
            <a:r>
              <a:rPr sz="2600" b="1">
                <a:solidFill>
                  <a:srgbClr val="0F2145"/>
                </a:solidFill>
                <a:latin typeface="Georgia"/>
              </a:rPr>
              <a:t>EAD</a:t>
            </a:r>
          </a:p>
        </p:txBody>
      </p:sp>
      <p:sp>
        <p:nvSpPr>
          <p:cNvPr id="19" name="TextBox 18"/>
          <p:cNvSpPr txBox="1"/>
          <p:nvPr/>
        </p:nvSpPr>
        <p:spPr>
          <a:xfrm>
            <a:off x="8339327" y="2286000"/>
            <a:ext cx="3108960" cy="274320"/>
          </a:xfrm>
          <a:prstGeom prst="rect">
            <a:avLst/>
          </a:prstGeom>
          <a:noFill/>
        </p:spPr>
        <p:txBody>
          <a:bodyPr wrap="square" anchor="t" lIns="0" rIns="0" tIns="0" bIns="0">
            <a:spAutoFit/>
          </a:bodyPr>
          <a:lstStyle/>
          <a:p>
            <a:pPr algn="l"/>
            <a:r>
              <a:rPr sz="1000" b="1">
                <a:solidFill>
                  <a:srgbClr val="3A5C9E"/>
                </a:solidFill>
              </a:rPr>
              <a:t>Exposure at Default</a:t>
            </a:r>
          </a:p>
        </p:txBody>
      </p:sp>
      <p:sp>
        <p:nvSpPr>
          <p:cNvPr id="20" name="TextBox 19"/>
          <p:cNvSpPr txBox="1"/>
          <p:nvPr/>
        </p:nvSpPr>
        <p:spPr>
          <a:xfrm>
            <a:off x="8339327" y="2596896"/>
            <a:ext cx="3108960" cy="548640"/>
          </a:xfrm>
          <a:prstGeom prst="rect">
            <a:avLst/>
          </a:prstGeom>
          <a:noFill/>
        </p:spPr>
        <p:txBody>
          <a:bodyPr wrap="square" anchor="t" lIns="0" rIns="0" tIns="0" bIns="0">
            <a:spAutoFit/>
          </a:bodyPr>
          <a:lstStyle/>
          <a:p>
            <a:pPr algn="l"/>
            <a:r>
              <a:rPr sz="1050" b="0">
                <a:solidFill>
                  <a:srgbClr val="1B2A41"/>
                </a:solidFill>
              </a:rPr>
              <a:t>How much will actually be outstanding on the day they stop?</a:t>
            </a:r>
          </a:p>
        </p:txBody>
      </p:sp>
      <p:sp>
        <p:nvSpPr>
          <p:cNvPr id="21" name="Rectangle 20"/>
          <p:cNvSpPr/>
          <p:nvPr/>
        </p:nvSpPr>
        <p:spPr>
          <a:xfrm>
            <a:off x="10369296"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69296" y="1737360"/>
            <a:ext cx="1097280" cy="457200"/>
          </a:xfrm>
          <a:prstGeom prst="rect">
            <a:avLst/>
          </a:prstGeom>
          <a:noFill/>
        </p:spPr>
        <p:txBody>
          <a:bodyPr wrap="square" anchor="ctr" lIns="0" rIns="0" tIns="0" bIns="0">
            <a:spAutoFit/>
          </a:bodyPr>
          <a:lstStyle/>
          <a:p>
            <a:pPr algn="ctr"/>
            <a:r>
              <a:rPr sz="1300" b="1">
                <a:solidFill>
                  <a:srgbClr val="3A5C9E"/>
                </a:solidFill>
              </a:rPr>
              <a:t>₹8,00,000</a:t>
            </a:r>
          </a:p>
        </p:txBody>
      </p:sp>
      <p:sp>
        <p:nvSpPr>
          <p:cNvPr id="23" name="Rectangle 22"/>
          <p:cNvSpPr/>
          <p:nvPr/>
        </p:nvSpPr>
        <p:spPr>
          <a:xfrm>
            <a:off x="548640" y="3584448"/>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584448"/>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584448"/>
            <a:ext cx="10515600" cy="786384"/>
          </a:xfrm>
          <a:prstGeom prst="rect">
            <a:avLst/>
          </a:prstGeom>
          <a:noFill/>
        </p:spPr>
        <p:txBody>
          <a:bodyPr wrap="square" anchor="ctr" lIns="0" rIns="0" tIns="0" bIns="0">
            <a:spAutoFit/>
          </a:bodyPr>
          <a:lstStyle/>
          <a:p>
            <a:pPr algn="l"/>
            <a:r>
              <a:rPr sz="1700" b="1">
                <a:solidFill>
                  <a:srgbClr val="C9A227"/>
                </a:solidFill>
                <a:latin typeface="Georgia"/>
              </a:rPr>
              <a:t>EXPECTED LOSS  =  PD  ×  LGD  ×  EAD      </a:t>
            </a:r>
            <a:r>
              <a:rPr sz="1700" b="1">
                <a:solidFill>
                  <a:srgbClr val="FFFFFF"/>
                </a:solidFill>
                <a:latin typeface="Georgia"/>
              </a:rPr>
              <a:t>4%  ×  45%  ×  ₹8,00,000  =  ₹14,400 per loan</a:t>
            </a:r>
          </a:p>
        </p:txBody>
      </p:sp>
      <p:sp>
        <p:nvSpPr>
          <p:cNvPr id="26" name="TextBox 25"/>
          <p:cNvSpPr txBox="1"/>
          <p:nvPr/>
        </p:nvSpPr>
        <p:spPr>
          <a:xfrm>
            <a:off x="548640" y="4572000"/>
            <a:ext cx="5486400" cy="1097280"/>
          </a:xfrm>
          <a:prstGeom prst="rect">
            <a:avLst/>
          </a:prstGeom>
          <a:noFill/>
        </p:spPr>
        <p:txBody>
          <a:bodyPr wrap="square" anchor="t" lIns="0" rIns="0" tIns="0" bIns="0">
            <a:spAutoFit/>
          </a:bodyPr>
          <a:lstStyle/>
          <a:p>
            <a:pPr algn="l"/>
            <a:r>
              <a:rPr sz="1500" b="1">
                <a:solidFill>
                  <a:srgbClr val="0F2145"/>
                </a:solidFill>
                <a:latin typeface="Georgia"/>
              </a:rPr>
              <a:t>Say it in words</a:t>
            </a:r>
          </a:p>
          <a:p>
            <a:pPr algn="l">
              <a:spcBef>
                <a:spcPts val="600"/>
              </a:spcBef>
            </a:pPr>
            <a:r>
              <a:rPr sz="1150" b="0">
                <a:solidFill>
                  <a:srgbClr val="1B2A41"/>
                </a:solidFill>
              </a:rPr>
              <a:t>Out of a hundred loans like this one, four go bad. When one goes bad we lose 45 paise in the rupee on the ₹8 lakh still outstanding. So we price ₹14,400 into every loan, whether it goes bad or not.</a:t>
            </a:r>
          </a:p>
        </p:txBody>
      </p:sp>
      <p:sp>
        <p:nvSpPr>
          <p:cNvPr id="27" name="TextBox 26"/>
          <p:cNvSpPr txBox="1"/>
          <p:nvPr/>
        </p:nvSpPr>
        <p:spPr>
          <a:xfrm>
            <a:off x="6309360" y="4572000"/>
            <a:ext cx="5330952" cy="1097280"/>
          </a:xfrm>
          <a:prstGeom prst="rect">
            <a:avLst/>
          </a:prstGeom>
          <a:noFill/>
        </p:spPr>
        <p:txBody>
          <a:bodyPr wrap="square" anchor="t" lIns="0" rIns="0" tIns="0" bIns="0">
            <a:spAutoFit/>
          </a:bodyPr>
          <a:lstStyle/>
          <a:p>
            <a:pPr algn="l"/>
            <a:r>
              <a:rPr sz="1500" b="1">
                <a:solidFill>
                  <a:srgbClr val="0F2145"/>
                </a:solidFill>
                <a:latin typeface="Georgia"/>
              </a:rPr>
              <a:t>The part students miss</a:t>
            </a:r>
          </a:p>
          <a:p>
            <a:pPr algn="l">
              <a:spcBef>
                <a:spcPts val="600"/>
              </a:spcBef>
            </a:pPr>
            <a:r>
              <a:rPr sz="1150" b="0">
                <a:solidFill>
                  <a:srgbClr val="1B2A41"/>
                </a:solidFill>
              </a:rPr>
              <a:t>Expected loss is a cost, not a surprise. It is budgeted and priced in. Capital is held for the UNEXPECTED loss, which is the year four loans becomes eleven.</a:t>
            </a:r>
          </a:p>
        </p:txBody>
      </p:sp>
      <p:sp>
        <p:nvSpPr>
          <p:cNvPr id="28" name="Rectangle 2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Basel II, in one sentence:  </a:t>
            </a:r>
            <a:r>
              <a:rPr sz="1200" b="0">
                <a:solidFill>
                  <a:srgbClr val="FFFFFF"/>
                </a:solidFill>
              </a:rPr>
              <a:t>a bank that can prove its own PD, LGD and EAD models work is allowed to use them to set its own capital.</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BASEL II</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Who is allowed to use their own model?</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Every bank must hold capital against its loans. Basel II gave banks two ways to work out how much.</a:t>
            </a:r>
          </a:p>
        </p:txBody>
      </p:sp>
      <p:sp>
        <p:nvSpPr>
          <p:cNvPr id="6" name="Rectangle 5"/>
          <p:cNvSpPr/>
          <p:nvPr/>
        </p:nvSpPr>
        <p:spPr>
          <a:xfrm>
            <a:off x="548640" y="1828800"/>
            <a:ext cx="548640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11680"/>
            <a:ext cx="4937760" cy="274320"/>
          </a:xfrm>
          <a:prstGeom prst="rect">
            <a:avLst/>
          </a:prstGeom>
          <a:noFill/>
        </p:spPr>
        <p:txBody>
          <a:bodyPr wrap="square" anchor="t" lIns="0" rIns="0" tIns="0" bIns="0">
            <a:spAutoFit/>
          </a:bodyPr>
          <a:lstStyle/>
          <a:p>
            <a:pPr algn="l"/>
            <a:r>
              <a:rPr sz="950" b="1">
                <a:solidFill>
                  <a:srgbClr val="3A5C9E"/>
                </a:solidFill>
              </a:rPr>
              <a:t>THE STANDARDISED APPROACH</a:t>
            </a:r>
          </a:p>
        </p:txBody>
      </p:sp>
      <p:sp>
        <p:nvSpPr>
          <p:cNvPr id="8" name="TextBox 7"/>
          <p:cNvSpPr txBox="1"/>
          <p:nvPr/>
        </p:nvSpPr>
        <p:spPr>
          <a:xfrm>
            <a:off x="804672" y="2322576"/>
            <a:ext cx="4937760" cy="329184"/>
          </a:xfrm>
          <a:prstGeom prst="rect">
            <a:avLst/>
          </a:prstGeom>
          <a:noFill/>
        </p:spPr>
        <p:txBody>
          <a:bodyPr wrap="square" anchor="t" lIns="0" rIns="0" tIns="0" bIns="0">
            <a:spAutoFit/>
          </a:bodyPr>
          <a:lstStyle/>
          <a:p>
            <a:pPr algn="l"/>
            <a:r>
              <a:rPr sz="1500" b="1">
                <a:solidFill>
                  <a:srgbClr val="0F2145"/>
                </a:solidFill>
                <a:latin typeface="Georgia"/>
              </a:rPr>
              <a:t>The regulator gives you the numbers.</a:t>
            </a:r>
          </a:p>
        </p:txBody>
      </p:sp>
      <p:sp>
        <p:nvSpPr>
          <p:cNvPr id="9" name="TextBox 8"/>
          <p:cNvSpPr txBox="1"/>
          <p:nvPr/>
        </p:nvSpPr>
        <p:spPr>
          <a:xfrm>
            <a:off x="804672" y="274320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A loan gets a risk weight from a published table.</a:t>
            </a:r>
          </a:p>
        </p:txBody>
      </p:sp>
      <p:sp>
        <p:nvSpPr>
          <p:cNvPr id="10" name="TextBox 9"/>
          <p:cNvSpPr txBox="1"/>
          <p:nvPr/>
        </p:nvSpPr>
        <p:spPr>
          <a:xfrm>
            <a:off x="804672" y="310896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The weight comes off the borrower's external rating.</a:t>
            </a:r>
          </a:p>
        </p:txBody>
      </p:sp>
      <p:sp>
        <p:nvSpPr>
          <p:cNvPr id="11" name="TextBox 10"/>
          <p:cNvSpPr txBox="1"/>
          <p:nvPr/>
        </p:nvSpPr>
        <p:spPr>
          <a:xfrm>
            <a:off x="804672" y="347472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The bank models nothing and estimates nothing.</a:t>
            </a:r>
          </a:p>
        </p:txBody>
      </p:sp>
      <p:sp>
        <p:nvSpPr>
          <p:cNvPr id="12" name="TextBox 11"/>
          <p:cNvSpPr txBox="1"/>
          <p:nvPr/>
        </p:nvSpPr>
        <p:spPr>
          <a:xfrm>
            <a:off x="804672" y="384048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Simple to run, and it usually demands more capital.</a:t>
            </a:r>
          </a:p>
        </p:txBody>
      </p:sp>
      <p:sp>
        <p:nvSpPr>
          <p:cNvPr id="13" name="Rectangle 12"/>
          <p:cNvSpPr/>
          <p:nvPr/>
        </p:nvSpPr>
        <p:spPr>
          <a:xfrm>
            <a:off x="6153912" y="1828800"/>
            <a:ext cx="5486400" cy="237744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011680"/>
            <a:ext cx="4937760" cy="274320"/>
          </a:xfrm>
          <a:prstGeom prst="rect">
            <a:avLst/>
          </a:prstGeom>
          <a:noFill/>
        </p:spPr>
        <p:txBody>
          <a:bodyPr wrap="square" anchor="t" lIns="0" rIns="0" tIns="0" bIns="0">
            <a:spAutoFit/>
          </a:bodyPr>
          <a:lstStyle/>
          <a:p>
            <a:pPr algn="l"/>
            <a:r>
              <a:rPr sz="950" b="1">
                <a:solidFill>
                  <a:srgbClr val="C9A227"/>
                </a:solidFill>
              </a:rPr>
              <a:t>THE IRB APPROACH</a:t>
            </a:r>
          </a:p>
        </p:txBody>
      </p:sp>
      <p:sp>
        <p:nvSpPr>
          <p:cNvPr id="15" name="TextBox 14"/>
          <p:cNvSpPr txBox="1"/>
          <p:nvPr/>
        </p:nvSpPr>
        <p:spPr>
          <a:xfrm>
            <a:off x="6409944" y="2322576"/>
            <a:ext cx="4937760" cy="329184"/>
          </a:xfrm>
          <a:prstGeom prst="rect">
            <a:avLst/>
          </a:prstGeom>
          <a:noFill/>
        </p:spPr>
        <p:txBody>
          <a:bodyPr wrap="square" anchor="t" lIns="0" rIns="0" tIns="0" bIns="0">
            <a:spAutoFit/>
          </a:bodyPr>
          <a:lstStyle/>
          <a:p>
            <a:pPr algn="l"/>
            <a:r>
              <a:rPr sz="1500" b="1">
                <a:solidFill>
                  <a:srgbClr val="FFFFFF"/>
                </a:solidFill>
                <a:latin typeface="Georgia"/>
              </a:rPr>
              <a:t>The bank estimates its own numbers.</a:t>
            </a:r>
          </a:p>
        </p:txBody>
      </p:sp>
      <p:sp>
        <p:nvSpPr>
          <p:cNvPr id="16" name="TextBox 15"/>
          <p:cNvSpPr txBox="1"/>
          <p:nvPr/>
        </p:nvSpPr>
        <p:spPr>
          <a:xfrm>
            <a:off x="6409944" y="274320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Foundation IRB: the bank estimates PD. The regulator still sets LGD and EAD.</a:t>
            </a:r>
          </a:p>
        </p:txBody>
      </p:sp>
      <p:sp>
        <p:nvSpPr>
          <p:cNvPr id="17" name="TextBox 16"/>
          <p:cNvSpPr txBox="1"/>
          <p:nvPr/>
        </p:nvSpPr>
        <p:spPr>
          <a:xfrm>
            <a:off x="6409944" y="310896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Advanced IRB: the bank estimates PD, LGD and EAD itself.</a:t>
            </a:r>
          </a:p>
        </p:txBody>
      </p:sp>
      <p:sp>
        <p:nvSpPr>
          <p:cNvPr id="18" name="TextBox 17"/>
          <p:cNvSpPr txBox="1"/>
          <p:nvPr/>
        </p:nvSpPr>
        <p:spPr>
          <a:xfrm>
            <a:off x="6409944" y="347472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This is where every model in this module actually gets used.</a:t>
            </a:r>
          </a:p>
        </p:txBody>
      </p:sp>
      <p:sp>
        <p:nvSpPr>
          <p:cNvPr id="19" name="TextBox 18"/>
          <p:cNvSpPr txBox="1"/>
          <p:nvPr/>
        </p:nvSpPr>
        <p:spPr>
          <a:xfrm>
            <a:off x="6409944" y="3840480"/>
            <a:ext cx="4937760" cy="34747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Permission is granted by the supervisor, and it can be taken away.</a:t>
            </a:r>
          </a:p>
        </p:txBody>
      </p:sp>
      <p:sp>
        <p:nvSpPr>
          <p:cNvPr id="20" name="Rectangle 19"/>
          <p:cNvSpPr/>
          <p:nvPr/>
        </p:nvSpPr>
        <p:spPr>
          <a:xfrm>
            <a:off x="548640" y="4370832"/>
            <a:ext cx="11091672" cy="10607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70832"/>
            <a:ext cx="64008" cy="10607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17136"/>
            <a:ext cx="10515600" cy="822960"/>
          </a:xfrm>
          <a:prstGeom prst="rect">
            <a:avLst/>
          </a:prstGeom>
          <a:noFill/>
        </p:spPr>
        <p:txBody>
          <a:bodyPr wrap="square" anchor="t" lIns="0" rIns="0" tIns="0" bIns="0">
            <a:spAutoFit/>
          </a:bodyPr>
          <a:lstStyle/>
          <a:p>
            <a:pPr algn="l"/>
            <a:r>
              <a:rPr sz="950" b="1">
                <a:solidFill>
                  <a:srgbClr val="3A5C9E"/>
                </a:solidFill>
              </a:rPr>
              <a:t>WHY A BANK WANTS ITS OWN MODEL, IN ONE SUM</a:t>
            </a:r>
          </a:p>
          <a:p>
            <a:pPr algn="l">
              <a:spcBef>
                <a:spcPts val="400"/>
              </a:spcBef>
            </a:pPr>
            <a:r>
              <a:rPr sz="1100" b="0">
                <a:solidFill>
                  <a:srgbClr val="1B2A41"/>
                </a:solidFill>
              </a:rPr>
              <a:t>Take a ₹100 crore corporate book. On the standardised weight of 100% the bank holds 8% of ₹100 crore, which is ₹8 crore. Suppose its own model justifies an effective weight of 60%. Now it holds 8% of ₹60 crore, which is ₹4.8 crore. The same book has freed ₹3.2 crore of capital to lend again.</a:t>
            </a:r>
          </a:p>
        </p:txBody>
      </p:sp>
      <p:sp>
        <p:nvSpPr>
          <p:cNvPr id="23" name="Rectangle 2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Basel II is a bargain, not a gift:  </a:t>
            </a:r>
            <a:r>
              <a:rPr sz="1200" b="0">
                <a:solidFill>
                  <a:srgbClr val="FFFFFF"/>
                </a:solidFill>
              </a:rPr>
              <a:t>prove your model works and you may set your own capital. Fail to prove it and you go back to the regulator's table.</a:t>
            </a:r>
          </a:p>
        </p:txBody>
      </p:sp>
      <p:sp>
        <p:nvSpPr>
          <p:cNvPr id="26" name="TextBox 2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27" name="TextBox 2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BUILDING THE MODEL</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From five ratios to one probability</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Here is one borrower. These are numbers you already know how to compute from a balance sheet.</a:t>
            </a:r>
          </a:p>
        </p:txBody>
      </p:sp>
      <p:sp>
        <p:nvSpPr>
          <p:cNvPr id="6" name="Rectangle 5"/>
          <p:cNvSpPr/>
          <p:nvPr/>
        </p:nvSpPr>
        <p:spPr>
          <a:xfrm>
            <a:off x="54864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920240"/>
            <a:ext cx="1783080" cy="274320"/>
          </a:xfrm>
          <a:prstGeom prst="rect">
            <a:avLst/>
          </a:prstGeom>
          <a:noFill/>
        </p:spPr>
        <p:txBody>
          <a:bodyPr wrap="square" anchor="t" lIns="0" rIns="0" tIns="0" bIns="0">
            <a:spAutoFit/>
          </a:bodyPr>
          <a:lstStyle/>
          <a:p>
            <a:pPr algn="l"/>
            <a:r>
              <a:rPr sz="900" b="1">
                <a:solidFill>
                  <a:srgbClr val="3A5C9E"/>
                </a:solidFill>
              </a:rPr>
              <a:t>Current ratio</a:t>
            </a:r>
          </a:p>
        </p:txBody>
      </p:sp>
      <p:sp>
        <p:nvSpPr>
          <p:cNvPr id="8" name="TextBox 7"/>
          <p:cNvSpPr txBox="1"/>
          <p:nvPr/>
        </p:nvSpPr>
        <p:spPr>
          <a:xfrm>
            <a:off x="713232" y="2194560"/>
            <a:ext cx="1783080" cy="347472"/>
          </a:xfrm>
          <a:prstGeom prst="rect">
            <a:avLst/>
          </a:prstGeom>
          <a:noFill/>
        </p:spPr>
        <p:txBody>
          <a:bodyPr wrap="square" anchor="t" lIns="0" rIns="0" tIns="0" bIns="0">
            <a:spAutoFit/>
          </a:bodyPr>
          <a:lstStyle/>
          <a:p>
            <a:pPr algn="l"/>
            <a:r>
              <a:rPr sz="1700" b="1">
                <a:solidFill>
                  <a:srgbClr val="0F2145"/>
                </a:solidFill>
                <a:latin typeface="Georgia"/>
              </a:rPr>
              <a:t>1.4</a:t>
            </a:r>
          </a:p>
        </p:txBody>
      </p:sp>
      <p:sp>
        <p:nvSpPr>
          <p:cNvPr id="9" name="Rectangle 8"/>
          <p:cNvSpPr/>
          <p:nvPr/>
        </p:nvSpPr>
        <p:spPr>
          <a:xfrm>
            <a:off x="278892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3512" y="1920240"/>
            <a:ext cx="1783080" cy="274320"/>
          </a:xfrm>
          <a:prstGeom prst="rect">
            <a:avLst/>
          </a:prstGeom>
          <a:noFill/>
        </p:spPr>
        <p:txBody>
          <a:bodyPr wrap="square" anchor="t" lIns="0" rIns="0" tIns="0" bIns="0">
            <a:spAutoFit/>
          </a:bodyPr>
          <a:lstStyle/>
          <a:p>
            <a:pPr algn="l"/>
            <a:r>
              <a:rPr sz="900" b="1">
                <a:solidFill>
                  <a:srgbClr val="3A5C9E"/>
                </a:solidFill>
              </a:rPr>
              <a:t>Debt to equity</a:t>
            </a:r>
          </a:p>
        </p:txBody>
      </p:sp>
      <p:sp>
        <p:nvSpPr>
          <p:cNvPr id="11" name="TextBox 10"/>
          <p:cNvSpPr txBox="1"/>
          <p:nvPr/>
        </p:nvSpPr>
        <p:spPr>
          <a:xfrm>
            <a:off x="2953512" y="2194560"/>
            <a:ext cx="1783080" cy="347472"/>
          </a:xfrm>
          <a:prstGeom prst="rect">
            <a:avLst/>
          </a:prstGeom>
          <a:noFill/>
        </p:spPr>
        <p:txBody>
          <a:bodyPr wrap="square" anchor="t" lIns="0" rIns="0" tIns="0" bIns="0">
            <a:spAutoFit/>
          </a:bodyPr>
          <a:lstStyle/>
          <a:p>
            <a:pPr algn="l"/>
            <a:r>
              <a:rPr sz="1700" b="1">
                <a:solidFill>
                  <a:srgbClr val="0F2145"/>
                </a:solidFill>
                <a:latin typeface="Georgia"/>
              </a:rPr>
              <a:t>2.1</a:t>
            </a:r>
          </a:p>
        </p:txBody>
      </p:sp>
      <p:sp>
        <p:nvSpPr>
          <p:cNvPr id="12" name="Rectangle 11"/>
          <p:cNvSpPr/>
          <p:nvPr/>
        </p:nvSpPr>
        <p:spPr>
          <a:xfrm>
            <a:off x="502920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920240"/>
            <a:ext cx="1783080" cy="274320"/>
          </a:xfrm>
          <a:prstGeom prst="rect">
            <a:avLst/>
          </a:prstGeom>
          <a:noFill/>
        </p:spPr>
        <p:txBody>
          <a:bodyPr wrap="square" anchor="t" lIns="0" rIns="0" tIns="0" bIns="0">
            <a:spAutoFit/>
          </a:bodyPr>
          <a:lstStyle/>
          <a:p>
            <a:pPr algn="l"/>
            <a:r>
              <a:rPr sz="900" b="1">
                <a:solidFill>
                  <a:srgbClr val="3A5C9E"/>
                </a:solidFill>
              </a:rPr>
              <a:t>Interest cover</a:t>
            </a:r>
          </a:p>
        </p:txBody>
      </p:sp>
      <p:sp>
        <p:nvSpPr>
          <p:cNvPr id="14" name="TextBox 13"/>
          <p:cNvSpPr txBox="1"/>
          <p:nvPr/>
        </p:nvSpPr>
        <p:spPr>
          <a:xfrm>
            <a:off x="5193792" y="2194560"/>
            <a:ext cx="1783080" cy="347472"/>
          </a:xfrm>
          <a:prstGeom prst="rect">
            <a:avLst/>
          </a:prstGeom>
          <a:noFill/>
        </p:spPr>
        <p:txBody>
          <a:bodyPr wrap="square" anchor="t" lIns="0" rIns="0" tIns="0" bIns="0">
            <a:spAutoFit/>
          </a:bodyPr>
          <a:lstStyle/>
          <a:p>
            <a:pPr algn="l"/>
            <a:r>
              <a:rPr sz="1700" b="1">
                <a:solidFill>
                  <a:srgbClr val="0F2145"/>
                </a:solidFill>
                <a:latin typeface="Georgia"/>
              </a:rPr>
              <a:t>2.3</a:t>
            </a:r>
          </a:p>
        </p:txBody>
      </p:sp>
      <p:sp>
        <p:nvSpPr>
          <p:cNvPr id="15" name="Rectangle 14"/>
          <p:cNvSpPr/>
          <p:nvPr/>
        </p:nvSpPr>
        <p:spPr>
          <a:xfrm>
            <a:off x="726948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34072" y="1920240"/>
            <a:ext cx="1783080" cy="274320"/>
          </a:xfrm>
          <a:prstGeom prst="rect">
            <a:avLst/>
          </a:prstGeom>
          <a:noFill/>
        </p:spPr>
        <p:txBody>
          <a:bodyPr wrap="square" anchor="t" lIns="0" rIns="0" tIns="0" bIns="0">
            <a:spAutoFit/>
          </a:bodyPr>
          <a:lstStyle/>
          <a:p>
            <a:pPr algn="l"/>
            <a:r>
              <a:rPr sz="900" b="1">
                <a:solidFill>
                  <a:srgbClr val="3A5C9E"/>
                </a:solidFill>
              </a:rPr>
              <a:t>Sales growth</a:t>
            </a:r>
          </a:p>
        </p:txBody>
      </p:sp>
      <p:sp>
        <p:nvSpPr>
          <p:cNvPr id="17" name="TextBox 16"/>
          <p:cNvSpPr txBox="1"/>
          <p:nvPr/>
        </p:nvSpPr>
        <p:spPr>
          <a:xfrm>
            <a:off x="7434072" y="2194560"/>
            <a:ext cx="1783080" cy="347472"/>
          </a:xfrm>
          <a:prstGeom prst="rect">
            <a:avLst/>
          </a:prstGeom>
          <a:noFill/>
        </p:spPr>
        <p:txBody>
          <a:bodyPr wrap="square" anchor="t" lIns="0" rIns="0" tIns="0" bIns="0">
            <a:spAutoFit/>
          </a:bodyPr>
          <a:lstStyle/>
          <a:p>
            <a:pPr algn="l"/>
            <a:r>
              <a:rPr sz="1700" b="1">
                <a:solidFill>
                  <a:srgbClr val="0F2145"/>
                </a:solidFill>
                <a:latin typeface="Georgia"/>
              </a:rPr>
              <a:t>−4%</a:t>
            </a:r>
          </a:p>
        </p:txBody>
      </p:sp>
      <p:sp>
        <p:nvSpPr>
          <p:cNvPr id="18" name="Rectangle 17"/>
          <p:cNvSpPr/>
          <p:nvPr/>
        </p:nvSpPr>
        <p:spPr>
          <a:xfrm>
            <a:off x="950976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4352" y="1920240"/>
            <a:ext cx="1783080" cy="274320"/>
          </a:xfrm>
          <a:prstGeom prst="rect">
            <a:avLst/>
          </a:prstGeom>
          <a:noFill/>
        </p:spPr>
        <p:txBody>
          <a:bodyPr wrap="square" anchor="t" lIns="0" rIns="0" tIns="0" bIns="0">
            <a:spAutoFit/>
          </a:bodyPr>
          <a:lstStyle/>
          <a:p>
            <a:pPr algn="l"/>
            <a:r>
              <a:rPr sz="900" b="1">
                <a:solidFill>
                  <a:srgbClr val="3A5C9E"/>
                </a:solidFill>
              </a:rPr>
              <a:t>Times paid late</a:t>
            </a:r>
          </a:p>
        </p:txBody>
      </p:sp>
      <p:sp>
        <p:nvSpPr>
          <p:cNvPr id="20" name="TextBox 19"/>
          <p:cNvSpPr txBox="1"/>
          <p:nvPr/>
        </p:nvSpPr>
        <p:spPr>
          <a:xfrm>
            <a:off x="9674352" y="2194560"/>
            <a:ext cx="1783080" cy="347472"/>
          </a:xfrm>
          <a:prstGeom prst="rect">
            <a:avLst/>
          </a:prstGeom>
          <a:noFill/>
        </p:spPr>
        <p:txBody>
          <a:bodyPr wrap="square" anchor="t" lIns="0" rIns="0" tIns="0" bIns="0">
            <a:spAutoFit/>
          </a:bodyPr>
          <a:lstStyle/>
          <a:p>
            <a:pPr algn="l"/>
            <a:r>
              <a:rPr sz="1700" b="1">
                <a:solidFill>
                  <a:srgbClr val="0F2145"/>
                </a:solidFill>
                <a:latin typeface="Georgia"/>
              </a:rPr>
              <a:t>3</a:t>
            </a:r>
          </a:p>
        </p:txBody>
      </p:sp>
      <p:sp>
        <p:nvSpPr>
          <p:cNvPr id="21" name="Rectangle 20"/>
          <p:cNvSpPr/>
          <p:nvPr/>
        </p:nvSpPr>
        <p:spPr>
          <a:xfrm>
            <a:off x="548640" y="2761488"/>
            <a:ext cx="11091672" cy="65836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761488"/>
            <a:ext cx="64008" cy="6583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2761488"/>
            <a:ext cx="10515600" cy="658368"/>
          </a:xfrm>
          <a:prstGeom prst="rect">
            <a:avLst/>
          </a:prstGeom>
          <a:noFill/>
        </p:spPr>
        <p:txBody>
          <a:bodyPr wrap="square" anchor="ctr" lIns="0" rIns="0" tIns="0" bIns="0">
            <a:spAutoFit/>
          </a:bodyPr>
          <a:lstStyle/>
          <a:p>
            <a:pPr algn="l"/>
            <a:r>
              <a:rPr sz="1300" b="1">
                <a:solidFill>
                  <a:srgbClr val="FFFFFF"/>
                </a:solidFill>
                <a:latin typeface="Georgia"/>
              </a:rPr>
              <a:t>SCORE  =  −3.2  +  (0.8 × debt to equity)  −  (0.5 × interest cover)  +  (0.4 × times late)      </a:t>
            </a:r>
            <a:r>
              <a:rPr sz="1400" b="1">
                <a:solidFill>
                  <a:srgbClr val="C9A227"/>
                </a:solidFill>
                <a:latin typeface="Georgia"/>
              </a:rPr>
              <a:t>→  PD = 4%</a:t>
            </a:r>
          </a:p>
        </p:txBody>
      </p:sp>
      <p:sp>
        <p:nvSpPr>
          <p:cNvPr id="24" name="TextBox 23"/>
          <p:cNvSpPr txBox="1"/>
          <p:nvPr/>
        </p:nvSpPr>
        <p:spPr>
          <a:xfrm>
            <a:off x="548640" y="3602736"/>
            <a:ext cx="5486400" cy="1554480"/>
          </a:xfrm>
          <a:prstGeom prst="rect">
            <a:avLst/>
          </a:prstGeom>
          <a:noFill/>
        </p:spPr>
        <p:txBody>
          <a:bodyPr wrap="square" anchor="t" lIns="0" rIns="0" tIns="0" bIns="0">
            <a:spAutoFit/>
          </a:bodyPr>
          <a:lstStyle/>
          <a:p>
            <a:pPr algn="l"/>
            <a:r>
              <a:rPr sz="1500" b="1">
                <a:solidFill>
                  <a:srgbClr val="0F2145"/>
                </a:solidFill>
                <a:latin typeface="Georgia"/>
              </a:rPr>
              <a:t>Say what just happened</a:t>
            </a:r>
          </a:p>
          <a:p>
            <a:pPr algn="l">
              <a:spcBef>
                <a:spcPts val="600"/>
              </a:spcBef>
            </a:pPr>
            <a:r>
              <a:rPr sz="1100" b="0">
                <a:solidFill>
                  <a:srgbClr val="1B2A41"/>
                </a:solidFill>
              </a:rPr>
              <a:t>Every ratio gets a weight. Multiply each ratio by its weight and add them up. That total is the score. A curve then squeezes the score into a number between 0 and 1, and that number is the probability of default. There is nothing else inside a logistic regression.</a:t>
            </a:r>
          </a:p>
        </p:txBody>
      </p:sp>
      <p:sp>
        <p:nvSpPr>
          <p:cNvPr id="25" name="TextBox 24"/>
          <p:cNvSpPr txBox="1"/>
          <p:nvPr/>
        </p:nvSpPr>
        <p:spPr>
          <a:xfrm>
            <a:off x="6309360" y="3602736"/>
            <a:ext cx="5330952" cy="1554480"/>
          </a:xfrm>
          <a:prstGeom prst="rect">
            <a:avLst/>
          </a:prstGeom>
          <a:noFill/>
        </p:spPr>
        <p:txBody>
          <a:bodyPr wrap="square" anchor="t" lIns="0" rIns="0" tIns="0" bIns="0">
            <a:spAutoFit/>
          </a:bodyPr>
          <a:lstStyle/>
          <a:p>
            <a:pPr algn="l"/>
            <a:r>
              <a:rPr sz="1500" b="1">
                <a:solidFill>
                  <a:srgbClr val="0F2145"/>
                </a:solidFill>
                <a:latin typeface="Georgia"/>
              </a:rPr>
              <a:t>Why banks still start here</a:t>
            </a:r>
          </a:p>
          <a:p>
            <a:pPr algn="l">
              <a:spcBef>
                <a:spcPts val="600"/>
              </a:spcBef>
            </a:pPr>
            <a:r>
              <a:rPr sz="1100" b="0">
                <a:solidFill>
                  <a:srgbClr val="1B2A41"/>
                </a:solidFill>
              </a:rPr>
              <a:t>You can print this model on one line. You can point at the weight that hurt this borrower. A supervisor can recompute it by hand. For a regulated lending decision, that matters more than the last two points of accuracy.</a:t>
            </a:r>
          </a:p>
        </p:txBody>
      </p:sp>
      <p:sp>
        <p:nvSpPr>
          <p:cNvPr id="26" name="Rectangle 25"/>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Do it live:  </a:t>
            </a:r>
            <a:r>
              <a:rPr sz="1200" b="0">
                <a:solidFill>
                  <a:srgbClr val="FFFFFF"/>
                </a:solidFill>
              </a:rPr>
              <a:t>change interest cover from 2.3 to 1.1 in front of the class, recompute the score, and watch the PD move.</a:t>
            </a:r>
          </a:p>
        </p:txBody>
      </p:sp>
      <p:sp>
        <p:nvSpPr>
          <p:cNvPr id="29" name="TextBox 28"/>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0" name="TextBox 29"/>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CHOICE EVERY TEAM ARGUES ABOUT</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older model, or the one that predicts better?</a:t>
            </a:r>
          </a:p>
        </p:txBody>
      </p:sp>
      <p:sp>
        <p:nvSpPr>
          <p:cNvPr id="5" name="Rectangle 4"/>
          <p:cNvSpPr/>
          <p:nvPr/>
        </p:nvSpPr>
        <p:spPr>
          <a:xfrm>
            <a:off x="548640" y="1536192"/>
            <a:ext cx="361188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37360"/>
            <a:ext cx="3099816" cy="274320"/>
          </a:xfrm>
          <a:prstGeom prst="rect">
            <a:avLst/>
          </a:prstGeom>
          <a:noFill/>
        </p:spPr>
        <p:txBody>
          <a:bodyPr wrap="square" anchor="t" lIns="0" rIns="0" tIns="0" bIns="0">
            <a:spAutoFit/>
          </a:bodyPr>
          <a:lstStyle/>
          <a:p>
            <a:pPr algn="l"/>
            <a:r>
              <a:rPr sz="950" b="1">
                <a:solidFill>
                  <a:srgbClr val="3A5C9E"/>
                </a:solidFill>
              </a:rPr>
              <a:t>LOGISTIC REGRESSION</a:t>
            </a:r>
          </a:p>
        </p:txBody>
      </p:sp>
      <p:sp>
        <p:nvSpPr>
          <p:cNvPr id="7" name="TextBox 6"/>
          <p:cNvSpPr txBox="1"/>
          <p:nvPr/>
        </p:nvSpPr>
        <p:spPr>
          <a:xfrm>
            <a:off x="804672" y="2048256"/>
            <a:ext cx="3099816" cy="548640"/>
          </a:xfrm>
          <a:prstGeom prst="rect">
            <a:avLst/>
          </a:prstGeom>
          <a:noFill/>
        </p:spPr>
        <p:txBody>
          <a:bodyPr wrap="square" anchor="t" lIns="0" rIns="0" tIns="0" bIns="0">
            <a:spAutoFit/>
          </a:bodyPr>
          <a:lstStyle/>
          <a:p>
            <a:pPr algn="l"/>
            <a:r>
              <a:rPr sz="1500" b="1">
                <a:solidFill>
                  <a:srgbClr val="0F2145"/>
                </a:solidFill>
                <a:latin typeface="Georgia"/>
              </a:rPr>
              <a:t>One weight per ratio, added up.</a:t>
            </a:r>
          </a:p>
        </p:txBody>
      </p:sp>
      <p:sp>
        <p:nvSpPr>
          <p:cNvPr id="8" name="TextBox 7"/>
          <p:cNvSpPr txBox="1"/>
          <p:nvPr/>
        </p:nvSpPr>
        <p:spPr>
          <a:xfrm>
            <a:off x="804672" y="2706624"/>
            <a:ext cx="3099816"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You can print it, explain one decline, and defend it line by line.</a:t>
            </a:r>
          </a:p>
        </p:txBody>
      </p:sp>
      <p:sp>
        <p:nvSpPr>
          <p:cNvPr id="9" name="TextBox 8"/>
          <p:cNvSpPr txBox="1"/>
          <p:nvPr/>
        </p:nvSpPr>
        <p:spPr>
          <a:xfrm>
            <a:off x="804672" y="3493008"/>
            <a:ext cx="3099816"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5D6B7E"/>
                </a:solidFill>
              </a:rPr>
              <a:t>It assumes each ratio pushes in a straight line, which is not always true.</a:t>
            </a:r>
          </a:p>
        </p:txBody>
      </p:sp>
      <p:sp>
        <p:nvSpPr>
          <p:cNvPr id="10" name="Rectangle 9"/>
          <p:cNvSpPr/>
          <p:nvPr/>
        </p:nvSpPr>
        <p:spPr>
          <a:xfrm>
            <a:off x="4315968" y="1536192"/>
            <a:ext cx="361188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99816" cy="274320"/>
          </a:xfrm>
          <a:prstGeom prst="rect">
            <a:avLst/>
          </a:prstGeom>
          <a:noFill/>
        </p:spPr>
        <p:txBody>
          <a:bodyPr wrap="square" anchor="t" lIns="0" rIns="0" tIns="0" bIns="0">
            <a:spAutoFit/>
          </a:bodyPr>
          <a:lstStyle/>
          <a:p>
            <a:pPr algn="l"/>
            <a:r>
              <a:rPr sz="950" b="1">
                <a:solidFill>
                  <a:srgbClr val="3A5C9E"/>
                </a:solidFill>
              </a:rPr>
              <a:t>DECISION TREE</a:t>
            </a:r>
          </a:p>
        </p:txBody>
      </p:sp>
      <p:sp>
        <p:nvSpPr>
          <p:cNvPr id="12" name="TextBox 11"/>
          <p:cNvSpPr txBox="1"/>
          <p:nvPr/>
        </p:nvSpPr>
        <p:spPr>
          <a:xfrm>
            <a:off x="4572000" y="2048256"/>
            <a:ext cx="3099816" cy="548640"/>
          </a:xfrm>
          <a:prstGeom prst="rect">
            <a:avLst/>
          </a:prstGeom>
          <a:noFill/>
        </p:spPr>
        <p:txBody>
          <a:bodyPr wrap="square" anchor="t" lIns="0" rIns="0" tIns="0" bIns="0">
            <a:spAutoFit/>
          </a:bodyPr>
          <a:lstStyle/>
          <a:p>
            <a:pPr algn="l"/>
            <a:r>
              <a:rPr sz="1500" b="1">
                <a:solidFill>
                  <a:srgbClr val="0F2145"/>
                </a:solidFill>
                <a:latin typeface="Georgia"/>
              </a:rPr>
              <a:t>A flowchart of yes and no questions.</a:t>
            </a:r>
          </a:p>
        </p:txBody>
      </p:sp>
      <p:sp>
        <p:nvSpPr>
          <p:cNvPr id="13" name="TextBox 12"/>
          <p:cNvSpPr txBox="1"/>
          <p:nvPr/>
        </p:nvSpPr>
        <p:spPr>
          <a:xfrm>
            <a:off x="4572000" y="2706624"/>
            <a:ext cx="3099816"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Anyone can read it. Interest cover below 1.5? Then debt to equity above 3?</a:t>
            </a:r>
          </a:p>
        </p:txBody>
      </p:sp>
      <p:sp>
        <p:nvSpPr>
          <p:cNvPr id="14" name="TextBox 13"/>
          <p:cNvSpPr txBox="1"/>
          <p:nvPr/>
        </p:nvSpPr>
        <p:spPr>
          <a:xfrm>
            <a:off x="4572000" y="3493008"/>
            <a:ext cx="3099816"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5D6B7E"/>
                </a:solidFill>
              </a:rPr>
              <a:t>Change the data slightly and the tree redraws itself completely.</a:t>
            </a:r>
          </a:p>
        </p:txBody>
      </p:sp>
      <p:sp>
        <p:nvSpPr>
          <p:cNvPr id="15" name="Rectangle 14"/>
          <p:cNvSpPr/>
          <p:nvPr/>
        </p:nvSpPr>
        <p:spPr>
          <a:xfrm>
            <a:off x="8083296" y="1536192"/>
            <a:ext cx="3557016" cy="27432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1737360"/>
            <a:ext cx="3044952" cy="274320"/>
          </a:xfrm>
          <a:prstGeom prst="rect">
            <a:avLst/>
          </a:prstGeom>
          <a:noFill/>
        </p:spPr>
        <p:txBody>
          <a:bodyPr wrap="square" anchor="t" lIns="0" rIns="0" tIns="0" bIns="0">
            <a:spAutoFit/>
          </a:bodyPr>
          <a:lstStyle/>
          <a:p>
            <a:pPr algn="l"/>
            <a:r>
              <a:rPr sz="950" b="1">
                <a:solidFill>
                  <a:srgbClr val="C9A227"/>
                </a:solidFill>
              </a:rPr>
              <a:t>XGBOOST</a:t>
            </a:r>
          </a:p>
        </p:txBody>
      </p:sp>
      <p:sp>
        <p:nvSpPr>
          <p:cNvPr id="17" name="TextBox 16"/>
          <p:cNvSpPr txBox="1"/>
          <p:nvPr/>
        </p:nvSpPr>
        <p:spPr>
          <a:xfrm>
            <a:off x="8339327" y="2048256"/>
            <a:ext cx="3044952" cy="548640"/>
          </a:xfrm>
          <a:prstGeom prst="rect">
            <a:avLst/>
          </a:prstGeom>
          <a:noFill/>
        </p:spPr>
        <p:txBody>
          <a:bodyPr wrap="square" anchor="t" lIns="0" rIns="0" tIns="0" bIns="0">
            <a:spAutoFit/>
          </a:bodyPr>
          <a:lstStyle/>
          <a:p>
            <a:pPr algn="l"/>
            <a:r>
              <a:rPr sz="1500" b="1">
                <a:solidFill>
                  <a:srgbClr val="FFFFFF"/>
                </a:solidFill>
                <a:latin typeface="Georgia"/>
              </a:rPr>
              <a:t>Hundreds of small trees, voting.</a:t>
            </a:r>
          </a:p>
        </p:txBody>
      </p:sp>
      <p:sp>
        <p:nvSpPr>
          <p:cNvPr id="18" name="TextBox 17"/>
          <p:cNvSpPr txBox="1"/>
          <p:nvPr/>
        </p:nvSpPr>
        <p:spPr>
          <a:xfrm>
            <a:off x="8339327" y="2706624"/>
            <a:ext cx="3044952"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Each tree fixes the mistakes of the one before it. Usually the most accurate.</a:t>
            </a:r>
          </a:p>
        </p:txBody>
      </p:sp>
      <p:sp>
        <p:nvSpPr>
          <p:cNvPr id="19" name="TextBox 18"/>
          <p:cNvSpPr txBox="1"/>
          <p:nvPr/>
        </p:nvSpPr>
        <p:spPr>
          <a:xfrm>
            <a:off x="8339327" y="3493008"/>
            <a:ext cx="3044952" cy="67665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There is no single weight to point at, so a decline is hard to explain.</a:t>
            </a:r>
          </a:p>
        </p:txBody>
      </p:sp>
      <p:sp>
        <p:nvSpPr>
          <p:cNvPr id="20" name="Rectangle 19"/>
          <p:cNvSpPr/>
          <p:nvPr/>
        </p:nvSpPr>
        <p:spPr>
          <a:xfrm>
            <a:off x="548640" y="4443984"/>
            <a:ext cx="11091672" cy="10058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443984"/>
            <a:ext cx="64008" cy="100584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72000"/>
            <a:ext cx="10515600" cy="822960"/>
          </a:xfrm>
          <a:prstGeom prst="rect">
            <a:avLst/>
          </a:prstGeom>
          <a:noFill/>
        </p:spPr>
        <p:txBody>
          <a:bodyPr wrap="square" anchor="t" lIns="0" rIns="0" tIns="0" bIns="0">
            <a:spAutoFit/>
          </a:bodyPr>
          <a:lstStyle/>
          <a:p>
            <a:pPr algn="l"/>
            <a:r>
              <a:rPr sz="950" b="1">
                <a:solidFill>
                  <a:srgbClr val="3A5C9E"/>
                </a:solidFill>
              </a:rPr>
              <a:t>WHAT YOU ACTUALLY GAIN AND LOSE</a:t>
            </a:r>
          </a:p>
          <a:p>
            <a:pPr algn="l">
              <a:spcBef>
                <a:spcPts val="400"/>
              </a:spcBef>
            </a:pPr>
            <a:r>
              <a:rPr sz="1100" b="0">
                <a:solidFill>
                  <a:srgbClr val="1B2A41"/>
                </a:solidFill>
              </a:rPr>
              <a:t>On the same data XGBoost usually buys you a few points of accuracy. That is real, and it is smaller than people expect. What it costs you is the sentence you give the customer who was declined. Most banks build both, use the sharper one to challenge the simpler one, and ship the one they can explain.</a:t>
            </a:r>
          </a:p>
        </p:txBody>
      </p:sp>
      <p:sp>
        <p:nvSpPr>
          <p:cNvPr id="23" name="Rectangle 2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rule of thumb:  </a:t>
            </a:r>
            <a:r>
              <a:rPr sz="1200" b="0">
                <a:solidFill>
                  <a:srgbClr val="FFFFFF"/>
                </a:solidFill>
              </a:rPr>
              <a:t>the newer the model, the better it predicts and the harder it is to defend to the person you just declined.</a:t>
            </a:r>
          </a:p>
        </p:txBody>
      </p:sp>
      <p:sp>
        <p:nvSpPr>
          <p:cNvPr id="26" name="TextBox 2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27" name="TextBox 2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DOES IT WORK, AND CAN YOU EXPLAIN IT?</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Three checks on the model, one check on the decision</a:t>
            </a:r>
          </a:p>
        </p:txBody>
      </p:sp>
      <p:sp>
        <p:nvSpPr>
          <p:cNvPr id="5" name="TextBox 4"/>
          <p:cNvSpPr txBox="1"/>
          <p:nvPr/>
        </p:nvSpPr>
        <p:spPr>
          <a:xfrm>
            <a:off x="548640" y="1426464"/>
            <a:ext cx="11091672" cy="292608"/>
          </a:xfrm>
          <a:prstGeom prst="rect">
            <a:avLst/>
          </a:prstGeom>
          <a:noFill/>
        </p:spPr>
        <p:txBody>
          <a:bodyPr wrap="square" anchor="t" lIns="0" rIns="0" tIns="0" bIns="0">
            <a:spAutoFit/>
          </a:bodyPr>
          <a:lstStyle/>
          <a:p>
            <a:pPr algn="l"/>
            <a:r>
              <a:rPr sz="1200" b="0">
                <a:solidFill>
                  <a:srgbClr val="5D6B7E"/>
                </a:solidFill>
              </a:rPr>
              <a:t>Take 1,000 borrowers. Fifty of them defaulted. Here is how you find out whether the model saw them coming.</a:t>
            </a:r>
          </a:p>
        </p:txBody>
      </p:sp>
      <p:sp>
        <p:nvSpPr>
          <p:cNvPr id="6" name="Rectangle 5"/>
          <p:cNvSpPr/>
          <p:nvPr/>
        </p:nvSpPr>
        <p:spPr>
          <a:xfrm>
            <a:off x="548640" y="1792224"/>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92224"/>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11680"/>
            <a:ext cx="2011680" cy="292608"/>
          </a:xfrm>
          <a:prstGeom prst="rect">
            <a:avLst/>
          </a:prstGeom>
          <a:noFill/>
        </p:spPr>
        <p:txBody>
          <a:bodyPr wrap="square" anchor="t" lIns="0" rIns="0" tIns="0" bIns="0">
            <a:spAutoFit/>
          </a:bodyPr>
          <a:lstStyle/>
          <a:p>
            <a:pPr algn="l"/>
            <a:r>
              <a:rPr sz="1000" b="1">
                <a:solidFill>
                  <a:srgbClr val="3A5C9E"/>
                </a:solidFill>
              </a:rPr>
              <a:t>AUC-ROC</a:t>
            </a:r>
          </a:p>
        </p:txBody>
      </p:sp>
      <p:sp>
        <p:nvSpPr>
          <p:cNvPr id="9" name="TextBox 8"/>
          <p:cNvSpPr txBox="1"/>
          <p:nvPr/>
        </p:nvSpPr>
        <p:spPr>
          <a:xfrm>
            <a:off x="2971800" y="1938528"/>
            <a:ext cx="960120" cy="402336"/>
          </a:xfrm>
          <a:prstGeom prst="rect">
            <a:avLst/>
          </a:prstGeom>
          <a:noFill/>
        </p:spPr>
        <p:txBody>
          <a:bodyPr wrap="square" anchor="t" lIns="0" rIns="0" tIns="0" bIns="0">
            <a:spAutoFit/>
          </a:bodyPr>
          <a:lstStyle/>
          <a:p>
            <a:pPr algn="r"/>
            <a:r>
              <a:rPr sz="2000" b="1">
                <a:solidFill>
                  <a:srgbClr val="0F2145"/>
                </a:solidFill>
                <a:latin typeface="Georgia"/>
              </a:rPr>
              <a:t>0.78</a:t>
            </a:r>
          </a:p>
        </p:txBody>
      </p:sp>
      <p:sp>
        <p:nvSpPr>
          <p:cNvPr id="10" name="TextBox 9"/>
          <p:cNvSpPr txBox="1"/>
          <p:nvPr/>
        </p:nvSpPr>
        <p:spPr>
          <a:xfrm>
            <a:off x="804672" y="2432304"/>
            <a:ext cx="3099816" cy="1188720"/>
          </a:xfrm>
          <a:prstGeom prst="rect">
            <a:avLst/>
          </a:prstGeom>
          <a:noFill/>
        </p:spPr>
        <p:txBody>
          <a:bodyPr wrap="square" anchor="t" lIns="0" rIns="0" tIns="0" bIns="0">
            <a:spAutoFit/>
          </a:bodyPr>
          <a:lstStyle/>
          <a:p>
            <a:pPr algn="l"/>
            <a:r>
              <a:rPr sz="1000" b="0">
                <a:solidFill>
                  <a:srgbClr val="1B2A41"/>
                </a:solidFill>
              </a:rPr>
              <a:t>Pick one borrower who defaulted and one who did not, at random. AUC is how often the model gave the defaulter the higher risk score. Half is a coin flip. A real working model sits near 0.78.</a:t>
            </a:r>
          </a:p>
        </p:txBody>
      </p:sp>
      <p:sp>
        <p:nvSpPr>
          <p:cNvPr id="11" name="Rectangle 10"/>
          <p:cNvSpPr/>
          <p:nvPr/>
        </p:nvSpPr>
        <p:spPr>
          <a:xfrm>
            <a:off x="4315968" y="1792224"/>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792224"/>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011680"/>
            <a:ext cx="2011680" cy="292608"/>
          </a:xfrm>
          <a:prstGeom prst="rect">
            <a:avLst/>
          </a:prstGeom>
          <a:noFill/>
        </p:spPr>
        <p:txBody>
          <a:bodyPr wrap="square" anchor="t" lIns="0" rIns="0" tIns="0" bIns="0">
            <a:spAutoFit/>
          </a:bodyPr>
          <a:lstStyle/>
          <a:p>
            <a:pPr algn="l"/>
            <a:r>
              <a:rPr sz="1000" b="1">
                <a:solidFill>
                  <a:srgbClr val="3A5C9E"/>
                </a:solidFill>
              </a:rPr>
              <a:t>GINI</a:t>
            </a:r>
          </a:p>
        </p:txBody>
      </p:sp>
      <p:sp>
        <p:nvSpPr>
          <p:cNvPr id="14" name="TextBox 13"/>
          <p:cNvSpPr txBox="1"/>
          <p:nvPr/>
        </p:nvSpPr>
        <p:spPr>
          <a:xfrm>
            <a:off x="6739128" y="1938528"/>
            <a:ext cx="960120" cy="402336"/>
          </a:xfrm>
          <a:prstGeom prst="rect">
            <a:avLst/>
          </a:prstGeom>
          <a:noFill/>
        </p:spPr>
        <p:txBody>
          <a:bodyPr wrap="square" anchor="t" lIns="0" rIns="0" tIns="0" bIns="0">
            <a:spAutoFit/>
          </a:bodyPr>
          <a:lstStyle/>
          <a:p>
            <a:pPr algn="r"/>
            <a:r>
              <a:rPr sz="2000" b="1">
                <a:solidFill>
                  <a:srgbClr val="0F2145"/>
                </a:solidFill>
                <a:latin typeface="Georgia"/>
              </a:rPr>
              <a:t>0.56</a:t>
            </a:r>
          </a:p>
        </p:txBody>
      </p:sp>
      <p:sp>
        <p:nvSpPr>
          <p:cNvPr id="15" name="TextBox 14"/>
          <p:cNvSpPr txBox="1"/>
          <p:nvPr/>
        </p:nvSpPr>
        <p:spPr>
          <a:xfrm>
            <a:off x="4572000" y="2432304"/>
            <a:ext cx="3099816" cy="1188720"/>
          </a:xfrm>
          <a:prstGeom prst="rect">
            <a:avLst/>
          </a:prstGeom>
          <a:noFill/>
        </p:spPr>
        <p:txBody>
          <a:bodyPr wrap="square" anchor="t" lIns="0" rIns="0" tIns="0" bIns="0">
            <a:spAutoFit/>
          </a:bodyPr>
          <a:lstStyle/>
          <a:p>
            <a:pPr algn="l"/>
            <a:r>
              <a:rPr sz="1000" b="0">
                <a:solidFill>
                  <a:srgbClr val="1B2A41"/>
                </a:solidFill>
              </a:rPr>
              <a:t>The same fact on the scale banks prefer: Gini = 2 × AUC − 1. An AUC of 0.78 is a Gini of 0.56. If somebody quotes you one, you can compute the other.</a:t>
            </a:r>
          </a:p>
        </p:txBody>
      </p:sp>
      <p:sp>
        <p:nvSpPr>
          <p:cNvPr id="16" name="Rectangle 15"/>
          <p:cNvSpPr/>
          <p:nvPr/>
        </p:nvSpPr>
        <p:spPr>
          <a:xfrm>
            <a:off x="8083296" y="1792224"/>
            <a:ext cx="3557016"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792224"/>
            <a:ext cx="355701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2011680"/>
            <a:ext cx="2011680" cy="292608"/>
          </a:xfrm>
          <a:prstGeom prst="rect">
            <a:avLst/>
          </a:prstGeom>
          <a:noFill/>
        </p:spPr>
        <p:txBody>
          <a:bodyPr wrap="square" anchor="t" lIns="0" rIns="0" tIns="0" bIns="0">
            <a:spAutoFit/>
          </a:bodyPr>
          <a:lstStyle/>
          <a:p>
            <a:pPr algn="l"/>
            <a:r>
              <a:rPr sz="1000" b="1">
                <a:solidFill>
                  <a:srgbClr val="3A5C9E"/>
                </a:solidFill>
              </a:rPr>
              <a:t>KS STATISTIC</a:t>
            </a:r>
          </a:p>
        </p:txBody>
      </p:sp>
      <p:sp>
        <p:nvSpPr>
          <p:cNvPr id="19" name="TextBox 18"/>
          <p:cNvSpPr txBox="1"/>
          <p:nvPr/>
        </p:nvSpPr>
        <p:spPr>
          <a:xfrm>
            <a:off x="10451592" y="1938528"/>
            <a:ext cx="960120" cy="402336"/>
          </a:xfrm>
          <a:prstGeom prst="rect">
            <a:avLst/>
          </a:prstGeom>
          <a:noFill/>
        </p:spPr>
        <p:txBody>
          <a:bodyPr wrap="square" anchor="t" lIns="0" rIns="0" tIns="0" bIns="0">
            <a:spAutoFit/>
          </a:bodyPr>
          <a:lstStyle/>
          <a:p>
            <a:pPr algn="r"/>
            <a:r>
              <a:rPr sz="2000" b="1">
                <a:solidFill>
                  <a:srgbClr val="0F2145"/>
                </a:solidFill>
                <a:latin typeface="Georgia"/>
              </a:rPr>
              <a:t>0.41</a:t>
            </a:r>
          </a:p>
        </p:txBody>
      </p:sp>
      <p:sp>
        <p:nvSpPr>
          <p:cNvPr id="20" name="TextBox 19"/>
          <p:cNvSpPr txBox="1"/>
          <p:nvPr/>
        </p:nvSpPr>
        <p:spPr>
          <a:xfrm>
            <a:off x="8339327" y="2432304"/>
            <a:ext cx="3044952" cy="1188720"/>
          </a:xfrm>
          <a:prstGeom prst="rect">
            <a:avLst/>
          </a:prstGeom>
          <a:noFill/>
        </p:spPr>
        <p:txBody>
          <a:bodyPr wrap="square" anchor="t" lIns="0" rIns="0" tIns="0" bIns="0">
            <a:spAutoFit/>
          </a:bodyPr>
          <a:lstStyle/>
          <a:p>
            <a:pPr algn="l"/>
            <a:r>
              <a:rPr sz="1000" b="0">
                <a:solidFill>
                  <a:srgbClr val="1B2A41"/>
                </a:solidFill>
              </a:rPr>
              <a:t>Sort all 1,000 by score, riskiest first. Walk down the list and track how many defaulters and how many good borrowers you have picked up. KS is the widest gap between the two, and it shows you where the cut-off earns its keep.</a:t>
            </a:r>
          </a:p>
        </p:txBody>
      </p:sp>
      <p:sp>
        <p:nvSpPr>
          <p:cNvPr id="21" name="Rectangle 20"/>
          <p:cNvSpPr/>
          <p:nvPr/>
        </p:nvSpPr>
        <p:spPr>
          <a:xfrm>
            <a:off x="548640" y="3931920"/>
            <a:ext cx="11091672" cy="149961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31920"/>
            <a:ext cx="64008" cy="14996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096512"/>
            <a:ext cx="10515600" cy="1188720"/>
          </a:xfrm>
          <a:prstGeom prst="rect">
            <a:avLst/>
          </a:prstGeom>
          <a:noFill/>
        </p:spPr>
        <p:txBody>
          <a:bodyPr wrap="square" anchor="t" lIns="0" rIns="0" tIns="0" bIns="0">
            <a:spAutoFit/>
          </a:bodyPr>
          <a:lstStyle/>
          <a:p>
            <a:pPr algn="l"/>
            <a:r>
              <a:rPr sz="1000" b="1">
                <a:solidFill>
                  <a:srgbClr val="C9A227"/>
                </a:solidFill>
              </a:rPr>
              <a:t>SHAP  ·  THE ONE THAT EXPLAINS A PERSON, NOT A MODEL</a:t>
            </a:r>
          </a:p>
          <a:p>
            <a:pPr algn="l">
              <a:spcBef>
                <a:spcPts val="500"/>
              </a:spcBef>
            </a:pPr>
            <a:r>
              <a:rPr sz="1100" b="0">
                <a:solidFill>
                  <a:srgbClr val="C9D6EE"/>
                </a:solidFill>
              </a:rPr>
              <a:t>The three numbers above judge the whole model. They tell you it ranks borrowers well. They cannot tell one rejected applicant why.</a:t>
            </a:r>
          </a:p>
          <a:p>
            <a:pPr algn="l">
              <a:spcBef>
                <a:spcPts val="500"/>
              </a:spcBef>
            </a:pPr>
            <a:r>
              <a:rPr sz="1100" b="0">
                <a:solidFill>
                  <a:srgbClr val="FFFFFF"/>
                </a:solidFill>
              </a:rPr>
              <a:t>SHAP takes a single decision apart. For this borrower: the interest cover of 2.3 pushed the PD up by 1.8 points, the three late payments pushed it up 0.9 more, and the current ratio pulled it back down 0.3. That is the sentence you give the customer, and it is the one the regulator asks to see.</a:t>
            </a:r>
          </a:p>
        </p:txBody>
      </p:sp>
      <p:sp>
        <p:nvSpPr>
          <p:cNvPr id="24" name="Rectangle 23"/>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Do it live:  </a:t>
            </a:r>
            <a:r>
              <a:rPr sz="1200" b="0">
                <a:solidFill>
                  <a:srgbClr val="FFFFFF"/>
                </a:solidFill>
              </a:rPr>
              <a:t>train both models on a public credit file, print the AUC of each, then SHAP one rejected applicant and read the reason out loud.</a:t>
            </a:r>
          </a:p>
        </p:txBody>
      </p:sp>
      <p:sp>
        <p:nvSpPr>
          <p:cNvPr id="27" name="TextBox 26"/>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28" name="TextBox 27"/>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MARKET RISK</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VaR is one sentence. The rest is how you compute it.</a:t>
            </a:r>
          </a:p>
        </p:txBody>
      </p:sp>
      <p:sp>
        <p:nvSpPr>
          <p:cNvPr id="5" name="Rectangle 4"/>
          <p:cNvSpPr/>
          <p:nvPr/>
        </p:nvSpPr>
        <p:spPr>
          <a:xfrm>
            <a:off x="548640" y="1463040"/>
            <a:ext cx="11091672" cy="69494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64008" cy="69494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10515600" cy="694944"/>
          </a:xfrm>
          <a:prstGeom prst="rect">
            <a:avLst/>
          </a:prstGeom>
          <a:noFill/>
        </p:spPr>
        <p:txBody>
          <a:bodyPr wrap="square" anchor="ctr" lIns="0" rIns="0" tIns="0" bIns="0">
            <a:spAutoFit/>
          </a:bodyPr>
          <a:lstStyle/>
          <a:p>
            <a:pPr algn="l"/>
            <a:r>
              <a:rPr sz="1200" b="1">
                <a:solidFill>
                  <a:srgbClr val="C9A227"/>
                </a:solidFill>
              </a:rPr>
              <a:t>A 99% one-day VaR of ₹6,60,000 means this:  </a:t>
            </a:r>
            <a:r>
              <a:rPr sz="1200" b="0">
                <a:solidFill>
                  <a:srgbClr val="FFFFFF"/>
                </a:solidFill>
              </a:rPr>
              <a:t>on 99 days out of 100, we should lose less than ₹6,60,000. It says nothing about the hundredth day.</a:t>
            </a:r>
          </a:p>
        </p:txBody>
      </p:sp>
      <p:sp>
        <p:nvSpPr>
          <p:cNvPr id="8" name="Rectangle 7"/>
          <p:cNvSpPr/>
          <p:nvPr/>
        </p:nvSpPr>
        <p:spPr>
          <a:xfrm>
            <a:off x="548640" y="2340864"/>
            <a:ext cx="3611880" cy="2212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542032"/>
            <a:ext cx="3108960" cy="274320"/>
          </a:xfrm>
          <a:prstGeom prst="rect">
            <a:avLst/>
          </a:prstGeom>
          <a:noFill/>
        </p:spPr>
        <p:txBody>
          <a:bodyPr wrap="square" anchor="t" lIns="0" rIns="0" tIns="0" bIns="0">
            <a:spAutoFit/>
          </a:bodyPr>
          <a:lstStyle/>
          <a:p>
            <a:pPr algn="l"/>
            <a:r>
              <a:rPr sz="1000" b="1">
                <a:solidFill>
                  <a:srgbClr val="3A5C9E"/>
                </a:solidFill>
              </a:rPr>
              <a:t>HISTORICAL SIMULATION</a:t>
            </a:r>
          </a:p>
        </p:txBody>
      </p:sp>
      <p:sp>
        <p:nvSpPr>
          <p:cNvPr id="10" name="TextBox 9"/>
          <p:cNvSpPr txBox="1"/>
          <p:nvPr/>
        </p:nvSpPr>
        <p:spPr>
          <a:xfrm>
            <a:off x="804672" y="2871216"/>
            <a:ext cx="3108960" cy="566928"/>
          </a:xfrm>
          <a:prstGeom prst="rect">
            <a:avLst/>
          </a:prstGeom>
          <a:noFill/>
        </p:spPr>
        <p:txBody>
          <a:bodyPr wrap="square" anchor="t" lIns="0" rIns="0" tIns="0" bIns="0">
            <a:spAutoFit/>
          </a:bodyPr>
          <a:lstStyle/>
          <a:p>
            <a:pPr algn="l"/>
            <a:r>
              <a:rPr sz="1100" b="1">
                <a:solidFill>
                  <a:srgbClr val="0F2145"/>
                </a:solidFill>
              </a:rPr>
              <a:t>Replay the last 500 days that actually happened.</a:t>
            </a:r>
          </a:p>
        </p:txBody>
      </p:sp>
      <p:sp>
        <p:nvSpPr>
          <p:cNvPr id="11" name="TextBox 10"/>
          <p:cNvSpPr txBox="1"/>
          <p:nvPr/>
        </p:nvSpPr>
        <p:spPr>
          <a:xfrm>
            <a:off x="804672" y="352958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Assumes nothing about the shape of returns.</a:t>
            </a:r>
          </a:p>
        </p:txBody>
      </p:sp>
      <p:sp>
        <p:nvSpPr>
          <p:cNvPr id="12" name="TextBox 11"/>
          <p:cNvSpPr txBox="1"/>
          <p:nvPr/>
        </p:nvSpPr>
        <p:spPr>
          <a:xfrm>
            <a:off x="804672" y="402336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5D6B7E"/>
                </a:solidFill>
              </a:rPr>
              <a:t>You only ever see what already occurred.</a:t>
            </a:r>
          </a:p>
        </p:txBody>
      </p:sp>
      <p:sp>
        <p:nvSpPr>
          <p:cNvPr id="13" name="Rectangle 12"/>
          <p:cNvSpPr/>
          <p:nvPr/>
        </p:nvSpPr>
        <p:spPr>
          <a:xfrm>
            <a:off x="4315968" y="2340864"/>
            <a:ext cx="3611880" cy="2212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542032"/>
            <a:ext cx="3108960" cy="274320"/>
          </a:xfrm>
          <a:prstGeom prst="rect">
            <a:avLst/>
          </a:prstGeom>
          <a:noFill/>
        </p:spPr>
        <p:txBody>
          <a:bodyPr wrap="square" anchor="t" lIns="0" rIns="0" tIns="0" bIns="0">
            <a:spAutoFit/>
          </a:bodyPr>
          <a:lstStyle/>
          <a:p>
            <a:pPr algn="l"/>
            <a:r>
              <a:rPr sz="1000" b="1">
                <a:solidFill>
                  <a:srgbClr val="3A5C9E"/>
                </a:solidFill>
              </a:rPr>
              <a:t>PARAMETRIC</a:t>
            </a:r>
          </a:p>
        </p:txBody>
      </p:sp>
      <p:sp>
        <p:nvSpPr>
          <p:cNvPr id="15" name="TextBox 14"/>
          <p:cNvSpPr txBox="1"/>
          <p:nvPr/>
        </p:nvSpPr>
        <p:spPr>
          <a:xfrm>
            <a:off x="4572000" y="2871216"/>
            <a:ext cx="3108960" cy="566928"/>
          </a:xfrm>
          <a:prstGeom prst="rect">
            <a:avLst/>
          </a:prstGeom>
          <a:noFill/>
        </p:spPr>
        <p:txBody>
          <a:bodyPr wrap="square" anchor="t" lIns="0" rIns="0" tIns="0" bIns="0">
            <a:spAutoFit/>
          </a:bodyPr>
          <a:lstStyle/>
          <a:p>
            <a:pPr algn="l"/>
            <a:r>
              <a:rPr sz="1100" b="1">
                <a:solidFill>
                  <a:srgbClr val="0F2145"/>
                </a:solidFill>
              </a:rPr>
              <a:t>Assume a normal curve and use one volatility number.</a:t>
            </a:r>
          </a:p>
        </p:txBody>
      </p:sp>
      <p:sp>
        <p:nvSpPr>
          <p:cNvPr id="16" name="TextBox 15"/>
          <p:cNvSpPr txBox="1"/>
          <p:nvPr/>
        </p:nvSpPr>
        <p:spPr>
          <a:xfrm>
            <a:off x="4572000" y="352958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Fast, and you can do it in a spreadsheet.</a:t>
            </a:r>
          </a:p>
        </p:txBody>
      </p:sp>
      <p:sp>
        <p:nvSpPr>
          <p:cNvPr id="17" name="TextBox 16"/>
          <p:cNvSpPr txBox="1"/>
          <p:nvPr/>
        </p:nvSpPr>
        <p:spPr>
          <a:xfrm>
            <a:off x="4572000" y="402336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5D6B7E"/>
                </a:solidFill>
              </a:rPr>
              <a:t>Real markets have fatter tails than normal.</a:t>
            </a:r>
          </a:p>
        </p:txBody>
      </p:sp>
      <p:sp>
        <p:nvSpPr>
          <p:cNvPr id="18" name="Rectangle 17"/>
          <p:cNvSpPr/>
          <p:nvPr/>
        </p:nvSpPr>
        <p:spPr>
          <a:xfrm>
            <a:off x="8083296" y="2340864"/>
            <a:ext cx="3611880" cy="221284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7" y="2542032"/>
            <a:ext cx="3108960" cy="274320"/>
          </a:xfrm>
          <a:prstGeom prst="rect">
            <a:avLst/>
          </a:prstGeom>
          <a:noFill/>
        </p:spPr>
        <p:txBody>
          <a:bodyPr wrap="square" anchor="t" lIns="0" rIns="0" tIns="0" bIns="0">
            <a:spAutoFit/>
          </a:bodyPr>
          <a:lstStyle/>
          <a:p>
            <a:pPr algn="l"/>
            <a:r>
              <a:rPr sz="1000" b="1">
                <a:solidFill>
                  <a:srgbClr val="C9A227"/>
                </a:solidFill>
              </a:rPr>
              <a:t>MONTE CARLO</a:t>
            </a:r>
          </a:p>
        </p:txBody>
      </p:sp>
      <p:sp>
        <p:nvSpPr>
          <p:cNvPr id="20" name="TextBox 19"/>
          <p:cNvSpPr txBox="1"/>
          <p:nvPr/>
        </p:nvSpPr>
        <p:spPr>
          <a:xfrm>
            <a:off x="8339327" y="2871216"/>
            <a:ext cx="3108960" cy="566928"/>
          </a:xfrm>
          <a:prstGeom prst="rect">
            <a:avLst/>
          </a:prstGeom>
          <a:noFill/>
        </p:spPr>
        <p:txBody>
          <a:bodyPr wrap="square" anchor="t" lIns="0" rIns="0" tIns="0" bIns="0">
            <a:spAutoFit/>
          </a:bodyPr>
          <a:lstStyle/>
          <a:p>
            <a:pPr algn="l"/>
            <a:r>
              <a:rPr sz="1100" b="1">
                <a:solidFill>
                  <a:srgbClr val="FFFFFF"/>
                </a:solidFill>
              </a:rPr>
              <a:t>Invent 10,000 tomorrows from volatility and correlation.</a:t>
            </a:r>
          </a:p>
        </p:txBody>
      </p:sp>
      <p:sp>
        <p:nvSpPr>
          <p:cNvPr id="21" name="TextBox 20"/>
          <p:cNvSpPr txBox="1"/>
          <p:nvPr/>
        </p:nvSpPr>
        <p:spPr>
          <a:xfrm>
            <a:off x="8339327" y="352958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Handles many assets and odd payoffs.</a:t>
            </a:r>
          </a:p>
        </p:txBody>
      </p:sp>
      <p:sp>
        <p:nvSpPr>
          <p:cNvPr id="22" name="TextBox 21"/>
          <p:cNvSpPr txBox="1"/>
          <p:nvPr/>
        </p:nvSpPr>
        <p:spPr>
          <a:xfrm>
            <a:off x="8339327" y="402336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Only as good as the assumptions you fed it.</a:t>
            </a:r>
          </a:p>
        </p:txBody>
      </p:sp>
      <p:sp>
        <p:nvSpPr>
          <p:cNvPr id="23" name="TextBox 22"/>
          <p:cNvSpPr txBox="1"/>
          <p:nvPr/>
        </p:nvSpPr>
        <p:spPr>
          <a:xfrm>
            <a:off x="548640" y="4718304"/>
            <a:ext cx="5486400" cy="1005840"/>
          </a:xfrm>
          <a:prstGeom prst="rect">
            <a:avLst/>
          </a:prstGeom>
          <a:noFill/>
        </p:spPr>
        <p:txBody>
          <a:bodyPr wrap="square" anchor="t" lIns="0" rIns="0" tIns="0" bIns="0">
            <a:spAutoFit/>
          </a:bodyPr>
          <a:lstStyle/>
          <a:p>
            <a:pPr algn="l"/>
            <a:r>
              <a:rPr sz="1500" b="1">
                <a:solidFill>
                  <a:srgbClr val="0F2145"/>
                </a:solidFill>
                <a:latin typeface="Georgia"/>
              </a:rPr>
              <a:t>CVaR, the question VaR ducks</a:t>
            </a:r>
          </a:p>
          <a:p>
            <a:pPr algn="l">
              <a:spcBef>
                <a:spcPts val="600"/>
              </a:spcBef>
            </a:pPr>
            <a:r>
              <a:rPr sz="1100" b="0">
                <a:solidFill>
                  <a:srgbClr val="1B2A41"/>
                </a:solidFill>
              </a:rPr>
              <a:t>VaR tells you the edge of the bad 1%. CVaR tells you the average loss once you are inside it. VaR says ₹6.6 lakh; CVaR might say ₹9.4 lakh.</a:t>
            </a:r>
          </a:p>
        </p:txBody>
      </p:sp>
      <p:sp>
        <p:nvSpPr>
          <p:cNvPr id="24" name="TextBox 23"/>
          <p:cNvSpPr txBox="1"/>
          <p:nvPr/>
        </p:nvSpPr>
        <p:spPr>
          <a:xfrm>
            <a:off x="6309360" y="4718304"/>
            <a:ext cx="5330952" cy="1005840"/>
          </a:xfrm>
          <a:prstGeom prst="rect">
            <a:avLst/>
          </a:prstGeom>
          <a:noFill/>
        </p:spPr>
        <p:txBody>
          <a:bodyPr wrap="square" anchor="t" lIns="0" rIns="0" tIns="0" bIns="0">
            <a:spAutoFit/>
          </a:bodyPr>
          <a:lstStyle/>
          <a:p>
            <a:pPr algn="l"/>
            <a:r>
              <a:rPr sz="1500" b="1">
                <a:solidFill>
                  <a:srgbClr val="0F2145"/>
                </a:solidFill>
                <a:latin typeface="Georgia"/>
              </a:rPr>
              <a:t>Basel III asks for both levels</a:t>
            </a:r>
          </a:p>
          <a:p>
            <a:pPr algn="l">
              <a:spcBef>
                <a:spcPts val="600"/>
              </a:spcBef>
            </a:pPr>
            <a:r>
              <a:rPr sz="1100" b="0">
                <a:solidFill>
                  <a:srgbClr val="1B2A41"/>
                </a:solidFill>
              </a:rPr>
              <a:t>95% and 99% are the thresholds you report. Run all three methods on the same portfolio and you get three different answers. That gap is the lesson.</a:t>
            </a:r>
          </a:p>
        </p:txBody>
      </p:sp>
      <p:sp>
        <p:nvSpPr>
          <p:cNvPr id="25" name="TextBox 2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26" name="TextBox 2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Build it, compare it, then test it</a:t>
            </a:r>
          </a:p>
        </p:txBody>
      </p:sp>
      <p:sp>
        <p:nvSpPr>
          <p:cNvPr id="5" name="Rectangle 4"/>
          <p:cNvSpPr/>
          <p:nvPr/>
        </p:nvSpPr>
        <p:spPr>
          <a:xfrm>
            <a:off x="548640" y="1444752"/>
            <a:ext cx="11091672" cy="621792"/>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6217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515600" cy="621792"/>
          </a:xfrm>
          <a:prstGeom prst="rect">
            <a:avLst/>
          </a:prstGeom>
          <a:noFill/>
        </p:spPr>
        <p:txBody>
          <a:bodyPr wrap="square" anchor="ctr" lIns="0" rIns="0" tIns="0" bIns="0">
            <a:spAutoFit/>
          </a:bodyPr>
          <a:lstStyle/>
          <a:p>
            <a:pPr algn="l"/>
            <a:r>
              <a:rPr sz="850" b="1">
                <a:solidFill>
                  <a:srgbClr val="C9A227"/>
                </a:solidFill>
              </a:rPr>
              <a:t>THE SENTENCE WE TYPE</a:t>
            </a:r>
          </a:p>
          <a:p>
            <a:pPr algn="l">
              <a:spcBef>
                <a:spcPts val="200"/>
              </a:spcBef>
            </a:pPr>
            <a:r>
              <a:rPr sz="1300" b="1">
                <a:solidFill>
                  <a:srgbClr val="FFFFFF"/>
                </a:solidFill>
                <a:latin typeface="Georgia"/>
              </a:rPr>
              <a:t>“Build a Monte Carlo VaR engine for five NSE stocks, run 10,000 paths, and give me 95% and 99% VaR and CVaR.”</a:t>
            </a:r>
          </a:p>
        </p:txBody>
      </p:sp>
      <p:sp>
        <p:nvSpPr>
          <p:cNvPr id="8" name="Rectangle 7"/>
          <p:cNvSpPr/>
          <p:nvPr/>
        </p:nvSpPr>
        <p:spPr>
          <a:xfrm>
            <a:off x="548640" y="2212848"/>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14016"/>
            <a:ext cx="3099816" cy="274320"/>
          </a:xfrm>
          <a:prstGeom prst="rect">
            <a:avLst/>
          </a:prstGeom>
          <a:noFill/>
        </p:spPr>
        <p:txBody>
          <a:bodyPr wrap="square" anchor="t" lIns="0" rIns="0" tIns="0" bIns="0">
            <a:spAutoFit/>
          </a:bodyPr>
          <a:lstStyle/>
          <a:p>
            <a:pPr algn="l"/>
            <a:r>
              <a:rPr sz="950" b="1">
                <a:solidFill>
                  <a:srgbClr val="3A5C9E"/>
                </a:solidFill>
              </a:rPr>
              <a:t>PART A  ·  35 MIN</a:t>
            </a:r>
          </a:p>
        </p:txBody>
      </p:sp>
      <p:sp>
        <p:nvSpPr>
          <p:cNvPr id="10" name="TextBox 9"/>
          <p:cNvSpPr txBox="1"/>
          <p:nvPr/>
        </p:nvSpPr>
        <p:spPr>
          <a:xfrm>
            <a:off x="804672" y="2724912"/>
            <a:ext cx="3099816" cy="402336"/>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11" name="TextBox 10"/>
          <p:cNvSpPr txBox="1"/>
          <p:nvPr/>
        </p:nvSpPr>
        <p:spPr>
          <a:xfrm>
            <a:off x="804672" y="3255264"/>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Five NSE stocks, two years of daily returns</a:t>
            </a:r>
          </a:p>
        </p:txBody>
      </p:sp>
      <p:sp>
        <p:nvSpPr>
          <p:cNvPr id="12" name="TextBox 11"/>
          <p:cNvSpPr txBox="1"/>
          <p:nvPr/>
        </p:nvSpPr>
        <p:spPr>
          <a:xfrm>
            <a:off x="804672" y="3767328"/>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Each stock's volatility, and how the five move together</a:t>
            </a:r>
          </a:p>
        </p:txBody>
      </p:sp>
      <p:sp>
        <p:nvSpPr>
          <p:cNvPr id="13" name="TextBox 12"/>
          <p:cNvSpPr txBox="1"/>
          <p:nvPr/>
        </p:nvSpPr>
        <p:spPr>
          <a:xfrm>
            <a:off x="804672" y="4279392"/>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Ten thousand simulated tomorrows</a:t>
            </a:r>
          </a:p>
        </p:txBody>
      </p:sp>
      <p:sp>
        <p:nvSpPr>
          <p:cNvPr id="14" name="TextBox 13"/>
          <p:cNvSpPr txBox="1"/>
          <p:nvPr/>
        </p:nvSpPr>
        <p:spPr>
          <a:xfrm>
            <a:off x="804672" y="4791456"/>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Sort them: the 100th worst is your 99% VaR, and the tail past it is CVaR</a:t>
            </a:r>
          </a:p>
        </p:txBody>
      </p:sp>
      <p:sp>
        <p:nvSpPr>
          <p:cNvPr id="15" name="Rectangle 14"/>
          <p:cNvSpPr/>
          <p:nvPr/>
        </p:nvSpPr>
        <p:spPr>
          <a:xfrm>
            <a:off x="4315968" y="2212848"/>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414016"/>
            <a:ext cx="3099816" cy="274320"/>
          </a:xfrm>
          <a:prstGeom prst="rect">
            <a:avLst/>
          </a:prstGeom>
          <a:noFill/>
        </p:spPr>
        <p:txBody>
          <a:bodyPr wrap="square" anchor="t" lIns="0" rIns="0" tIns="0" bIns="0">
            <a:spAutoFit/>
          </a:bodyPr>
          <a:lstStyle/>
          <a:p>
            <a:pPr algn="l"/>
            <a:r>
              <a:rPr sz="950" b="1">
                <a:solidFill>
                  <a:srgbClr val="3A5C9E"/>
                </a:solidFill>
              </a:rPr>
              <a:t>PART B  ·  10 MIN</a:t>
            </a:r>
          </a:p>
        </p:txBody>
      </p:sp>
      <p:sp>
        <p:nvSpPr>
          <p:cNvPr id="17" name="TextBox 16"/>
          <p:cNvSpPr txBox="1"/>
          <p:nvPr/>
        </p:nvSpPr>
        <p:spPr>
          <a:xfrm>
            <a:off x="4572000" y="2724912"/>
            <a:ext cx="3099816" cy="402336"/>
          </a:xfrm>
          <a:prstGeom prst="rect">
            <a:avLst/>
          </a:prstGeom>
          <a:noFill/>
        </p:spPr>
        <p:txBody>
          <a:bodyPr wrap="square" anchor="t" lIns="0" rIns="0" tIns="0" bIns="0">
            <a:spAutoFit/>
          </a:bodyPr>
          <a:lstStyle/>
          <a:p>
            <a:pPr algn="l"/>
            <a:r>
              <a:rPr sz="1700" b="1">
                <a:solidFill>
                  <a:srgbClr val="0F2145"/>
                </a:solidFill>
                <a:latin typeface="Georgia"/>
              </a:rPr>
              <a:t>Compare it</a:t>
            </a:r>
          </a:p>
        </p:txBody>
      </p:sp>
      <p:sp>
        <p:nvSpPr>
          <p:cNvPr id="18" name="TextBox 17"/>
          <p:cNvSpPr txBox="1"/>
          <p:nvPr/>
        </p:nvSpPr>
        <p:spPr>
          <a:xfrm>
            <a:off x="4572000" y="3255264"/>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Run the same portfolio through historical and parametric</a:t>
            </a:r>
          </a:p>
        </p:txBody>
      </p:sp>
      <p:sp>
        <p:nvSpPr>
          <p:cNvPr id="19" name="TextBox 18"/>
          <p:cNvSpPr txBox="1"/>
          <p:nvPr/>
        </p:nvSpPr>
        <p:spPr>
          <a:xfrm>
            <a:off x="4572000" y="3767328"/>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Three methods, three different answers</a:t>
            </a:r>
          </a:p>
        </p:txBody>
      </p:sp>
      <p:sp>
        <p:nvSpPr>
          <p:cNvPr id="20" name="TextBox 19"/>
          <p:cNvSpPr txBox="1"/>
          <p:nvPr/>
        </p:nvSpPr>
        <p:spPr>
          <a:xfrm>
            <a:off x="4572000" y="4279392"/>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Which one do you report, and why that one?</a:t>
            </a:r>
          </a:p>
        </p:txBody>
      </p:sp>
      <p:sp>
        <p:nvSpPr>
          <p:cNvPr id="21" name="TextBox 20"/>
          <p:cNvSpPr txBox="1"/>
          <p:nvPr/>
        </p:nvSpPr>
        <p:spPr>
          <a:xfrm>
            <a:off x="4572000" y="4791456"/>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gap between them is your uncertainty, made visible</a:t>
            </a:r>
          </a:p>
        </p:txBody>
      </p:sp>
      <p:sp>
        <p:nvSpPr>
          <p:cNvPr id="22" name="Rectangle 21"/>
          <p:cNvSpPr/>
          <p:nvPr/>
        </p:nvSpPr>
        <p:spPr>
          <a:xfrm>
            <a:off x="8083296" y="2212848"/>
            <a:ext cx="3557016" cy="305409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414016"/>
            <a:ext cx="3044952" cy="274320"/>
          </a:xfrm>
          <a:prstGeom prst="rect">
            <a:avLst/>
          </a:prstGeom>
          <a:noFill/>
        </p:spPr>
        <p:txBody>
          <a:bodyPr wrap="square" anchor="t" lIns="0" rIns="0" tIns="0" bIns="0">
            <a:spAutoFit/>
          </a:bodyPr>
          <a:lstStyle/>
          <a:p>
            <a:pPr algn="l"/>
            <a:r>
              <a:rPr sz="950" b="1">
                <a:solidFill>
                  <a:srgbClr val="C9A227"/>
                </a:solidFill>
              </a:rPr>
              <a:t>PART C  ·  15 MIN</a:t>
            </a:r>
          </a:p>
        </p:txBody>
      </p:sp>
      <p:sp>
        <p:nvSpPr>
          <p:cNvPr id="24" name="TextBox 23"/>
          <p:cNvSpPr txBox="1"/>
          <p:nvPr/>
        </p:nvSpPr>
        <p:spPr>
          <a:xfrm>
            <a:off x="8339327" y="2724912"/>
            <a:ext cx="3044952" cy="402336"/>
          </a:xfrm>
          <a:prstGeom prst="rect">
            <a:avLst/>
          </a:prstGeom>
          <a:noFill/>
        </p:spPr>
        <p:txBody>
          <a:bodyPr wrap="square" anchor="t" lIns="0" rIns="0" tIns="0" bIns="0">
            <a:spAutoFit/>
          </a:bodyPr>
          <a:lstStyle/>
          <a:p>
            <a:pPr algn="l"/>
            <a:r>
              <a:rPr sz="1700" b="1">
                <a:solidFill>
                  <a:srgbClr val="FFFFFF"/>
                </a:solidFill>
                <a:latin typeface="Georgia"/>
              </a:rPr>
              <a:t>Test it</a:t>
            </a:r>
          </a:p>
        </p:txBody>
      </p:sp>
      <p:sp>
        <p:nvSpPr>
          <p:cNvPr id="25" name="TextBox 24"/>
          <p:cNvSpPr txBox="1"/>
          <p:nvPr/>
        </p:nvSpPr>
        <p:spPr>
          <a:xfrm>
            <a:off x="8339327" y="3255264"/>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Count the breaches over 250 real trading days</a:t>
            </a:r>
          </a:p>
        </p:txBody>
      </p:sp>
      <p:sp>
        <p:nvSpPr>
          <p:cNvPr id="26" name="TextBox 25"/>
          <p:cNvSpPr txBox="1"/>
          <p:nvPr/>
        </p:nvSpPr>
        <p:spPr>
          <a:xfrm>
            <a:off x="8339327" y="3767328"/>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At 99% you expect two or three, not nine</a:t>
            </a:r>
          </a:p>
        </p:txBody>
      </p:sp>
      <p:sp>
        <p:nvSpPr>
          <p:cNvPr id="27" name="TextBox 26"/>
          <p:cNvSpPr txBox="1"/>
          <p:nvPr/>
        </p:nvSpPr>
        <p:spPr>
          <a:xfrm>
            <a:off x="8339327" y="4279392"/>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Basel zones: 0-4 green, 5-9 yellow, 10 or more red</a:t>
            </a:r>
          </a:p>
        </p:txBody>
      </p:sp>
      <p:sp>
        <p:nvSpPr>
          <p:cNvPr id="28" name="TextBox 27"/>
          <p:cNvSpPr txBox="1"/>
          <p:nvPr/>
        </p:nvSpPr>
        <p:spPr>
          <a:xfrm>
            <a:off x="8339327" y="4791456"/>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A red zone means rebuild it, not explain it away</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Why Part C matters most:  </a:t>
            </a:r>
            <a:r>
              <a:rPr sz="1200" b="0">
                <a:solidFill>
                  <a:srgbClr val="FFFFFF"/>
                </a:solidFill>
              </a:rPr>
              <a:t>building a VaR takes 35 minutes. Finding out it breached nine times when it should have breached three takes 15.</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Six questions before the exam</a:t>
            </a:r>
          </a:p>
        </p:txBody>
      </p:sp>
      <p:sp>
        <p:nvSpPr>
          <p:cNvPr id="5" name="Rectangle 4"/>
          <p:cNvSpPr/>
          <p:nvPr/>
        </p:nvSpPr>
        <p:spPr>
          <a:xfrm>
            <a:off x="548640" y="1444752"/>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8" name="TextBox 7"/>
          <p:cNvSpPr txBox="1"/>
          <p:nvPr/>
        </p:nvSpPr>
        <p:spPr>
          <a:xfrm>
            <a:off x="1554480" y="1499616"/>
            <a:ext cx="9875520" cy="585216"/>
          </a:xfrm>
          <a:prstGeom prst="rect">
            <a:avLst/>
          </a:prstGeom>
          <a:noFill/>
        </p:spPr>
        <p:txBody>
          <a:bodyPr wrap="square" anchor="t" lIns="0" rIns="0" tIns="0" bIns="0">
            <a:spAutoFit/>
          </a:bodyPr>
          <a:lstStyle/>
          <a:p>
            <a:pPr algn="l"/>
            <a:r>
              <a:rPr sz="1050" b="1">
                <a:solidFill>
                  <a:srgbClr val="1B2A41"/>
                </a:solidFill>
              </a:rPr>
              <a:t>A loan has PD 3%, LGD 40% and EAD ₹5,00,000. What is the expected loss, and who pays it?</a:t>
            </a:r>
          </a:p>
          <a:p>
            <a:pPr algn="l">
              <a:spcBef>
                <a:spcPts val="200"/>
              </a:spcBef>
            </a:pPr>
            <a:r>
              <a:rPr sz="900" b="1">
                <a:solidFill>
                  <a:srgbClr val="C9A227"/>
                </a:solidFill>
              </a:rPr>
              <a:t>TIP  </a:t>
            </a:r>
            <a:r>
              <a:rPr sz="900" b="0">
                <a:solidFill>
                  <a:srgbClr val="5D6B7E"/>
                </a:solidFill>
              </a:rPr>
              <a:t>₹6,000. The borrower pays it, priced into the interest rate, whether or not this loan goes bad.</a:t>
            </a:r>
          </a:p>
        </p:txBody>
      </p:sp>
      <p:sp>
        <p:nvSpPr>
          <p:cNvPr id="9" name="Rectangle 8"/>
          <p:cNvSpPr/>
          <p:nvPr/>
        </p:nvSpPr>
        <p:spPr>
          <a:xfrm>
            <a:off x="548640" y="2176272"/>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76272"/>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40279"/>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2" name="TextBox 11"/>
          <p:cNvSpPr txBox="1"/>
          <p:nvPr/>
        </p:nvSpPr>
        <p:spPr>
          <a:xfrm>
            <a:off x="1554480" y="2231136"/>
            <a:ext cx="9875520" cy="585216"/>
          </a:xfrm>
          <a:prstGeom prst="rect">
            <a:avLst/>
          </a:prstGeom>
          <a:noFill/>
        </p:spPr>
        <p:txBody>
          <a:bodyPr wrap="square" anchor="t" lIns="0" rIns="0" tIns="0" bIns="0">
            <a:spAutoFit/>
          </a:bodyPr>
          <a:lstStyle/>
          <a:p>
            <a:pPr algn="l"/>
            <a:r>
              <a:rPr sz="1050" b="1">
                <a:solidFill>
                  <a:srgbClr val="1B2A41"/>
                </a:solidFill>
              </a:rPr>
              <a:t>Explain the difference between expected loss and unexpected loss, and what each is funded by.</a:t>
            </a:r>
          </a:p>
          <a:p>
            <a:pPr algn="l">
              <a:spcBef>
                <a:spcPts val="200"/>
              </a:spcBef>
            </a:pPr>
            <a:r>
              <a:rPr sz="900" b="1">
                <a:solidFill>
                  <a:srgbClr val="C9A227"/>
                </a:solidFill>
              </a:rPr>
              <a:t>TIP  </a:t>
            </a:r>
            <a:r>
              <a:rPr sz="900" b="0">
                <a:solidFill>
                  <a:srgbClr val="5D6B7E"/>
                </a:solidFill>
              </a:rPr>
              <a:t>Expected loss is budgeted and priced in. Unexpected loss is the bad year, and capital is held against it.</a:t>
            </a:r>
          </a:p>
        </p:txBody>
      </p:sp>
      <p:sp>
        <p:nvSpPr>
          <p:cNvPr id="13" name="Rectangle 12"/>
          <p:cNvSpPr/>
          <p:nvPr/>
        </p:nvSpPr>
        <p:spPr>
          <a:xfrm>
            <a:off x="548640" y="290779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90779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971799"/>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6" name="TextBox 15"/>
          <p:cNvSpPr txBox="1"/>
          <p:nvPr/>
        </p:nvSpPr>
        <p:spPr>
          <a:xfrm>
            <a:off x="1554480" y="2962656"/>
            <a:ext cx="9875520" cy="585216"/>
          </a:xfrm>
          <a:prstGeom prst="rect">
            <a:avLst/>
          </a:prstGeom>
          <a:noFill/>
        </p:spPr>
        <p:txBody>
          <a:bodyPr wrap="square" anchor="t" lIns="0" rIns="0" tIns="0" bIns="0">
            <a:spAutoFit/>
          </a:bodyPr>
          <a:lstStyle/>
          <a:p>
            <a:pPr algn="l"/>
            <a:r>
              <a:rPr sz="1050" b="1">
                <a:solidFill>
                  <a:srgbClr val="1B2A41"/>
                </a:solidFill>
              </a:rPr>
              <a:t>A PD model scores AUC 0.78. Say what that means without using the word AUC.</a:t>
            </a:r>
          </a:p>
          <a:p>
            <a:pPr algn="l">
              <a:spcBef>
                <a:spcPts val="200"/>
              </a:spcBef>
            </a:pPr>
            <a:r>
              <a:rPr sz="900" b="1">
                <a:solidFill>
                  <a:srgbClr val="C9A227"/>
                </a:solidFill>
              </a:rPr>
              <a:t>TIP  </a:t>
            </a:r>
            <a:r>
              <a:rPr sz="900" b="0">
                <a:solidFill>
                  <a:srgbClr val="5D6B7E"/>
                </a:solidFill>
              </a:rPr>
              <a:t>Take a defaulter and a non-defaulter at random; 78 times in 100 the model scores the defaulter as riskier.</a:t>
            </a:r>
          </a:p>
        </p:txBody>
      </p:sp>
      <p:sp>
        <p:nvSpPr>
          <p:cNvPr id="17" name="Rectangle 16"/>
          <p:cNvSpPr/>
          <p:nvPr/>
        </p:nvSpPr>
        <p:spPr>
          <a:xfrm>
            <a:off x="548640" y="363931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3931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703320"/>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20" name="TextBox 19"/>
          <p:cNvSpPr txBox="1"/>
          <p:nvPr/>
        </p:nvSpPr>
        <p:spPr>
          <a:xfrm>
            <a:off x="1554480" y="3694175"/>
            <a:ext cx="9875520" cy="585216"/>
          </a:xfrm>
          <a:prstGeom prst="rect">
            <a:avLst/>
          </a:prstGeom>
          <a:noFill/>
        </p:spPr>
        <p:txBody>
          <a:bodyPr wrap="square" anchor="t" lIns="0" rIns="0" tIns="0" bIns="0">
            <a:spAutoFit/>
          </a:bodyPr>
          <a:lstStyle/>
          <a:p>
            <a:pPr algn="l"/>
            <a:r>
              <a:rPr sz="1050" b="1">
                <a:solidFill>
                  <a:srgbClr val="1B2A41"/>
                </a:solidFill>
              </a:rPr>
              <a:t>Your XGBoost model beats the logistic regression. Give one reason you might still ship the regression.</a:t>
            </a:r>
          </a:p>
          <a:p>
            <a:pPr algn="l">
              <a:spcBef>
                <a:spcPts val="200"/>
              </a:spcBef>
            </a:pPr>
            <a:r>
              <a:rPr sz="900" b="1">
                <a:solidFill>
                  <a:srgbClr val="C9A227"/>
                </a:solidFill>
              </a:rPr>
              <a:t>TIP  </a:t>
            </a:r>
            <a:r>
              <a:rPr sz="900" b="0">
                <a:solidFill>
                  <a:srgbClr val="5D6B7E"/>
                </a:solidFill>
              </a:rPr>
              <a:t>You can print it, explain a single decline, and defend it to a regulator. Accuracy is not the only test.</a:t>
            </a:r>
          </a:p>
        </p:txBody>
      </p:sp>
      <p:sp>
        <p:nvSpPr>
          <p:cNvPr id="21" name="Rectangle 20"/>
          <p:cNvSpPr/>
          <p:nvPr/>
        </p:nvSpPr>
        <p:spPr>
          <a:xfrm>
            <a:off x="548640" y="437083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7083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434840"/>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4" name="TextBox 23"/>
          <p:cNvSpPr txBox="1"/>
          <p:nvPr/>
        </p:nvSpPr>
        <p:spPr>
          <a:xfrm>
            <a:off x="1554480" y="4425695"/>
            <a:ext cx="9875520" cy="585216"/>
          </a:xfrm>
          <a:prstGeom prst="rect">
            <a:avLst/>
          </a:prstGeom>
          <a:noFill/>
        </p:spPr>
        <p:txBody>
          <a:bodyPr wrap="square" anchor="t" lIns="0" rIns="0" tIns="0" bIns="0">
            <a:spAutoFit/>
          </a:bodyPr>
          <a:lstStyle/>
          <a:p>
            <a:pPr algn="l"/>
            <a:r>
              <a:rPr sz="1050" b="1">
                <a:solidFill>
                  <a:srgbClr val="1B2A41"/>
                </a:solidFill>
              </a:rPr>
              <a:t>Historical, parametric and Monte Carlo give three different VaRs on one portfolio. Why, and which do you report?</a:t>
            </a:r>
          </a:p>
          <a:p>
            <a:pPr algn="l">
              <a:spcBef>
                <a:spcPts val="200"/>
              </a:spcBef>
            </a:pPr>
            <a:r>
              <a:rPr sz="900" b="1">
                <a:solidFill>
                  <a:srgbClr val="C9A227"/>
                </a:solidFill>
              </a:rPr>
              <a:t>TIP  </a:t>
            </a:r>
            <a:r>
              <a:rPr sz="900" b="0">
                <a:solidFill>
                  <a:srgbClr val="5D6B7E"/>
                </a:solidFill>
              </a:rPr>
              <a:t>Each assumes something different about returns. Report the method your policy names, and disclose the other two.</a:t>
            </a:r>
          </a:p>
        </p:txBody>
      </p:sp>
      <p:sp>
        <p:nvSpPr>
          <p:cNvPr id="25" name="Rectangle 24"/>
          <p:cNvSpPr/>
          <p:nvPr/>
        </p:nvSpPr>
        <p:spPr>
          <a:xfrm>
            <a:off x="548640" y="510235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10235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166359"/>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8" name="TextBox 27"/>
          <p:cNvSpPr txBox="1"/>
          <p:nvPr/>
        </p:nvSpPr>
        <p:spPr>
          <a:xfrm>
            <a:off x="1554480" y="5157215"/>
            <a:ext cx="9875520" cy="585216"/>
          </a:xfrm>
          <a:prstGeom prst="rect">
            <a:avLst/>
          </a:prstGeom>
          <a:noFill/>
        </p:spPr>
        <p:txBody>
          <a:bodyPr wrap="square" anchor="t" lIns="0" rIns="0" tIns="0" bIns="0">
            <a:spAutoFit/>
          </a:bodyPr>
          <a:lstStyle/>
          <a:p>
            <a:pPr algn="l"/>
            <a:r>
              <a:rPr sz="1050" b="1">
                <a:solidFill>
                  <a:srgbClr val="1B2A41"/>
                </a:solidFill>
              </a:rPr>
              <a:t>Your 99% one-day VaR is ₹6.6 lakh. In 250 trading days you breach it nine times. What does that tell you?</a:t>
            </a:r>
          </a:p>
          <a:p>
            <a:pPr algn="l">
              <a:spcBef>
                <a:spcPts val="200"/>
              </a:spcBef>
            </a:pPr>
            <a:r>
              <a:rPr sz="900" b="1">
                <a:solidFill>
                  <a:srgbClr val="C9A227"/>
                </a:solidFill>
              </a:rPr>
              <a:t>TIP  </a:t>
            </a:r>
            <a:r>
              <a:rPr sz="900" b="0">
                <a:solidFill>
                  <a:srgbClr val="5D6B7E"/>
                </a:solidFill>
              </a:rPr>
              <a:t>You expected about 2 or 3. Nine says the model understates risk, and it must be rebuilt, not explained away.</a:t>
            </a:r>
          </a:p>
        </p:txBody>
      </p:sp>
      <p:sp>
        <p:nvSpPr>
          <p:cNvPr id="29" name="Rectangle 28"/>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6:  </a:t>
            </a:r>
            <a:r>
              <a:rPr sz="1100" b="0">
                <a:solidFill>
                  <a:srgbClr val="FFFFFF"/>
                </a:solidFill>
              </a:rPr>
              <a:t>pick five listed stocks, and write down the one thing that would make all five fall together.</a:t>
            </a:r>
          </a:p>
        </p:txBody>
      </p:sp>
      <p:sp>
        <p:nvSpPr>
          <p:cNvPr id="32" name="TextBox 31"/>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5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
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8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8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Fund Administration: NAV and Transfer Agency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Faculty · Agentic AI &amp; Advanced Analytics in Finance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PGDM-SEM3-SPEC-AIFINANCE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Three questions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What is a fund's NAV?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How do investors get in and out?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AI check the books?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9718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Live today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Claude's reconciliation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skill checks a fund's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books in front of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4348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NAV REPORT, RECONCILED,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8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FUND ADMINISTRATION IN PLAIN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Who does what in a fund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INVESTOR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Puts money in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Buys units of the fund and can sell them back later.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FUND MANAGER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Decides what to buy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asset management company picks the shares the fund holds.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FUND ACCOUNTANT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Keeps the books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Records every trade and works out the NAV every day.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CUSTODIAN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Holds the assets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bank that keeps the fund's shares and cash safe.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TRANSFER AGENT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Keeps the investor list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Records who owns how many units. In India: KFinTech and CAMS.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AUDITOR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Checks it all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Confirms once a year that the books are right.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key idea:  </a:t>
            </a:r>
            <a:r>
              <a:rPr sz="1200" b="0">
                <a:solidFill>
                  <a:srgbClr val="FFFFFF"/>
                </a:solidFill>
              </a:rPr>
              <a:t>the fund accountant's books, the custodian and the transfer agent must all agree before a NAV is published.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FUND TYPES AND THE BACK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Four kinds of fund, one back office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MUTUAL FUND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NAV every day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Open to anyone. The NAV is published every business day.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HEDGE FUND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NAV every month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For large investors. Uses complex trades such as short selling.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PRIVATE EQUITY AND VC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Valued every quarter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Buys whole companies or start-ups. Few deals, hard to price.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AIF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India's category for large investors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SEBI category for funds sold to wealthy investors. The minimum is ₹1 crore.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WHO DOES THE WORK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Fund administrators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SS&amp;C GlobeOp, Apex Group, HC Global and Opus Fund Services run this work for many funds.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WHERE AI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The checking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Price checks, finding breaks, reading corporate action notices and drafting reports.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Today's case:  </a:t>
            </a:r>
            <a:r>
              <a:rPr sz="1200" b="0">
                <a:solidFill>
                  <a:srgbClr val="FFFFFF"/>
                </a:solidFill>
              </a:rPr>
              <a:t>Opus Fund Services, a fund administrator that uses AI to automate NAV work.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THE NAV IN SIX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NAV: what one unit of the fund is worth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760720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76072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4592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DAILY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02996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66544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Capture every trade done today.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596896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3347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Price every holding at today's closing price.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163824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20040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Book income and corporate actions, such as dividends and splits.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730752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67328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Subtract expenses, such as the management fee.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9768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334256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Divide what is left by the number of units.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86460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01184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Reconcile with the custodian and the transfer agent, then publish.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463040"/>
            <a:ext cx="514807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48272" y="16459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TODAY'S LAB FUND, BEFORE RECONCILIATION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205740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D6EE"/>
                </a:solidFill>
              </a:rPr>
              <a:t>10 holdings at market price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020824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Georgia"/>
              </a:rPr>
              <a:t>₹43.37 crore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8272" y="260604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D6EE"/>
                </a:solidFill>
              </a:rPr>
              <a:t>Add cash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569464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Georgia"/>
              </a:rPr>
              <a:t>₹2.60 crore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2" y="315468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D6EE"/>
                </a:solidFill>
              </a:rPr>
              <a:t>Less expenses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118104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Georgia"/>
              </a:rPr>
              <a:t>₹0.09 crore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2" y="370332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Net assets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3666744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C9A227"/>
                </a:solidFill>
                <a:latin typeface="Georgia"/>
              </a:rPr>
              <a:t>₹45.88 crore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8272" y="4251959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D6EE"/>
                </a:solidFill>
              </a:rPr>
              <a:t>Units outstanding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4215383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Georgia"/>
              </a:rPr>
              <a:t>1 crore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8272" y="4800599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NAV per unit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4764023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C9A227"/>
                </a:solidFill>
                <a:latin typeface="Georgia"/>
              </a:rPr>
              <a:t>₹45.8800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formula:  </a:t>
            </a:r>
            <a:r>
              <a:rPr sz="1200" b="0">
                <a:solidFill>
                  <a:srgbClr val="FFFFFF"/>
                </a:solidFill>
              </a:rPr>
              <a:t>NAV = (holdings at market price + cash − expenses) ÷ units. Indian mutual funds publish it on the AMFI website every day.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TRANSFER AGENCY AND KYC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How investors get in and out of a fund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 · KYC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Know your customer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investor gives PAN and Aadhaar. Under SEBI rules KYC is done once and stored with a KYC registration agency.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WHERE AI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Reading and matching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OCR reads the PAN card. AI matches “R. Kumar” on PAN with “Rajesh Kumar” at the bank. A person approves.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 · SUBSCRIPTION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Money in, units out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Units = amount ÷ NAV. Example: ₹50,000 ÷ ₹45.8920 = 1,089.515 units.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3 · REDEMPTION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Units in, money out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investor sells units back. The fund pays units × NAV.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4 · DIVIDEND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Income paid out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When the fund pays income, the transfer agent sends each investor their share.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ROLE-PLAY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Onboard an investor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One student is the investor, one the transfer agent, one the compliance checker.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STP in one line:  </a:t>
            </a:r>
            <a:r>
              <a:rPr sz="1200" b="0">
                <a:solidFill>
                  <a:srgbClr val="FFFFFF"/>
                </a:solidFill>
              </a:rPr>
              <a:t>straight-through processing means a transaction runs end to end with no manual step. When it breaks, someone reconciles.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RECONCILIATION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Three records must agree before the NAV goes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RECORD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fund's books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What the fund accountant has recorded.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RECORD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custodian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shares and cash the bank actually holds.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RECORD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transfer agent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units investors actually own.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71800"/>
            <a:ext cx="3593592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97180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172968"/>
            <a:ext cx="3081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BREAK 1 · IN OUR LAB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 split not booked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Stock H: 4,000 units in the books, 8,000 at the custodian. The value does not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2971800"/>
            <a:ext cx="3593592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297180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172968"/>
            <a:ext cx="3081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BREAK 2 · IN OUR LAB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 dividend not booked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custodian holds ₹1,20,000 more cash than the books.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2971800"/>
            <a:ext cx="3593592" cy="265176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297180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172968"/>
            <a:ext cx="3081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BREAK 3 · IN OUR LAB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A redemption not booked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The transfer agent shows 20,000 fewer units than the books.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Result:  </a:t>
            </a:r>
            <a:r>
              <a:rPr sz="1200" b="0">
                <a:solidFill>
                  <a:srgbClr val="FFFFFF"/>
                </a:solidFill>
              </a:rPr>
              <a:t>after the three fixes the NAV moves from ₹45.8800 to ₹45.8920. A small change, but every investor's money depends on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THE THREE LAB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Three files, three points of 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FILE 1 · fund_books.csv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fund's own list of holdings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Written by the fund accountant. For each holding it has the units the fund thinks it owns and today's price. We use it for market value.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463040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664208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FILE 2 · custodian.csv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bank's statement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Written by the custodian bank. It has the units the bank actually holds for each holding, and the cash in the fund's account.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21024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621024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822192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FILE 3 · fund_info.csv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Four more numbers for the NAV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Cash per the books ₹2,60,00,000. Accrued expenses ₹8,50,000. Units outstanding per the books 1,00,00,000. Units outstanding per the transfer agent 99,80,000.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621024"/>
            <a:ext cx="546811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621024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3822192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WORD TO KNOW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Accrued expenses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Money the fund owes but has not paid yet, such as this month's fee to the fund manager. NAV subtracts it today, before the cash leaves.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What to compare:  </a:t>
            </a:r>
            <a:r>
              <a:rPr sz="1200" b="0">
                <a:solidFill>
                  <a:srgbClr val="FFFFFF"/>
                </a:solidFill>
              </a:rPr>
              <a:t>books against the custodian for units and cash. Books against the transfer agent for units outstanding.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BREAK 1 OF 3 · CORPORATE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Break 1: a stock split the books missed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6118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0020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FUND'S BOOKS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0F2145"/>
                </a:solidFill>
                <a:latin typeface="Georgia"/>
              </a:rPr>
              <a:t>4,000 units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D6B7E"/>
                </a:solidFill>
              </a:rPr>
              <a:t>Stock H at ₹11,400 = ₹4.56 crore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463040"/>
            <a:ext cx="36118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CUSTODIAN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0F2145"/>
                </a:solidFill>
                <a:latin typeface="Georgia"/>
              </a:rPr>
              <a:t>8,000 units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D6B7E"/>
                </a:solidFill>
              </a:rPr>
              <a:t>what the bank actually holds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463040"/>
            <a:ext cx="3557016" cy="14173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463040"/>
            <a:ext cx="3557016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7" y="1600200"/>
            <a:ext cx="3099816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DIFFERENCE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C9A227"/>
                </a:solidFill>
                <a:latin typeface="Georgia"/>
              </a:rPr>
              <a:t>+4,000 units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C9D6EE"/>
                </a:solidFill>
              </a:rPr>
              <a:t>exactly 2 times the books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63240"/>
            <a:ext cx="3593592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HAPPENED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story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company split each share into two. The price halved to ₹5,700. The custodian updated its records. The fund's books did not.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063240"/>
            <a:ext cx="3593592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FIX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What the accountant books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No money changes hands. Change the holding to 8,000 units at ₹5,700. The value stays ₹4.56 crore.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063240"/>
            <a:ext cx="3593592" cy="25603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NAV EFFECT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Does the NAV move?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None today. If it is missed, tomorrow's price of ₹5,700 is applied to 4,000 units. The NAV would then fall by ₹2.28 a unit for no reason.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How to spot it:  </a:t>
            </a:r>
            <a:r>
              <a:rPr sz="1200" b="0">
                <a:solidFill>
                  <a:srgbClr val="FFFFFF"/>
                </a:solidFill>
              </a:rPr>
              <a:t>the units are an exact multiple of the books, such as 2 or 3 times. Look for a split or a bonus issue.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BREAK 2 OF 3 · INCOME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Break 2: a dividend the books missed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6118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0020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FUND'S BOOKS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0F2145"/>
                </a:solidFill>
                <a:latin typeface="Georgia"/>
              </a:rPr>
              <a:t>₹2,60,00,000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D6B7E"/>
                </a:solidFill>
              </a:rPr>
              <a:t>cash the books show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463040"/>
            <a:ext cx="36118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CUSTODIAN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0F2145"/>
                </a:solidFill>
                <a:latin typeface="Georgia"/>
              </a:rPr>
              <a:t>₹2,61,20,000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D6B7E"/>
                </a:solidFill>
              </a:rPr>
              <a:t>cash in the bank account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463040"/>
            <a:ext cx="3557016" cy="14173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463040"/>
            <a:ext cx="3557016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7" y="1600200"/>
            <a:ext cx="3099816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DIFFERENCE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C9A227"/>
                </a:solidFill>
                <a:latin typeface="Georgia"/>
              </a:rPr>
              <a:t>+₹1,20,000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C9D6EE"/>
                </a:solidFill>
              </a:rPr>
              <a:t>more cash at the bank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63240"/>
            <a:ext cx="3593592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HAPPENED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story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company the fund owns paid a dividend. The money reached the fund's bank account. Nobody recorded it in the books.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063240"/>
            <a:ext cx="3593592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FIX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What the accountant books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Debit cash ₹1,20,000, so cash goes up. Credit dividend income ₹1,20,000, so income goes up.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063240"/>
            <a:ext cx="3593592" cy="25603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NAV EFFECT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Does the NAV move?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Yes. ₹1,20,000 ÷ 1 crore units = ₹0.0120 a unit. The NAV goes from ₹45.8800 to ₹45.8920.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How to spot it:  </a:t>
            </a:r>
            <a:r>
              <a:rPr sz="1200" b="0">
                <a:solidFill>
                  <a:srgbClr val="FFFFFF"/>
                </a:solidFill>
              </a:rPr>
              <a:t>the bank has more cash than the books, close to a dividend date. Check the dividend notice before booking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BREAK 3 OF 3 · INVESTOR UNITS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Break 3: a redemption the books missed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6118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0020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FUND'S BOOKS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0F2145"/>
                </a:solidFill>
                <a:latin typeface="Georgia"/>
              </a:rPr>
              <a:t>1,00,00,000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D6B7E"/>
                </a:solidFill>
              </a:rPr>
              <a:t>units the books show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463040"/>
            <a:ext cx="36118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TRANSFER AGENT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0F2145"/>
                </a:solidFill>
                <a:latin typeface="Georgia"/>
              </a:rPr>
              <a:t>99,80,000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D6B7E"/>
                </a:solidFill>
              </a:rPr>
              <a:t>units investors actually own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463040"/>
            <a:ext cx="3557016" cy="14173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463040"/>
            <a:ext cx="3557016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7" y="1600200"/>
            <a:ext cx="3099816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DIFFERENCE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C9A227"/>
                </a:solidFill>
                <a:latin typeface="Georgia"/>
              </a:rPr>
              <a:t>−20,000 units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C9D6EE"/>
                </a:solidFill>
              </a:rPr>
              <a:t>fewer units at the transfer agent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63240"/>
            <a:ext cx="3593592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HAPPENED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story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An investor sold 20,000 units back to the fund. The transfer agent processed it. The fund's books did not.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063240"/>
            <a:ext cx="3593592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FIX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What the accountant books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Cut units by 20,000. Debit unit capital ₹9,17,840. Credit redemption payable ₹9,17,840, which is 20,000 × ₹45.8920 owed to the investor.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063240"/>
            <a:ext cx="3593592" cy="25603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NAV EFFECT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Does the NAV move?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No. Money and units leave together, so the NAV stays ₹45.8920. If it is missed, the fund owes ₹9,17,840 that its books do not show.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How to spot it:  </a:t>
            </a:r>
            <a:r>
              <a:rPr sz="1200" b="0">
                <a:solidFill>
                  <a:srgbClr val="FFFFFF"/>
                </a:solidFill>
              </a:rPr>
              <a:t>fewer units at the transfer agent means a redemption is not booked. More units means a subscription is not booked.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THE ACCOUNTING SKILL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Claude's reconciliation skill does the checking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A SKILL IS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Saved instructions for one job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skill tells Claude how accountants do a task. The finance reconciliation skill knows how a reconciliation is done.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IT DOES ·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Compares two records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 lines up the fund's books against the custodian and the transfer agent.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IT DOES ·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Sorts every difference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Timing, error or missing entry. It says how old each break 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IT DOES ·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Suggests the fix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 proposes the correcting entry. The journal-entry skill drafts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RELATED SKILL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Variance analysis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Explains why the NAV moved from yesterday to today.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HUMAN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Reviews and signs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The skill never posts an entry. The fund accountant approves every fix.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No subscription?  </a:t>
            </a:r>
            <a:r>
              <a:rPr sz="1200" b="0">
                <a:solidFill>
                  <a:srgbClr val="FFFFFF"/>
                </a:solidFill>
              </a:rPr>
              <a:t>the lab does the same steps with a free Python script and any free AI chat.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USE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Use case: Opus Fund Services, and where Claude fits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WHO OPUS IS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 fund administrator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 keeps the books and calculates the NAV for hedge funds and other funds.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ITS DAILY WORK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same three jobs as our lab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 reconciles positions and cash every day, processes corporate actions and prices the portfolio.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AI IT ALREADY USES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Digital agents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Its website says digital agents use desktop tools and machine learning to calculate NAVs.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CLAUDE · RECONCILIATION SKILL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Finds the breaks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Lines up the books, the custodian and the transfer agent, like breaks 1, 2 and 3.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CLAUDE · JOURNAL ENTRY AND VARIANCE SKILLS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Drafts the fix, explains the move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Writes the entry for each break, and says why today's NAV moved.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HUMAN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The fund accountant signs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Approves every entry and releases the NAV.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How it applies to us:  </a:t>
            </a:r>
            <a:r>
              <a:rPr sz="1200" b="0">
                <a:solidFill>
                  <a:srgbClr val="FFFFFF"/>
                </a:solidFill>
              </a:rPr>
              <a:t>our lab is a small copy of this daily job. The Claude mapping is our example, not Opus's own setup.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THE LIVE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Build a NAV report, reconcile it, explain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PART A · 20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Watch the skill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instructor runs Claude's reconciliation skill on the lab files and it finds the three breaks.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PART B · 30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Run the NAV engine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Run nav_engine.py in Codex, Colab or any Python. It prices the fund, finds the breaks and writes nav_report.csv.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PART C · 30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Write the commentary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Paste the printed prompt into any free AI chat. Check every number against nav_report.csv. Swap reports with the next desk.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Free and keyless:  </a:t>
            </a:r>
            <a:r>
              <a:rPr sz="1200" b="0">
                <a:solidFill>
                  <a:srgbClr val="FFFFFF"/>
                </a:solidFill>
              </a:rPr>
              <a:t>built-in Python only, no API key and no installs. The fund is made up and the prices are illustrative.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Simple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2646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NAV, and how is it calculated?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Net asset value per unit: holdings at market price plus cash minus expenses, divided by units.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8424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8424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939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39112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does a custodian do, and what does a transfer agent do?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The custodian holds the fund's shares and cash. The transfer agent keeps the list of investors and their units.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9689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9689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066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651760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an accrued expense? Give one fund example.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Money owed but not yet paid. Example: this month's fee to the fund manager.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09544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209544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31927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264408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An investor puts in ₹10,000 at a NAV of ₹25. How many units does the investor get?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₹10,000 ÷ ₹25 = 400 units.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22191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22191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9319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877055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a reconciliation break? Give one example.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 difference between two records. Example: a dividend the custodian received that the books did not record.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43484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43484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4456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89703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STP?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Straight-through processing: a transaction runs end to end with no manual step.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4748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04748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15721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102351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a Claude skill, and which one helps a fund accountant?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Saved instructions for one job. The reconciliation skill compares records and sorts the breaks.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66013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66013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76986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5714999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Where can AI help in KYC, and what must a person still do?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AI reads documents and matches names. A person approves the investor.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
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8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8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Fund Administration: NAV and Transfer Agency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What is a fund's NAV?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How do investors get in and out?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AI check the books?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Live today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Claude's reconciliation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skill checks a fund's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books in front of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NAV REPORT, RECONCILED,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8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FUND ADMINISTRATION IN PLAIN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Who does what in a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INVESTOR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Puts money in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Buys units of the fund and can sell them back later.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 MANAGER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Decides what to buy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asset management company picks the shares the fund holds.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 ACCOUNTANT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Keeps the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Records every trade and works out the NAV every day.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Holds the assets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bank that keeps the fund's shares and cash safe.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TRANSFER AGENT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Keeps the investor list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Records who owns how many units. In India: KFinTech and CAMS.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AUDITOR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Checks it all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Confirms once a year that the books are right.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key idea:  </a:t>
            </a:r>
            <a:r>
              <a:rPr sz="1200" b="0">
                <a:solidFill>
                  <a:srgbClr val="FFFFFF"/>
                </a:solidFill>
              </a:rPr>
              <a:t>the fund accountant's books, the custodian and the transfer agent must all agree before a NAV is published.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TWO BACK-OFFICE JOBS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What an RTA does, and what a fund administrator does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27632"/>
            <a:ext cx="49194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RTA · REGISTRAR AND TRANSFER AGENT</a:t>
            </a:r>
          </a:p>
          <a:p>
            <a:pPr algn="l">
              <a:spcBef>
                <a:spcPts val="300"/>
              </a:spcBef>
            </a:pPr>
            <a:r>
              <a:rPr sz="1700" b="1">
                <a:solidFill>
                  <a:srgbClr val="0F2145"/>
                </a:solidFill>
                <a:latin typeface="Georgia"/>
              </a:rPr>
              <a:t>Looks after the investors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432304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487168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Looks after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87168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The fund's investors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59" y="3054096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10896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Keeps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3108960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The investor register: who owns how many units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59" y="3675888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37307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Daily jobs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3730752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KYC, subscriptions, redemptions, dividends, account statements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" y="4297680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352544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Example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352544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CAMS: you start a ₹5,000 SIP, CAMS records your units and emails your statement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59" y="4919472"/>
            <a:ext cx="4919472" cy="9144"/>
          </a:xfrm>
          <a:prstGeom prst="rect">
            <a:avLst/>
          </a:prstGeom>
          <a:solidFill>
            <a:srgbClr val="D5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4974336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3A5C9E"/>
                </a:solidFill>
              </a:rPr>
              <a:t>Answers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4974336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1B2A41"/>
                </a:solidFill>
              </a:rPr>
              <a:t>Who owns the fund?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463040"/>
            <a:ext cx="546811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1627632"/>
            <a:ext cx="49194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FUND ADMINISTRATOR</a:t>
            </a:r>
          </a:p>
          <a:p>
            <a:pPr algn="l">
              <a:spcBef>
                <a:spcPts val="300"/>
              </a:spcBef>
            </a:pPr>
            <a:r>
              <a:rPr sz="1700" b="1">
                <a:solidFill>
                  <a:srgbClr val="FFFFFF"/>
                </a:solidFill>
                <a:latin typeface="Georgia"/>
              </a:rPr>
              <a:t>Looks after the fund's books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2432304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2487168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Looks 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2487168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The fund itself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3054096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108960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Keeps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18120" y="3108960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The ledger: holdings, cash, expenses owed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46520" y="3675888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3730752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Daily jobs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8120" y="3730752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Price holdings, book trades and corporate actions, reconcile, calculate NAV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46520" y="4297680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4352544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Example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18120" y="4352544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Opus Fund Services: calculates a fund's NAV and reconciles positions and cash daily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46520" y="4919472"/>
            <a:ext cx="4919472" cy="9144"/>
          </a:xfrm>
          <a:prstGeom prst="rect">
            <a:avLst/>
          </a:prstGeom>
          <a:solidFill>
            <a:srgbClr val="8FA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46520" y="4974336"/>
            <a:ext cx="1371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C9A227"/>
                </a:solidFill>
              </a:rPr>
              <a:t>Answers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18120" y="4974336"/>
            <a:ext cx="354787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What is the fund worth?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Easy way to remember:  </a:t>
            </a:r>
            <a:r>
              <a:rPr sz="1200" b="0">
                <a:solidFill>
                  <a:srgbClr val="FFFFFF"/>
                </a:solidFill>
              </a:rPr>
              <a:t>the RTA counts the units, the fund administrator values the fund. NAV = the fund's value ÷ the units.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FUND TYPES AND THE BACK OFFICE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Four kinds of fund, one back office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MUTUAL FUND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NAV every day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Open to anyone. The NAV is published every business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HEDGE FUND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NAV every month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For large investors. Uses complex trades such as short selling.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PRIVATE EQUITY AND VC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Valued every quarter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Buys whole companies or start-ups. Few deals, hard to price.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AIF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India's category for large investors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SEBI category for funds sold to wealthy investors. The minimum is ₹1 crore.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WHO DOES THE WORK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Fund administrators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SS&amp;C GlobeOp, Apex Group, HC Global and Opus Fund Services run this work for many funds.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checking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Price checks, finding breaks, reading corporate action notices and drafting reports.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Today's case:  </a:t>
            </a:r>
            <a:r>
              <a:rPr sz="1200" b="0">
                <a:solidFill>
                  <a:srgbClr val="FFFFFF"/>
                </a:solidFill>
              </a:rPr>
              <a:t>Opus Fund Services, a fund administrator that uses AI to automate NAV work.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THE NAV IN SIX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NAV: what one unit of the fund is worth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760720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76072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459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DAILY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2996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06654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Capture every trade done today.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596896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33472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Price every holding at today's close. This is mark-to-market, or fair value under IFRS 9.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163824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200400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Book income and corporate actions, such as dividends and splits.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3730752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67328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Subtract expenses, such as the management fee.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976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334256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Divide what is left by the number of units.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4864608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Georgia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01184"/>
            <a:ext cx="4937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1B2A41"/>
                </a:solidFill>
              </a:rPr>
              <a:t>Reconcile with the custodian and the transfer agent, then publish.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92240" y="1463040"/>
            <a:ext cx="514807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48272" y="16459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TODAY'S LAB FUND, BEFORE RECONCILIATION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8272" y="205740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10 holdings at market price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02082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₹43.37 crore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8272" y="260604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Add cash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256946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₹2.60 crore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8272" y="315468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Less expenses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311810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₹0.09 crore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3703320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Net assets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3666744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C9A227"/>
                </a:solidFill>
                <a:latin typeface="Georgia"/>
              </a:rPr>
              <a:t>₹45.88 crore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2" y="425195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C9D6EE"/>
                </a:solidFill>
              </a:rPr>
              <a:t>Units outstanding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4215383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Georgia"/>
              </a:rPr>
              <a:t>1 crore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48272" y="4800599"/>
            <a:ext cx="2743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NAV per unit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4764023"/>
            <a:ext cx="2103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>
                <a:solidFill>
                  <a:srgbClr val="C9A227"/>
                </a:solidFill>
                <a:latin typeface="Georgia"/>
              </a:rPr>
              <a:t>₹45.8800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formula:  </a:t>
            </a:r>
            <a:r>
              <a:rPr sz="1200" b="0">
                <a:solidFill>
                  <a:srgbClr val="FFFFFF"/>
                </a:solidFill>
              </a:rPr>
              <a:t>NAV = (holdings at market price + cash − expenses) ÷ units. Investors then get the daily NAV on AMFI, a statement from the RTA and the portfolio every month.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TRANSFER AGENCY AND KYC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How investors get in and out of a fund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1 · KYC AND AML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Know your customer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investor gives PAN and Aadhaar. AML checks screen out money laundering. KYC is done once and stored with a KYC registration agency.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WHERE AI HELPS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Reading and matching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OCR reads the PAN card. AI matches “R. Kumar” on PAN with “Rajesh Kumar” at the bank. A person approves.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2 · SUBSCRIPTION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Money in, units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Units = amount ÷ NAV. Example: ₹50,000 ÷ ₹45.8920 = 1,089.515 units.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3 · REDEMPTION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Units in, money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investor sells units back. The fund pays units × NAV.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STEP 4 · DIVIDEND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Income paid out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When the fund pays income, the transfer agent sends each investor their share.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ROLE-PLAY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Onboard an investor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One student is the investor, one the transfer agent, one the compliance checker.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STP in one line:  </a:t>
            </a:r>
            <a:r>
              <a:rPr sz="1200" b="0">
                <a:solidFill>
                  <a:srgbClr val="FFFFFF"/>
                </a:solidFill>
              </a:rPr>
              <a:t>straight-through processing means a transaction runs end to end with no manual step. When it breaks, someone reconciles.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RECONCILIATION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Three records must agree before the NAV goes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1 · fund_books.csv and fund_info.csv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fund's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What the fund accountant recorded: units and price for each holding, cash ₹2,60,00,000, expenses owed ₹8,50,000 and 1,00,00,000 units.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463040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463040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28232" y="1664208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2 · custodian.csv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custodian bank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units and the cash the bank actually holds for the fund.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21024"/>
            <a:ext cx="546811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RECORD 3 · last line of fund_info.csv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transfer agent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units investors actually own, from the official register: 99,80,000.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21024"/>
            <a:ext cx="546811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3621024"/>
            <a:ext cx="546811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3822192"/>
            <a:ext cx="495604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WORD TO KNOW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Accrued expenses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Money the fund owes but has not paid yet, such as the fund manager's fee. The NAV subtracts it today.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Reconciliation means:  </a:t>
            </a:r>
            <a:r>
              <a:rPr sz="1200" b="0">
                <a:solidFill>
                  <a:srgbClr val="FFFFFF"/>
                </a:solidFill>
              </a:rPr>
              <a:t>compare the books with each of the other two records. Every difference is a break. Our lab fund has three.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1 OF 3 · CORPORATE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1: a stock split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4,000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Stock H at ₹11,400 = ₹4.56 crore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8,000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what the bank actually holds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+4,000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exactly 2 times the books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company split each share into two. The price halved to ₹5,700. The custodian updated its records. The fund's books did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No money changes hands. Change the holding to 8,000 units at ₹5,700. The value stays ₹4.56 crore.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None today. If it is missed, tomorrow's price of ₹5,700 is applied to 4,000 units. The NAV would then fall by ₹2.28 a unit for no reason.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the units are an exact multiple of the books, such as 2 or 3 times. Look for a split or a bonus issue.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2 OF 3 · INCOME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2: a dividend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₹2,60,00,000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cash the books show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CUSTODIAN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₹2,61,20,000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cash in the bank account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+₹1,20,000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more cash at the bank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company the fund owns paid a dividend. The money reached the fund's bank account. Nobody recorded it in the books.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Debit cash ₹1,20,000, so cash goes up. Credit dividend income ₹1,20,000, so income goes up.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Yes. ₹1,20,000 ÷ 1 crore units = ₹0.0120 a unit. The NAV goes from ₹45.8800 to ₹45.8920.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the bank has more cash than the books, close to a dividend date. Check the dividend notice before booking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BREAK 3 OF 3 · INVESTOR UNITS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Break 3: a redemption the books missed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FUND'S BOOKS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1,00,00,000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units the books show</a:t>
            </a:r>
          </a:p>
        </p:txBody>
      </p:sp>
      <p:sp>
        <p:nvSpPr>
          <p:cNvPr id="8" name="Rectangle 7"/>
          <p:cNvSpPr/>
          <p:nvPr/>
        </p:nvSpPr>
        <p:spPr>
          <a:xfrm>
            <a:off x="4315968" y="1463040"/>
            <a:ext cx="3611880" cy="1417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15968" y="1463040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31546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TRANSFER AGENT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0F2145"/>
                </a:solidFill>
                <a:latin typeface="Georgia"/>
              </a:rPr>
              <a:t>99,80,000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5D6B7E"/>
                </a:solidFill>
              </a:rPr>
              <a:t>units investors actually own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83296" y="1463040"/>
            <a:ext cx="3557016" cy="1417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83296" y="1463040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7" y="1600200"/>
            <a:ext cx="3099816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DIFFERENCE</a:t>
            </a:r>
          </a:p>
          <a:p>
            <a:pPr algn="l">
              <a:spcBef>
                <a:spcPts val="400"/>
              </a:spcBef>
            </a:pPr>
            <a:r>
              <a:rPr sz="2400" b="1">
                <a:solidFill>
                  <a:srgbClr val="C9A227"/>
                </a:solidFill>
                <a:latin typeface="Georgia"/>
              </a:rPr>
              <a:t>−20,000 units</a:t>
            </a:r>
          </a:p>
          <a:p>
            <a:pPr algn="l">
              <a:spcBef>
                <a:spcPts val="400"/>
              </a:spcBef>
            </a:pPr>
            <a:r>
              <a:rPr sz="1100" b="0">
                <a:solidFill>
                  <a:srgbClr val="C9D6EE"/>
                </a:solidFill>
              </a:rPr>
              <a:t>fewer units at the transfer agent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HAPPENED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The story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An investor sold 20,000 units back to the fund. The transfer agent processed it. The fund's books did not.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063240"/>
            <a:ext cx="3593592" cy="2560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THE FIX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What the accountant books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Cut units by 20,000. Debit unit capital ₹9,17,840. Credit redemption payable ₹9,17,840, which is 20,000 × ₹45.8920 owed to the investor.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063240"/>
            <a:ext cx="3593592" cy="25603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0632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264408"/>
            <a:ext cx="30815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NAV EFFECT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Does the NAV move?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No. Money and units leave together, so the NAV stays ₹45.8920. If it is missed, the fund owes ₹9,17,840 that its books do not show.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to spot it:  </a:t>
            </a:r>
            <a:r>
              <a:rPr sz="1200" b="0">
                <a:solidFill>
                  <a:srgbClr val="FFFFFF"/>
                </a:solidFill>
              </a:rPr>
              <a:t>fewer units at the transfer agent means a redemption is not booked. More units means a subscription is not booked.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DOING IT EVERY 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Opus Fund Services, and where Claude's skills 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OPUS FUND SERVICES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A fund administrator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 keeps the books, calculates NAVs and reconciles positions and cash every 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AI IT ALREADY USES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Digital agents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Its website says digital agents use desktop tools and machine learning to calculate NAVs.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A CLAUDE SKILL IS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Saved instructions for one job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A skill tells Claude how accountants do a task, step by step.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RECONCILIATION SKILL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Finds the breaks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Lines up the books, the custodian and the transfer agent, and sorts each difference.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3621024"/>
            <a:ext cx="3593592" cy="20025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JOURNAL ENTRY AND VARIANCE SKILLS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Drafts the fix, explains the move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Writes the entry for each break, and says why today's NAV moved.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621024"/>
            <a:ext cx="3593592" cy="200253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621024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2752" y="3822192"/>
            <a:ext cx="3081528" cy="1728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HUMAN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The fund accountant signs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Approves every entry. The skill never posts anything.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How it applies to us:  </a:t>
            </a:r>
            <a:r>
              <a:rPr sz="1200" b="0">
                <a:solidFill>
                  <a:srgbClr val="FFFFFF"/>
                </a:solidFill>
              </a:rPr>
              <a:t>our lab is a small copy of Opus's daily job. The Claude mapping is our example, not Opus's own setup.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LIVE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Build a NAV report, reconcile it, explain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A · 20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Watch the skill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The instructor runs Claude's reconciliation skill on the lab files and it finds the three breaks.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463040"/>
            <a:ext cx="3593592" cy="4160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9768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PART B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0F2145"/>
                </a:solidFill>
                <a:latin typeface="Georgia"/>
              </a:rPr>
              <a:t>Run the NAV engine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1B2A41"/>
                </a:solidFill>
              </a:rPr>
              <a:t>Run nav_engine.py in Codex, Colab or any Python. It prices the fund, finds the breaks and writes the NAV report. In Colab it also writes a formatted Excel report.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463040"/>
            <a:ext cx="3593592" cy="416052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463040"/>
            <a:ext cx="3593592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02752" y="1664208"/>
            <a:ext cx="3081528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PART C · 30 MIN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FFFFFF"/>
                </a:solidFill>
                <a:latin typeface="Georgia"/>
              </a:rPr>
              <a:t>Write the commentary</a:t>
            </a:r>
          </a:p>
          <a:p>
            <a:pPr algn="l">
              <a:spcBef>
                <a:spcPts val="600"/>
              </a:spcBef>
            </a:pPr>
            <a:r>
              <a:rPr sz="1200" b="0">
                <a:solidFill>
                  <a:srgbClr val="C9D6EE"/>
                </a:solidFill>
              </a:rPr>
              <a:t>Paste the printed prompt into any free AI chat. Check every number against nav_report.csv. Swap reports with the next desk.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Free and keyless:  </a:t>
            </a:r>
            <a:r>
              <a:rPr sz="1200" b="0">
                <a:solidFill>
                  <a:srgbClr val="FFFFFF"/>
                </a:solidFill>
              </a:rPr>
              <a:t>built-in Python only, no API key and no installs. The fund is made up and the prices are illustrative.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Simple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37160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8132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26464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NAV, and how is it calculated?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Net asset value per unit: holdings at market price plus cash minus expenses, divided by units.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98424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98424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0939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39112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does a custodian do, and what does a transfer agent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The custodian holds the fund's shares and cash. The transfer agent keeps the list of investors and their units.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9689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9689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7066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651760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an accrued expense? Give one fund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Money owed but not yet paid. Example: this month's fee to the fund manager.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209544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209544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264408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An investor puts in ₹10,000 at a NAV of ₹25. How many units does the investor get?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₹10,000 ÷ ₹25 = 400 units.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822191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822191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9319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877055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reconciliation break? Give one example.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 difference between two records. Example: a dividend the custodian received that the books did not record.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434840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4434840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54456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4489703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STP?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Straight-through processing: a transaction runs end to end with no manual step.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047488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047488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15721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102351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What is a Claude skill, and which one helps a fund accountant?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Saved instructions for one job. The reconciliation skill compares records and sorts the breaks.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0136"/>
            <a:ext cx="11091672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660136"/>
            <a:ext cx="64008" cy="548640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76986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A5C9E"/>
                </a:solidFill>
                <a:latin typeface="Georgia"/>
              </a:rPr>
              <a:t>Q8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5714999"/>
            <a:ext cx="9966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B2A41"/>
                </a:solidFill>
              </a:rPr>
              <a:t>Where can AI help in KYC, and what must a person still do?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50" b="0">
                <a:solidFill>
                  <a:srgbClr val="5D6B7E"/>
                </a:solidFill>
              </a:rPr>
              <a:t>AI reads documents and matches names. A person approves the investor.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8  ·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
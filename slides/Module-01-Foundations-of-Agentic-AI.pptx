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457200" y="274638"/>
            <a:ext cx="8229600" cy="1143001"/>
          </a:xfrm>
          <a:prstGeom prst="rect">
            <a:avLst/>
          </a:prstGeom>
        </p:spPr>
        <p:txBody>
          <a:bodyPr/>
          <a:lstStyle/>
          <a:p>
            <a:pPr/>
            <a:r>
              <a:t>Title Text</a:t>
            </a:r>
          </a:p>
        </p:txBody>
      </p:sp>
      <p:sp>
        <p:nvSpPr>
          <p:cNvPr id="21" name="Body Level One…"/>
          <p:cNvSpPr txBox="1"/>
          <p:nvPr>
            <p:ph type="body" idx="1"/>
          </p:nvPr>
        </p:nvSpPr>
        <p:spPr>
          <a:xfrm>
            <a:off x="457200" y="1600200"/>
            <a:ext cx="8229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457200" y="274638"/>
            <a:ext cx="8229600" cy="1143001"/>
          </a:xfrm>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457200" y="274638"/>
            <a:ext cx="8229600" cy="1143001"/>
          </a:xfrm>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xfrm>
            <a:off x="457200" y="274638"/>
            <a:ext cx="8229600" cy="1143001"/>
          </a:xfrm>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sz="half"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bm.com/think/topics/model-parameters" TargetMode="External"/><Relationship Id="rId3" Type="http://schemas.openxmlformats.org/officeDocument/2006/relationships/hyperlink" Target="https://www.altexsoft.com/glossary/parameters-in-ai/"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2145"/>
        </a:solidFill>
      </p:bgPr>
    </p:bg>
    <p:spTree>
      <p:nvGrpSpPr>
        <p:cNvPr id="1" name=""/>
        <p:cNvGrpSpPr/>
        <p:nvPr/>
      </p:nvGrpSpPr>
      <p:grpSpPr>
        <a:xfrm>
          <a:off x="0" y="0"/>
          <a:ext cx="0" cy="0"/>
          <a:chOff x="0" y="0"/>
          <a:chExt cx="0" cy="0"/>
        </a:xfrm>
      </p:grpSpPr>
      <p:sp>
        <p:nvSpPr>
          <p:cNvPr id="94" name="Rectangle 1"/>
          <p:cNvSpPr/>
          <p:nvPr/>
        </p:nvSpPr>
        <p:spPr>
          <a:xfrm>
            <a:off x="-1" y="0"/>
            <a:ext cx="12188954" cy="685800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95" name="Rectangle 2"/>
          <p:cNvSpPr/>
          <p:nvPr/>
        </p:nvSpPr>
        <p:spPr>
          <a:xfrm>
            <a:off x="9354311" y="0"/>
            <a:ext cx="2834641" cy="6858000"/>
          </a:xfrm>
          <a:prstGeom prst="rect">
            <a:avLst/>
          </a:prstGeom>
          <a:solidFill>
            <a:srgbClr val="0B1936"/>
          </a:solidFill>
          <a:ln w="12700">
            <a:miter lim="400000"/>
          </a:ln>
        </p:spPr>
        <p:txBody>
          <a:bodyPr lIns="45719" rIns="45719" anchor="ctr"/>
          <a:lstStyle/>
          <a:p>
            <a:pPr algn="ctr">
              <a:defRPr>
                <a:solidFill>
                  <a:srgbClr val="FFFFFF"/>
                </a:solidFill>
              </a:defRPr>
            </a:pPr>
          </a:p>
        </p:txBody>
      </p:sp>
      <p:sp>
        <p:nvSpPr>
          <p:cNvPr id="96" name="Rectangle 3"/>
          <p:cNvSpPr/>
          <p:nvPr/>
        </p:nvSpPr>
        <p:spPr>
          <a:xfrm>
            <a:off x="9354311" y="0"/>
            <a:ext cx="36577" cy="6858000"/>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97" name="TextBox 4"/>
          <p:cNvSpPr txBox="1"/>
          <p:nvPr/>
        </p:nvSpPr>
        <p:spPr>
          <a:xfrm>
            <a:off x="548640" y="932688"/>
            <a:ext cx="822960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200">
                <a:solidFill>
                  <a:srgbClr val="C9A227"/>
                </a:solidFill>
              </a:defRPr>
            </a:lvl1pPr>
          </a:lstStyle>
          <a:p>
            <a:pPr/>
            <a:r>
              <a:t>ISBMS · PGDM 2025–27 · SEMESTER III · SESSION 1 OF 10</a:t>
            </a:r>
          </a:p>
        </p:txBody>
      </p:sp>
      <p:sp>
        <p:nvSpPr>
          <p:cNvPr id="98" name="TextBox 5"/>
          <p:cNvSpPr txBox="1"/>
          <p:nvPr/>
        </p:nvSpPr>
        <p:spPr>
          <a:xfrm>
            <a:off x="548640" y="1371600"/>
            <a:ext cx="8595360" cy="13119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5800">
                <a:solidFill>
                  <a:srgbClr val="FFFFFF"/>
                </a:solidFill>
                <a:latin typeface="Georgia"/>
                <a:ea typeface="Georgia"/>
                <a:cs typeface="Georgia"/>
                <a:sym typeface="Georgia"/>
              </a:defRPr>
            </a:pPr>
            <a:r>
              <a:t>Module 1</a:t>
            </a:r>
          </a:p>
          <a:p>
            <a:pPr>
              <a:lnSpc>
                <a:spcPct val="104999"/>
              </a:lnSpc>
              <a:spcBef>
                <a:spcPts val="1000"/>
              </a:spcBef>
              <a:defRPr sz="2100">
                <a:solidFill>
                  <a:srgbClr val="C9D6EE"/>
                </a:solidFill>
                <a:latin typeface="Georgia"/>
                <a:ea typeface="Georgia"/>
                <a:cs typeface="Georgia"/>
                <a:sym typeface="Georgia"/>
              </a:defRPr>
            </a:pPr>
            <a:r>
              <a:t>Foundations of Agentic AI in Financial Services</a:t>
            </a:r>
          </a:p>
        </p:txBody>
      </p:sp>
      <p:sp>
        <p:nvSpPr>
          <p:cNvPr id="99" name="Rectangle 6"/>
          <p:cNvSpPr/>
          <p:nvPr/>
        </p:nvSpPr>
        <p:spPr>
          <a:xfrm>
            <a:off x="548639" y="3913632"/>
            <a:ext cx="4023361" cy="18289"/>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100" name="TextBox 7"/>
          <p:cNvSpPr txBox="1"/>
          <p:nvPr/>
        </p:nvSpPr>
        <p:spPr>
          <a:xfrm>
            <a:off x="548640" y="4133086"/>
            <a:ext cx="8229601" cy="7852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700">
                <a:solidFill>
                  <a:srgbClr val="FFFFFF"/>
                </a:solidFill>
              </a:defRPr>
            </a:pPr>
            <a:r>
              <a:t>Tejas Jadhav, CFA, FRM</a:t>
            </a:r>
          </a:p>
          <a:p>
            <a:pPr>
              <a:lnSpc>
                <a:spcPct val="104999"/>
              </a:lnSpc>
              <a:spcBef>
                <a:spcPts val="600"/>
              </a:spcBef>
              <a:defRPr sz="1200">
                <a:solidFill>
                  <a:srgbClr val="8FA1C4"/>
                </a:solidFill>
              </a:defRPr>
            </a:pPr>
            <a:r>
              <a:t>Faculty · Agentic AI &amp; Advanced Analytics in Finance (PGDM-SEM3-SPEC-AIFINANCE)</a:t>
            </a:r>
          </a:p>
          <a:p>
            <a:pPr>
              <a:lnSpc>
                <a:spcPct val="104999"/>
              </a:lnSpc>
              <a:spcBef>
                <a:spcPts val="600"/>
              </a:spcBef>
              <a:defRPr b="1" sz="1200">
                <a:solidFill>
                  <a:srgbClr val="C9A227"/>
                </a:solidFill>
              </a:defRPr>
            </a:pPr>
            <a:r>
              <a:t>tejasgjadhav.github.io/AIFINANCE</a:t>
            </a:r>
          </a:p>
        </p:txBody>
      </p:sp>
      <p:sp>
        <p:nvSpPr>
          <p:cNvPr id="101" name="TextBox 8"/>
          <p:cNvSpPr txBox="1"/>
          <p:nvPr/>
        </p:nvSpPr>
        <p:spPr>
          <a:xfrm>
            <a:off x="9646919" y="850391"/>
            <a:ext cx="21945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TODAY</a:t>
            </a:r>
          </a:p>
        </p:txBody>
      </p:sp>
      <p:sp>
        <p:nvSpPr>
          <p:cNvPr id="102" name="TextBox 9"/>
          <p:cNvSpPr txBox="1"/>
          <p:nvPr/>
        </p:nvSpPr>
        <p:spPr>
          <a:xfrm>
            <a:off x="9646919" y="1234439"/>
            <a:ext cx="2286001" cy="6627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500">
                <a:solidFill>
                  <a:srgbClr val="FFFFFF"/>
                </a:solidFill>
                <a:latin typeface="Georgia"/>
                <a:ea typeface="Georgia"/>
                <a:cs typeface="Georgia"/>
                <a:sym typeface="Georgia"/>
              </a:defRPr>
            </a:pPr>
            <a:r>
              <a:t>3 hours</a:t>
            </a:r>
          </a:p>
          <a:p>
            <a:pPr>
              <a:lnSpc>
                <a:spcPct val="104999"/>
              </a:lnSpc>
              <a:spcBef>
                <a:spcPts val="500"/>
              </a:spcBef>
              <a:defRPr sz="1000">
                <a:solidFill>
                  <a:srgbClr val="8FA1C4"/>
                </a:solidFill>
              </a:defRPr>
            </a:pPr>
            <a:r>
              <a:t>Hour 1 concepts · Hour 2</a:t>
            </a:r>
          </a:p>
          <a:p>
            <a:pPr>
              <a:lnSpc>
                <a:spcPct val="104999"/>
              </a:lnSpc>
              <a:spcBef>
                <a:spcPts val="500"/>
              </a:spcBef>
              <a:defRPr sz="1000">
                <a:solidFill>
                  <a:srgbClr val="8FA1C4"/>
                </a:solidFill>
              </a:defRPr>
            </a:pPr>
            <a:r>
              <a:t>architecture · Hour 3 lab</a:t>
            </a:r>
          </a:p>
        </p:txBody>
      </p:sp>
      <p:sp>
        <p:nvSpPr>
          <p:cNvPr id="103" name="TextBox 10"/>
          <p:cNvSpPr txBox="1"/>
          <p:nvPr/>
        </p:nvSpPr>
        <p:spPr>
          <a:xfrm>
            <a:off x="9646919" y="2788920"/>
            <a:ext cx="2286001" cy="6627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500">
                <a:solidFill>
                  <a:srgbClr val="FFFFFF"/>
                </a:solidFill>
                <a:latin typeface="Georgia"/>
                <a:ea typeface="Georgia"/>
                <a:cs typeface="Georgia"/>
                <a:sym typeface="Georgia"/>
              </a:defRPr>
            </a:pPr>
            <a:r>
              <a:t>No maths</a:t>
            </a:r>
          </a:p>
          <a:p>
            <a:pPr>
              <a:lnSpc>
                <a:spcPct val="104999"/>
              </a:lnSpc>
              <a:spcBef>
                <a:spcPts val="500"/>
              </a:spcBef>
              <a:defRPr sz="1000">
                <a:solidFill>
                  <a:srgbClr val="8FA1C4"/>
                </a:solidFill>
              </a:defRPr>
            </a:pPr>
            <a:r>
              <a:t>Nothing today needs calculus</a:t>
            </a:r>
          </a:p>
          <a:p>
            <a:pPr>
              <a:lnSpc>
                <a:spcPct val="104999"/>
              </a:lnSpc>
              <a:spcBef>
                <a:spcPts val="500"/>
              </a:spcBef>
              <a:defRPr sz="1000">
                <a:solidFill>
                  <a:srgbClr val="8FA1C4"/>
                </a:solidFill>
              </a:defRPr>
            </a:pPr>
            <a:r>
              <a:t>or a coding background</a:t>
            </a:r>
          </a:p>
        </p:txBody>
      </p:sp>
      <p:sp>
        <p:nvSpPr>
          <p:cNvPr id="104" name="TextBox 11"/>
          <p:cNvSpPr txBox="1"/>
          <p:nvPr/>
        </p:nvSpPr>
        <p:spPr>
          <a:xfrm>
            <a:off x="9646919" y="4343400"/>
            <a:ext cx="2286001" cy="1053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4400">
                <a:solidFill>
                  <a:srgbClr val="C9A227"/>
                </a:solidFill>
                <a:latin typeface="Georgia"/>
                <a:ea typeface="Georgia"/>
                <a:cs typeface="Georgia"/>
                <a:sym typeface="Georgia"/>
              </a:defRPr>
            </a:pPr>
            <a:r>
              <a:t>1</a:t>
            </a:r>
          </a:p>
          <a:p>
            <a:pPr>
              <a:lnSpc>
                <a:spcPct val="104999"/>
              </a:lnSpc>
              <a:spcBef>
                <a:spcPts val="500"/>
              </a:spcBef>
              <a:defRPr sz="900">
                <a:solidFill>
                  <a:srgbClr val="8FA1C4"/>
                </a:solidFill>
              </a:defRPr>
            </a:pPr>
            <a:r>
              <a:t>WORKING EXTRACTION SCRIPT</a:t>
            </a:r>
          </a:p>
          <a:p>
            <a:pPr>
              <a:lnSpc>
                <a:spcPct val="104999"/>
              </a:lnSpc>
              <a:spcBef>
                <a:spcPts val="500"/>
              </a:spcBef>
              <a:defRPr sz="900">
                <a:solidFill>
                  <a:srgbClr val="8FA1C4"/>
                </a:solidFill>
              </a:defRPr>
            </a:pPr>
            <a:r>
              <a:t>BUILT BEFORE YOU LEAVE</a:t>
            </a:r>
          </a:p>
        </p:txBody>
      </p:sp>
      <p:sp>
        <p:nvSpPr>
          <p:cNvPr id="105" name="TextBox 12"/>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8FA1C4"/>
                </a:solidFill>
              </a:defRPr>
            </a:lvl1pPr>
          </a:lstStyle>
          <a:p>
            <a:pPr/>
            <a:r>
              <a:t>ISBMS · PGDM 2025–27 · AGENTIC AI &amp; ADVANCED ANALYTICS IN FINANCE</a:t>
            </a:r>
          </a:p>
        </p:txBody>
      </p:sp>
      <p:sp>
        <p:nvSpPr>
          <p:cNvPr id="106" name="TextBox 13"/>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8FA1C4"/>
                </a:solidFill>
              </a:defRPr>
            </a:lvl1pPr>
          </a:lstStyle>
          <a:p>
            <a:pPr/>
            <a:r>
              <a:t>MODULE 1  ·  01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108"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109"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THE PLAN</a:t>
            </a:r>
          </a:p>
        </p:txBody>
      </p:sp>
      <p:sp>
        <p:nvSpPr>
          <p:cNvPr id="110"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What we do in these three hours</a:t>
            </a:r>
          </a:p>
        </p:txBody>
      </p:sp>
      <p:sp>
        <p:nvSpPr>
          <p:cNvPr id="111" name="Rectangle 4"/>
          <p:cNvSpPr/>
          <p:nvPr/>
        </p:nvSpPr>
        <p:spPr>
          <a:xfrm>
            <a:off x="548640" y="1572767"/>
            <a:ext cx="3611880" cy="397764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12" name="Rectangle 5"/>
          <p:cNvSpPr/>
          <p:nvPr/>
        </p:nvSpPr>
        <p:spPr>
          <a:xfrm>
            <a:off x="548640" y="1572767"/>
            <a:ext cx="3611880" cy="73152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113" name="TextBox 6"/>
          <p:cNvSpPr txBox="1"/>
          <p:nvPr/>
        </p:nvSpPr>
        <p:spPr>
          <a:xfrm>
            <a:off x="768095" y="1725621"/>
            <a:ext cx="3200401" cy="4258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100">
                <a:solidFill>
                  <a:srgbClr val="C9A227"/>
                </a:solidFill>
              </a:defRPr>
            </a:pPr>
            <a:r>
              <a:t>HOUR 1 · 60 MIN</a:t>
            </a:r>
          </a:p>
          <a:p>
            <a:pPr>
              <a:lnSpc>
                <a:spcPct val="104999"/>
              </a:lnSpc>
              <a:spcBef>
                <a:spcPts val="300"/>
              </a:spcBef>
              <a:defRPr b="1" sz="1500">
                <a:solidFill>
                  <a:srgbClr val="FFFFFF"/>
                </a:solidFill>
                <a:latin typeface="Georgia"/>
                <a:ea typeface="Georgia"/>
                <a:cs typeface="Georgia"/>
                <a:sym typeface="Georgia"/>
              </a:defRPr>
            </a:pPr>
            <a:r>
              <a:t>The machine</a:t>
            </a:r>
          </a:p>
        </p:txBody>
      </p:sp>
      <p:sp>
        <p:nvSpPr>
          <p:cNvPr id="114" name="TextBox 7"/>
          <p:cNvSpPr txBox="1"/>
          <p:nvPr/>
        </p:nvSpPr>
        <p:spPr>
          <a:xfrm>
            <a:off x="768095" y="2514600"/>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AI, machine learning, deep learning, GenAI</a:t>
            </a:r>
          </a:p>
        </p:txBody>
      </p:sp>
      <p:sp>
        <p:nvSpPr>
          <p:cNvPr id="115" name="TextBox 8"/>
          <p:cNvSpPr txBox="1"/>
          <p:nvPr/>
        </p:nvSpPr>
        <p:spPr>
          <a:xfrm>
            <a:off x="768095" y="309981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How an LLM works — tokens and attention</a:t>
            </a:r>
          </a:p>
        </p:txBody>
      </p:sp>
      <p:sp>
        <p:nvSpPr>
          <p:cNvPr id="116" name="TextBox 9"/>
          <p:cNvSpPr txBox="1"/>
          <p:nvPr/>
        </p:nvSpPr>
        <p:spPr>
          <a:xfrm>
            <a:off x="768095" y="3685032"/>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Four eras of AI in finance</a:t>
            </a:r>
          </a:p>
        </p:txBody>
      </p:sp>
      <p:sp>
        <p:nvSpPr>
          <p:cNvPr id="117" name="TextBox 10"/>
          <p:cNvSpPr txBox="1"/>
          <p:nvPr/>
        </p:nvSpPr>
        <p:spPr>
          <a:xfrm>
            <a:off x="768095" y="4270247"/>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Which model to use, and when</a:t>
            </a:r>
          </a:p>
        </p:txBody>
      </p:sp>
      <p:sp>
        <p:nvSpPr>
          <p:cNvPr id="118" name="TextBox 11"/>
          <p:cNvSpPr txBox="1"/>
          <p:nvPr/>
        </p:nvSpPr>
        <p:spPr>
          <a:xfrm>
            <a:off x="768095" y="4855464"/>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The vocabulary you will hear all semester</a:t>
            </a:r>
          </a:p>
        </p:txBody>
      </p:sp>
      <p:sp>
        <p:nvSpPr>
          <p:cNvPr id="119" name="Rectangle 12"/>
          <p:cNvSpPr/>
          <p:nvPr/>
        </p:nvSpPr>
        <p:spPr>
          <a:xfrm>
            <a:off x="4315967" y="1572767"/>
            <a:ext cx="3611881" cy="397764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20" name="Rectangle 13"/>
          <p:cNvSpPr/>
          <p:nvPr/>
        </p:nvSpPr>
        <p:spPr>
          <a:xfrm>
            <a:off x="4315967" y="1572767"/>
            <a:ext cx="3611881" cy="731521"/>
          </a:xfrm>
          <a:prstGeom prst="rect">
            <a:avLst/>
          </a:prstGeom>
          <a:solidFill>
            <a:srgbClr val="8F7113"/>
          </a:solidFill>
          <a:ln w="12700">
            <a:miter lim="400000"/>
          </a:ln>
        </p:spPr>
        <p:txBody>
          <a:bodyPr lIns="45719" rIns="45719" anchor="ctr"/>
          <a:lstStyle/>
          <a:p>
            <a:pPr algn="ctr">
              <a:defRPr>
                <a:solidFill>
                  <a:srgbClr val="FFFFFF"/>
                </a:solidFill>
              </a:defRPr>
            </a:pPr>
          </a:p>
        </p:txBody>
      </p:sp>
      <p:sp>
        <p:nvSpPr>
          <p:cNvPr id="121" name="TextBox 14"/>
          <p:cNvSpPr txBox="1"/>
          <p:nvPr/>
        </p:nvSpPr>
        <p:spPr>
          <a:xfrm>
            <a:off x="4535423" y="1725621"/>
            <a:ext cx="3200401" cy="4258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100">
                <a:solidFill>
                  <a:srgbClr val="F5ECD3"/>
                </a:solidFill>
              </a:defRPr>
            </a:pPr>
            <a:r>
              <a:t>HOUR 2 · 60 MIN</a:t>
            </a:r>
          </a:p>
          <a:p>
            <a:pPr>
              <a:lnSpc>
                <a:spcPct val="104999"/>
              </a:lnSpc>
              <a:spcBef>
                <a:spcPts val="300"/>
              </a:spcBef>
              <a:defRPr b="1" sz="1500">
                <a:solidFill>
                  <a:srgbClr val="FFFFFF"/>
                </a:solidFill>
                <a:latin typeface="Georgia"/>
                <a:ea typeface="Georgia"/>
                <a:cs typeface="Georgia"/>
                <a:sym typeface="Georgia"/>
              </a:defRPr>
            </a:pPr>
            <a:r>
              <a:t>The architecture</a:t>
            </a:r>
          </a:p>
        </p:txBody>
      </p:sp>
      <p:sp>
        <p:nvSpPr>
          <p:cNvPr id="122" name="TextBox 15"/>
          <p:cNvSpPr txBox="1"/>
          <p:nvPr/>
        </p:nvSpPr>
        <p:spPr>
          <a:xfrm>
            <a:off x="4535423" y="2514600"/>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Chatbot vs agent — answering vs doing</a:t>
            </a:r>
          </a:p>
        </p:txBody>
      </p:sp>
      <p:sp>
        <p:nvSpPr>
          <p:cNvPr id="123" name="TextBox 16"/>
          <p:cNvSpPr txBox="1"/>
          <p:nvPr/>
        </p:nvSpPr>
        <p:spPr>
          <a:xfrm>
            <a:off x="4535423" y="309981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The loop: Observe → Plan → Act → Reflect</a:t>
            </a:r>
          </a:p>
        </p:txBody>
      </p:sp>
      <p:sp>
        <p:nvSpPr>
          <p:cNvPr id="124" name="TextBox 17"/>
          <p:cNvSpPr txBox="1"/>
          <p:nvPr/>
        </p:nvSpPr>
        <p:spPr>
          <a:xfrm>
            <a:off x="4535423" y="3685032"/>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Tool definitions and function calling</a:t>
            </a:r>
          </a:p>
        </p:txBody>
      </p:sp>
      <p:sp>
        <p:nvSpPr>
          <p:cNvPr id="125" name="TextBox 18"/>
          <p:cNvSpPr txBox="1"/>
          <p:nvPr/>
        </p:nvSpPr>
        <p:spPr>
          <a:xfrm>
            <a:off x="4535423" y="4270247"/>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Agent memory: short-term, episodic, semantic</a:t>
            </a:r>
          </a:p>
        </p:txBody>
      </p:sp>
      <p:sp>
        <p:nvSpPr>
          <p:cNvPr id="126" name="TextBox 19"/>
          <p:cNvSpPr txBox="1"/>
          <p:nvPr/>
        </p:nvSpPr>
        <p:spPr>
          <a:xfrm>
            <a:off x="4535423" y="4855464"/>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Data sources: NSE, BSE, Yahoo Finance, RBI DBIE</a:t>
            </a:r>
          </a:p>
        </p:txBody>
      </p:sp>
      <p:sp>
        <p:nvSpPr>
          <p:cNvPr id="127" name="Rectangle 20"/>
          <p:cNvSpPr/>
          <p:nvPr/>
        </p:nvSpPr>
        <p:spPr>
          <a:xfrm>
            <a:off x="8083295" y="1572767"/>
            <a:ext cx="3611881" cy="397764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28" name="Rectangle 21"/>
          <p:cNvSpPr/>
          <p:nvPr/>
        </p:nvSpPr>
        <p:spPr>
          <a:xfrm>
            <a:off x="8083295" y="1572767"/>
            <a:ext cx="3611881" cy="7315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129" name="TextBox 22"/>
          <p:cNvSpPr txBox="1"/>
          <p:nvPr/>
        </p:nvSpPr>
        <p:spPr>
          <a:xfrm>
            <a:off x="8302752" y="1725621"/>
            <a:ext cx="3200401" cy="4258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100">
                <a:solidFill>
                  <a:srgbClr val="F5ECD3"/>
                </a:solidFill>
              </a:defRPr>
            </a:pPr>
            <a:r>
              <a:t>HOUR 3 · 60 MIN</a:t>
            </a:r>
          </a:p>
          <a:p>
            <a:pPr>
              <a:lnSpc>
                <a:spcPct val="104999"/>
              </a:lnSpc>
              <a:spcBef>
                <a:spcPts val="300"/>
              </a:spcBef>
              <a:defRPr b="1" sz="1500">
                <a:solidFill>
                  <a:srgbClr val="FFFFFF"/>
                </a:solidFill>
                <a:latin typeface="Georgia"/>
                <a:ea typeface="Georgia"/>
                <a:cs typeface="Georgia"/>
                <a:sym typeface="Georgia"/>
              </a:defRPr>
            </a:pPr>
            <a:r>
              <a:t>The lab</a:t>
            </a:r>
          </a:p>
        </p:txBody>
      </p:sp>
      <p:sp>
        <p:nvSpPr>
          <p:cNvPr id="130" name="TextBox 23"/>
          <p:cNvSpPr txBox="1"/>
          <p:nvPr/>
        </p:nvSpPr>
        <p:spPr>
          <a:xfrm>
            <a:off x="8302752" y="2514600"/>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Python + the Codex</a:t>
            </a:r>
          </a:p>
        </p:txBody>
      </p:sp>
      <p:sp>
        <p:nvSpPr>
          <p:cNvPr id="131" name="TextBox 24"/>
          <p:cNvSpPr txBox="1"/>
          <p:nvPr/>
        </p:nvSpPr>
        <p:spPr>
          <a:xfrm>
            <a:off x="8302752" y="309981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Share price, revenue and the P&amp;L from Python</a:t>
            </a:r>
          </a:p>
        </p:txBody>
      </p:sp>
      <p:sp>
        <p:nvSpPr>
          <p:cNvPr id="132" name="TextBox 25"/>
          <p:cNvSpPr txBox="1"/>
          <p:nvPr/>
        </p:nvSpPr>
        <p:spPr>
          <a:xfrm>
            <a:off x="8302752" y="3685032"/>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Extract a P&amp;L from raw annual report text via Finance</a:t>
            </a:r>
          </a:p>
        </p:txBody>
      </p:sp>
      <p:sp>
        <p:nvSpPr>
          <p:cNvPr id="133" name="TextBox 26"/>
          <p:cNvSpPr txBox="1"/>
          <p:nvPr/>
        </p:nvSpPr>
        <p:spPr>
          <a:xfrm>
            <a:off x="8302752" y="4270247"/>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Codex as a Harness</a:t>
            </a:r>
          </a:p>
        </p:txBody>
      </p:sp>
      <p:sp>
        <p:nvSpPr>
          <p:cNvPr id="134" name="TextBox 27"/>
          <p:cNvSpPr txBox="1"/>
          <p:nvPr/>
        </p:nvSpPr>
        <p:spPr>
          <a:xfrm>
            <a:off x="8302752" y="4855464"/>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  </a:t>
            </a:r>
            <a:r>
              <a:rPr b="0">
                <a:solidFill>
                  <a:srgbClr val="1B2A41"/>
                </a:solidFill>
              </a:rPr>
              <a:t>One working application, built in minutes</a:t>
            </a:r>
          </a:p>
        </p:txBody>
      </p:sp>
      <p:sp>
        <p:nvSpPr>
          <p:cNvPr id="135" name="Rectangle 28"/>
          <p:cNvSpPr/>
          <p:nvPr/>
        </p:nvSpPr>
        <p:spPr>
          <a:xfrm>
            <a:off x="548640" y="5760720"/>
            <a:ext cx="11091672"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136" name="TextBox 29"/>
          <p:cNvSpPr txBox="1"/>
          <p:nvPr/>
        </p:nvSpPr>
        <p:spPr>
          <a:xfrm>
            <a:off x="822960" y="5984039"/>
            <a:ext cx="1054303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C9A227"/>
                </a:solidFill>
              </a:defRPr>
            </a:pPr>
            <a:r>
              <a:t>Our goal for today:  </a:t>
            </a:r>
            <a:r>
              <a:rPr b="0">
                <a:solidFill>
                  <a:srgbClr val="FFFFFF"/>
                </a:solidFill>
              </a:rPr>
              <a:t>a prompt and a Python script that read a filing and return numbers you can check. You build it in Hour 3.</a:t>
            </a:r>
          </a:p>
        </p:txBody>
      </p:sp>
      <p:sp>
        <p:nvSpPr>
          <p:cNvPr id="137" name="TextBox 30"/>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138" name="TextBox 31"/>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02</a:t>
            </a:r>
          </a:p>
        </p:txBody>
      </p:sp>
      <p:pic>
        <p:nvPicPr>
          <p:cNvPr id="139" name="Image" descr="Image"/>
          <p:cNvPicPr>
            <a:picLocks noChangeAspect="1"/>
          </p:cNvPicPr>
          <p:nvPr/>
        </p:nvPicPr>
        <p:blipFill>
          <a:blip r:embed="rId2">
            <a:extLst/>
          </a:blip>
          <a:stretch>
            <a:fillRect/>
          </a:stretch>
        </p:blipFill>
        <p:spPr>
          <a:xfrm>
            <a:off x="0" y="0"/>
            <a:ext cx="12192000" cy="6858000"/>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141"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142" name="TextBox 2"/>
          <p:cNvSpPr txBox="1"/>
          <p:nvPr/>
        </p:nvSpPr>
        <p:spPr>
          <a:xfrm>
            <a:off x="786383" y="310895"/>
            <a:ext cx="10820097"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50" sz="1100">
                <a:solidFill>
                  <a:srgbClr val="C9A227"/>
                </a:solidFill>
              </a:defRPr>
            </a:lvl1pPr>
          </a:lstStyle>
          <a:p>
            <a:pPr/>
            <a:r>
              <a:t>HOUR 1 · BASICS</a:t>
            </a:r>
          </a:p>
        </p:txBody>
      </p:sp>
      <p:sp>
        <p:nvSpPr>
          <p:cNvPr id="143" name="TextBox 3"/>
          <p:cNvSpPr txBox="1"/>
          <p:nvPr/>
        </p:nvSpPr>
        <p:spPr>
          <a:xfrm>
            <a:off x="548639" y="621791"/>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0F2145"/>
                </a:solidFill>
                <a:latin typeface="Georgia"/>
                <a:ea typeface="Georgia"/>
                <a:cs typeface="Georgia"/>
                <a:sym typeface="Georgia"/>
              </a:defRPr>
            </a:lvl1pPr>
          </a:lstStyle>
          <a:p>
            <a:pPr/>
            <a:r>
              <a:t>What is AI? Four nested ideas</a:t>
            </a:r>
          </a:p>
        </p:txBody>
      </p:sp>
      <p:sp>
        <p:nvSpPr>
          <p:cNvPr id="144" name="Rounded Rectangle 4"/>
          <p:cNvSpPr/>
          <p:nvPr/>
        </p:nvSpPr>
        <p:spPr>
          <a:xfrm>
            <a:off x="548640" y="1554480"/>
            <a:ext cx="5577841" cy="4480560"/>
          </a:xfrm>
          <a:prstGeom prst="roundRect">
            <a:avLst>
              <a:gd name="adj" fmla="val 5000"/>
            </a:avLst>
          </a:prstGeom>
          <a:solidFill>
            <a:srgbClr val="E9EFF8"/>
          </a:solidFill>
          <a:ln>
            <a:solidFill>
              <a:srgbClr val="3A5C9E"/>
            </a:solidFill>
          </a:ln>
        </p:spPr>
        <p:txBody>
          <a:bodyPr lIns="45719" rIns="45719" anchor="ctr"/>
          <a:lstStyle/>
          <a:p>
            <a:pPr algn="ctr">
              <a:defRPr>
                <a:solidFill>
                  <a:srgbClr val="FFFFFF"/>
                </a:solidFill>
              </a:defRPr>
            </a:pPr>
          </a:p>
        </p:txBody>
      </p:sp>
      <p:sp>
        <p:nvSpPr>
          <p:cNvPr id="145" name="TextBox 5"/>
          <p:cNvSpPr txBox="1"/>
          <p:nvPr/>
        </p:nvSpPr>
        <p:spPr>
          <a:xfrm>
            <a:off x="768095" y="1636776"/>
            <a:ext cx="5166361" cy="3176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pc="100" sz="1200">
                <a:solidFill>
                  <a:srgbClr val="0F2145"/>
                </a:solidFill>
              </a:defRPr>
            </a:pPr>
            <a:r>
              <a:t>ARTIFICIAL INTELLIGENCE</a:t>
            </a:r>
          </a:p>
          <a:p>
            <a:pPr>
              <a:spcBef>
                <a:spcPts val="100"/>
              </a:spcBef>
              <a:defRPr sz="900">
                <a:solidFill>
                  <a:srgbClr val="5D6B7E"/>
                </a:solidFill>
              </a:defRPr>
            </a:pPr>
            <a:r>
              <a:t>Any software that mimics human judgement</a:t>
            </a:r>
          </a:p>
        </p:txBody>
      </p:sp>
      <p:sp>
        <p:nvSpPr>
          <p:cNvPr id="146" name="Rounded Rectangle 6"/>
          <p:cNvSpPr/>
          <p:nvPr/>
        </p:nvSpPr>
        <p:spPr>
          <a:xfrm>
            <a:off x="804672" y="2249423"/>
            <a:ext cx="5065775" cy="3639313"/>
          </a:xfrm>
          <a:prstGeom prst="roundRect">
            <a:avLst>
              <a:gd name="adj" fmla="val 5000"/>
            </a:avLst>
          </a:prstGeom>
          <a:solidFill>
            <a:srgbClr val="D5E1F2"/>
          </a:solidFill>
          <a:ln>
            <a:solidFill>
              <a:srgbClr val="3A5C9E"/>
            </a:solidFill>
          </a:ln>
        </p:spPr>
        <p:txBody>
          <a:bodyPr lIns="45719" rIns="45719" anchor="ctr"/>
          <a:lstStyle/>
          <a:p>
            <a:pPr algn="ctr">
              <a:defRPr>
                <a:solidFill>
                  <a:srgbClr val="FFFFFF"/>
                </a:solidFill>
              </a:defRPr>
            </a:pPr>
          </a:p>
        </p:txBody>
      </p:sp>
      <p:sp>
        <p:nvSpPr>
          <p:cNvPr id="147" name="TextBox 7"/>
          <p:cNvSpPr txBox="1"/>
          <p:nvPr/>
        </p:nvSpPr>
        <p:spPr>
          <a:xfrm>
            <a:off x="1024127" y="2331720"/>
            <a:ext cx="4654296" cy="3176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pc="100" sz="1200">
                <a:solidFill>
                  <a:srgbClr val="0F2145"/>
                </a:solidFill>
              </a:defRPr>
            </a:pPr>
            <a:r>
              <a:t>MACHINE LEARNING</a:t>
            </a:r>
          </a:p>
          <a:p>
            <a:pPr>
              <a:spcBef>
                <a:spcPts val="100"/>
              </a:spcBef>
              <a:defRPr sz="900">
                <a:solidFill>
                  <a:srgbClr val="5D6B7E"/>
                </a:solidFill>
              </a:defRPr>
            </a:pPr>
            <a:r>
              <a:t>Learns rules from data instead of being programmed</a:t>
            </a:r>
          </a:p>
        </p:txBody>
      </p:sp>
      <p:sp>
        <p:nvSpPr>
          <p:cNvPr id="148" name="Rounded Rectangle 8"/>
          <p:cNvSpPr/>
          <p:nvPr/>
        </p:nvSpPr>
        <p:spPr>
          <a:xfrm>
            <a:off x="1060703" y="2944367"/>
            <a:ext cx="4553713" cy="2798066"/>
          </a:xfrm>
          <a:prstGeom prst="roundRect">
            <a:avLst>
              <a:gd name="adj" fmla="val 5000"/>
            </a:avLst>
          </a:prstGeom>
          <a:solidFill>
            <a:srgbClr val="BFD2EC"/>
          </a:solidFill>
          <a:ln>
            <a:solidFill>
              <a:srgbClr val="3A5C9E"/>
            </a:solidFill>
          </a:ln>
        </p:spPr>
        <p:txBody>
          <a:bodyPr lIns="45719" rIns="45719" anchor="ctr"/>
          <a:lstStyle/>
          <a:p>
            <a:pPr algn="ctr">
              <a:defRPr>
                <a:solidFill>
                  <a:srgbClr val="FFFFFF"/>
                </a:solidFill>
              </a:defRPr>
            </a:pPr>
          </a:p>
        </p:txBody>
      </p:sp>
      <p:sp>
        <p:nvSpPr>
          <p:cNvPr id="149" name="TextBox 9"/>
          <p:cNvSpPr txBox="1"/>
          <p:nvPr/>
        </p:nvSpPr>
        <p:spPr>
          <a:xfrm>
            <a:off x="1280160" y="3026662"/>
            <a:ext cx="4142232" cy="3176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pc="100" sz="1200">
                <a:solidFill>
                  <a:srgbClr val="0F2145"/>
                </a:solidFill>
              </a:defRPr>
            </a:pPr>
            <a:r>
              <a:t>DEEP LEARNING</a:t>
            </a:r>
          </a:p>
          <a:p>
            <a:pPr>
              <a:spcBef>
                <a:spcPts val="100"/>
              </a:spcBef>
              <a:defRPr sz="900">
                <a:solidFill>
                  <a:srgbClr val="5D6B7E"/>
                </a:solidFill>
              </a:defRPr>
            </a:pPr>
            <a:r>
              <a:t>Neural networks — learns from raw text, images, sound</a:t>
            </a:r>
          </a:p>
        </p:txBody>
      </p:sp>
      <p:sp>
        <p:nvSpPr>
          <p:cNvPr id="150" name="Rounded Rectangle 10"/>
          <p:cNvSpPr/>
          <p:nvPr/>
        </p:nvSpPr>
        <p:spPr>
          <a:xfrm>
            <a:off x="1316736" y="3639311"/>
            <a:ext cx="4041648" cy="1956817"/>
          </a:xfrm>
          <a:prstGeom prst="roundRect">
            <a:avLst>
              <a:gd name="adj" fmla="val 5000"/>
            </a:avLst>
          </a:prstGeom>
          <a:solidFill>
            <a:srgbClr val="0F2145"/>
          </a:solidFill>
          <a:ln w="12700">
            <a:miter lim="400000"/>
          </a:ln>
        </p:spPr>
        <p:txBody>
          <a:bodyPr lIns="45719" rIns="45719" anchor="ctr"/>
          <a:lstStyle/>
          <a:p>
            <a:pPr algn="ctr">
              <a:defRPr>
                <a:solidFill>
                  <a:srgbClr val="FFFFFF"/>
                </a:solidFill>
              </a:defRPr>
            </a:pPr>
          </a:p>
        </p:txBody>
      </p:sp>
      <p:sp>
        <p:nvSpPr>
          <p:cNvPr id="151" name="TextBox 11"/>
          <p:cNvSpPr txBox="1"/>
          <p:nvPr/>
        </p:nvSpPr>
        <p:spPr>
          <a:xfrm>
            <a:off x="1536191" y="3721608"/>
            <a:ext cx="3630169" cy="3176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pc="100" sz="1200">
                <a:solidFill>
                  <a:srgbClr val="FFFFFF"/>
                </a:solidFill>
              </a:defRPr>
            </a:pPr>
            <a:r>
              <a:t>GENERATIVE AI · LLMs</a:t>
            </a:r>
          </a:p>
          <a:p>
            <a:pPr>
              <a:spcBef>
                <a:spcPts val="100"/>
              </a:spcBef>
              <a:defRPr sz="900">
                <a:solidFill>
                  <a:srgbClr val="C9D6EE"/>
                </a:solidFill>
              </a:defRPr>
            </a:pPr>
            <a:r>
              <a:t>Creates new text, code and analysis — ChatGPT, Claude</a:t>
            </a:r>
          </a:p>
        </p:txBody>
      </p:sp>
      <p:sp>
        <p:nvSpPr>
          <p:cNvPr id="152" name="Rectangle 12"/>
          <p:cNvSpPr/>
          <p:nvPr/>
        </p:nvSpPr>
        <p:spPr>
          <a:xfrm>
            <a:off x="6492240" y="1554480"/>
            <a:ext cx="5120641" cy="1024129"/>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153" name="Rectangle 13"/>
          <p:cNvSpPr/>
          <p:nvPr/>
        </p:nvSpPr>
        <p:spPr>
          <a:xfrm>
            <a:off x="6492240" y="1554480"/>
            <a:ext cx="64009" cy="1024129"/>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154" name="TextBox 14"/>
          <p:cNvSpPr txBox="1"/>
          <p:nvPr/>
        </p:nvSpPr>
        <p:spPr>
          <a:xfrm>
            <a:off x="6711695" y="1700783"/>
            <a:ext cx="47548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0F2145"/>
                </a:solidFill>
                <a:latin typeface="Georgia"/>
                <a:ea typeface="Georgia"/>
                <a:cs typeface="Georgia"/>
                <a:sym typeface="Georgia"/>
              </a:defRPr>
            </a:lvl1pPr>
          </a:lstStyle>
          <a:p>
            <a:pPr/>
            <a:r>
              <a:t>AI</a:t>
            </a:r>
          </a:p>
        </p:txBody>
      </p:sp>
      <p:sp>
        <p:nvSpPr>
          <p:cNvPr id="155" name="TextBox 15"/>
          <p:cNvSpPr txBox="1"/>
          <p:nvPr/>
        </p:nvSpPr>
        <p:spPr>
          <a:xfrm>
            <a:off x="6711695" y="2084831"/>
            <a:ext cx="4736593"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8000"/>
              </a:lnSpc>
              <a:defRPr sz="1000">
                <a:solidFill>
                  <a:srgbClr val="5D6B7E"/>
                </a:solidFill>
              </a:defRPr>
            </a:lvl1pPr>
          </a:lstStyle>
          <a:p>
            <a:pPr/>
            <a:r>
              <a:t>The umbrella. Rules, logic, prediction — e.g. a loan-eligibility rule engine.</a:t>
            </a:r>
          </a:p>
        </p:txBody>
      </p:sp>
      <p:sp>
        <p:nvSpPr>
          <p:cNvPr id="156" name="Rectangle 16"/>
          <p:cNvSpPr/>
          <p:nvPr/>
        </p:nvSpPr>
        <p:spPr>
          <a:xfrm>
            <a:off x="6492240" y="2706623"/>
            <a:ext cx="5120641" cy="1024129"/>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157" name="Rectangle 17"/>
          <p:cNvSpPr/>
          <p:nvPr/>
        </p:nvSpPr>
        <p:spPr>
          <a:xfrm>
            <a:off x="6492240" y="2706623"/>
            <a:ext cx="64009" cy="1024129"/>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158" name="TextBox 18"/>
          <p:cNvSpPr txBox="1"/>
          <p:nvPr/>
        </p:nvSpPr>
        <p:spPr>
          <a:xfrm>
            <a:off x="6711695" y="2852927"/>
            <a:ext cx="47548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0F2145"/>
                </a:solidFill>
                <a:latin typeface="Georgia"/>
                <a:ea typeface="Georgia"/>
                <a:cs typeface="Georgia"/>
                <a:sym typeface="Georgia"/>
              </a:defRPr>
            </a:lvl1pPr>
          </a:lstStyle>
          <a:p>
            <a:pPr/>
            <a:r>
              <a:t>Machine Learning</a:t>
            </a:r>
          </a:p>
        </p:txBody>
      </p:sp>
      <p:sp>
        <p:nvSpPr>
          <p:cNvPr id="159" name="TextBox 19"/>
          <p:cNvSpPr txBox="1"/>
          <p:nvPr/>
        </p:nvSpPr>
        <p:spPr>
          <a:xfrm>
            <a:off x="6711695" y="3236976"/>
            <a:ext cx="4736593"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8000"/>
              </a:lnSpc>
              <a:defRPr sz="1000">
                <a:solidFill>
                  <a:srgbClr val="5D6B7E"/>
                </a:solidFill>
              </a:defRPr>
            </a:lvl1pPr>
          </a:lstStyle>
          <a:p>
            <a:pPr/>
            <a:r>
              <a:t>Show it 1 lakh past loans; it learns which borrowers default. No rules hand-written.</a:t>
            </a:r>
          </a:p>
        </p:txBody>
      </p:sp>
      <p:sp>
        <p:nvSpPr>
          <p:cNvPr id="160" name="Rectangle 20"/>
          <p:cNvSpPr/>
          <p:nvPr/>
        </p:nvSpPr>
        <p:spPr>
          <a:xfrm>
            <a:off x="6492240" y="3858767"/>
            <a:ext cx="5120641" cy="1024129"/>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161" name="Rectangle 21"/>
          <p:cNvSpPr/>
          <p:nvPr/>
        </p:nvSpPr>
        <p:spPr>
          <a:xfrm>
            <a:off x="6492240" y="3858767"/>
            <a:ext cx="64009" cy="1024129"/>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162" name="TextBox 22"/>
          <p:cNvSpPr txBox="1"/>
          <p:nvPr/>
        </p:nvSpPr>
        <p:spPr>
          <a:xfrm>
            <a:off x="6711695" y="4005071"/>
            <a:ext cx="47548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0F2145"/>
                </a:solidFill>
                <a:latin typeface="Georgia"/>
                <a:ea typeface="Georgia"/>
                <a:cs typeface="Georgia"/>
                <a:sym typeface="Georgia"/>
              </a:defRPr>
            </a:lvl1pPr>
          </a:lstStyle>
          <a:p>
            <a:pPr/>
            <a:r>
              <a:t>Deep Learning</a:t>
            </a:r>
          </a:p>
        </p:txBody>
      </p:sp>
      <p:sp>
        <p:nvSpPr>
          <p:cNvPr id="163" name="TextBox 23"/>
          <p:cNvSpPr txBox="1"/>
          <p:nvPr/>
        </p:nvSpPr>
        <p:spPr>
          <a:xfrm>
            <a:off x="6711695" y="4389120"/>
            <a:ext cx="4736593"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8000"/>
              </a:lnSpc>
              <a:defRPr sz="1000">
                <a:solidFill>
                  <a:srgbClr val="5D6B7E"/>
                </a:solidFill>
              </a:defRPr>
            </a:lvl1pPr>
          </a:lstStyle>
          <a:p>
            <a:pPr/>
            <a:r>
              <a:t>ML with many-layered neural networks. Powers fraud detection, face-KYC, speech.</a:t>
            </a:r>
          </a:p>
        </p:txBody>
      </p:sp>
      <p:sp>
        <p:nvSpPr>
          <p:cNvPr id="164" name="Rectangle 24"/>
          <p:cNvSpPr/>
          <p:nvPr/>
        </p:nvSpPr>
        <p:spPr>
          <a:xfrm>
            <a:off x="6492240" y="5010911"/>
            <a:ext cx="5120641" cy="1024129"/>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165" name="Rectangle 25"/>
          <p:cNvSpPr/>
          <p:nvPr/>
        </p:nvSpPr>
        <p:spPr>
          <a:xfrm>
            <a:off x="6492240" y="5010911"/>
            <a:ext cx="64009" cy="1024129"/>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166" name="TextBox 26"/>
          <p:cNvSpPr txBox="1"/>
          <p:nvPr/>
        </p:nvSpPr>
        <p:spPr>
          <a:xfrm>
            <a:off x="6711695" y="5157215"/>
            <a:ext cx="47548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0F2145"/>
                </a:solidFill>
                <a:latin typeface="Georgia"/>
                <a:ea typeface="Georgia"/>
                <a:cs typeface="Georgia"/>
                <a:sym typeface="Georgia"/>
              </a:defRPr>
            </a:lvl1pPr>
          </a:lstStyle>
          <a:p>
            <a:pPr/>
            <a:r>
              <a:t>Generative AI</a:t>
            </a:r>
          </a:p>
        </p:txBody>
      </p:sp>
      <p:sp>
        <p:nvSpPr>
          <p:cNvPr id="167" name="TextBox 27"/>
          <p:cNvSpPr txBox="1"/>
          <p:nvPr/>
        </p:nvSpPr>
        <p:spPr>
          <a:xfrm>
            <a:off x="6711695" y="5541264"/>
            <a:ext cx="4736593"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8000"/>
              </a:lnSpc>
              <a:defRPr sz="1000">
                <a:solidFill>
                  <a:srgbClr val="5D6B7E"/>
                </a:solidFill>
              </a:defRPr>
            </a:lvl1pPr>
          </a:lstStyle>
          <a:p>
            <a:pPr/>
            <a:r>
              <a:t>Doesn't just score or classify — it writes. Research notes, memos, code, emails.</a:t>
            </a:r>
          </a:p>
        </p:txBody>
      </p:sp>
      <p:sp>
        <p:nvSpPr>
          <p:cNvPr id="168" name="TextBox 28"/>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pc="180" sz="800">
                <a:solidFill>
                  <a:srgbClr val="5D6B7E"/>
                </a:solidFill>
              </a:defRPr>
            </a:lvl1pPr>
          </a:lstStyle>
          <a:p>
            <a:pPr/>
            <a:r>
              <a:t>ISBMS · PGDM 2025–27 · AGENTIC AI &amp; ADVANCED ANALYTICS IN FINANCE</a:t>
            </a:r>
          </a:p>
        </p:txBody>
      </p:sp>
      <p:sp>
        <p:nvSpPr>
          <p:cNvPr id="169" name="TextBox 29"/>
          <p:cNvSpPr txBox="1"/>
          <p:nvPr/>
        </p:nvSpPr>
        <p:spPr>
          <a:xfrm>
            <a:off x="9814255" y="6473952"/>
            <a:ext cx="1828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pc="120" sz="800">
                <a:solidFill>
                  <a:srgbClr val="5D6B7E"/>
                </a:solidFill>
              </a:defRPr>
            </a:lvl1pPr>
          </a:lstStyle>
          <a:p>
            <a:pPr/>
            <a:r>
              <a:t>MODULE 1  ·  03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171"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172"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1 · DEFINITIONS</a:t>
            </a:r>
          </a:p>
        </p:txBody>
      </p:sp>
      <p:sp>
        <p:nvSpPr>
          <p:cNvPr id="173"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Generative AI, AI agent, agentic AI</a:t>
            </a:r>
          </a:p>
        </p:txBody>
      </p:sp>
      <p:sp>
        <p:nvSpPr>
          <p:cNvPr id="174" name="Rectangle 4"/>
          <p:cNvSpPr/>
          <p:nvPr/>
        </p:nvSpPr>
        <p:spPr>
          <a:xfrm>
            <a:off x="548640" y="1572767"/>
            <a:ext cx="3611880" cy="384048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175" name="TextBox 5"/>
          <p:cNvSpPr txBox="1"/>
          <p:nvPr/>
        </p:nvSpPr>
        <p:spPr>
          <a:xfrm>
            <a:off x="786383" y="1755648"/>
            <a:ext cx="310896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3A5C9E"/>
                </a:solidFill>
              </a:defRPr>
            </a:lvl1pPr>
          </a:lstStyle>
          <a:p>
            <a:pPr/>
            <a:r>
              <a:t>GENERATIVE AI</a:t>
            </a:r>
          </a:p>
        </p:txBody>
      </p:sp>
      <p:sp>
        <p:nvSpPr>
          <p:cNvPr id="176" name="TextBox 6"/>
          <p:cNvSpPr txBox="1"/>
          <p:nvPr/>
        </p:nvSpPr>
        <p:spPr>
          <a:xfrm>
            <a:off x="786383" y="2066543"/>
            <a:ext cx="310896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700">
                <a:solidFill>
                  <a:srgbClr val="0F2145"/>
                </a:solidFill>
                <a:latin typeface="Georgia"/>
                <a:ea typeface="Georgia"/>
                <a:cs typeface="Georgia"/>
                <a:sym typeface="Georgia"/>
              </a:defRPr>
            </a:lvl1pPr>
          </a:lstStyle>
          <a:p>
            <a:pPr/>
            <a:r>
              <a:t>It writes.</a:t>
            </a:r>
          </a:p>
        </p:txBody>
      </p:sp>
      <p:sp>
        <p:nvSpPr>
          <p:cNvPr id="177" name="TextBox 7"/>
          <p:cNvSpPr txBox="1"/>
          <p:nvPr/>
        </p:nvSpPr>
        <p:spPr>
          <a:xfrm>
            <a:off x="786383" y="2606039"/>
            <a:ext cx="3108962" cy="3060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100">
                <a:solidFill>
                  <a:srgbClr val="1B2A41"/>
                </a:solidFill>
              </a:defRPr>
            </a:lvl1pPr>
          </a:lstStyle>
          <a:p>
            <a:pPr/>
            <a:r>
              <a:t>A model that produces text, code, tables or images when you ask. It answers and then stops.</a:t>
            </a:r>
          </a:p>
        </p:txBody>
      </p:sp>
      <p:sp>
        <p:nvSpPr>
          <p:cNvPr id="178" name="Rectangle 8"/>
          <p:cNvSpPr/>
          <p:nvPr/>
        </p:nvSpPr>
        <p:spPr>
          <a:xfrm>
            <a:off x="786383" y="3794759"/>
            <a:ext cx="3136394" cy="86868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79" name="TextBox 9"/>
          <p:cNvSpPr txBox="1"/>
          <p:nvPr/>
        </p:nvSpPr>
        <p:spPr>
          <a:xfrm>
            <a:off x="950975" y="3913632"/>
            <a:ext cx="2834641" cy="4793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a:t>
            </a:r>
          </a:p>
          <a:p>
            <a:pPr>
              <a:lnSpc>
                <a:spcPct val="104999"/>
              </a:lnSpc>
              <a:spcBef>
                <a:spcPts val="300"/>
              </a:spcBef>
              <a:defRPr sz="1000">
                <a:solidFill>
                  <a:srgbClr val="1B2A41"/>
                </a:solidFill>
              </a:defRPr>
            </a:pPr>
            <a:r>
              <a:t>You ask for a summary of an annual report. You get the summary.</a:t>
            </a:r>
          </a:p>
        </p:txBody>
      </p:sp>
      <p:sp>
        <p:nvSpPr>
          <p:cNvPr id="180" name="TextBox 10"/>
          <p:cNvSpPr txBox="1"/>
          <p:nvPr/>
        </p:nvSpPr>
        <p:spPr>
          <a:xfrm>
            <a:off x="786383" y="4800600"/>
            <a:ext cx="310896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5D6B7E"/>
                </a:solidFill>
              </a:defRPr>
            </a:lvl1pPr>
          </a:lstStyle>
          <a:p>
            <a:pPr/>
            <a:r>
              <a:t>ChatGPT, Claude, Gemini in a chat window.</a:t>
            </a:r>
          </a:p>
        </p:txBody>
      </p:sp>
      <p:sp>
        <p:nvSpPr>
          <p:cNvPr id="181" name="Rectangle 11"/>
          <p:cNvSpPr/>
          <p:nvPr/>
        </p:nvSpPr>
        <p:spPr>
          <a:xfrm>
            <a:off x="4315967" y="1572767"/>
            <a:ext cx="3611881" cy="3840481"/>
          </a:xfrm>
          <a:prstGeom prst="rect">
            <a:avLst/>
          </a:prstGeom>
          <a:solidFill>
            <a:srgbClr val="D5E1F2"/>
          </a:solidFill>
          <a:ln w="12700">
            <a:miter lim="400000"/>
          </a:ln>
        </p:spPr>
        <p:txBody>
          <a:bodyPr lIns="45719" rIns="45719" anchor="ctr"/>
          <a:lstStyle/>
          <a:p>
            <a:pPr algn="ctr">
              <a:defRPr>
                <a:solidFill>
                  <a:srgbClr val="FFFFFF"/>
                </a:solidFill>
              </a:defRPr>
            </a:pPr>
          </a:p>
        </p:txBody>
      </p:sp>
      <p:sp>
        <p:nvSpPr>
          <p:cNvPr id="182" name="TextBox 12"/>
          <p:cNvSpPr txBox="1"/>
          <p:nvPr/>
        </p:nvSpPr>
        <p:spPr>
          <a:xfrm>
            <a:off x="4553711" y="1755648"/>
            <a:ext cx="310896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3A5C9E"/>
                </a:solidFill>
              </a:defRPr>
            </a:lvl1pPr>
          </a:lstStyle>
          <a:p>
            <a:pPr/>
            <a:r>
              <a:t>AI AGENT</a:t>
            </a:r>
          </a:p>
        </p:txBody>
      </p:sp>
      <p:sp>
        <p:nvSpPr>
          <p:cNvPr id="183" name="TextBox 13"/>
          <p:cNvSpPr txBox="1"/>
          <p:nvPr/>
        </p:nvSpPr>
        <p:spPr>
          <a:xfrm>
            <a:off x="4553711" y="2066543"/>
            <a:ext cx="310896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700">
                <a:solidFill>
                  <a:srgbClr val="0F2145"/>
                </a:solidFill>
                <a:latin typeface="Georgia"/>
                <a:ea typeface="Georgia"/>
                <a:cs typeface="Georgia"/>
                <a:sym typeface="Georgia"/>
              </a:defRPr>
            </a:lvl1pPr>
          </a:lstStyle>
          <a:p>
            <a:pPr/>
            <a:r>
              <a:t>It does.</a:t>
            </a:r>
          </a:p>
        </p:txBody>
      </p:sp>
      <p:sp>
        <p:nvSpPr>
          <p:cNvPr id="184" name="TextBox 14"/>
          <p:cNvSpPr txBox="1"/>
          <p:nvPr/>
        </p:nvSpPr>
        <p:spPr>
          <a:xfrm>
            <a:off x="4553711" y="2606039"/>
            <a:ext cx="3108962" cy="3060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100">
                <a:solidFill>
                  <a:srgbClr val="1B2A41"/>
                </a:solidFill>
              </a:defRPr>
            </a:lvl1pPr>
          </a:lstStyle>
          <a:p>
            <a:pPr/>
            <a:r>
              <a:t>One model with tools, memory and a goal. It decides which tool to call, calls it, and checks the result.</a:t>
            </a:r>
          </a:p>
        </p:txBody>
      </p:sp>
      <p:sp>
        <p:nvSpPr>
          <p:cNvPr id="185" name="Rectangle 15"/>
          <p:cNvSpPr/>
          <p:nvPr/>
        </p:nvSpPr>
        <p:spPr>
          <a:xfrm>
            <a:off x="4553711" y="3794759"/>
            <a:ext cx="3136394" cy="86868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86" name="TextBox 16"/>
          <p:cNvSpPr txBox="1"/>
          <p:nvPr/>
        </p:nvSpPr>
        <p:spPr>
          <a:xfrm>
            <a:off x="4718303" y="3913632"/>
            <a:ext cx="2834641" cy="4793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a:t>
            </a:r>
          </a:p>
          <a:p>
            <a:pPr>
              <a:lnSpc>
                <a:spcPct val="104999"/>
              </a:lnSpc>
              <a:spcBef>
                <a:spcPts val="300"/>
              </a:spcBef>
              <a:defRPr sz="1000">
                <a:solidFill>
                  <a:srgbClr val="1B2A41"/>
                </a:solidFill>
              </a:defRPr>
            </a:pPr>
            <a:r>
              <a:t>“Get me Reliance's revenue.” It calls the market data tool and returns the number.</a:t>
            </a:r>
          </a:p>
        </p:txBody>
      </p:sp>
      <p:sp>
        <p:nvSpPr>
          <p:cNvPr id="187" name="TextBox 17"/>
          <p:cNvSpPr txBox="1"/>
          <p:nvPr/>
        </p:nvSpPr>
        <p:spPr>
          <a:xfrm>
            <a:off x="4553711" y="4800600"/>
            <a:ext cx="310896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5D6B7E"/>
                </a:solidFill>
              </a:defRPr>
            </a:lvl1pPr>
          </a:lstStyle>
          <a:p>
            <a:pPr/>
            <a:r>
              <a:t>The Codex session that built your app today.</a:t>
            </a:r>
          </a:p>
        </p:txBody>
      </p:sp>
      <p:sp>
        <p:nvSpPr>
          <p:cNvPr id="188" name="Rectangle 18"/>
          <p:cNvSpPr/>
          <p:nvPr/>
        </p:nvSpPr>
        <p:spPr>
          <a:xfrm>
            <a:off x="8083295" y="1572767"/>
            <a:ext cx="3611881" cy="384048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189" name="TextBox 19"/>
          <p:cNvSpPr txBox="1"/>
          <p:nvPr/>
        </p:nvSpPr>
        <p:spPr>
          <a:xfrm>
            <a:off x="8321040" y="1755648"/>
            <a:ext cx="310896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AGENTIC AI</a:t>
            </a:r>
          </a:p>
        </p:txBody>
      </p:sp>
      <p:sp>
        <p:nvSpPr>
          <p:cNvPr id="190" name="TextBox 20"/>
          <p:cNvSpPr txBox="1"/>
          <p:nvPr/>
        </p:nvSpPr>
        <p:spPr>
          <a:xfrm>
            <a:off x="8321040" y="2066543"/>
            <a:ext cx="310896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700">
                <a:solidFill>
                  <a:srgbClr val="FFFFFF"/>
                </a:solidFill>
                <a:latin typeface="Georgia"/>
                <a:ea typeface="Georgia"/>
                <a:cs typeface="Georgia"/>
                <a:sym typeface="Georgia"/>
              </a:defRPr>
            </a:lvl1pPr>
          </a:lstStyle>
          <a:p>
            <a:pPr/>
            <a:r>
              <a:t>Several of them, organised.</a:t>
            </a:r>
          </a:p>
        </p:txBody>
      </p:sp>
      <p:sp>
        <p:nvSpPr>
          <p:cNvPr id="191" name="TextBox 21"/>
          <p:cNvSpPr txBox="1"/>
          <p:nvPr/>
        </p:nvSpPr>
        <p:spPr>
          <a:xfrm>
            <a:off x="8321040" y="2606039"/>
            <a:ext cx="3108961" cy="3060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100">
                <a:solidFill>
                  <a:srgbClr val="C9D6EE"/>
                </a:solidFill>
              </a:defRPr>
            </a:lvl1pPr>
          </a:lstStyle>
          <a:p>
            <a:pPr/>
            <a:r>
              <a:t>Many agents and models, each with a role, wired into one system with validation and a human at the end.</a:t>
            </a:r>
          </a:p>
        </p:txBody>
      </p:sp>
      <p:sp>
        <p:nvSpPr>
          <p:cNvPr id="192" name="Rectangle 22"/>
          <p:cNvSpPr/>
          <p:nvPr/>
        </p:nvSpPr>
        <p:spPr>
          <a:xfrm>
            <a:off x="8321040" y="3794759"/>
            <a:ext cx="3136393" cy="86868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93" name="TextBox 23"/>
          <p:cNvSpPr txBox="1"/>
          <p:nvPr/>
        </p:nvSpPr>
        <p:spPr>
          <a:xfrm>
            <a:off x="8485631" y="3913632"/>
            <a:ext cx="2834641" cy="4793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a:t>
            </a:r>
          </a:p>
          <a:p>
            <a:pPr>
              <a:lnSpc>
                <a:spcPct val="104999"/>
              </a:lnSpc>
              <a:spcBef>
                <a:spcPts val="300"/>
              </a:spcBef>
              <a:defRPr sz="1000">
                <a:solidFill>
                  <a:srgbClr val="1B2A41"/>
                </a:solidFill>
              </a:defRPr>
            </a:pPr>
            <a:r>
              <a:t>Research agent, valuation agent, writer, then Python checks the maths, then a human signs.</a:t>
            </a:r>
          </a:p>
        </p:txBody>
      </p:sp>
      <p:sp>
        <p:nvSpPr>
          <p:cNvPr id="194" name="TextBox 24"/>
          <p:cNvSpPr txBox="1"/>
          <p:nvPr/>
        </p:nvSpPr>
        <p:spPr>
          <a:xfrm>
            <a:off x="8321040" y="4800600"/>
            <a:ext cx="310896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JARVIS. Slide 17 shows how it is put together.</a:t>
            </a:r>
          </a:p>
        </p:txBody>
      </p:sp>
      <p:sp>
        <p:nvSpPr>
          <p:cNvPr id="195" name="Rectangle 25"/>
          <p:cNvSpPr/>
          <p:nvPr/>
        </p:nvSpPr>
        <p:spPr>
          <a:xfrm>
            <a:off x="548640" y="5669279"/>
            <a:ext cx="11091672"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196" name="TextBox 26"/>
          <p:cNvSpPr txBox="1"/>
          <p:nvPr/>
        </p:nvSpPr>
        <p:spPr>
          <a:xfrm>
            <a:off x="822960" y="5892599"/>
            <a:ext cx="1054303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C9A227"/>
                </a:solidFill>
              </a:defRPr>
            </a:pPr>
            <a:r>
              <a:t>The dividing line:  </a:t>
            </a:r>
            <a:r>
              <a:rPr b="0">
                <a:solidFill>
                  <a:srgbClr val="FFFFFF"/>
                </a:solidFill>
              </a:rPr>
              <a:t>generative AI answers you. An agent acts for you. Agentic AI is several agents doing that together, with checks between them.</a:t>
            </a:r>
          </a:p>
        </p:txBody>
      </p:sp>
      <p:sp>
        <p:nvSpPr>
          <p:cNvPr id="197" name="TextBox 27"/>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198" name="TextBox 28"/>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04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200"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01"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1 · CONTEXT</a:t>
            </a:r>
          </a:p>
        </p:txBody>
      </p:sp>
      <p:sp>
        <p:nvSpPr>
          <p:cNvPr id="202"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Four eras of AI in finance. Banks run all four today.</a:t>
            </a:r>
          </a:p>
        </p:txBody>
      </p:sp>
      <p:sp>
        <p:nvSpPr>
          <p:cNvPr id="203" name="Rectangle 4"/>
          <p:cNvSpPr/>
          <p:nvPr/>
        </p:nvSpPr>
        <p:spPr>
          <a:xfrm>
            <a:off x="548639" y="1572767"/>
            <a:ext cx="2670050" cy="320040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204" name="TextBox 5"/>
          <p:cNvSpPr txBox="1"/>
          <p:nvPr/>
        </p:nvSpPr>
        <p:spPr>
          <a:xfrm>
            <a:off x="768095"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3A5C9E"/>
                </a:solidFill>
              </a:defRPr>
            </a:lvl1pPr>
          </a:lstStyle>
          <a:p>
            <a:pPr/>
            <a:r>
              <a:t>1980s – 2000s</a:t>
            </a:r>
          </a:p>
        </p:txBody>
      </p:sp>
      <p:sp>
        <p:nvSpPr>
          <p:cNvPr id="205" name="TextBox 6"/>
          <p:cNvSpPr txBox="1"/>
          <p:nvPr/>
        </p:nvSpPr>
        <p:spPr>
          <a:xfrm>
            <a:off x="768095" y="2029967"/>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0F2145"/>
                </a:solidFill>
                <a:latin typeface="Georgia"/>
                <a:ea typeface="Georgia"/>
                <a:cs typeface="Georgia"/>
                <a:sym typeface="Georgia"/>
              </a:defRPr>
            </a:lvl1pPr>
          </a:lstStyle>
          <a:p>
            <a:pPr/>
            <a:r>
              <a:t>RULE-BASED</a:t>
            </a:r>
          </a:p>
        </p:txBody>
      </p:sp>
      <p:sp>
        <p:nvSpPr>
          <p:cNvPr id="206" name="TextBox 7"/>
          <p:cNvSpPr txBox="1"/>
          <p:nvPr/>
        </p:nvSpPr>
        <p:spPr>
          <a:xfrm>
            <a:off x="768095" y="269747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A human writes the rules. IF EMI-to-income &gt; 50%, THEN reject.</a:t>
            </a:r>
          </a:p>
        </p:txBody>
      </p:sp>
      <p:sp>
        <p:nvSpPr>
          <p:cNvPr id="207" name="TextBox 8"/>
          <p:cNvSpPr txBox="1"/>
          <p:nvPr/>
        </p:nvSpPr>
        <p:spPr>
          <a:xfrm>
            <a:off x="768095" y="3794759"/>
            <a:ext cx="2286001" cy="4920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5D6B7E"/>
                </a:solidFill>
              </a:defRPr>
            </a:pPr>
            <a:r>
              <a:t>ON THE DESK</a:t>
            </a:r>
          </a:p>
          <a:p>
            <a:pPr>
              <a:lnSpc>
                <a:spcPct val="104999"/>
              </a:lnSpc>
              <a:spcBef>
                <a:spcPts val="400"/>
              </a:spcBef>
              <a:defRPr sz="1000">
                <a:solidFill>
                  <a:srgbClr val="5D6B7E"/>
                </a:solidFill>
              </a:defRPr>
            </a:pPr>
            <a:r>
              <a:t>Credit policy engines, limit checks, settlement matching.</a:t>
            </a:r>
          </a:p>
        </p:txBody>
      </p:sp>
      <p:sp>
        <p:nvSpPr>
          <p:cNvPr id="208" name="TextBox 9"/>
          <p:cNvSpPr txBox="1"/>
          <p:nvPr/>
        </p:nvSpPr>
        <p:spPr>
          <a:xfrm>
            <a:off x="3236976" y="2926079"/>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209" name="Rectangle 10"/>
          <p:cNvSpPr/>
          <p:nvPr/>
        </p:nvSpPr>
        <p:spPr>
          <a:xfrm>
            <a:off x="3374135" y="1572767"/>
            <a:ext cx="2670049" cy="3200401"/>
          </a:xfrm>
          <a:prstGeom prst="rect">
            <a:avLst/>
          </a:prstGeom>
          <a:solidFill>
            <a:srgbClr val="D5E1F2"/>
          </a:solidFill>
          <a:ln w="12700">
            <a:miter lim="400000"/>
          </a:ln>
        </p:spPr>
        <p:txBody>
          <a:bodyPr lIns="45719" rIns="45719" anchor="ctr"/>
          <a:lstStyle/>
          <a:p>
            <a:pPr algn="ctr">
              <a:defRPr>
                <a:solidFill>
                  <a:srgbClr val="FFFFFF"/>
                </a:solidFill>
              </a:defRPr>
            </a:pPr>
          </a:p>
        </p:txBody>
      </p:sp>
      <p:sp>
        <p:nvSpPr>
          <p:cNvPr id="210" name="TextBox 11"/>
          <p:cNvSpPr txBox="1"/>
          <p:nvPr/>
        </p:nvSpPr>
        <p:spPr>
          <a:xfrm>
            <a:off x="3593591"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3A5C9E"/>
                </a:solidFill>
              </a:defRPr>
            </a:lvl1pPr>
          </a:lstStyle>
          <a:p>
            <a:pPr/>
            <a:r>
              <a:t>2000s – 2015</a:t>
            </a:r>
          </a:p>
        </p:txBody>
      </p:sp>
      <p:sp>
        <p:nvSpPr>
          <p:cNvPr id="211" name="TextBox 12"/>
          <p:cNvSpPr txBox="1"/>
          <p:nvPr/>
        </p:nvSpPr>
        <p:spPr>
          <a:xfrm>
            <a:off x="3593591" y="2029967"/>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0F2145"/>
                </a:solidFill>
                <a:latin typeface="Georgia"/>
                <a:ea typeface="Georgia"/>
                <a:cs typeface="Georgia"/>
                <a:sym typeface="Georgia"/>
              </a:defRPr>
            </a:lvl1pPr>
          </a:lstStyle>
          <a:p>
            <a:pPr/>
            <a:r>
              <a:t>MACHINE LEARNING</a:t>
            </a:r>
          </a:p>
        </p:txBody>
      </p:sp>
      <p:sp>
        <p:nvSpPr>
          <p:cNvPr id="212" name="TextBox 13"/>
          <p:cNvSpPr txBox="1"/>
          <p:nvPr/>
        </p:nvSpPr>
        <p:spPr>
          <a:xfrm>
            <a:off x="3593591" y="269747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Show it a lakh past loans; it learns which patterns predict default.</a:t>
            </a:r>
          </a:p>
        </p:txBody>
      </p:sp>
      <p:sp>
        <p:nvSpPr>
          <p:cNvPr id="213" name="TextBox 14"/>
          <p:cNvSpPr txBox="1"/>
          <p:nvPr/>
        </p:nvSpPr>
        <p:spPr>
          <a:xfrm>
            <a:off x="3593591" y="3794759"/>
            <a:ext cx="2286001" cy="320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5D6B7E"/>
                </a:solidFill>
              </a:defRPr>
            </a:pPr>
            <a:r>
              <a:t>ON THE DESK</a:t>
            </a:r>
          </a:p>
          <a:p>
            <a:pPr>
              <a:lnSpc>
                <a:spcPct val="104999"/>
              </a:lnSpc>
              <a:spcBef>
                <a:spcPts val="400"/>
              </a:spcBef>
              <a:defRPr sz="1000">
                <a:solidFill>
                  <a:srgbClr val="5D6B7E"/>
                </a:solidFill>
              </a:defRPr>
            </a:pPr>
            <a:r>
              <a:t>PD scorecards, fraud scoring, churn models.</a:t>
            </a:r>
          </a:p>
        </p:txBody>
      </p:sp>
      <p:sp>
        <p:nvSpPr>
          <p:cNvPr id="214" name="TextBox 15"/>
          <p:cNvSpPr txBox="1"/>
          <p:nvPr/>
        </p:nvSpPr>
        <p:spPr>
          <a:xfrm>
            <a:off x="6062471" y="2926079"/>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215" name="Rectangle 16"/>
          <p:cNvSpPr/>
          <p:nvPr/>
        </p:nvSpPr>
        <p:spPr>
          <a:xfrm>
            <a:off x="6199630" y="1572767"/>
            <a:ext cx="2670049" cy="3200401"/>
          </a:xfrm>
          <a:prstGeom prst="rect">
            <a:avLst/>
          </a:prstGeom>
          <a:solidFill>
            <a:srgbClr val="BFD2EC"/>
          </a:solidFill>
          <a:ln w="12700">
            <a:miter lim="400000"/>
          </a:ln>
        </p:spPr>
        <p:txBody>
          <a:bodyPr lIns="45719" rIns="45719" anchor="ctr"/>
          <a:lstStyle/>
          <a:p>
            <a:pPr algn="ctr">
              <a:defRPr>
                <a:solidFill>
                  <a:srgbClr val="FFFFFF"/>
                </a:solidFill>
              </a:defRPr>
            </a:pPr>
          </a:p>
        </p:txBody>
      </p:sp>
      <p:sp>
        <p:nvSpPr>
          <p:cNvPr id="216" name="TextBox 17"/>
          <p:cNvSpPr txBox="1"/>
          <p:nvPr/>
        </p:nvSpPr>
        <p:spPr>
          <a:xfrm>
            <a:off x="6419088"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3A5C9E"/>
                </a:solidFill>
              </a:defRPr>
            </a:lvl1pPr>
          </a:lstStyle>
          <a:p>
            <a:pPr/>
            <a:r>
              <a:t>2015 – 2022</a:t>
            </a:r>
          </a:p>
        </p:txBody>
      </p:sp>
      <p:sp>
        <p:nvSpPr>
          <p:cNvPr id="217" name="TextBox 18"/>
          <p:cNvSpPr txBox="1"/>
          <p:nvPr/>
        </p:nvSpPr>
        <p:spPr>
          <a:xfrm>
            <a:off x="6419088" y="2029967"/>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0F2145"/>
                </a:solidFill>
                <a:latin typeface="Georgia"/>
                <a:ea typeface="Georgia"/>
                <a:cs typeface="Georgia"/>
                <a:sym typeface="Georgia"/>
              </a:defRPr>
            </a:lvl1pPr>
          </a:lstStyle>
          <a:p>
            <a:pPr/>
            <a:r>
              <a:t>DEEP LEARNING</a:t>
            </a:r>
          </a:p>
        </p:txBody>
      </p:sp>
      <p:sp>
        <p:nvSpPr>
          <p:cNvPr id="218" name="TextBox 19"/>
          <p:cNvSpPr txBox="1"/>
          <p:nvPr/>
        </p:nvSpPr>
        <p:spPr>
          <a:xfrm>
            <a:off x="6419088" y="269747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Neural networks read raw text and images without hand-made features.</a:t>
            </a:r>
          </a:p>
        </p:txBody>
      </p:sp>
      <p:sp>
        <p:nvSpPr>
          <p:cNvPr id="219" name="TextBox 20"/>
          <p:cNvSpPr txBox="1"/>
          <p:nvPr/>
        </p:nvSpPr>
        <p:spPr>
          <a:xfrm>
            <a:off x="6419088" y="3794759"/>
            <a:ext cx="2286001" cy="4920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5D6B7E"/>
                </a:solidFill>
              </a:defRPr>
            </a:pPr>
            <a:r>
              <a:t>ON THE DESK</a:t>
            </a:r>
          </a:p>
          <a:p>
            <a:pPr>
              <a:lnSpc>
                <a:spcPct val="104999"/>
              </a:lnSpc>
              <a:spcBef>
                <a:spcPts val="400"/>
              </a:spcBef>
              <a:defRPr sz="1000">
                <a:solidFill>
                  <a:srgbClr val="5D6B7E"/>
                </a:solidFill>
              </a:defRPr>
            </a:pPr>
            <a:r>
              <a:t>Cheque OCR, KYC document reading, transaction fraud nets.</a:t>
            </a:r>
          </a:p>
        </p:txBody>
      </p:sp>
      <p:sp>
        <p:nvSpPr>
          <p:cNvPr id="220" name="TextBox 21"/>
          <p:cNvSpPr txBox="1"/>
          <p:nvPr/>
        </p:nvSpPr>
        <p:spPr>
          <a:xfrm>
            <a:off x="8887966" y="2926079"/>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221" name="Rectangle 22"/>
          <p:cNvSpPr/>
          <p:nvPr/>
        </p:nvSpPr>
        <p:spPr>
          <a:xfrm>
            <a:off x="9025128" y="1572767"/>
            <a:ext cx="2670049" cy="320040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222" name="TextBox 23"/>
          <p:cNvSpPr txBox="1"/>
          <p:nvPr/>
        </p:nvSpPr>
        <p:spPr>
          <a:xfrm>
            <a:off x="9244583"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C9A227"/>
                </a:solidFill>
              </a:defRPr>
            </a:lvl1pPr>
          </a:lstStyle>
          <a:p>
            <a:pPr/>
            <a:r>
              <a:t>2022 – now</a:t>
            </a:r>
          </a:p>
        </p:txBody>
      </p:sp>
      <p:sp>
        <p:nvSpPr>
          <p:cNvPr id="223" name="TextBox 24"/>
          <p:cNvSpPr txBox="1"/>
          <p:nvPr/>
        </p:nvSpPr>
        <p:spPr>
          <a:xfrm>
            <a:off x="9244583" y="2029967"/>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FFFFFF"/>
                </a:solidFill>
                <a:latin typeface="Georgia"/>
                <a:ea typeface="Georgia"/>
                <a:cs typeface="Georgia"/>
                <a:sym typeface="Georgia"/>
              </a:defRPr>
            </a:lvl1pPr>
          </a:lstStyle>
          <a:p>
            <a:pPr/>
            <a:r>
              <a:t>GENERATIVE &amp; AGENTIC</a:t>
            </a:r>
          </a:p>
        </p:txBody>
      </p:sp>
      <p:sp>
        <p:nvSpPr>
          <p:cNvPr id="224" name="TextBox 25"/>
          <p:cNvSpPr txBox="1"/>
          <p:nvPr/>
        </p:nvSpPr>
        <p:spPr>
          <a:xfrm>
            <a:off x="9244583" y="269747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C9D6EE"/>
                </a:solidFill>
              </a:defRPr>
            </a:lvl1pPr>
          </a:lstStyle>
          <a:p>
            <a:pPr/>
            <a:r>
              <a:t>It writes — and then it acts, calling tools to finish the task.</a:t>
            </a:r>
          </a:p>
        </p:txBody>
      </p:sp>
      <p:sp>
        <p:nvSpPr>
          <p:cNvPr id="225" name="TextBox 26"/>
          <p:cNvSpPr txBox="1"/>
          <p:nvPr/>
        </p:nvSpPr>
        <p:spPr>
          <a:xfrm>
            <a:off x="9244583" y="3794759"/>
            <a:ext cx="2286001" cy="4920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C9A227"/>
                </a:solidFill>
              </a:defRPr>
            </a:pPr>
            <a:r>
              <a:t>ON THE DESK</a:t>
            </a:r>
          </a:p>
          <a:p>
            <a:pPr>
              <a:lnSpc>
                <a:spcPct val="104999"/>
              </a:lnSpc>
              <a:spcBef>
                <a:spcPts val="400"/>
              </a:spcBef>
              <a:defRPr sz="1000">
                <a:solidFill>
                  <a:srgbClr val="C9D6EE"/>
                </a:solidFill>
              </a:defRPr>
            </a:pPr>
            <a:r>
              <a:t>Filing extraction, research drafting, agents that reconcile.</a:t>
            </a:r>
          </a:p>
        </p:txBody>
      </p:sp>
      <p:sp>
        <p:nvSpPr>
          <p:cNvPr id="226" name="Rectangle 27"/>
          <p:cNvSpPr/>
          <p:nvPr/>
        </p:nvSpPr>
        <p:spPr>
          <a:xfrm>
            <a:off x="548640" y="4956047"/>
            <a:ext cx="11091672" cy="105156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27" name="Rectangle 28"/>
          <p:cNvSpPr/>
          <p:nvPr/>
        </p:nvSpPr>
        <p:spPr>
          <a:xfrm>
            <a:off x="548640" y="4956047"/>
            <a:ext cx="64009" cy="105156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28" name="TextBox 29"/>
          <p:cNvSpPr txBox="1"/>
          <p:nvPr/>
        </p:nvSpPr>
        <p:spPr>
          <a:xfrm>
            <a:off x="822960" y="5102352"/>
            <a:ext cx="10515601" cy="5696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300">
                <a:solidFill>
                  <a:srgbClr val="0F2145"/>
                </a:solidFill>
                <a:latin typeface="Georgia"/>
                <a:ea typeface="Georgia"/>
                <a:cs typeface="Georgia"/>
                <a:sym typeface="Georgia"/>
              </a:defRPr>
            </a:pPr>
            <a:r>
              <a:t>What to take from this</a:t>
            </a:r>
          </a:p>
          <a:p>
            <a:pPr>
              <a:lnSpc>
                <a:spcPct val="104999"/>
              </a:lnSpc>
              <a:spcBef>
                <a:spcPts val="500"/>
              </a:spcBef>
              <a:defRPr sz="1100">
                <a:solidFill>
                  <a:srgbClr val="1B2A41"/>
                </a:solidFill>
              </a:defRPr>
            </a:pPr>
            <a:r>
              <a:t>No era replaced the one before it. A bank today runs a hard-coded limit rule from era one, a scorecard from era two, an OCR model from era three, and a pilot agent from era four. All four can touch the same customer on the same day. Your job is to know which tool fits which task.</a:t>
            </a:r>
          </a:p>
        </p:txBody>
      </p:sp>
      <p:sp>
        <p:nvSpPr>
          <p:cNvPr id="229" name="TextBox 30"/>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230" name="TextBox 31"/>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05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232"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33" name="TextBox 2"/>
          <p:cNvSpPr txBox="1"/>
          <p:nvPr/>
        </p:nvSpPr>
        <p:spPr>
          <a:xfrm>
            <a:off x="786383" y="310895"/>
            <a:ext cx="10820097"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50" sz="1100">
                <a:solidFill>
                  <a:srgbClr val="C9A227"/>
                </a:solidFill>
              </a:defRPr>
            </a:lvl1pPr>
          </a:lstStyle>
          <a:p>
            <a:pPr/>
            <a:r>
              <a:t>HOUR 1 · BASICS</a:t>
            </a:r>
          </a:p>
        </p:txBody>
      </p:sp>
      <p:sp>
        <p:nvSpPr>
          <p:cNvPr id="234" name="TextBox 3"/>
          <p:cNvSpPr txBox="1"/>
          <p:nvPr/>
        </p:nvSpPr>
        <p:spPr>
          <a:xfrm>
            <a:off x="548639" y="621791"/>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0F2145"/>
                </a:solidFill>
                <a:latin typeface="Georgia"/>
                <a:ea typeface="Georgia"/>
                <a:cs typeface="Georgia"/>
                <a:sym typeface="Georgia"/>
              </a:defRPr>
            </a:lvl1pPr>
          </a:lstStyle>
          <a:p>
            <a:pPr/>
            <a:r>
              <a:t>The LLM — autocomplete trained on the internet</a:t>
            </a:r>
          </a:p>
        </p:txBody>
      </p:sp>
      <p:sp>
        <p:nvSpPr>
          <p:cNvPr id="235" name="Rounded Rectangle 4"/>
          <p:cNvSpPr/>
          <p:nvPr/>
        </p:nvSpPr>
        <p:spPr>
          <a:xfrm>
            <a:off x="548640" y="1517903"/>
            <a:ext cx="5486401" cy="2286001"/>
          </a:xfrm>
          <a:prstGeom prst="roundRect">
            <a:avLst>
              <a:gd name="adj" fmla="val 7000"/>
            </a:avLst>
          </a:prstGeom>
          <a:solidFill>
            <a:srgbClr val="0F2145"/>
          </a:solidFill>
          <a:ln w="12700">
            <a:miter lim="400000"/>
          </a:ln>
        </p:spPr>
        <p:txBody>
          <a:bodyPr lIns="45719" rIns="45719" anchor="ctr"/>
          <a:lstStyle/>
          <a:p>
            <a:pPr algn="ctr">
              <a:defRPr>
                <a:solidFill>
                  <a:srgbClr val="FFFFFF"/>
                </a:solidFill>
              </a:defRPr>
            </a:pPr>
          </a:p>
        </p:txBody>
      </p:sp>
      <p:sp>
        <p:nvSpPr>
          <p:cNvPr id="236" name="TextBox 5"/>
          <p:cNvSpPr txBox="1"/>
          <p:nvPr/>
        </p:nvSpPr>
        <p:spPr>
          <a:xfrm>
            <a:off x="822958" y="1682495"/>
            <a:ext cx="50292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180" sz="1000">
                <a:solidFill>
                  <a:srgbClr val="C9A227"/>
                </a:solidFill>
              </a:defRPr>
            </a:lvl1pPr>
          </a:lstStyle>
          <a:p>
            <a:pPr/>
            <a:r>
              <a:t>ONE JOB: PREDICT THE NEXT WORD</a:t>
            </a:r>
          </a:p>
        </p:txBody>
      </p:sp>
      <p:sp>
        <p:nvSpPr>
          <p:cNvPr id="237" name="TextBox 6"/>
          <p:cNvSpPr txBox="1"/>
          <p:nvPr/>
        </p:nvSpPr>
        <p:spPr>
          <a:xfrm>
            <a:off x="822958" y="2011679"/>
            <a:ext cx="5029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FFFFFF"/>
                </a:solidFill>
                <a:latin typeface="Georgia"/>
                <a:ea typeface="Georgia"/>
                <a:cs typeface="Georgia"/>
                <a:sym typeface="Georgia"/>
              </a:defRPr>
            </a:lvl1pPr>
          </a:lstStyle>
          <a:p>
            <a:pPr/>
            <a:r>
              <a:t>“The RBI raised the repo ____”</a:t>
            </a:r>
          </a:p>
        </p:txBody>
      </p:sp>
      <p:sp>
        <p:nvSpPr>
          <p:cNvPr id="238" name="TextBox 7"/>
          <p:cNvSpPr txBox="1"/>
          <p:nvPr/>
        </p:nvSpPr>
        <p:spPr>
          <a:xfrm>
            <a:off x="868680" y="2542032"/>
            <a:ext cx="96012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C9D6EE"/>
                </a:solidFill>
              </a:defRPr>
            </a:lvl1pPr>
          </a:lstStyle>
          <a:p>
            <a:pPr/>
            <a:r>
              <a:t>rate</a:t>
            </a:r>
          </a:p>
        </p:txBody>
      </p:sp>
      <p:sp>
        <p:nvSpPr>
          <p:cNvPr id="239" name="Rectangle 8"/>
          <p:cNvSpPr/>
          <p:nvPr/>
        </p:nvSpPr>
        <p:spPr>
          <a:xfrm>
            <a:off x="1920239" y="2587750"/>
            <a:ext cx="2860245" cy="164593"/>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40" name="TextBox 9"/>
          <p:cNvSpPr txBox="1"/>
          <p:nvPr/>
        </p:nvSpPr>
        <p:spPr>
          <a:xfrm>
            <a:off x="4853635" y="2542032"/>
            <a:ext cx="82296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FA1C4"/>
                </a:solidFill>
              </a:defRPr>
            </a:lvl1pPr>
          </a:lstStyle>
          <a:p>
            <a:pPr/>
            <a:r>
              <a:t>92%</a:t>
            </a:r>
          </a:p>
        </p:txBody>
      </p:sp>
      <p:sp>
        <p:nvSpPr>
          <p:cNvPr id="241" name="TextBox 10"/>
          <p:cNvSpPr txBox="1"/>
          <p:nvPr/>
        </p:nvSpPr>
        <p:spPr>
          <a:xfrm>
            <a:off x="868680" y="2926078"/>
            <a:ext cx="96012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C9D6EE"/>
                </a:solidFill>
              </a:defRPr>
            </a:lvl1pPr>
          </a:lstStyle>
          <a:p>
            <a:pPr/>
            <a:r>
              <a:t>rating</a:t>
            </a:r>
          </a:p>
        </p:txBody>
      </p:sp>
      <p:sp>
        <p:nvSpPr>
          <p:cNvPr id="242" name="Rectangle 11"/>
          <p:cNvSpPr/>
          <p:nvPr/>
        </p:nvSpPr>
        <p:spPr>
          <a:xfrm>
            <a:off x="1920239" y="2971799"/>
            <a:ext cx="124359" cy="164593"/>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43" name="TextBox 12"/>
          <p:cNvSpPr txBox="1"/>
          <p:nvPr/>
        </p:nvSpPr>
        <p:spPr>
          <a:xfrm>
            <a:off x="2117749" y="2926078"/>
            <a:ext cx="82296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FA1C4"/>
                </a:solidFill>
              </a:defRPr>
            </a:lvl1pPr>
          </a:lstStyle>
          <a:p>
            <a:pPr/>
            <a:r>
              <a:t>4%</a:t>
            </a:r>
          </a:p>
        </p:txBody>
      </p:sp>
      <p:sp>
        <p:nvSpPr>
          <p:cNvPr id="244" name="TextBox 13"/>
          <p:cNvSpPr txBox="1"/>
          <p:nvPr/>
        </p:nvSpPr>
        <p:spPr>
          <a:xfrm>
            <a:off x="868680" y="3310127"/>
            <a:ext cx="96012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C9D6EE"/>
                </a:solidFill>
              </a:defRPr>
            </a:lvl1pPr>
          </a:lstStyle>
          <a:p>
            <a:pPr/>
            <a:r>
              <a:t>report</a:t>
            </a:r>
          </a:p>
        </p:txBody>
      </p:sp>
      <p:sp>
        <p:nvSpPr>
          <p:cNvPr id="245" name="Rectangle 14"/>
          <p:cNvSpPr/>
          <p:nvPr/>
        </p:nvSpPr>
        <p:spPr>
          <a:xfrm>
            <a:off x="1920239" y="3355847"/>
            <a:ext cx="62180" cy="164593"/>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46" name="TextBox 15"/>
          <p:cNvSpPr txBox="1"/>
          <p:nvPr/>
        </p:nvSpPr>
        <p:spPr>
          <a:xfrm>
            <a:off x="2055571" y="3310127"/>
            <a:ext cx="82296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FA1C4"/>
                </a:solidFill>
              </a:defRPr>
            </a:lvl1pPr>
          </a:lstStyle>
          <a:p>
            <a:pPr/>
            <a:r>
              <a:t>2%</a:t>
            </a:r>
          </a:p>
        </p:txBody>
      </p:sp>
      <p:sp>
        <p:nvSpPr>
          <p:cNvPr id="247" name="Rectangle 16"/>
          <p:cNvSpPr/>
          <p:nvPr/>
        </p:nvSpPr>
        <p:spPr>
          <a:xfrm>
            <a:off x="548640" y="3986784"/>
            <a:ext cx="5486401" cy="2011680"/>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248" name="TextBox 17"/>
          <p:cNvSpPr txBox="1"/>
          <p:nvPr/>
        </p:nvSpPr>
        <p:spPr>
          <a:xfrm>
            <a:off x="786383" y="4133086"/>
            <a:ext cx="5029201" cy="13607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0F2145"/>
                </a:solidFill>
                <a:latin typeface="Georgia"/>
                <a:ea typeface="Georgia"/>
                <a:cs typeface="Georgia"/>
                <a:sym typeface="Georgia"/>
              </a:defRPr>
            </a:pPr>
            <a:r>
              <a:t>Tokens — the model's unit of text</a:t>
            </a:r>
          </a:p>
          <a:p>
            <a:pPr>
              <a:lnSpc>
                <a:spcPct val="125000"/>
              </a:lnSpc>
              <a:spcBef>
                <a:spcPts val="600"/>
              </a:spcBef>
              <a:defRPr sz="1100">
                <a:solidFill>
                  <a:srgbClr val="5D6B7E"/>
                </a:solidFill>
              </a:defRPr>
            </a:pPr>
            <a:r>
              <a:t>Words are split into chunks (≈ ¾ of a word each). “Derivatives” → deriv + atives. Models read, think and charge per token.</a:t>
            </a:r>
          </a:p>
          <a:p>
            <a:pPr>
              <a:lnSpc>
                <a:spcPct val="125000"/>
              </a:lnSpc>
              <a:spcBef>
                <a:spcPts val="600"/>
              </a:spcBef>
              <a:defRPr sz="1100">
                <a:solidFill>
                  <a:srgbClr val="5D6B7E"/>
                </a:solidFill>
              </a:defRPr>
            </a:pPr>
            <a:r>
              <a:t>Context windows, API pricing and speed are all quoted in tokens — it's the metre of this world.</a:t>
            </a:r>
          </a:p>
          <a:p>
            <a:pPr>
              <a:spcBef>
                <a:spcPts val="700"/>
              </a:spcBef>
              <a:defRPr b="1" sz="1100">
                <a:solidFill>
                  <a:srgbClr val="8F7113"/>
                </a:solidFill>
              </a:defRPr>
            </a:pPr>
            <a:r>
              <a:t>A 200-page annual report ≈ 100,000 tokens.</a:t>
            </a:r>
          </a:p>
        </p:txBody>
      </p:sp>
      <p:sp>
        <p:nvSpPr>
          <p:cNvPr id="249" name="TextBox 18"/>
          <p:cNvSpPr txBox="1"/>
          <p:nvPr/>
        </p:nvSpPr>
        <p:spPr>
          <a:xfrm>
            <a:off x="6400800" y="1517903"/>
            <a:ext cx="52120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1000">
                <a:solidFill>
                  <a:srgbClr val="5D6B7E"/>
                </a:solidFill>
              </a:defRPr>
            </a:lvl1pPr>
          </a:lstStyle>
          <a:p>
            <a:pPr/>
            <a:r>
              <a:t>HOW IT'S BUILT</a:t>
            </a:r>
          </a:p>
        </p:txBody>
      </p:sp>
      <p:sp>
        <p:nvSpPr>
          <p:cNvPr id="250" name="Rectangle 19"/>
          <p:cNvSpPr/>
          <p:nvPr/>
        </p:nvSpPr>
        <p:spPr>
          <a:xfrm>
            <a:off x="6400800" y="1847088"/>
            <a:ext cx="5212080" cy="1060704"/>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251" name="Rectangle 20"/>
          <p:cNvSpPr/>
          <p:nvPr/>
        </p:nvSpPr>
        <p:spPr>
          <a:xfrm>
            <a:off x="6400800" y="1847088"/>
            <a:ext cx="64008" cy="1060704"/>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52" name="TextBox 21"/>
          <p:cNvSpPr txBox="1"/>
          <p:nvPr/>
        </p:nvSpPr>
        <p:spPr>
          <a:xfrm>
            <a:off x="6620256" y="1956816"/>
            <a:ext cx="4846321" cy="7750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0F2145"/>
                </a:solidFill>
              </a:defRPr>
            </a:pPr>
            <a:r>
              <a:t>1 · Pre-training</a:t>
            </a:r>
          </a:p>
          <a:p>
            <a:pPr>
              <a:lnSpc>
                <a:spcPct val="115000"/>
              </a:lnSpc>
              <a:spcBef>
                <a:spcPts val="300"/>
              </a:spcBef>
              <a:defRPr sz="1000">
                <a:solidFill>
                  <a:srgbClr val="5D6B7E"/>
                </a:solidFill>
              </a:defRPr>
            </a:pPr>
            <a:r>
              <a:t>Read trillions of words — books, filings, the web. Learn language, facts, reasoning patterns.</a:t>
            </a:r>
            <a:r>
              <a:t> NLP- Natural language processing- LLM uses</a:t>
            </a:r>
          </a:p>
        </p:txBody>
      </p:sp>
      <p:sp>
        <p:nvSpPr>
          <p:cNvPr id="253" name="Down Arrow 22"/>
          <p:cNvSpPr/>
          <p:nvPr/>
        </p:nvSpPr>
        <p:spPr>
          <a:xfrm>
            <a:off x="8887968" y="2889503"/>
            <a:ext cx="201169" cy="2377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2461"/>
                </a:moveTo>
                <a:lnTo>
                  <a:pt x="5400" y="12461"/>
                </a:lnTo>
                <a:lnTo>
                  <a:pt x="5400" y="0"/>
                </a:lnTo>
                <a:lnTo>
                  <a:pt x="16200" y="0"/>
                </a:lnTo>
                <a:lnTo>
                  <a:pt x="16200" y="12461"/>
                </a:lnTo>
                <a:lnTo>
                  <a:pt x="21600" y="12461"/>
                </a:lnTo>
                <a:lnTo>
                  <a:pt x="10800" y="21600"/>
                </a:lnTo>
                <a:close/>
              </a:path>
            </a:pathLst>
          </a:custGeom>
          <a:solidFill>
            <a:srgbClr val="C9A227"/>
          </a:solidFill>
          <a:ln w="12700">
            <a:miter lim="400000"/>
          </a:ln>
        </p:spPr>
        <p:txBody>
          <a:bodyPr lIns="45719" rIns="45719" anchor="ctr"/>
          <a:lstStyle/>
          <a:p>
            <a:pPr algn="ctr">
              <a:defRPr>
                <a:solidFill>
                  <a:srgbClr val="FFFFFF"/>
                </a:solidFill>
              </a:defRPr>
            </a:pPr>
          </a:p>
        </p:txBody>
      </p:sp>
      <p:sp>
        <p:nvSpPr>
          <p:cNvPr id="254" name="Rectangle 23"/>
          <p:cNvSpPr/>
          <p:nvPr/>
        </p:nvSpPr>
        <p:spPr>
          <a:xfrm>
            <a:off x="6400800" y="3127248"/>
            <a:ext cx="5212080" cy="1060705"/>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255" name="Rectangle 24"/>
          <p:cNvSpPr/>
          <p:nvPr/>
        </p:nvSpPr>
        <p:spPr>
          <a:xfrm>
            <a:off x="6400800" y="3127248"/>
            <a:ext cx="64008" cy="1060705"/>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56" name="TextBox 25"/>
          <p:cNvSpPr txBox="1"/>
          <p:nvPr/>
        </p:nvSpPr>
        <p:spPr>
          <a:xfrm>
            <a:off x="6620256" y="3236976"/>
            <a:ext cx="4846321" cy="3656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0F2145"/>
                </a:solidFill>
              </a:defRPr>
            </a:pPr>
            <a:r>
              <a:t>2 · Fine-tuning</a:t>
            </a:r>
          </a:p>
          <a:p>
            <a:pPr>
              <a:lnSpc>
                <a:spcPct val="115000"/>
              </a:lnSpc>
              <a:spcBef>
                <a:spcPts val="300"/>
              </a:spcBef>
              <a:defRPr sz="1000">
                <a:solidFill>
                  <a:srgbClr val="5D6B7E"/>
                </a:solidFill>
              </a:defRPr>
            </a:pPr>
            <a:r>
              <a:t>Teach it to follow instructions: “summarise”, “compare”, “draft”.</a:t>
            </a:r>
          </a:p>
        </p:txBody>
      </p:sp>
      <p:sp>
        <p:nvSpPr>
          <p:cNvPr id="257" name="Down Arrow 26"/>
          <p:cNvSpPr/>
          <p:nvPr/>
        </p:nvSpPr>
        <p:spPr>
          <a:xfrm>
            <a:off x="8887968" y="4169664"/>
            <a:ext cx="201169" cy="2377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2461"/>
                </a:moveTo>
                <a:lnTo>
                  <a:pt x="5400" y="12461"/>
                </a:lnTo>
                <a:lnTo>
                  <a:pt x="5400" y="0"/>
                </a:lnTo>
                <a:lnTo>
                  <a:pt x="16200" y="0"/>
                </a:lnTo>
                <a:lnTo>
                  <a:pt x="16200" y="12461"/>
                </a:lnTo>
                <a:lnTo>
                  <a:pt x="21600" y="12461"/>
                </a:lnTo>
                <a:lnTo>
                  <a:pt x="10800" y="21600"/>
                </a:lnTo>
                <a:close/>
              </a:path>
            </a:pathLst>
          </a:custGeom>
          <a:solidFill>
            <a:srgbClr val="C9A227"/>
          </a:solidFill>
          <a:ln w="12700">
            <a:miter lim="400000"/>
          </a:ln>
        </p:spPr>
        <p:txBody>
          <a:bodyPr lIns="45719" rIns="45719" anchor="ctr"/>
          <a:lstStyle/>
          <a:p>
            <a:pPr algn="ctr">
              <a:defRPr>
                <a:solidFill>
                  <a:srgbClr val="FFFFFF"/>
                </a:solidFill>
              </a:defRPr>
            </a:pPr>
          </a:p>
        </p:txBody>
      </p:sp>
      <p:sp>
        <p:nvSpPr>
          <p:cNvPr id="258" name="Rectangle 27"/>
          <p:cNvSpPr/>
          <p:nvPr/>
        </p:nvSpPr>
        <p:spPr>
          <a:xfrm>
            <a:off x="6400800" y="4407408"/>
            <a:ext cx="5212080" cy="1060705"/>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259" name="Rectangle 28"/>
          <p:cNvSpPr/>
          <p:nvPr/>
        </p:nvSpPr>
        <p:spPr>
          <a:xfrm>
            <a:off x="6400800" y="4407408"/>
            <a:ext cx="64008" cy="1060705"/>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60" name="TextBox 29"/>
          <p:cNvSpPr txBox="1"/>
          <p:nvPr/>
        </p:nvSpPr>
        <p:spPr>
          <a:xfrm>
            <a:off x="6620256" y="4517135"/>
            <a:ext cx="4846321" cy="551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0F2145"/>
                </a:solidFill>
              </a:defRPr>
            </a:pPr>
            <a:r>
              <a:t>3 · Human feedback (RLHF)</a:t>
            </a:r>
          </a:p>
          <a:p>
            <a:pPr>
              <a:lnSpc>
                <a:spcPct val="115000"/>
              </a:lnSpc>
              <a:spcBef>
                <a:spcPts val="300"/>
              </a:spcBef>
              <a:defRPr sz="1000">
                <a:solidFill>
                  <a:srgbClr val="5D6B7E"/>
                </a:solidFill>
              </a:defRPr>
            </a:pPr>
            <a:r>
              <a:t>Humans rank answers; the model learns to be helpful, honest, harmless.</a:t>
            </a:r>
            <a:r>
              <a:t> Reinforced learning from Human feedback</a:t>
            </a:r>
          </a:p>
        </p:txBody>
      </p:sp>
      <p:sp>
        <p:nvSpPr>
          <p:cNvPr id="261" name="Rounded Rectangle 30"/>
          <p:cNvSpPr/>
          <p:nvPr/>
        </p:nvSpPr>
        <p:spPr>
          <a:xfrm>
            <a:off x="6400800" y="5705855"/>
            <a:ext cx="5212080" cy="566929"/>
          </a:xfrm>
          <a:prstGeom prst="roundRect">
            <a:avLst>
              <a:gd name="adj" fmla="val 14000"/>
            </a:avLst>
          </a:prstGeom>
          <a:solidFill>
            <a:srgbClr val="F5ECD3"/>
          </a:solidFill>
          <a:ln w="12700">
            <a:miter lim="400000"/>
          </a:ln>
        </p:spPr>
        <p:txBody>
          <a:bodyPr lIns="45719" rIns="45719" anchor="ctr"/>
          <a:lstStyle/>
          <a:p>
            <a:pPr algn="ctr">
              <a:defRPr>
                <a:solidFill>
                  <a:srgbClr val="FFFFFF"/>
                </a:solidFill>
              </a:defRPr>
            </a:pPr>
          </a:p>
        </p:txBody>
      </p:sp>
      <p:sp>
        <p:nvSpPr>
          <p:cNvPr id="262" name="TextBox 31"/>
          <p:cNvSpPr txBox="1"/>
          <p:nvPr/>
        </p:nvSpPr>
        <p:spPr>
          <a:xfrm>
            <a:off x="6620256" y="5922186"/>
            <a:ext cx="48463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100">
                <a:solidFill>
                  <a:srgbClr val="1B2A41"/>
                </a:solidFill>
              </a:defRPr>
            </a:pPr>
            <a:r>
              <a:t>It has no database of truth — </a:t>
            </a:r>
            <a:r>
              <a:rPr b="1">
                <a:solidFill>
                  <a:srgbClr val="8F7113"/>
                </a:solidFill>
              </a:rPr>
              <a:t>it generates the most plausible next words.</a:t>
            </a:r>
          </a:p>
        </p:txBody>
      </p:sp>
      <p:sp>
        <p:nvSpPr>
          <p:cNvPr id="263" name="TextBox 32"/>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pc="180" sz="800">
                <a:solidFill>
                  <a:srgbClr val="5D6B7E"/>
                </a:solidFill>
              </a:defRPr>
            </a:lvl1pPr>
          </a:lstStyle>
          <a:p>
            <a:pPr/>
            <a:r>
              <a:t>ISBMS · PGDM 2025–27 · AGENTIC AI &amp; ADVANCED ANALYTICS IN FINANCE</a:t>
            </a:r>
          </a:p>
        </p:txBody>
      </p:sp>
      <p:sp>
        <p:nvSpPr>
          <p:cNvPr id="264" name="TextBox 33"/>
          <p:cNvSpPr txBox="1"/>
          <p:nvPr/>
        </p:nvSpPr>
        <p:spPr>
          <a:xfrm>
            <a:off x="9814255" y="6473952"/>
            <a:ext cx="1828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pc="120" sz="800">
                <a:solidFill>
                  <a:srgbClr val="5D6B7E"/>
                </a:solidFill>
              </a:defRPr>
            </a:lvl1pPr>
          </a:lstStyle>
          <a:p>
            <a:pPr/>
            <a:r>
              <a:t>MODULE 1  ·  06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266"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67"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1 · HOW IT WORKS</a:t>
            </a:r>
          </a:p>
        </p:txBody>
      </p:sp>
      <p:sp>
        <p:nvSpPr>
          <p:cNvPr id="268" name="TextBox 3"/>
          <p:cNvSpPr txBox="1"/>
          <p:nvPr/>
        </p:nvSpPr>
        <p:spPr>
          <a:xfrm>
            <a:off x="548640" y="621791"/>
            <a:ext cx="11091672" cy="8591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How an LLM works, end to end: “What is the capital of France?”</a:t>
            </a:r>
          </a:p>
        </p:txBody>
      </p:sp>
      <p:sp>
        <p:nvSpPr>
          <p:cNvPr id="269" name="Rectangle 4"/>
          <p:cNvSpPr/>
          <p:nvPr/>
        </p:nvSpPr>
        <p:spPr>
          <a:xfrm>
            <a:off x="548639" y="1600200"/>
            <a:ext cx="2670050" cy="141732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70" name="Rectangle 5"/>
          <p:cNvSpPr/>
          <p:nvPr/>
        </p:nvSpPr>
        <p:spPr>
          <a:xfrm>
            <a:off x="548639" y="1600200"/>
            <a:ext cx="2670050"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71" name="TextBox 6"/>
          <p:cNvSpPr txBox="1"/>
          <p:nvPr/>
        </p:nvSpPr>
        <p:spPr>
          <a:xfrm>
            <a:off x="749808" y="1764792"/>
            <a:ext cx="2286001" cy="3596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1 · YOUR QUESTION</a:t>
            </a:r>
          </a:p>
          <a:p>
            <a:pPr>
              <a:lnSpc>
                <a:spcPct val="104999"/>
              </a:lnSpc>
              <a:spcBef>
                <a:spcPts val="400"/>
              </a:spcBef>
              <a:defRPr sz="1000">
                <a:solidFill>
                  <a:srgbClr val="5D6B7E"/>
                </a:solidFill>
              </a:defRPr>
            </a:pPr>
            <a:r>
              <a:t>What is the capital of France?</a:t>
            </a:r>
          </a:p>
        </p:txBody>
      </p:sp>
      <p:sp>
        <p:nvSpPr>
          <p:cNvPr id="272" name="TextBox 7"/>
          <p:cNvSpPr txBox="1"/>
          <p:nvPr/>
        </p:nvSpPr>
        <p:spPr>
          <a:xfrm>
            <a:off x="3236976" y="2103120"/>
            <a:ext cx="1828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a:solidFill>
                  <a:srgbClr val="C9A227"/>
                </a:solidFill>
                <a:latin typeface="Georgia"/>
                <a:ea typeface="Georgia"/>
                <a:cs typeface="Georgia"/>
                <a:sym typeface="Georgia"/>
              </a:defRPr>
            </a:lvl1pPr>
          </a:lstStyle>
          <a:p>
            <a:pPr/>
            <a:r>
              <a:t>›</a:t>
            </a:r>
          </a:p>
        </p:txBody>
      </p:sp>
      <p:sp>
        <p:nvSpPr>
          <p:cNvPr id="273" name="Rectangle 8"/>
          <p:cNvSpPr/>
          <p:nvPr/>
        </p:nvSpPr>
        <p:spPr>
          <a:xfrm>
            <a:off x="3374135" y="1600200"/>
            <a:ext cx="2670049" cy="141732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74" name="Rectangle 9"/>
          <p:cNvSpPr/>
          <p:nvPr/>
        </p:nvSpPr>
        <p:spPr>
          <a:xfrm>
            <a:off x="3374135" y="1600200"/>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75" name="TextBox 10"/>
          <p:cNvSpPr txBox="1"/>
          <p:nvPr/>
        </p:nvSpPr>
        <p:spPr>
          <a:xfrm>
            <a:off x="3575303" y="1764792"/>
            <a:ext cx="2286001" cy="5316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2 · TOKENIZE</a:t>
            </a:r>
          </a:p>
          <a:p>
            <a:pPr>
              <a:lnSpc>
                <a:spcPct val="104999"/>
              </a:lnSpc>
              <a:spcBef>
                <a:spcPts val="400"/>
              </a:spcBef>
              <a:defRPr sz="1000">
                <a:solidFill>
                  <a:srgbClr val="5D6B7E"/>
                </a:solidFill>
              </a:defRPr>
            </a:pPr>
            <a:r>
              <a:t>Split into pieces: What | is | the | capital | of | France | ?</a:t>
            </a:r>
          </a:p>
        </p:txBody>
      </p:sp>
      <p:sp>
        <p:nvSpPr>
          <p:cNvPr id="276" name="TextBox 11"/>
          <p:cNvSpPr txBox="1"/>
          <p:nvPr/>
        </p:nvSpPr>
        <p:spPr>
          <a:xfrm>
            <a:off x="6062471" y="2103120"/>
            <a:ext cx="1828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a:solidFill>
                  <a:srgbClr val="C9A227"/>
                </a:solidFill>
                <a:latin typeface="Georgia"/>
                <a:ea typeface="Georgia"/>
                <a:cs typeface="Georgia"/>
                <a:sym typeface="Georgia"/>
              </a:defRPr>
            </a:lvl1pPr>
          </a:lstStyle>
          <a:p>
            <a:pPr/>
            <a:r>
              <a:t>›</a:t>
            </a:r>
          </a:p>
        </p:txBody>
      </p:sp>
      <p:sp>
        <p:nvSpPr>
          <p:cNvPr id="277" name="Rectangle 12"/>
          <p:cNvSpPr/>
          <p:nvPr/>
        </p:nvSpPr>
        <p:spPr>
          <a:xfrm>
            <a:off x="6199630" y="1600200"/>
            <a:ext cx="2670049" cy="141732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78" name="Rectangle 13"/>
          <p:cNvSpPr/>
          <p:nvPr/>
        </p:nvSpPr>
        <p:spPr>
          <a:xfrm>
            <a:off x="6199630" y="1600200"/>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79" name="TextBox 14"/>
          <p:cNvSpPr txBox="1"/>
          <p:nvPr/>
        </p:nvSpPr>
        <p:spPr>
          <a:xfrm>
            <a:off x="6400798" y="1764792"/>
            <a:ext cx="2286001" cy="5316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3 · EMBED</a:t>
            </a:r>
          </a:p>
          <a:p>
            <a:pPr>
              <a:lnSpc>
                <a:spcPct val="104999"/>
              </a:lnSpc>
              <a:spcBef>
                <a:spcPts val="400"/>
              </a:spcBef>
              <a:defRPr sz="1000">
                <a:solidFill>
                  <a:srgbClr val="5D6B7E"/>
                </a:solidFill>
              </a:defRPr>
            </a:pPr>
            <a:r>
              <a:t>Each token becomes a long list of numbers, learned in training.</a:t>
            </a:r>
          </a:p>
        </p:txBody>
      </p:sp>
      <p:sp>
        <p:nvSpPr>
          <p:cNvPr id="280" name="TextBox 15"/>
          <p:cNvSpPr txBox="1"/>
          <p:nvPr/>
        </p:nvSpPr>
        <p:spPr>
          <a:xfrm>
            <a:off x="8887966" y="2103120"/>
            <a:ext cx="1828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a:solidFill>
                  <a:srgbClr val="C9A227"/>
                </a:solidFill>
                <a:latin typeface="Georgia"/>
                <a:ea typeface="Georgia"/>
                <a:cs typeface="Georgia"/>
                <a:sym typeface="Georgia"/>
              </a:defRPr>
            </a:lvl1pPr>
          </a:lstStyle>
          <a:p>
            <a:pPr/>
            <a:r>
              <a:t>›</a:t>
            </a:r>
          </a:p>
        </p:txBody>
      </p:sp>
      <p:sp>
        <p:nvSpPr>
          <p:cNvPr id="281" name="Rectangle 16"/>
          <p:cNvSpPr/>
          <p:nvPr/>
        </p:nvSpPr>
        <p:spPr>
          <a:xfrm>
            <a:off x="9025128" y="1600200"/>
            <a:ext cx="2670049" cy="14173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282" name="Rectangle 17"/>
          <p:cNvSpPr/>
          <p:nvPr/>
        </p:nvSpPr>
        <p:spPr>
          <a:xfrm>
            <a:off x="9025128" y="1600200"/>
            <a:ext cx="2670049" cy="4572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83" name="TextBox 18"/>
          <p:cNvSpPr txBox="1"/>
          <p:nvPr/>
        </p:nvSpPr>
        <p:spPr>
          <a:xfrm>
            <a:off x="9226295" y="1764792"/>
            <a:ext cx="2286001" cy="5316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4 · TRANSFORMER</a:t>
            </a:r>
          </a:p>
          <a:p>
            <a:pPr>
              <a:lnSpc>
                <a:spcPct val="104999"/>
              </a:lnSpc>
              <a:spcBef>
                <a:spcPts val="400"/>
              </a:spcBef>
              <a:defRPr sz="1000">
                <a:solidFill>
                  <a:srgbClr val="C9D6EE"/>
                </a:solidFill>
              </a:defRPr>
            </a:pPr>
            <a:r>
              <a:t>Attention weighs which tokens matter to which. Many layers, one after another.</a:t>
            </a:r>
          </a:p>
        </p:txBody>
      </p:sp>
      <p:sp>
        <p:nvSpPr>
          <p:cNvPr id="284" name="Rectangle 19"/>
          <p:cNvSpPr/>
          <p:nvPr/>
        </p:nvSpPr>
        <p:spPr>
          <a:xfrm>
            <a:off x="548639" y="3200400"/>
            <a:ext cx="2670050" cy="14173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285" name="Rectangle 20"/>
          <p:cNvSpPr/>
          <p:nvPr/>
        </p:nvSpPr>
        <p:spPr>
          <a:xfrm>
            <a:off x="548639" y="3200400"/>
            <a:ext cx="2670050" cy="4572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86" name="TextBox 21"/>
          <p:cNvSpPr txBox="1"/>
          <p:nvPr/>
        </p:nvSpPr>
        <p:spPr>
          <a:xfrm>
            <a:off x="749808" y="3364991"/>
            <a:ext cx="228600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5 · PREDICT</a:t>
            </a:r>
          </a:p>
          <a:p>
            <a:pPr>
              <a:lnSpc>
                <a:spcPct val="104999"/>
              </a:lnSpc>
              <a:spcBef>
                <a:spcPts val="400"/>
              </a:spcBef>
              <a:defRPr sz="1000">
                <a:solidFill>
                  <a:srgbClr val="C9D6EE"/>
                </a:solidFill>
              </a:defRPr>
            </a:pPr>
            <a:r>
              <a:t>Paris 99.7% · London 0.2% · Berlin 0.05% · Rome 0.03%</a:t>
            </a:r>
          </a:p>
        </p:txBody>
      </p:sp>
      <p:sp>
        <p:nvSpPr>
          <p:cNvPr id="287" name="TextBox 22"/>
          <p:cNvSpPr txBox="1"/>
          <p:nvPr/>
        </p:nvSpPr>
        <p:spPr>
          <a:xfrm>
            <a:off x="3236976" y="3703320"/>
            <a:ext cx="1828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a:solidFill>
                  <a:srgbClr val="C9A227"/>
                </a:solidFill>
                <a:latin typeface="Georgia"/>
                <a:ea typeface="Georgia"/>
                <a:cs typeface="Georgia"/>
                <a:sym typeface="Georgia"/>
              </a:defRPr>
            </a:lvl1pPr>
          </a:lstStyle>
          <a:p>
            <a:pPr/>
            <a:r>
              <a:t>›</a:t>
            </a:r>
          </a:p>
        </p:txBody>
      </p:sp>
      <p:sp>
        <p:nvSpPr>
          <p:cNvPr id="288" name="Rectangle 23"/>
          <p:cNvSpPr/>
          <p:nvPr/>
        </p:nvSpPr>
        <p:spPr>
          <a:xfrm>
            <a:off x="3374135" y="3200400"/>
            <a:ext cx="2670049" cy="141732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89" name="Rectangle 24"/>
          <p:cNvSpPr/>
          <p:nvPr/>
        </p:nvSpPr>
        <p:spPr>
          <a:xfrm>
            <a:off x="3374135" y="3200400"/>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90" name="TextBox 25"/>
          <p:cNvSpPr txBox="1"/>
          <p:nvPr/>
        </p:nvSpPr>
        <p:spPr>
          <a:xfrm>
            <a:off x="3575303" y="3364991"/>
            <a:ext cx="228600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6 · PICK AND ADD</a:t>
            </a:r>
          </a:p>
          <a:p>
            <a:pPr>
              <a:lnSpc>
                <a:spcPct val="104999"/>
              </a:lnSpc>
              <a:spcBef>
                <a:spcPts val="400"/>
              </a:spcBef>
              <a:defRPr sz="1000">
                <a:solidFill>
                  <a:srgbClr val="5D6B7E"/>
                </a:solidFill>
              </a:defRPr>
            </a:pPr>
            <a:r>
              <a:t>The top token joins the answer.  Output so far: Paris</a:t>
            </a:r>
          </a:p>
        </p:txBody>
      </p:sp>
      <p:sp>
        <p:nvSpPr>
          <p:cNvPr id="291" name="TextBox 26"/>
          <p:cNvSpPr txBox="1"/>
          <p:nvPr/>
        </p:nvSpPr>
        <p:spPr>
          <a:xfrm>
            <a:off x="6062471" y="3703320"/>
            <a:ext cx="1828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a:solidFill>
                  <a:srgbClr val="C9A227"/>
                </a:solidFill>
                <a:latin typeface="Georgia"/>
                <a:ea typeface="Georgia"/>
                <a:cs typeface="Georgia"/>
                <a:sym typeface="Georgia"/>
              </a:defRPr>
            </a:lvl1pPr>
          </a:lstStyle>
          <a:p>
            <a:pPr/>
            <a:r>
              <a:t>›</a:t>
            </a:r>
          </a:p>
        </p:txBody>
      </p:sp>
      <p:sp>
        <p:nvSpPr>
          <p:cNvPr id="292" name="Rectangle 27"/>
          <p:cNvSpPr/>
          <p:nvPr/>
        </p:nvSpPr>
        <p:spPr>
          <a:xfrm>
            <a:off x="6199630" y="3200400"/>
            <a:ext cx="2670049" cy="141732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93" name="Rectangle 28"/>
          <p:cNvSpPr/>
          <p:nvPr/>
        </p:nvSpPr>
        <p:spPr>
          <a:xfrm>
            <a:off x="6199630" y="3200400"/>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94" name="TextBox 29"/>
          <p:cNvSpPr txBox="1"/>
          <p:nvPr/>
        </p:nvSpPr>
        <p:spPr>
          <a:xfrm>
            <a:off x="6400798" y="3364991"/>
            <a:ext cx="228600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7 · REPEAT</a:t>
            </a:r>
          </a:p>
          <a:p>
            <a:pPr>
              <a:lnSpc>
                <a:spcPct val="104999"/>
              </a:lnSpc>
              <a:spcBef>
                <a:spcPts val="400"/>
              </a:spcBef>
              <a:defRPr sz="1000">
                <a:solidFill>
                  <a:srgbClr val="5D6B7E"/>
                </a:solidFill>
              </a:defRPr>
            </a:pPr>
            <a:r>
              <a:t>Feed the answer back in and predict the next token.</a:t>
            </a:r>
          </a:p>
        </p:txBody>
      </p:sp>
      <p:sp>
        <p:nvSpPr>
          <p:cNvPr id="295" name="TextBox 30"/>
          <p:cNvSpPr txBox="1"/>
          <p:nvPr/>
        </p:nvSpPr>
        <p:spPr>
          <a:xfrm>
            <a:off x="8887966" y="3703320"/>
            <a:ext cx="1828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a:solidFill>
                  <a:srgbClr val="C9A227"/>
                </a:solidFill>
                <a:latin typeface="Georgia"/>
                <a:ea typeface="Georgia"/>
                <a:cs typeface="Georgia"/>
                <a:sym typeface="Georgia"/>
              </a:defRPr>
            </a:lvl1pPr>
          </a:lstStyle>
          <a:p>
            <a:pPr/>
            <a:r>
              <a:t>›</a:t>
            </a:r>
          </a:p>
        </p:txBody>
      </p:sp>
      <p:sp>
        <p:nvSpPr>
          <p:cNvPr id="296" name="Rectangle 31"/>
          <p:cNvSpPr/>
          <p:nvPr/>
        </p:nvSpPr>
        <p:spPr>
          <a:xfrm>
            <a:off x="9025128" y="3200400"/>
            <a:ext cx="2670049" cy="141732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97" name="Rectangle 32"/>
          <p:cNvSpPr/>
          <p:nvPr/>
        </p:nvSpPr>
        <p:spPr>
          <a:xfrm>
            <a:off x="9025128" y="3200400"/>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98" name="TextBox 33"/>
          <p:cNvSpPr txBox="1"/>
          <p:nvPr/>
        </p:nvSpPr>
        <p:spPr>
          <a:xfrm>
            <a:off x="9226295" y="3364991"/>
            <a:ext cx="228600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8 · STOP</a:t>
            </a:r>
          </a:p>
          <a:p>
            <a:pPr>
              <a:lnSpc>
                <a:spcPct val="104999"/>
              </a:lnSpc>
              <a:spcBef>
                <a:spcPts val="400"/>
              </a:spcBef>
              <a:defRPr sz="1000">
                <a:solidFill>
                  <a:srgbClr val="5D6B7E"/>
                </a:solidFill>
              </a:defRPr>
            </a:pPr>
            <a:r>
              <a:t>It stops at an end token.  “Paris is the capital of France.”</a:t>
            </a:r>
          </a:p>
        </p:txBody>
      </p:sp>
      <p:sp>
        <p:nvSpPr>
          <p:cNvPr id="299" name="TextBox 34"/>
          <p:cNvSpPr txBox="1"/>
          <p:nvPr/>
        </p:nvSpPr>
        <p:spPr>
          <a:xfrm>
            <a:off x="548640" y="4846320"/>
            <a:ext cx="11091672" cy="1670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0F2145"/>
                </a:solidFill>
              </a:defRPr>
            </a:lvl1pPr>
          </a:lstStyle>
          <a:p>
            <a:pPr/>
            <a:r>
              <a:t>↺  Steps 4 to 7 repeat, one token at a time, until the answer is complete. Each pass takes milliseconds.</a:t>
            </a:r>
          </a:p>
        </p:txBody>
      </p:sp>
      <p:sp>
        <p:nvSpPr>
          <p:cNvPr id="300" name="Rectangle 35"/>
          <p:cNvSpPr/>
          <p:nvPr/>
        </p:nvSpPr>
        <p:spPr>
          <a:xfrm>
            <a:off x="548639" y="5212079"/>
            <a:ext cx="5577842" cy="86868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301" name="TextBox 36"/>
          <p:cNvSpPr txBox="1"/>
          <p:nvPr/>
        </p:nvSpPr>
        <p:spPr>
          <a:xfrm>
            <a:off x="804671" y="5349240"/>
            <a:ext cx="5120642" cy="5316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Attention, in one line</a:t>
            </a:r>
          </a:p>
          <a:p>
            <a:pPr>
              <a:lnSpc>
                <a:spcPct val="104999"/>
              </a:lnSpc>
              <a:spcBef>
                <a:spcPts val="400"/>
              </a:spcBef>
              <a:defRPr sz="1000">
                <a:solidFill>
                  <a:srgbClr val="1B2A41"/>
                </a:solidFill>
              </a:defRPr>
            </a:pPr>
            <a:r>
              <a:t>For every token the model scores every other token for relevance. That scoring is attention, and the transformer is the machine that runs it across the whole passage at once.</a:t>
            </a:r>
          </a:p>
        </p:txBody>
      </p:sp>
      <p:sp>
        <p:nvSpPr>
          <p:cNvPr id="302" name="Rectangle 37"/>
          <p:cNvSpPr/>
          <p:nvPr/>
        </p:nvSpPr>
        <p:spPr>
          <a:xfrm>
            <a:off x="6492240" y="5212079"/>
            <a:ext cx="5148072" cy="86868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303" name="TextBox 38"/>
          <p:cNvSpPr txBox="1"/>
          <p:nvPr/>
        </p:nvSpPr>
        <p:spPr>
          <a:xfrm>
            <a:off x="6748271" y="5349240"/>
            <a:ext cx="4663441" cy="5316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And that is what GPT stands for</a:t>
            </a:r>
          </a:p>
          <a:p>
            <a:pPr>
              <a:lnSpc>
                <a:spcPct val="104999"/>
              </a:lnSpc>
              <a:spcBef>
                <a:spcPts val="400"/>
              </a:spcBef>
              <a:defRPr sz="1000">
                <a:solidFill>
                  <a:srgbClr val="C9D6EE"/>
                </a:solidFill>
              </a:defRPr>
            </a:pPr>
            <a:r>
              <a:t>Generative Pre-trained Transformer. It writes, it learned from an enormous amount of text first, and this is the design. ChatGPT is that model in a chat window.</a:t>
            </a:r>
          </a:p>
        </p:txBody>
      </p:sp>
      <p:sp>
        <p:nvSpPr>
          <p:cNvPr id="304" name="TextBox 39"/>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305" name="TextBox 40"/>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07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307"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08" name="TextBox 2"/>
          <p:cNvSpPr txBox="1"/>
          <p:nvPr/>
        </p:nvSpPr>
        <p:spPr>
          <a:xfrm>
            <a:off x="786383" y="310895"/>
            <a:ext cx="10820097"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50" sz="1100">
                <a:solidFill>
                  <a:srgbClr val="C9A227"/>
                </a:solidFill>
              </a:defRPr>
            </a:lvl1pPr>
          </a:lstStyle>
          <a:p>
            <a:pPr/>
            <a:r>
              <a:t>HOUR 1 · BASICS</a:t>
            </a:r>
          </a:p>
        </p:txBody>
      </p:sp>
      <p:sp>
        <p:nvSpPr>
          <p:cNvPr id="309" name="TextBox 3"/>
          <p:cNvSpPr txBox="1"/>
          <p:nvPr/>
        </p:nvSpPr>
        <p:spPr>
          <a:xfrm>
            <a:off x="548639" y="621791"/>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0F2145"/>
                </a:solidFill>
                <a:latin typeface="Georgia"/>
                <a:ea typeface="Georgia"/>
                <a:cs typeface="Georgia"/>
                <a:sym typeface="Georgia"/>
              </a:defRPr>
            </a:lvl1pPr>
          </a:lstStyle>
          <a:p>
            <a:pPr/>
            <a:r>
              <a:t>The model landscape in 2026</a:t>
            </a:r>
          </a:p>
        </p:txBody>
      </p:sp>
      <p:sp>
        <p:nvSpPr>
          <p:cNvPr id="310" name="Rectangle 4"/>
          <p:cNvSpPr/>
          <p:nvPr/>
        </p:nvSpPr>
        <p:spPr>
          <a:xfrm>
            <a:off x="548639" y="1536191"/>
            <a:ext cx="11094417" cy="786386"/>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311" name="TextBox 5"/>
          <p:cNvSpPr txBox="1"/>
          <p:nvPr/>
        </p:nvSpPr>
        <p:spPr>
          <a:xfrm>
            <a:off x="768095" y="1869239"/>
            <a:ext cx="3291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F2145"/>
                </a:solidFill>
              </a:defRPr>
            </a:lvl1pPr>
          </a:lstStyle>
          <a:p>
            <a:pPr/>
            <a:r>
              <a:t>OpenAI — GPT family</a:t>
            </a:r>
          </a:p>
        </p:txBody>
      </p:sp>
      <p:sp>
        <p:nvSpPr>
          <p:cNvPr id="312" name="TextBox 6"/>
          <p:cNvSpPr txBox="1"/>
          <p:nvPr/>
        </p:nvSpPr>
        <p:spPr>
          <a:xfrm>
            <a:off x="4206240" y="1880538"/>
            <a:ext cx="42062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sz="1100">
                <a:solidFill>
                  <a:srgbClr val="1B2A41"/>
                </a:solidFill>
              </a:defRPr>
            </a:lvl1pPr>
          </a:lstStyle>
          <a:p>
            <a:pPr/>
            <a:r>
              <a:t>ChatGPT; strongest brand, broad ecosystem</a:t>
            </a:r>
          </a:p>
        </p:txBody>
      </p:sp>
      <p:sp>
        <p:nvSpPr>
          <p:cNvPr id="313" name="TextBox 7"/>
          <p:cNvSpPr txBox="1"/>
          <p:nvPr/>
        </p:nvSpPr>
        <p:spPr>
          <a:xfrm>
            <a:off x="8595359" y="1879136"/>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i="1" sz="1000">
                <a:solidFill>
                  <a:srgbClr val="5D6B7E"/>
                </a:solidFill>
              </a:defRPr>
            </a:lvl1pPr>
          </a:lstStyle>
          <a:p>
            <a:pPr/>
            <a:r>
              <a:t>Everyday analysis, drafting, coding</a:t>
            </a:r>
          </a:p>
        </p:txBody>
      </p:sp>
      <p:sp>
        <p:nvSpPr>
          <p:cNvPr id="314" name="Rectangle 8"/>
          <p:cNvSpPr/>
          <p:nvPr/>
        </p:nvSpPr>
        <p:spPr>
          <a:xfrm>
            <a:off x="548639" y="2377439"/>
            <a:ext cx="11094417" cy="786385"/>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315" name="TextBox 9"/>
          <p:cNvSpPr txBox="1"/>
          <p:nvPr/>
        </p:nvSpPr>
        <p:spPr>
          <a:xfrm>
            <a:off x="768095" y="2710487"/>
            <a:ext cx="3291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F2145"/>
                </a:solidFill>
              </a:defRPr>
            </a:lvl1pPr>
          </a:lstStyle>
          <a:p>
            <a:pPr/>
            <a:r>
              <a:t>Anthropic — Claude</a:t>
            </a:r>
          </a:p>
        </p:txBody>
      </p:sp>
      <p:sp>
        <p:nvSpPr>
          <p:cNvPr id="316" name="TextBox 10"/>
          <p:cNvSpPr txBox="1"/>
          <p:nvPr/>
        </p:nvSpPr>
        <p:spPr>
          <a:xfrm>
            <a:off x="4206240" y="2721785"/>
            <a:ext cx="42062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sz="1100">
                <a:solidFill>
                  <a:srgbClr val="1B2A41"/>
                </a:solidFill>
              </a:defRPr>
            </a:lvl1pPr>
          </a:lstStyle>
          <a:p>
            <a:pPr/>
            <a:r>
              <a:t>Long documents, careful reasoning, agents &amp; coding</a:t>
            </a:r>
          </a:p>
        </p:txBody>
      </p:sp>
      <p:sp>
        <p:nvSpPr>
          <p:cNvPr id="317" name="TextBox 11"/>
          <p:cNvSpPr txBox="1"/>
          <p:nvPr/>
        </p:nvSpPr>
        <p:spPr>
          <a:xfrm>
            <a:off x="8595359" y="2720384"/>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i="1" sz="1000">
                <a:solidFill>
                  <a:srgbClr val="5D6B7E"/>
                </a:solidFill>
              </a:defRPr>
            </a:lvl1pPr>
          </a:lstStyle>
          <a:p>
            <a:pPr/>
            <a:r>
              <a:t>Research over filings, agentic workflows</a:t>
            </a:r>
          </a:p>
        </p:txBody>
      </p:sp>
      <p:sp>
        <p:nvSpPr>
          <p:cNvPr id="318" name="Rectangle 12"/>
          <p:cNvSpPr/>
          <p:nvPr/>
        </p:nvSpPr>
        <p:spPr>
          <a:xfrm>
            <a:off x="548639" y="3218688"/>
            <a:ext cx="11094417" cy="786385"/>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319" name="TextBox 13"/>
          <p:cNvSpPr txBox="1"/>
          <p:nvPr/>
        </p:nvSpPr>
        <p:spPr>
          <a:xfrm>
            <a:off x="768095" y="3551735"/>
            <a:ext cx="3291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F2145"/>
                </a:solidFill>
              </a:defRPr>
            </a:lvl1pPr>
          </a:lstStyle>
          <a:p>
            <a:pPr/>
            <a:r>
              <a:t>Google — Gemini</a:t>
            </a:r>
          </a:p>
        </p:txBody>
      </p:sp>
      <p:sp>
        <p:nvSpPr>
          <p:cNvPr id="320" name="TextBox 14"/>
          <p:cNvSpPr txBox="1"/>
          <p:nvPr/>
        </p:nvSpPr>
        <p:spPr>
          <a:xfrm>
            <a:off x="4206240" y="3563034"/>
            <a:ext cx="42062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sz="1100">
                <a:solidFill>
                  <a:srgbClr val="1B2A41"/>
                </a:solidFill>
              </a:defRPr>
            </a:lvl1pPr>
          </a:lstStyle>
          <a:p>
            <a:pPr/>
            <a:r>
              <a:t>Native to Workspace; huge context windows</a:t>
            </a:r>
          </a:p>
        </p:txBody>
      </p:sp>
      <p:sp>
        <p:nvSpPr>
          <p:cNvPr id="321" name="TextBox 15"/>
          <p:cNvSpPr txBox="1"/>
          <p:nvPr/>
        </p:nvSpPr>
        <p:spPr>
          <a:xfrm>
            <a:off x="8595359" y="3561632"/>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i="1" sz="1000">
                <a:solidFill>
                  <a:srgbClr val="5D6B7E"/>
                </a:solidFill>
              </a:defRPr>
            </a:lvl1pPr>
          </a:lstStyle>
          <a:p>
            <a:pPr/>
            <a:r>
              <a:t>Teams already on Google stack</a:t>
            </a:r>
          </a:p>
        </p:txBody>
      </p:sp>
      <p:sp>
        <p:nvSpPr>
          <p:cNvPr id="322" name="Rectangle 16"/>
          <p:cNvSpPr/>
          <p:nvPr/>
        </p:nvSpPr>
        <p:spPr>
          <a:xfrm>
            <a:off x="548639" y="4059935"/>
            <a:ext cx="11094417" cy="786385"/>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323" name="TextBox 17"/>
          <p:cNvSpPr txBox="1"/>
          <p:nvPr/>
        </p:nvSpPr>
        <p:spPr>
          <a:xfrm>
            <a:off x="768095" y="4392983"/>
            <a:ext cx="3291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F2145"/>
                </a:solidFill>
              </a:defRPr>
            </a:lvl1pPr>
          </a:lstStyle>
          <a:p>
            <a:pPr/>
            <a:r>
              <a:t>Meta — Llama (open)</a:t>
            </a:r>
          </a:p>
        </p:txBody>
      </p:sp>
      <p:sp>
        <p:nvSpPr>
          <p:cNvPr id="324" name="TextBox 18"/>
          <p:cNvSpPr txBox="1"/>
          <p:nvPr/>
        </p:nvSpPr>
        <p:spPr>
          <a:xfrm>
            <a:off x="4206240" y="4404282"/>
            <a:ext cx="42062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sz="1100">
                <a:solidFill>
                  <a:srgbClr val="1B2A41"/>
                </a:solidFill>
              </a:defRPr>
            </a:lvl1pPr>
          </a:lstStyle>
          <a:p>
            <a:pPr/>
            <a:r>
              <a:t>Open-weights: run it on your own servers</a:t>
            </a:r>
          </a:p>
        </p:txBody>
      </p:sp>
      <p:sp>
        <p:nvSpPr>
          <p:cNvPr id="325" name="TextBox 19"/>
          <p:cNvSpPr txBox="1"/>
          <p:nvPr/>
        </p:nvSpPr>
        <p:spPr>
          <a:xfrm>
            <a:off x="8595359" y="4402880"/>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i="1" sz="1000">
                <a:solidFill>
                  <a:srgbClr val="5D6B7E"/>
                </a:solidFill>
              </a:defRPr>
            </a:lvl1pPr>
          </a:lstStyle>
          <a:p>
            <a:pPr/>
            <a:r>
              <a:t>Banks needing data to stay in-house</a:t>
            </a:r>
          </a:p>
        </p:txBody>
      </p:sp>
      <p:sp>
        <p:nvSpPr>
          <p:cNvPr id="326" name="Rectangle 20"/>
          <p:cNvSpPr/>
          <p:nvPr/>
        </p:nvSpPr>
        <p:spPr>
          <a:xfrm>
            <a:off x="548639" y="4901184"/>
            <a:ext cx="11094417" cy="786385"/>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327" name="TextBox 21"/>
          <p:cNvSpPr txBox="1"/>
          <p:nvPr/>
        </p:nvSpPr>
        <p:spPr>
          <a:xfrm>
            <a:off x="768095" y="5234231"/>
            <a:ext cx="3291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F2145"/>
                </a:solidFill>
              </a:defRPr>
            </a:lvl1pPr>
          </a:lstStyle>
          <a:p>
            <a:pPr/>
            <a:r>
              <a:t>BloombergGPT / FinBERT</a:t>
            </a:r>
          </a:p>
        </p:txBody>
      </p:sp>
      <p:sp>
        <p:nvSpPr>
          <p:cNvPr id="328" name="TextBox 22"/>
          <p:cNvSpPr txBox="1"/>
          <p:nvPr/>
        </p:nvSpPr>
        <p:spPr>
          <a:xfrm>
            <a:off x="4206240" y="5245530"/>
            <a:ext cx="42062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sz="1100">
                <a:solidFill>
                  <a:srgbClr val="1B2A41"/>
                </a:solidFill>
              </a:defRPr>
            </a:lvl1pPr>
          </a:lstStyle>
          <a:p>
            <a:pPr/>
            <a:r>
              <a:t>Domain models trained on finance text</a:t>
            </a:r>
          </a:p>
        </p:txBody>
      </p:sp>
      <p:sp>
        <p:nvSpPr>
          <p:cNvPr id="329" name="TextBox 23"/>
          <p:cNvSpPr txBox="1"/>
          <p:nvPr/>
        </p:nvSpPr>
        <p:spPr>
          <a:xfrm>
            <a:off x="8595359" y="5244128"/>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i="1" sz="1000">
                <a:solidFill>
                  <a:srgbClr val="5D6B7E"/>
                </a:solidFill>
              </a:defRPr>
            </a:lvl1pPr>
          </a:lstStyle>
          <a:p>
            <a:pPr/>
            <a:r>
              <a:t>Terminal workflows, sentiment scoring</a:t>
            </a:r>
          </a:p>
        </p:txBody>
      </p:sp>
      <p:sp>
        <p:nvSpPr>
          <p:cNvPr id="330" name="TextBox 24"/>
          <p:cNvSpPr txBox="1"/>
          <p:nvPr/>
        </p:nvSpPr>
        <p:spPr>
          <a:xfrm>
            <a:off x="4206240" y="1325880"/>
            <a:ext cx="4206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800">
                <a:solidFill>
                  <a:srgbClr val="5D6B7E"/>
                </a:solidFill>
              </a:defRPr>
            </a:lvl1pPr>
          </a:lstStyle>
          <a:p>
            <a:pPr/>
            <a:r>
              <a:t>KNOWN FOR</a:t>
            </a:r>
          </a:p>
        </p:txBody>
      </p:sp>
      <p:sp>
        <p:nvSpPr>
          <p:cNvPr id="331" name="TextBox 25"/>
          <p:cNvSpPr txBox="1"/>
          <p:nvPr/>
        </p:nvSpPr>
        <p:spPr>
          <a:xfrm>
            <a:off x="8595359" y="1325880"/>
            <a:ext cx="3017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800">
                <a:solidFill>
                  <a:srgbClr val="5D6B7E"/>
                </a:solidFill>
              </a:defRPr>
            </a:lvl1pPr>
          </a:lstStyle>
          <a:p>
            <a:pPr/>
            <a:r>
              <a:t>PICK IT WHEN</a:t>
            </a:r>
          </a:p>
        </p:txBody>
      </p:sp>
      <p:sp>
        <p:nvSpPr>
          <p:cNvPr id="332" name="Rounded Rectangle 26"/>
          <p:cNvSpPr/>
          <p:nvPr/>
        </p:nvSpPr>
        <p:spPr>
          <a:xfrm>
            <a:off x="548640" y="5797296"/>
            <a:ext cx="11094416" cy="512065"/>
          </a:xfrm>
          <a:prstGeom prst="roundRect">
            <a:avLst>
              <a:gd name="adj" fmla="val 14000"/>
            </a:avLst>
          </a:prstGeom>
          <a:solidFill>
            <a:srgbClr val="E9EFF8"/>
          </a:solidFill>
          <a:ln w="12700">
            <a:miter lim="400000"/>
          </a:ln>
        </p:spPr>
        <p:txBody>
          <a:bodyPr lIns="45719" rIns="45719" anchor="ctr"/>
          <a:lstStyle/>
          <a:p>
            <a:pPr algn="ctr">
              <a:defRPr>
                <a:solidFill>
                  <a:srgbClr val="FFFFFF"/>
                </a:solidFill>
              </a:defRPr>
            </a:pPr>
          </a:p>
        </p:txBody>
      </p:sp>
      <p:sp>
        <p:nvSpPr>
          <p:cNvPr id="333" name="TextBox 27"/>
          <p:cNvSpPr txBox="1"/>
          <p:nvPr/>
        </p:nvSpPr>
        <p:spPr>
          <a:xfrm>
            <a:off x="786383" y="5986194"/>
            <a:ext cx="10637216"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0F2145"/>
                </a:solidFill>
              </a:defRPr>
            </a:pPr>
            <a:r>
              <a:t>Closed models </a:t>
            </a:r>
            <a:r>
              <a:rPr b="0">
                <a:solidFill>
                  <a:srgbClr val="1B2A41"/>
                </a:solidFill>
              </a:rPr>
              <a:t>= rented via API, best quality.  </a:t>
            </a:r>
            <a:r>
              <a:t>Open models </a:t>
            </a:r>
            <a:r>
              <a:rPr b="0">
                <a:solidFill>
                  <a:srgbClr val="1B2A41"/>
                </a:solidFill>
              </a:rPr>
              <a:t>= downloaded and self-hosted — banks often choose these for confidential data.</a:t>
            </a:r>
          </a:p>
        </p:txBody>
      </p:sp>
      <p:sp>
        <p:nvSpPr>
          <p:cNvPr id="334" name="TextBox 28"/>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pc="180" sz="800">
                <a:solidFill>
                  <a:srgbClr val="5D6B7E"/>
                </a:solidFill>
              </a:defRPr>
            </a:lvl1pPr>
          </a:lstStyle>
          <a:p>
            <a:pPr/>
            <a:r>
              <a:t>ISBMS · PGDM 2025–27 · AGENTIC AI &amp; ADVANCED ANALYTICS IN FINANCE</a:t>
            </a:r>
          </a:p>
        </p:txBody>
      </p:sp>
      <p:sp>
        <p:nvSpPr>
          <p:cNvPr id="335" name="TextBox 29"/>
          <p:cNvSpPr txBox="1"/>
          <p:nvPr/>
        </p:nvSpPr>
        <p:spPr>
          <a:xfrm>
            <a:off x="9814255" y="6473952"/>
            <a:ext cx="1828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pc="120" sz="800">
                <a:solidFill>
                  <a:srgbClr val="5D6B7E"/>
                </a:solidFill>
              </a:defRPr>
            </a:lvl1pPr>
          </a:lstStyle>
          <a:p>
            <a:pPr/>
            <a:r>
              <a:t>MODULE 1  ·  09</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337"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38"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1 · CHOOSING A MODEL</a:t>
            </a:r>
          </a:p>
        </p:txBody>
      </p:sp>
      <p:sp>
        <p:nvSpPr>
          <p:cNvPr id="339"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Which model ?</a:t>
            </a:r>
          </a:p>
        </p:txBody>
      </p:sp>
      <p:sp>
        <p:nvSpPr>
          <p:cNvPr id="340" name="Rectangle 4"/>
          <p:cNvSpPr/>
          <p:nvPr/>
        </p:nvSpPr>
        <p:spPr>
          <a:xfrm>
            <a:off x="548639" y="1572767"/>
            <a:ext cx="2670050" cy="21488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341" name="Rectangle 5"/>
          <p:cNvSpPr/>
          <p:nvPr/>
        </p:nvSpPr>
        <p:spPr>
          <a:xfrm>
            <a:off x="548639" y="1572767"/>
            <a:ext cx="2670050"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342" name="TextBox 6"/>
          <p:cNvSpPr txBox="1"/>
          <p:nvPr/>
        </p:nvSpPr>
        <p:spPr>
          <a:xfrm>
            <a:off x="749808" y="1755648"/>
            <a:ext cx="2286001" cy="88824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ChatGPT · OpenAI</a:t>
            </a:r>
          </a:p>
          <a:p>
            <a:pPr>
              <a:lnSpc>
                <a:spcPct val="104999"/>
              </a:lnSpc>
              <a:spcBef>
                <a:spcPts val="500"/>
              </a:spcBef>
              <a:defRPr sz="1000">
                <a:solidFill>
                  <a:srgbClr val="5D6B7E"/>
                </a:solidFill>
              </a:defRPr>
            </a:pPr>
            <a:r>
              <a:t>The broadest ecosystem. Most people already have it, and most third-party tools plug into it first. Strong general reasoning and coding.</a:t>
            </a:r>
          </a:p>
        </p:txBody>
      </p:sp>
      <p:sp>
        <p:nvSpPr>
          <p:cNvPr id="343" name="Rectangle 7"/>
          <p:cNvSpPr/>
          <p:nvPr/>
        </p:nvSpPr>
        <p:spPr>
          <a:xfrm>
            <a:off x="3374135" y="1572767"/>
            <a:ext cx="2670049" cy="21488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344" name="Rectangle 8"/>
          <p:cNvSpPr/>
          <p:nvPr/>
        </p:nvSpPr>
        <p:spPr>
          <a:xfrm>
            <a:off x="3374135" y="1572767"/>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345" name="TextBox 9"/>
          <p:cNvSpPr txBox="1"/>
          <p:nvPr/>
        </p:nvSpPr>
        <p:spPr>
          <a:xfrm>
            <a:off x="3575303" y="1755648"/>
            <a:ext cx="2286001" cy="88824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Gemini · Google</a:t>
            </a:r>
          </a:p>
          <a:p>
            <a:pPr>
              <a:lnSpc>
                <a:spcPct val="104999"/>
              </a:lnSpc>
              <a:spcBef>
                <a:spcPts val="500"/>
              </a:spcBef>
              <a:defRPr sz="1000">
                <a:solidFill>
                  <a:srgbClr val="5D6B7E"/>
                </a:solidFill>
              </a:defRPr>
            </a:pPr>
            <a:r>
              <a:t>Native to Google Workspace, so it sits where the documents already are. Very large context windows, useful when you want to throw a lot at it at once.</a:t>
            </a:r>
          </a:p>
        </p:txBody>
      </p:sp>
      <p:sp>
        <p:nvSpPr>
          <p:cNvPr id="346" name="Rectangle 10"/>
          <p:cNvSpPr/>
          <p:nvPr/>
        </p:nvSpPr>
        <p:spPr>
          <a:xfrm>
            <a:off x="6199630" y="1572767"/>
            <a:ext cx="2670049" cy="21488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347" name="Rectangle 11"/>
          <p:cNvSpPr/>
          <p:nvPr/>
        </p:nvSpPr>
        <p:spPr>
          <a:xfrm>
            <a:off x="6199630" y="1572767"/>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348" name="TextBox 12"/>
          <p:cNvSpPr txBox="1"/>
          <p:nvPr/>
        </p:nvSpPr>
        <p:spPr>
          <a:xfrm>
            <a:off x="6400798" y="1755648"/>
            <a:ext cx="2286001" cy="88824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Llama · Meta</a:t>
            </a:r>
          </a:p>
          <a:p>
            <a:pPr>
              <a:lnSpc>
                <a:spcPct val="104999"/>
              </a:lnSpc>
              <a:spcBef>
                <a:spcPts val="500"/>
              </a:spcBef>
              <a:defRPr sz="1000">
                <a:solidFill>
                  <a:srgbClr val="5D6B7E"/>
                </a:solidFill>
              </a:defRPr>
            </a:pPr>
            <a:r>
              <a:t>Open weights. You download it and run it on your own servers, so confidential data never leaves the bank. You give up some capability for that control.</a:t>
            </a:r>
          </a:p>
        </p:txBody>
      </p:sp>
      <p:sp>
        <p:nvSpPr>
          <p:cNvPr id="349" name="Rectangle 13"/>
          <p:cNvSpPr/>
          <p:nvPr/>
        </p:nvSpPr>
        <p:spPr>
          <a:xfrm>
            <a:off x="9025128" y="1572767"/>
            <a:ext cx="2670049" cy="214884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350" name="Rectangle 14"/>
          <p:cNvSpPr/>
          <p:nvPr/>
        </p:nvSpPr>
        <p:spPr>
          <a:xfrm>
            <a:off x="9025128" y="1572767"/>
            <a:ext cx="2670049" cy="4572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51" name="TextBox 15"/>
          <p:cNvSpPr txBox="1"/>
          <p:nvPr/>
        </p:nvSpPr>
        <p:spPr>
          <a:xfrm>
            <a:off x="9226295" y="1755648"/>
            <a:ext cx="2286001" cy="10601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Claude · Anthropic</a:t>
            </a:r>
          </a:p>
          <a:p>
            <a:pPr>
              <a:lnSpc>
                <a:spcPct val="104999"/>
              </a:lnSpc>
              <a:spcBef>
                <a:spcPts val="500"/>
              </a:spcBef>
              <a:defRPr sz="1000">
                <a:solidFill>
                  <a:srgbClr val="C9D6EE"/>
                </a:solidFill>
              </a:defRPr>
            </a:pPr>
            <a:r>
              <a:t>Sustained reasoning over long, messy documents. Tuned to say when it is unsure rather than fill the gap. Tool use and agent work are native, and Claude Code lets you build software without writing code.</a:t>
            </a:r>
          </a:p>
        </p:txBody>
      </p:sp>
      <p:sp>
        <p:nvSpPr>
          <p:cNvPr id="352" name="Rectangle 16"/>
          <p:cNvSpPr/>
          <p:nvPr/>
        </p:nvSpPr>
        <p:spPr>
          <a:xfrm>
            <a:off x="548639" y="3840479"/>
            <a:ext cx="5577842" cy="182880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353" name="Rectangle 17"/>
          <p:cNvSpPr/>
          <p:nvPr/>
        </p:nvSpPr>
        <p:spPr>
          <a:xfrm>
            <a:off x="548640" y="3840479"/>
            <a:ext cx="64009" cy="182880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54" name="TextBox 18"/>
          <p:cNvSpPr txBox="1"/>
          <p:nvPr/>
        </p:nvSpPr>
        <p:spPr>
          <a:xfrm>
            <a:off x="804671" y="4005071"/>
            <a:ext cx="5120642" cy="1375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400">
                <a:solidFill>
                  <a:srgbClr val="0F2145"/>
                </a:solidFill>
                <a:latin typeface="Georgia"/>
                <a:ea typeface="Georgia"/>
                <a:cs typeface="Georgia"/>
                <a:sym typeface="Georgia"/>
              </a:defRPr>
            </a:pPr>
            <a:r>
              <a:t>Why this course runs on Claude</a:t>
            </a:r>
          </a:p>
          <a:p>
            <a:pPr>
              <a:lnSpc>
                <a:spcPct val="104999"/>
              </a:lnSpc>
              <a:spcBef>
                <a:spcPts val="500"/>
              </a:spcBef>
              <a:defRPr sz="1000">
                <a:solidFill>
                  <a:srgbClr val="1B2A41"/>
                </a:solidFill>
              </a:defRPr>
            </a:pPr>
            <a:r>
              <a:t>1.  It holds a long document and keeps reasoning about it. A 200-page annual report or a Basel circular does not fall apart halfway through.</a:t>
            </a:r>
          </a:p>
          <a:p>
            <a:pPr>
              <a:lnSpc>
                <a:spcPct val="104999"/>
              </a:lnSpc>
              <a:spcBef>
                <a:spcPts val="400"/>
              </a:spcBef>
              <a:defRPr sz="1000">
                <a:solidFill>
                  <a:srgbClr val="1B2A41"/>
                </a:solidFill>
              </a:defRPr>
            </a:pPr>
            <a:r>
              <a:t>2.  It admits uncertainty more often than it invents. In finance a blank is cheaper than a confident wrong number.</a:t>
            </a:r>
          </a:p>
          <a:p>
            <a:pPr>
              <a:lnSpc>
                <a:spcPct val="104999"/>
              </a:lnSpc>
              <a:spcBef>
                <a:spcPts val="400"/>
              </a:spcBef>
              <a:defRPr sz="1000">
                <a:solidFill>
                  <a:srgbClr val="1B2A41"/>
                </a:solidFill>
              </a:defRPr>
            </a:pPr>
            <a:r>
              <a:t>3.  Agents and tools are native, and Claude Code writes and runs the code for you. Every lab in this course leans on that.</a:t>
            </a:r>
          </a:p>
        </p:txBody>
      </p:sp>
      <p:sp>
        <p:nvSpPr>
          <p:cNvPr id="355" name="Rectangle 19"/>
          <p:cNvSpPr/>
          <p:nvPr/>
        </p:nvSpPr>
        <p:spPr>
          <a:xfrm>
            <a:off x="6492240" y="3840479"/>
            <a:ext cx="5148072" cy="182880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356" name="TextBox 20"/>
          <p:cNvSpPr txBox="1"/>
          <p:nvPr/>
        </p:nvSpPr>
        <p:spPr>
          <a:xfrm>
            <a:off x="6748271" y="4005071"/>
            <a:ext cx="4663441" cy="1559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400">
                <a:solidFill>
                  <a:srgbClr val="0F2145"/>
                </a:solidFill>
                <a:latin typeface="Georgia"/>
                <a:ea typeface="Georgia"/>
                <a:cs typeface="Georgia"/>
                <a:sym typeface="Georgia"/>
              </a:defRPr>
            </a:pPr>
            <a:r>
              <a:t>The family, and what each is for</a:t>
            </a:r>
          </a:p>
          <a:p>
            <a:pPr>
              <a:lnSpc>
                <a:spcPct val="104999"/>
              </a:lnSpc>
              <a:spcBef>
                <a:spcPts val="500"/>
              </a:spcBef>
              <a:defRPr sz="1000">
                <a:solidFill>
                  <a:srgbClr val="1B2A41"/>
                </a:solidFill>
              </a:defRPr>
            </a:pPr>
            <a:r>
              <a:t>Opus 5  ·  the deepest reasoning. Long analysis, hard problems, the work you check least often.</a:t>
            </a:r>
          </a:p>
          <a:p>
            <a:pPr>
              <a:lnSpc>
                <a:spcPct val="104999"/>
              </a:lnSpc>
              <a:spcBef>
                <a:spcPts val="300"/>
              </a:spcBef>
              <a:defRPr sz="1000">
                <a:solidFill>
                  <a:srgbClr val="1B2A41"/>
                </a:solidFill>
              </a:defRPr>
            </a:pPr>
            <a:r>
              <a:t>Sonnet 5  ·  the everyday model. Fast enough to sit in an application, strong enough for real analysis.</a:t>
            </a:r>
          </a:p>
          <a:p>
            <a:pPr>
              <a:lnSpc>
                <a:spcPct val="104999"/>
              </a:lnSpc>
              <a:spcBef>
                <a:spcPts val="300"/>
              </a:spcBef>
              <a:defRPr sz="1000">
                <a:solidFill>
                  <a:srgbClr val="1B2A41"/>
                </a:solidFill>
              </a:defRPr>
            </a:pPr>
            <a:r>
              <a:t>Fable 5  ·  built for planning and quick reasoning. Useful when you want a good plan before you spend on a deep run.</a:t>
            </a:r>
          </a:p>
          <a:p>
            <a:pPr>
              <a:lnSpc>
                <a:spcPct val="104999"/>
              </a:lnSpc>
              <a:spcBef>
                <a:spcPts val="300"/>
              </a:spcBef>
              <a:defRPr sz="1000">
                <a:solidFill>
                  <a:srgbClr val="1B2A41"/>
                </a:solidFill>
              </a:defRPr>
            </a:pPr>
            <a:r>
              <a:t>Haiku 4.5  ·  cheap and fast. Bulk jobs: classify ten thousand headlines, tag documents.</a:t>
            </a:r>
          </a:p>
        </p:txBody>
      </p:sp>
      <p:sp>
        <p:nvSpPr>
          <p:cNvPr id="357" name="TextBox 21"/>
          <p:cNvSpPr txBox="1"/>
          <p:nvPr/>
        </p:nvSpPr>
        <p:spPr>
          <a:xfrm>
            <a:off x="548640" y="5852159"/>
            <a:ext cx="11091672" cy="3060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Be fair about this: </a:t>
            </a:r>
            <a:r>
              <a:rPr b="0">
                <a:solidFill>
                  <a:srgbClr val="5D6B7E"/>
                </a:solidFill>
              </a:rPr>
              <a:t>all four are world-class, they leapfrog each other every few months, and every skill you learn today transfers between them. Model choice is a decision, not a religion. Pick on the task, the cost and where your data is allowed to sit.</a:t>
            </a:r>
          </a:p>
        </p:txBody>
      </p:sp>
      <p:sp>
        <p:nvSpPr>
          <p:cNvPr id="358" name="TextBox 22"/>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359" name="TextBox 23"/>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10</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361"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62"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1 · MODELS</a:t>
            </a:r>
          </a:p>
        </p:txBody>
      </p:sp>
      <p:sp>
        <p:nvSpPr>
          <p:cNvPr id="363"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BloombergGPT and FinBERT, explained</a:t>
            </a:r>
          </a:p>
        </p:txBody>
      </p:sp>
      <p:sp>
        <p:nvSpPr>
          <p:cNvPr id="364" name="Rectangle 4"/>
          <p:cNvSpPr/>
          <p:nvPr/>
        </p:nvSpPr>
        <p:spPr>
          <a:xfrm>
            <a:off x="548640" y="1572767"/>
            <a:ext cx="11091672" cy="1783080"/>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365" name="Rectangle 5"/>
          <p:cNvSpPr/>
          <p:nvPr/>
        </p:nvSpPr>
        <p:spPr>
          <a:xfrm>
            <a:off x="548640" y="1572767"/>
            <a:ext cx="64009" cy="1783080"/>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66" name="TextBox 6"/>
          <p:cNvSpPr txBox="1"/>
          <p:nvPr/>
        </p:nvSpPr>
        <p:spPr>
          <a:xfrm>
            <a:off x="822959" y="1755648"/>
            <a:ext cx="2468882" cy="418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600">
                <a:solidFill>
                  <a:srgbClr val="0F2145"/>
                </a:solidFill>
                <a:latin typeface="Georgia"/>
                <a:ea typeface="Georgia"/>
                <a:cs typeface="Georgia"/>
                <a:sym typeface="Georgia"/>
              </a:defRPr>
            </a:pPr>
            <a:r>
              <a:t>BloombergGPT</a:t>
            </a:r>
          </a:p>
          <a:p>
            <a:pPr>
              <a:lnSpc>
                <a:spcPct val="104999"/>
              </a:lnSpc>
              <a:spcBef>
                <a:spcPts val="400"/>
              </a:spcBef>
              <a:defRPr b="1" sz="900">
                <a:solidFill>
                  <a:srgbClr val="3A5C9E"/>
                </a:solidFill>
              </a:defRPr>
            </a:pPr>
            <a:r>
              <a:t>Announced March 2023</a:t>
            </a:r>
          </a:p>
        </p:txBody>
      </p:sp>
      <p:sp>
        <p:nvSpPr>
          <p:cNvPr id="367" name="TextBox 7"/>
          <p:cNvSpPr txBox="1"/>
          <p:nvPr/>
        </p:nvSpPr>
        <p:spPr>
          <a:xfrm>
            <a:off x="3429000" y="1773935"/>
            <a:ext cx="3931921" cy="4809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A 50-billion-parameter model that Bloomberg trained on its own financial archive, about 363 billion tokens of filings, news and market text, plus public data.</a:t>
            </a:r>
          </a:p>
        </p:txBody>
      </p:sp>
      <p:sp>
        <p:nvSpPr>
          <p:cNvPr id="368" name="TextBox 8"/>
          <p:cNvSpPr txBox="1"/>
          <p:nvPr/>
        </p:nvSpPr>
        <p:spPr>
          <a:xfrm>
            <a:off x="7543800" y="1773935"/>
            <a:ext cx="39319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It sits inside the Bloomberg Terminal. It was never sold as an open API.</a:t>
            </a:r>
          </a:p>
        </p:txBody>
      </p:sp>
      <p:sp>
        <p:nvSpPr>
          <p:cNvPr id="369" name="TextBox 9"/>
          <p:cNvSpPr txBox="1"/>
          <p:nvPr/>
        </p:nvSpPr>
        <p:spPr>
          <a:xfrm>
            <a:off x="3429000" y="2852927"/>
            <a:ext cx="8046719"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0F2145"/>
                </a:solidFill>
              </a:defRPr>
            </a:lvl1pPr>
          </a:lstStyle>
          <a:p>
            <a:pPr/>
            <a:r>
              <a:t>What to take from it: training a model on your own data works, and it is expensive. General models improved so fast that most of the gap closed within a year. Very few firms will build one.</a:t>
            </a:r>
          </a:p>
        </p:txBody>
      </p:sp>
      <p:sp>
        <p:nvSpPr>
          <p:cNvPr id="370" name="Rectangle 10"/>
          <p:cNvSpPr/>
          <p:nvPr/>
        </p:nvSpPr>
        <p:spPr>
          <a:xfrm>
            <a:off x="548640" y="3538728"/>
            <a:ext cx="11091672" cy="1783080"/>
          </a:xfrm>
          <a:prstGeom prst="rect">
            <a:avLst/>
          </a:prstGeom>
          <a:solidFill>
            <a:srgbClr val="D5E1F2"/>
          </a:solidFill>
          <a:ln w="12700">
            <a:miter lim="400000"/>
          </a:ln>
        </p:spPr>
        <p:txBody>
          <a:bodyPr lIns="45719" rIns="45719" anchor="ctr"/>
          <a:lstStyle/>
          <a:p>
            <a:pPr algn="ctr">
              <a:defRPr>
                <a:solidFill>
                  <a:srgbClr val="FFFFFF"/>
                </a:solidFill>
              </a:defRPr>
            </a:pPr>
          </a:p>
        </p:txBody>
      </p:sp>
      <p:sp>
        <p:nvSpPr>
          <p:cNvPr id="371" name="Rectangle 11"/>
          <p:cNvSpPr/>
          <p:nvPr/>
        </p:nvSpPr>
        <p:spPr>
          <a:xfrm>
            <a:off x="548640" y="3538728"/>
            <a:ext cx="64009" cy="1783080"/>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72" name="TextBox 12"/>
          <p:cNvSpPr txBox="1"/>
          <p:nvPr/>
        </p:nvSpPr>
        <p:spPr>
          <a:xfrm>
            <a:off x="822959" y="3721608"/>
            <a:ext cx="2468882" cy="418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600">
                <a:solidFill>
                  <a:srgbClr val="0F2145"/>
                </a:solidFill>
                <a:latin typeface="Georgia"/>
                <a:ea typeface="Georgia"/>
                <a:cs typeface="Georgia"/>
                <a:sym typeface="Georgia"/>
              </a:defRPr>
            </a:pPr>
            <a:r>
              <a:t>FinBERT</a:t>
            </a:r>
          </a:p>
          <a:p>
            <a:pPr>
              <a:lnSpc>
                <a:spcPct val="104999"/>
              </a:lnSpc>
              <a:spcBef>
                <a:spcPts val="400"/>
              </a:spcBef>
              <a:defRPr b="1" sz="900">
                <a:solidFill>
                  <a:srgbClr val="3A5C9E"/>
                </a:solidFill>
              </a:defRPr>
            </a:pPr>
            <a:r>
              <a:t>Open source, free</a:t>
            </a:r>
          </a:p>
        </p:txBody>
      </p:sp>
      <p:sp>
        <p:nvSpPr>
          <p:cNvPr id="373" name="TextBox 13"/>
          <p:cNvSpPr txBox="1"/>
          <p:nvPr/>
        </p:nvSpPr>
        <p:spPr>
          <a:xfrm>
            <a:off x="3429000" y="3739896"/>
            <a:ext cx="393192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A small model based on Google's BERT, fine-tuned on financial text. It does one job: read a sentence and label it positive, negative or neutral.</a:t>
            </a:r>
          </a:p>
        </p:txBody>
      </p:sp>
      <p:sp>
        <p:nvSpPr>
          <p:cNvPr id="374" name="TextBox 14"/>
          <p:cNvSpPr txBox="1"/>
          <p:nvPr/>
        </p:nvSpPr>
        <p:spPr>
          <a:xfrm>
            <a:off x="7543800" y="3739896"/>
            <a:ext cx="393192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It runs on a laptop or a bank's own server. No API bill, and no data leaves the building.</a:t>
            </a:r>
          </a:p>
        </p:txBody>
      </p:sp>
      <p:sp>
        <p:nvSpPr>
          <p:cNvPr id="375" name="TextBox 15"/>
          <p:cNvSpPr txBox="1"/>
          <p:nvPr/>
        </p:nvSpPr>
        <p:spPr>
          <a:xfrm>
            <a:off x="3429000" y="4818888"/>
            <a:ext cx="8046719"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0F2145"/>
                </a:solidFill>
              </a:defRPr>
            </a:lvl1pPr>
          </a:lstStyle>
          <a:p>
            <a:pPr/>
            <a:r>
              <a:t>What to take from it: for one narrow, repeated task, a small specialist model beats a frontier model on cost and on privacy. Module 9 uses FinBERT on NSE announcements.</a:t>
            </a:r>
          </a:p>
        </p:txBody>
      </p:sp>
      <p:sp>
        <p:nvSpPr>
          <p:cNvPr id="376" name="Rectangle 16"/>
          <p:cNvSpPr/>
          <p:nvPr/>
        </p:nvSpPr>
        <p:spPr>
          <a:xfrm>
            <a:off x="548640" y="5532120"/>
            <a:ext cx="11091672" cy="77724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377" name="TextBox 17"/>
          <p:cNvSpPr txBox="1"/>
          <p:nvPr/>
        </p:nvSpPr>
        <p:spPr>
          <a:xfrm>
            <a:off x="822960" y="5669279"/>
            <a:ext cx="10515601" cy="3596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The rule of thumb</a:t>
            </a:r>
          </a:p>
          <a:p>
            <a:pPr>
              <a:lnSpc>
                <a:spcPct val="104999"/>
              </a:lnSpc>
              <a:spcBef>
                <a:spcPts val="400"/>
              </a:spcBef>
              <a:defRPr sz="1000">
                <a:solidFill>
                  <a:srgbClr val="C9D6EE"/>
                </a:solidFill>
              </a:defRPr>
            </a:pPr>
            <a:r>
              <a:t>Use a small specialist model for one repeated, well-defined job. Use a frontier model when the input is messy and the answer needs reasoning. Cost, privacy and accuracy all follow from that choice.</a:t>
            </a:r>
          </a:p>
        </p:txBody>
      </p:sp>
      <p:sp>
        <p:nvSpPr>
          <p:cNvPr id="378" name="TextBox 18"/>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379" name="TextBox 19"/>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11</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381"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82" name="TextBox 2"/>
          <p:cNvSpPr txBox="1"/>
          <p:nvPr/>
        </p:nvSpPr>
        <p:spPr>
          <a:xfrm>
            <a:off x="786383" y="310895"/>
            <a:ext cx="10820097"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50" sz="1100">
                <a:solidFill>
                  <a:srgbClr val="C9A227"/>
                </a:solidFill>
              </a:defRPr>
            </a:lvl1pPr>
          </a:lstStyle>
          <a:p>
            <a:pPr/>
            <a:r>
              <a:t>HOUR 1 · BASICS</a:t>
            </a:r>
          </a:p>
        </p:txBody>
      </p:sp>
      <p:sp>
        <p:nvSpPr>
          <p:cNvPr id="383" name="TextBox 3"/>
          <p:cNvSpPr txBox="1"/>
          <p:nvPr/>
        </p:nvSpPr>
        <p:spPr>
          <a:xfrm>
            <a:off x="548639" y="621791"/>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0F2145"/>
                </a:solidFill>
                <a:latin typeface="Georgia"/>
                <a:ea typeface="Georgia"/>
                <a:cs typeface="Georgia"/>
                <a:sym typeface="Georgia"/>
              </a:defRPr>
            </a:lvl1pPr>
          </a:lstStyle>
          <a:p>
            <a:pPr/>
            <a:r>
              <a:t>Glossary I — words you'll hear all day</a:t>
            </a:r>
          </a:p>
        </p:txBody>
      </p:sp>
      <p:graphicFrame>
        <p:nvGraphicFramePr>
          <p:cNvPr id="384" name="Table 4"/>
          <p:cNvGraphicFramePr/>
          <p:nvPr/>
        </p:nvGraphicFramePr>
        <p:xfrm>
          <a:off x="548640" y="1517903"/>
          <a:ext cx="11109960" cy="4690864"/>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920240"/>
                <a:gridCol w="5212080"/>
                <a:gridCol w="3977639"/>
              </a:tblGrid>
              <a:tr h="521207">
                <a:tc>
                  <a:txBody>
                    <a:bodyPr/>
                    <a:lstStyle/>
                    <a:p>
                      <a:pPr algn="l">
                        <a:defRPr b="0" sz="1800">
                          <a:solidFill>
                            <a:srgbClr val="000000"/>
                          </a:solidFill>
                        </a:defRPr>
                      </a:pPr>
                      <a:r>
                        <a:rPr b="1" sz="1200">
                          <a:solidFill>
                            <a:srgbClr val="FFFFFF"/>
                          </a:solidFill>
                        </a:rPr>
                        <a:t>Term</a:t>
                      </a:r>
                    </a:p>
                  </a:txBody>
                  <a:tcPr marL="36576" marR="36576" marT="36576" marB="36576" anchor="ctr" anchorCtr="0" horzOverflow="overflow">
                    <a:solidFill>
                      <a:srgbClr val="0F2145"/>
                    </a:solidFill>
                  </a:tcPr>
                </a:tc>
                <a:tc>
                  <a:txBody>
                    <a:bodyPr/>
                    <a:lstStyle/>
                    <a:p>
                      <a:pPr algn="l">
                        <a:defRPr b="0" sz="1800">
                          <a:solidFill>
                            <a:srgbClr val="000000"/>
                          </a:solidFill>
                        </a:defRPr>
                      </a:pPr>
                      <a:r>
                        <a:rPr b="1" sz="1200">
                          <a:solidFill>
                            <a:srgbClr val="FFFFFF"/>
                          </a:solidFill>
                        </a:rPr>
                        <a:t>Plain-English meaning</a:t>
                      </a:r>
                    </a:p>
                  </a:txBody>
                  <a:tcPr marL="36576" marR="36576" marT="36576" marB="36576" anchor="ctr" anchorCtr="0" horzOverflow="overflow">
                    <a:solidFill>
                      <a:srgbClr val="0F2145"/>
                    </a:solidFill>
                  </a:tcPr>
                </a:tc>
                <a:tc>
                  <a:txBody>
                    <a:bodyPr/>
                    <a:lstStyle/>
                    <a:p>
                      <a:pPr algn="l">
                        <a:defRPr b="0" sz="1800">
                          <a:solidFill>
                            <a:srgbClr val="000000"/>
                          </a:solidFill>
                        </a:defRPr>
                      </a:pPr>
                      <a:r>
                        <a:rPr b="1" sz="1200">
                          <a:solidFill>
                            <a:srgbClr val="FFFFFF"/>
                          </a:solidFill>
                        </a:rPr>
                        <a:t>Finance example</a:t>
                      </a:r>
                    </a:p>
                  </a:txBody>
                  <a:tcPr marL="36576" marR="36576" marT="36576" marB="36576" anchor="ctr" anchorCtr="0" horzOverflow="overflow">
                    <a:solidFill>
                      <a:srgbClr val="0F2145"/>
                    </a:solidFill>
                  </a:tcPr>
                </a:tc>
              </a:tr>
              <a:tr h="521207">
                <a:tc>
                  <a:txBody>
                    <a:bodyPr/>
                    <a:lstStyle/>
                    <a:p>
                      <a:pPr algn="l">
                        <a:defRPr sz="1800"/>
                      </a:pPr>
                      <a:r>
                        <a:rPr b="1" sz="1000">
                          <a:solidFill>
                            <a:srgbClr val="0F2145"/>
                          </a:solidFill>
                        </a:rPr>
                        <a:t>Model</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The trained “brain” — a giant pattern-matcher built from data</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GPT, Claude and Gemini are all models</a:t>
                      </a:r>
                    </a:p>
                  </a:txBody>
                  <a:tcPr marL="36576" marR="36576" marT="36576" marB="36576" anchor="ctr" anchorCtr="0" horzOverflow="overflow">
                    <a:solidFill>
                      <a:srgbClr val="FFFFFF"/>
                    </a:solidFill>
                  </a:tcPr>
                </a:tc>
              </a:tr>
              <a:tr h="521207">
                <a:tc>
                  <a:txBody>
                    <a:bodyPr/>
                    <a:lstStyle/>
                    <a:p>
                      <a:pPr algn="l">
                        <a:defRPr sz="1800"/>
                      </a:pPr>
                      <a:r>
                        <a:rPr b="1" sz="1000">
                          <a:solidFill>
                            <a:srgbClr val="0F2145"/>
                          </a:solidFill>
                        </a:rPr>
                        <a:t>Training vs inference</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Training = building the brain (once, costly). Inference = using it (every chat)</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Your ChatGPT question = one inference call</a:t>
                      </a:r>
                    </a:p>
                  </a:txBody>
                  <a:tcPr marL="36576" marR="36576" marT="36576" marB="36576" anchor="ctr" anchorCtr="0" horzOverflow="overflow">
                    <a:solidFill>
                      <a:srgbClr val="F1F4F9"/>
                    </a:solidFill>
                  </a:tcPr>
                </a:tc>
              </a:tr>
              <a:tr h="521207">
                <a:tc>
                  <a:txBody>
                    <a:bodyPr/>
                    <a:lstStyle/>
                    <a:p>
                      <a:pPr algn="l">
                        <a:defRPr sz="1800"/>
                      </a:pPr>
                      <a:r>
                        <a:rPr b="1" sz="1000">
                          <a:solidFill>
                            <a:srgbClr val="0F2145"/>
                          </a:solidFill>
                        </a:rPr>
                        <a:t>Parameters</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The dials inside the brain — more dials, more capability</a:t>
                      </a:r>
                    </a:p>
                  </a:txBody>
                  <a:tcPr marL="36576" marR="36576" marT="36576" marB="36576" anchor="ctr" anchorCtr="0" horzOverflow="overflow">
                    <a:solidFill>
                      <a:srgbClr val="FFFFFF"/>
                    </a:solidFill>
                  </a:tcPr>
                </a:tc>
                <a:tc>
                  <a:txBody>
                    <a:bodyPr/>
                    <a:lstStyle/>
                    <a:p>
                      <a:pPr algn="l">
                        <a:defRPr sz="1000">
                          <a:solidFill>
                            <a:srgbClr val="1B2A41"/>
                          </a:solidFill>
                        </a:defRPr>
                      </a:pPr>
                      <a:r>
                        <a:t>the internal variables or "dials" inside a model</a:t>
                      </a:r>
                      <a:r>
                        <a:rPr sz="1200">
                          <a:latin typeface="Times Roman"/>
                          <a:ea typeface="Times Roman"/>
                          <a:cs typeface="Times Roman"/>
                          <a:sym typeface="Times Roman"/>
                        </a:rPr>
                        <a:t>—such as the </a:t>
                      </a:r>
                      <a:r>
                        <a:rPr u="sng">
                          <a:solidFill>
                            <a:srgbClr val="0000EE"/>
                          </a:solidFill>
                          <a:hlinkClick r:id="rId2" invalidUrl="" action="" tgtFrame="" tooltip="" history="1" highlightClick="0" endSnd="0"/>
                        </a:rPr>
                        <a:t>weights and biases</a:t>
                      </a:r>
                      <a:r>
                        <a:rPr sz="1200">
                          <a:latin typeface="Times Roman"/>
                          <a:ea typeface="Times Roman"/>
                          <a:cs typeface="Times Roman"/>
                          <a:sym typeface="Times Roman"/>
                        </a:rPr>
                        <a:t> in a neural network—that the system </a:t>
                      </a:r>
                      <a:r>
                        <a:rPr u="sng">
                          <a:solidFill>
                            <a:srgbClr val="0000EE"/>
                          </a:solidFill>
                          <a:hlinkClick r:id="rId3" invalidUrl="" action="" tgtFrame="" tooltip="" history="1" highlightClick="0" endSnd="0"/>
                        </a:rPr>
                        <a:t>learns and adjusts automatically</a:t>
                      </a:r>
                      <a:r>
                        <a:rPr sz="1200">
                          <a:latin typeface="Times Roman"/>
                          <a:ea typeface="Times Roman"/>
                          <a:cs typeface="Times Roman"/>
                          <a:sym typeface="Times Roman"/>
                        </a:rPr>
                        <a:t> during training.</a:t>
                      </a:r>
                    </a:p>
                  </a:txBody>
                  <a:tcPr marL="36576" marR="36576" marT="36576" marB="36576" anchor="ctr" anchorCtr="0" horzOverflow="overflow">
                    <a:solidFill>
                      <a:srgbClr val="FFFFFF"/>
                    </a:solidFill>
                  </a:tcPr>
                </a:tc>
              </a:tr>
              <a:tr h="521207">
                <a:tc>
                  <a:txBody>
                    <a:bodyPr/>
                    <a:lstStyle/>
                    <a:p>
                      <a:pPr algn="l">
                        <a:defRPr sz="1800"/>
                      </a:pPr>
                      <a:r>
                        <a:rPr b="1" sz="1000">
                          <a:solidFill>
                            <a:srgbClr val="0F2145"/>
                          </a:solidFill>
                        </a:rPr>
                        <a:t>Token</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The unit of text models read and bill by (≈ ¾ of a word)</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A 200-page annual report ≈ 100,000 tokens</a:t>
                      </a:r>
                    </a:p>
                  </a:txBody>
                  <a:tcPr marL="36576" marR="36576" marT="36576" marB="36576" anchor="ctr" anchorCtr="0" horzOverflow="overflow">
                    <a:solidFill>
                      <a:srgbClr val="F1F4F9"/>
                    </a:solidFill>
                  </a:tcPr>
                </a:tc>
              </a:tr>
              <a:tr h="521207">
                <a:tc>
                  <a:txBody>
                    <a:bodyPr/>
                    <a:lstStyle/>
                    <a:p>
                      <a:pPr algn="l">
                        <a:defRPr sz="1800"/>
                      </a:pPr>
                      <a:r>
                        <a:rPr b="1" sz="1000">
                          <a:solidFill>
                            <a:srgbClr val="0F2145"/>
                          </a:solidFill>
                        </a:rPr>
                        <a:t>Embedding</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Text converted into numbers that capture its meaning</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“profit fell” and “earnings declined” land side by side</a:t>
                      </a:r>
                    </a:p>
                  </a:txBody>
                  <a:tcPr marL="36576" marR="36576" marT="36576" marB="36576" anchor="ctr" anchorCtr="0" horzOverflow="overflow">
                    <a:solidFill>
                      <a:srgbClr val="FFFFFF"/>
                    </a:solidFill>
                  </a:tcPr>
                </a:tc>
              </a:tr>
              <a:tr h="521207">
                <a:tc>
                  <a:txBody>
                    <a:bodyPr/>
                    <a:lstStyle/>
                    <a:p>
                      <a:pPr algn="l">
                        <a:defRPr sz="1800"/>
                      </a:pPr>
                      <a:r>
                        <a:rPr b="1" sz="1000">
                          <a:solidFill>
                            <a:srgbClr val="0F2145"/>
                          </a:solidFill>
                        </a:rPr>
                        <a:t>Vector database</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A library indexed by meaning, not keywords</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Search “margin pressure”, find “pricing headwinds”</a:t>
                      </a:r>
                    </a:p>
                  </a:txBody>
                  <a:tcPr marL="36576" marR="36576" marT="36576" marB="36576" anchor="ctr" anchorCtr="0" horzOverflow="overflow">
                    <a:solidFill>
                      <a:srgbClr val="F1F4F9"/>
                    </a:solidFill>
                  </a:tcPr>
                </a:tc>
              </a:tr>
              <a:tr h="521207">
                <a:tc>
                  <a:txBody>
                    <a:bodyPr/>
                    <a:lstStyle/>
                    <a:p>
                      <a:pPr algn="l">
                        <a:defRPr sz="1800"/>
                      </a:pPr>
                      <a:r>
                        <a:rPr b="1" sz="1000">
                          <a:solidFill>
                            <a:srgbClr val="0F2145"/>
                          </a:solidFill>
                        </a:rPr>
                        <a:t>Temperature</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The creativity dial — low = consistent, high = varied</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Compliance drafts at 0.2, brainstorms at 0.9</a:t>
                      </a:r>
                    </a:p>
                  </a:txBody>
                  <a:tcPr marL="36576" marR="36576" marT="36576" marB="36576" anchor="ctr" anchorCtr="0" horzOverflow="overflow">
                    <a:solidFill>
                      <a:srgbClr val="FFFFFF"/>
                    </a:solidFill>
                  </a:tcPr>
                </a:tc>
              </a:tr>
              <a:tr h="521207">
                <a:tc>
                  <a:txBody>
                    <a:bodyPr/>
                    <a:lstStyle/>
                    <a:p>
                      <a:pPr algn="l">
                        <a:defRPr sz="1800"/>
                      </a:pPr>
                      <a:r>
                        <a:rPr b="1" sz="1000">
                          <a:solidFill>
                            <a:srgbClr val="0F2145"/>
                          </a:solidFill>
                        </a:rPr>
                        <a:t>API</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The plug that lets software call a model programmatically</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API call to fetch data from Annual reports</a:t>
                      </a:r>
                    </a:p>
                  </a:txBody>
                  <a:tcPr marL="36576" marR="36576" marT="36576" marB="36576" anchor="ctr" anchorCtr="0" horzOverflow="overflow">
                    <a:solidFill>
                      <a:srgbClr val="F1F4F9"/>
                    </a:solidFill>
                  </a:tcPr>
                </a:tc>
              </a:tr>
            </a:tbl>
          </a:graphicData>
        </a:graphic>
      </p:graphicFrame>
      <p:sp>
        <p:nvSpPr>
          <p:cNvPr id="385" name="TextBox 5"/>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pc="180" sz="800">
                <a:solidFill>
                  <a:srgbClr val="5D6B7E"/>
                </a:solidFill>
              </a:defRPr>
            </a:lvl1pPr>
          </a:lstStyle>
          <a:p>
            <a:pPr/>
            <a:r>
              <a:t>ISBMS · PGDM 2025–27 · AGENTIC AI &amp; ADVANCED ANALYTICS IN FINANCE</a:t>
            </a:r>
          </a:p>
        </p:txBody>
      </p:sp>
      <p:sp>
        <p:nvSpPr>
          <p:cNvPr id="386" name="TextBox 6"/>
          <p:cNvSpPr txBox="1"/>
          <p:nvPr/>
        </p:nvSpPr>
        <p:spPr>
          <a:xfrm>
            <a:off x="9814255" y="6473952"/>
            <a:ext cx="1828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pc="120" sz="800">
                <a:solidFill>
                  <a:srgbClr val="5D6B7E"/>
                </a:solidFill>
              </a:defRPr>
            </a:lvl1pPr>
          </a:lstStyle>
          <a:p>
            <a:pPr/>
            <a:r>
              <a:t>MODULE 1  ·  12</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388"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89" name="TextBox 2"/>
          <p:cNvSpPr txBox="1"/>
          <p:nvPr/>
        </p:nvSpPr>
        <p:spPr>
          <a:xfrm>
            <a:off x="786383" y="310895"/>
            <a:ext cx="10820097"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50" sz="1100">
                <a:solidFill>
                  <a:srgbClr val="C9A227"/>
                </a:solidFill>
              </a:defRPr>
            </a:lvl1pPr>
          </a:lstStyle>
          <a:p>
            <a:pPr/>
            <a:r>
              <a:t>HOUR 2 · AGENTS</a:t>
            </a:r>
          </a:p>
        </p:txBody>
      </p:sp>
      <p:sp>
        <p:nvSpPr>
          <p:cNvPr id="390" name="TextBox 3"/>
          <p:cNvSpPr txBox="1"/>
          <p:nvPr/>
        </p:nvSpPr>
        <p:spPr>
          <a:xfrm>
            <a:off x="548639" y="621791"/>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0F2145"/>
                </a:solidFill>
                <a:latin typeface="Georgia"/>
                <a:ea typeface="Georgia"/>
                <a:cs typeface="Georgia"/>
                <a:sym typeface="Georgia"/>
              </a:defRPr>
            </a:lvl1pPr>
          </a:lstStyle>
          <a:p>
            <a:pPr/>
            <a:r>
              <a:t>From chatbot to agent — answering vs doing</a:t>
            </a:r>
          </a:p>
        </p:txBody>
      </p:sp>
      <p:sp>
        <p:nvSpPr>
          <p:cNvPr id="391" name="Rounded Rectangle 4"/>
          <p:cNvSpPr/>
          <p:nvPr/>
        </p:nvSpPr>
        <p:spPr>
          <a:xfrm>
            <a:off x="548640" y="1783079"/>
            <a:ext cx="1883665" cy="1143001"/>
          </a:xfrm>
          <a:prstGeom prst="roundRect">
            <a:avLst>
              <a:gd name="adj" fmla="val 10000"/>
            </a:avLst>
          </a:prstGeom>
          <a:solidFill>
            <a:srgbClr val="24437A"/>
          </a:solidFill>
          <a:ln w="12700">
            <a:miter lim="400000"/>
          </a:ln>
        </p:spPr>
        <p:txBody>
          <a:bodyPr lIns="45719" rIns="45719" anchor="ctr"/>
          <a:lstStyle/>
          <a:p>
            <a:pPr algn="ctr">
              <a:defRPr>
                <a:solidFill>
                  <a:srgbClr val="FFFFFF"/>
                </a:solidFill>
              </a:defRPr>
            </a:pPr>
          </a:p>
        </p:txBody>
      </p:sp>
      <p:sp>
        <p:nvSpPr>
          <p:cNvPr id="392" name="TextBox 5"/>
          <p:cNvSpPr txBox="1"/>
          <p:nvPr/>
        </p:nvSpPr>
        <p:spPr>
          <a:xfrm>
            <a:off x="621791" y="2175291"/>
            <a:ext cx="1737362" cy="3585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rgbClr val="FFFFFF"/>
                </a:solidFill>
              </a:defRPr>
            </a:pPr>
            <a:r>
              <a:t>LLM</a:t>
            </a:r>
          </a:p>
          <a:p>
            <a:pPr algn="ctr">
              <a:spcBef>
                <a:spcPts val="200"/>
              </a:spcBef>
              <a:defRPr sz="800">
                <a:solidFill>
                  <a:srgbClr val="C9D6EE"/>
                </a:solidFill>
              </a:defRPr>
            </a:pPr>
            <a:r>
              <a:t>the brain</a:t>
            </a:r>
          </a:p>
        </p:txBody>
      </p:sp>
      <p:sp>
        <p:nvSpPr>
          <p:cNvPr id="393" name="TextBox 6"/>
          <p:cNvSpPr txBox="1"/>
          <p:nvPr/>
        </p:nvSpPr>
        <p:spPr>
          <a:xfrm>
            <a:off x="2487167" y="2158607"/>
            <a:ext cx="384049"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5D6B7E"/>
                </a:solidFill>
              </a:defRPr>
            </a:lvl1pPr>
          </a:lstStyle>
          <a:p>
            <a:pPr/>
            <a:r>
              <a:t>+</a:t>
            </a:r>
          </a:p>
        </p:txBody>
      </p:sp>
      <p:sp>
        <p:nvSpPr>
          <p:cNvPr id="394" name="Rounded Rectangle 7"/>
          <p:cNvSpPr/>
          <p:nvPr/>
        </p:nvSpPr>
        <p:spPr>
          <a:xfrm>
            <a:off x="2889504" y="1783079"/>
            <a:ext cx="1883665" cy="1143001"/>
          </a:xfrm>
          <a:prstGeom prst="roundRect">
            <a:avLst>
              <a:gd name="adj" fmla="val 10000"/>
            </a:avLst>
          </a:prstGeom>
          <a:solidFill>
            <a:srgbClr val="24437A"/>
          </a:solidFill>
          <a:ln w="12700">
            <a:miter lim="400000"/>
          </a:ln>
        </p:spPr>
        <p:txBody>
          <a:bodyPr lIns="45719" rIns="45719" anchor="ctr"/>
          <a:lstStyle/>
          <a:p>
            <a:pPr algn="ctr">
              <a:defRPr>
                <a:solidFill>
                  <a:srgbClr val="FFFFFF"/>
                </a:solidFill>
              </a:defRPr>
            </a:pPr>
          </a:p>
        </p:txBody>
      </p:sp>
      <p:sp>
        <p:nvSpPr>
          <p:cNvPr id="395" name="TextBox 8"/>
          <p:cNvSpPr txBox="1"/>
          <p:nvPr/>
        </p:nvSpPr>
        <p:spPr>
          <a:xfrm>
            <a:off x="2962655" y="2099091"/>
            <a:ext cx="1737362" cy="5109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rgbClr val="FFFFFF"/>
                </a:solidFill>
              </a:defRPr>
            </a:pPr>
            <a:r>
              <a:t>Tools</a:t>
            </a:r>
          </a:p>
          <a:p>
            <a:pPr algn="ctr">
              <a:spcBef>
                <a:spcPts val="200"/>
              </a:spcBef>
              <a:defRPr sz="800">
                <a:solidFill>
                  <a:srgbClr val="C9D6EE"/>
                </a:solidFill>
              </a:defRPr>
            </a:pPr>
            <a:r>
              <a:t>hands — APIs, code,</a:t>
            </a:r>
          </a:p>
          <a:p>
            <a:pPr algn="ctr">
              <a:spcBef>
                <a:spcPts val="200"/>
              </a:spcBef>
              <a:defRPr sz="800">
                <a:solidFill>
                  <a:srgbClr val="C9D6EE"/>
                </a:solidFill>
              </a:defRPr>
            </a:pPr>
            <a:r>
              <a:t>search, spreadsheets</a:t>
            </a:r>
          </a:p>
        </p:txBody>
      </p:sp>
      <p:sp>
        <p:nvSpPr>
          <p:cNvPr id="396" name="TextBox 9"/>
          <p:cNvSpPr txBox="1"/>
          <p:nvPr/>
        </p:nvSpPr>
        <p:spPr>
          <a:xfrm>
            <a:off x="4828032" y="2158607"/>
            <a:ext cx="384049"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5D6B7E"/>
                </a:solidFill>
              </a:defRPr>
            </a:lvl1pPr>
          </a:lstStyle>
          <a:p>
            <a:pPr/>
            <a:r>
              <a:t>+</a:t>
            </a:r>
          </a:p>
        </p:txBody>
      </p:sp>
      <p:sp>
        <p:nvSpPr>
          <p:cNvPr id="397" name="Rounded Rectangle 10"/>
          <p:cNvSpPr/>
          <p:nvPr/>
        </p:nvSpPr>
        <p:spPr>
          <a:xfrm>
            <a:off x="5230367" y="1783079"/>
            <a:ext cx="1883666" cy="1143001"/>
          </a:xfrm>
          <a:prstGeom prst="roundRect">
            <a:avLst>
              <a:gd name="adj" fmla="val 10000"/>
            </a:avLst>
          </a:prstGeom>
          <a:solidFill>
            <a:srgbClr val="24437A"/>
          </a:solidFill>
          <a:ln w="12700">
            <a:miter lim="400000"/>
          </a:ln>
        </p:spPr>
        <p:txBody>
          <a:bodyPr lIns="45719" rIns="45719" anchor="ctr"/>
          <a:lstStyle/>
          <a:p>
            <a:pPr algn="ctr">
              <a:defRPr>
                <a:solidFill>
                  <a:srgbClr val="FFFFFF"/>
                </a:solidFill>
              </a:defRPr>
            </a:pPr>
          </a:p>
        </p:txBody>
      </p:sp>
      <p:sp>
        <p:nvSpPr>
          <p:cNvPr id="398" name="TextBox 11"/>
          <p:cNvSpPr txBox="1"/>
          <p:nvPr/>
        </p:nvSpPr>
        <p:spPr>
          <a:xfrm>
            <a:off x="5303520" y="2099091"/>
            <a:ext cx="1737361" cy="5109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rgbClr val="FFFFFF"/>
                </a:solidFill>
              </a:defRPr>
            </a:pPr>
            <a:r>
              <a:t>Memory</a:t>
            </a:r>
          </a:p>
          <a:p>
            <a:pPr algn="ctr">
              <a:spcBef>
                <a:spcPts val="200"/>
              </a:spcBef>
              <a:defRPr sz="800">
                <a:solidFill>
                  <a:srgbClr val="C9D6EE"/>
                </a:solidFill>
              </a:defRPr>
            </a:pPr>
            <a:r>
              <a:t>notebook — state</a:t>
            </a:r>
          </a:p>
          <a:p>
            <a:pPr algn="ctr">
              <a:spcBef>
                <a:spcPts val="200"/>
              </a:spcBef>
              <a:defRPr sz="800">
                <a:solidFill>
                  <a:srgbClr val="C9D6EE"/>
                </a:solidFill>
              </a:defRPr>
            </a:pPr>
            <a:r>
              <a:t>across steps</a:t>
            </a:r>
          </a:p>
        </p:txBody>
      </p:sp>
      <p:sp>
        <p:nvSpPr>
          <p:cNvPr id="399" name="TextBox 12"/>
          <p:cNvSpPr txBox="1"/>
          <p:nvPr/>
        </p:nvSpPr>
        <p:spPr>
          <a:xfrm>
            <a:off x="7168895" y="2158607"/>
            <a:ext cx="384049"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5D6B7E"/>
                </a:solidFill>
              </a:defRPr>
            </a:lvl1pPr>
          </a:lstStyle>
          <a:p>
            <a:pPr/>
            <a:r>
              <a:t>+</a:t>
            </a:r>
          </a:p>
        </p:txBody>
      </p:sp>
      <p:sp>
        <p:nvSpPr>
          <p:cNvPr id="400" name="Rounded Rectangle 13"/>
          <p:cNvSpPr/>
          <p:nvPr/>
        </p:nvSpPr>
        <p:spPr>
          <a:xfrm>
            <a:off x="7571231" y="1783079"/>
            <a:ext cx="1883665" cy="1143001"/>
          </a:xfrm>
          <a:prstGeom prst="roundRect">
            <a:avLst>
              <a:gd name="adj" fmla="val 10000"/>
            </a:avLst>
          </a:prstGeom>
          <a:solidFill>
            <a:srgbClr val="24437A"/>
          </a:solidFill>
          <a:ln w="12700">
            <a:miter lim="400000"/>
          </a:ln>
        </p:spPr>
        <p:txBody>
          <a:bodyPr lIns="45719" rIns="45719" anchor="ctr"/>
          <a:lstStyle/>
          <a:p>
            <a:pPr algn="ctr">
              <a:defRPr>
                <a:solidFill>
                  <a:srgbClr val="FFFFFF"/>
                </a:solidFill>
              </a:defRPr>
            </a:pPr>
          </a:p>
        </p:txBody>
      </p:sp>
      <p:sp>
        <p:nvSpPr>
          <p:cNvPr id="401" name="TextBox 14"/>
          <p:cNvSpPr txBox="1"/>
          <p:nvPr/>
        </p:nvSpPr>
        <p:spPr>
          <a:xfrm>
            <a:off x="7644383" y="2099091"/>
            <a:ext cx="1737361" cy="5109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rgbClr val="FFFFFF"/>
                </a:solidFill>
              </a:defRPr>
            </a:pPr>
            <a:r>
              <a:t>Planning</a:t>
            </a:r>
          </a:p>
          <a:p>
            <a:pPr algn="ctr">
              <a:spcBef>
                <a:spcPts val="200"/>
              </a:spcBef>
              <a:defRPr sz="800">
                <a:solidFill>
                  <a:srgbClr val="C9D6EE"/>
                </a:solidFill>
              </a:defRPr>
            </a:pPr>
            <a:r>
              <a:t>the to-do list —</a:t>
            </a:r>
          </a:p>
          <a:p>
            <a:pPr algn="ctr">
              <a:spcBef>
                <a:spcPts val="200"/>
              </a:spcBef>
              <a:defRPr sz="800">
                <a:solidFill>
                  <a:srgbClr val="C9D6EE"/>
                </a:solidFill>
              </a:defRPr>
            </a:pPr>
            <a:r>
              <a:t>decide, act, check</a:t>
            </a:r>
          </a:p>
        </p:txBody>
      </p:sp>
      <p:sp>
        <p:nvSpPr>
          <p:cNvPr id="402" name="TextBox 15"/>
          <p:cNvSpPr txBox="1"/>
          <p:nvPr/>
        </p:nvSpPr>
        <p:spPr>
          <a:xfrm>
            <a:off x="9509759" y="2158607"/>
            <a:ext cx="384049"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5D6B7E"/>
                </a:solidFill>
              </a:defRPr>
            </a:lvl1pPr>
          </a:lstStyle>
          <a:p>
            <a:pPr/>
            <a:r>
              <a:t>=</a:t>
            </a:r>
          </a:p>
        </p:txBody>
      </p:sp>
      <p:sp>
        <p:nvSpPr>
          <p:cNvPr id="403" name="Rounded Rectangle 16"/>
          <p:cNvSpPr/>
          <p:nvPr/>
        </p:nvSpPr>
        <p:spPr>
          <a:xfrm>
            <a:off x="9912095" y="1783079"/>
            <a:ext cx="2011681" cy="1143001"/>
          </a:xfrm>
          <a:prstGeom prst="roundRect">
            <a:avLst>
              <a:gd name="adj" fmla="val 10000"/>
            </a:avLst>
          </a:prstGeom>
          <a:solidFill>
            <a:srgbClr val="C9A227"/>
          </a:solidFill>
          <a:ln w="12700">
            <a:miter lim="400000"/>
          </a:ln>
        </p:spPr>
        <p:txBody>
          <a:bodyPr lIns="45719" rIns="45719" anchor="ctr"/>
          <a:lstStyle/>
          <a:p>
            <a:pPr algn="ctr">
              <a:defRPr>
                <a:solidFill>
                  <a:srgbClr val="FFFFFF"/>
                </a:solidFill>
              </a:defRPr>
            </a:pPr>
          </a:p>
        </p:txBody>
      </p:sp>
      <p:sp>
        <p:nvSpPr>
          <p:cNvPr id="404" name="TextBox 17"/>
          <p:cNvSpPr txBox="1"/>
          <p:nvPr/>
        </p:nvSpPr>
        <p:spPr>
          <a:xfrm>
            <a:off x="9985247" y="2175291"/>
            <a:ext cx="1865377" cy="3585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rgbClr val="0F2145"/>
                </a:solidFill>
              </a:defRPr>
            </a:pPr>
            <a:r>
              <a:t>AGENT</a:t>
            </a:r>
          </a:p>
          <a:p>
            <a:pPr algn="ctr">
              <a:spcBef>
                <a:spcPts val="200"/>
              </a:spcBef>
              <a:defRPr sz="800">
                <a:solidFill>
                  <a:srgbClr val="5C4A0E"/>
                </a:solidFill>
              </a:defRPr>
            </a:pPr>
            <a:r>
              <a:t>works toward a goal</a:t>
            </a:r>
          </a:p>
        </p:txBody>
      </p:sp>
      <p:graphicFrame>
        <p:nvGraphicFramePr>
          <p:cNvPr id="405" name="Table 18"/>
          <p:cNvGraphicFramePr/>
          <p:nvPr/>
        </p:nvGraphicFramePr>
        <p:xfrm>
          <a:off x="548640" y="3310128"/>
          <a:ext cx="11064241" cy="2560321"/>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2103120"/>
                <a:gridCol w="4480560"/>
                <a:gridCol w="4480560"/>
              </a:tblGrid>
              <a:tr h="512064">
                <a:tc>
                  <a:txBody>
                    <a:bodyPr/>
                    <a:lstStyle/>
                    <a:p>
                      <a:pPr algn="l">
                        <a:defRPr sz="1800"/>
                      </a:pPr>
                    </a:p>
                  </a:txBody>
                  <a:tcPr marL="36576" marR="36576" marT="36576" marB="36576" anchor="ctr" anchorCtr="0" horzOverflow="overflow">
                    <a:solidFill>
                      <a:srgbClr val="0F2145"/>
                    </a:solidFill>
                  </a:tcPr>
                </a:tc>
                <a:tc>
                  <a:txBody>
                    <a:bodyPr/>
                    <a:lstStyle/>
                    <a:p>
                      <a:pPr algn="l">
                        <a:defRPr b="0" sz="1800">
                          <a:solidFill>
                            <a:srgbClr val="000000"/>
                          </a:solidFill>
                        </a:defRPr>
                      </a:pPr>
                      <a:r>
                        <a:rPr b="1" sz="1200">
                          <a:solidFill>
                            <a:srgbClr val="FFFFFF"/>
                          </a:solidFill>
                        </a:rPr>
                        <a:t>Chatbot</a:t>
                      </a:r>
                    </a:p>
                  </a:txBody>
                  <a:tcPr marL="36576" marR="36576" marT="36576" marB="36576" anchor="ctr" anchorCtr="0" horzOverflow="overflow">
                    <a:solidFill>
                      <a:srgbClr val="0F2145"/>
                    </a:solidFill>
                  </a:tcPr>
                </a:tc>
                <a:tc>
                  <a:txBody>
                    <a:bodyPr/>
                    <a:lstStyle/>
                    <a:p>
                      <a:pPr algn="l">
                        <a:defRPr b="0" sz="1800">
                          <a:solidFill>
                            <a:srgbClr val="000000"/>
                          </a:solidFill>
                        </a:defRPr>
                      </a:pPr>
                      <a:r>
                        <a:rPr b="1" sz="1200">
                          <a:solidFill>
                            <a:srgbClr val="FFFFFF"/>
                          </a:solidFill>
                        </a:rPr>
                        <a:t>Agent</a:t>
                      </a:r>
                    </a:p>
                  </a:txBody>
                  <a:tcPr marL="36576" marR="36576" marT="36576" marB="36576" anchor="ctr" anchorCtr="0" horzOverflow="overflow">
                    <a:solidFill>
                      <a:srgbClr val="0F2145"/>
                    </a:solidFill>
                  </a:tcPr>
                </a:tc>
              </a:tr>
              <a:tr h="512064">
                <a:tc>
                  <a:txBody>
                    <a:bodyPr/>
                    <a:lstStyle/>
                    <a:p>
                      <a:pPr algn="l">
                        <a:defRPr sz="1800"/>
                      </a:pPr>
                      <a:r>
                        <a:rPr b="1" sz="1100">
                          <a:solidFill>
                            <a:srgbClr val="0F2145"/>
                          </a:solidFill>
                        </a:rPr>
                        <a:t>You ask</a:t>
                      </a:r>
                    </a:p>
                  </a:txBody>
                  <a:tcPr marL="36576" marR="36576" marT="36576" marB="36576" anchor="ctr" anchorCtr="0" horzOverflow="overflow">
                    <a:solidFill>
                      <a:srgbClr val="FFFFFF"/>
                    </a:solidFill>
                  </a:tcPr>
                </a:tc>
                <a:tc>
                  <a:txBody>
                    <a:bodyPr/>
                    <a:lstStyle/>
                    <a:p>
                      <a:pPr algn="l">
                        <a:defRPr sz="1800"/>
                      </a:pPr>
                      <a:r>
                        <a:rPr sz="1100">
                          <a:solidFill>
                            <a:srgbClr val="1B2A41"/>
                          </a:solidFill>
                        </a:rPr>
                        <a:t>“What is Infosys' P/E?”</a:t>
                      </a:r>
                    </a:p>
                  </a:txBody>
                  <a:tcPr marL="36576" marR="36576" marT="36576" marB="36576" anchor="ctr" anchorCtr="0" horzOverflow="overflow">
                    <a:solidFill>
                      <a:srgbClr val="FFFFFF"/>
                    </a:solidFill>
                  </a:tcPr>
                </a:tc>
                <a:tc>
                  <a:txBody>
                    <a:bodyPr/>
                    <a:lstStyle/>
                    <a:p>
                      <a:pPr algn="l">
                        <a:defRPr sz="1800"/>
                      </a:pPr>
                      <a:r>
                        <a:rPr sz="1100">
                          <a:solidFill>
                            <a:srgbClr val="1B2A41"/>
                          </a:solidFill>
                        </a:rPr>
                        <a:t>“Review my portfolio and flag concentration risks.”</a:t>
                      </a:r>
                    </a:p>
                  </a:txBody>
                  <a:tcPr marL="36576" marR="36576" marT="36576" marB="36576" anchor="ctr" anchorCtr="0" horzOverflow="overflow">
                    <a:solidFill>
                      <a:srgbClr val="FFFFFF"/>
                    </a:solidFill>
                  </a:tcPr>
                </a:tc>
              </a:tr>
              <a:tr h="512064">
                <a:tc>
                  <a:txBody>
                    <a:bodyPr/>
                    <a:lstStyle/>
                    <a:p>
                      <a:pPr algn="l">
                        <a:defRPr sz="1800"/>
                      </a:pPr>
                      <a:r>
                        <a:rPr b="1" sz="1100">
                          <a:solidFill>
                            <a:srgbClr val="0F2145"/>
                          </a:solidFill>
                        </a:rPr>
                        <a:t>It does</a:t>
                      </a:r>
                    </a:p>
                  </a:txBody>
                  <a:tcPr marL="36576" marR="36576" marT="36576" marB="36576" anchor="ctr" anchorCtr="0" horzOverflow="overflow">
                    <a:solidFill>
                      <a:srgbClr val="F1F4F9"/>
                    </a:solidFill>
                  </a:tcPr>
                </a:tc>
                <a:tc>
                  <a:txBody>
                    <a:bodyPr/>
                    <a:lstStyle/>
                    <a:p>
                      <a:pPr algn="l">
                        <a:defRPr sz="1800"/>
                      </a:pPr>
                      <a:r>
                        <a:rPr sz="1100">
                          <a:solidFill>
                            <a:srgbClr val="1B2A41"/>
                          </a:solidFill>
                        </a:rPr>
                        <a:t>Answers from context in one shot</a:t>
                      </a:r>
                    </a:p>
                  </a:txBody>
                  <a:tcPr marL="36576" marR="36576" marT="36576" marB="36576" anchor="ctr" anchorCtr="0" horzOverflow="overflow">
                    <a:solidFill>
                      <a:srgbClr val="F1F4F9"/>
                    </a:solidFill>
                  </a:tcPr>
                </a:tc>
                <a:tc>
                  <a:txBody>
                    <a:bodyPr/>
                    <a:lstStyle/>
                    <a:p>
                      <a:pPr algn="l">
                        <a:defRPr sz="1800"/>
                      </a:pPr>
                      <a:r>
                        <a:rPr sz="1100">
                          <a:solidFill>
                            <a:srgbClr val="1B2A41"/>
                          </a:solidFill>
                        </a:rPr>
                        <a:t>Fetches prices → computes weights → checks limits → drafts memo</a:t>
                      </a:r>
                    </a:p>
                  </a:txBody>
                  <a:tcPr marL="36576" marR="36576" marT="36576" marB="36576" anchor="ctr" anchorCtr="0" horzOverflow="overflow">
                    <a:solidFill>
                      <a:srgbClr val="F1F4F9"/>
                    </a:solidFill>
                  </a:tcPr>
                </a:tc>
              </a:tr>
              <a:tr h="512064">
                <a:tc>
                  <a:txBody>
                    <a:bodyPr/>
                    <a:lstStyle/>
                    <a:p>
                      <a:pPr algn="l">
                        <a:defRPr sz="1800"/>
                      </a:pPr>
                      <a:r>
                        <a:rPr b="1" sz="1100">
                          <a:solidFill>
                            <a:srgbClr val="0F2145"/>
                          </a:solidFill>
                        </a:rPr>
                        <a:t>Steps</a:t>
                      </a:r>
                    </a:p>
                  </a:txBody>
                  <a:tcPr marL="36576" marR="36576" marT="36576" marB="36576" anchor="ctr" anchorCtr="0" horzOverflow="overflow">
                    <a:solidFill>
                      <a:srgbClr val="FFFFFF"/>
                    </a:solidFill>
                  </a:tcPr>
                </a:tc>
                <a:tc>
                  <a:txBody>
                    <a:bodyPr/>
                    <a:lstStyle/>
                    <a:p>
                      <a:pPr algn="l">
                        <a:defRPr sz="1800"/>
                      </a:pPr>
                      <a:r>
                        <a:rPr sz="1100">
                          <a:solidFill>
                            <a:srgbClr val="1B2A41"/>
                          </a:solidFill>
                        </a:rPr>
                        <a:t>One</a:t>
                      </a:r>
                    </a:p>
                  </a:txBody>
                  <a:tcPr marL="36576" marR="36576" marT="36576" marB="36576" anchor="ctr" anchorCtr="0" horzOverflow="overflow">
                    <a:solidFill>
                      <a:srgbClr val="FFFFFF"/>
                    </a:solidFill>
                  </a:tcPr>
                </a:tc>
                <a:tc>
                  <a:txBody>
                    <a:bodyPr/>
                    <a:lstStyle/>
                    <a:p>
                      <a:pPr algn="l">
                        <a:defRPr sz="1800"/>
                      </a:pPr>
                      <a:r>
                        <a:rPr sz="1100">
                          <a:solidFill>
                            <a:srgbClr val="1B2A41"/>
                          </a:solidFill>
                        </a:rPr>
                        <a:t>Many — it decides the sequence itself</a:t>
                      </a:r>
                    </a:p>
                  </a:txBody>
                  <a:tcPr marL="36576" marR="36576" marT="36576" marB="36576" anchor="ctr" anchorCtr="0" horzOverflow="overflow">
                    <a:solidFill>
                      <a:srgbClr val="FFFFFF"/>
                    </a:solidFill>
                  </a:tcPr>
                </a:tc>
              </a:tr>
              <a:tr h="512064">
                <a:tc>
                  <a:txBody>
                    <a:bodyPr/>
                    <a:lstStyle/>
                    <a:p>
                      <a:pPr algn="l">
                        <a:defRPr sz="1800"/>
                      </a:pPr>
                      <a:r>
                        <a:rPr b="1" sz="1100">
                          <a:solidFill>
                            <a:srgbClr val="0F2145"/>
                          </a:solidFill>
                        </a:rPr>
                        <a:t>Trust needed</a:t>
                      </a:r>
                    </a:p>
                  </a:txBody>
                  <a:tcPr marL="36576" marR="36576" marT="36576" marB="36576" anchor="ctr" anchorCtr="0" horzOverflow="overflow">
                    <a:solidFill>
                      <a:srgbClr val="F1F4F9"/>
                    </a:solidFill>
                  </a:tcPr>
                </a:tc>
                <a:tc>
                  <a:txBody>
                    <a:bodyPr/>
                    <a:lstStyle/>
                    <a:p>
                      <a:pPr algn="l">
                        <a:defRPr sz="1800"/>
                      </a:pPr>
                      <a:r>
                        <a:rPr sz="1100">
                          <a:solidFill>
                            <a:srgbClr val="1B2A41"/>
                          </a:solidFill>
                        </a:rPr>
                        <a:t>Verify the answer</a:t>
                      </a:r>
                    </a:p>
                  </a:txBody>
                  <a:tcPr marL="36576" marR="36576" marT="36576" marB="36576" anchor="ctr" anchorCtr="0" horzOverflow="overflow">
                    <a:solidFill>
                      <a:srgbClr val="F1F4F9"/>
                    </a:solidFill>
                  </a:tcPr>
                </a:tc>
                <a:tc>
                  <a:txBody>
                    <a:bodyPr/>
                    <a:lstStyle/>
                    <a:p>
                      <a:pPr algn="l">
                        <a:defRPr sz="1800"/>
                      </a:pPr>
                      <a:r>
                        <a:rPr sz="1100">
                          <a:solidFill>
                            <a:srgbClr val="1B2A41"/>
                          </a:solidFill>
                        </a:rPr>
                        <a:t>Verify the actions — permissions matter</a:t>
                      </a:r>
                    </a:p>
                  </a:txBody>
                  <a:tcPr marL="36576" marR="36576" marT="36576" marB="36576" anchor="ctr" anchorCtr="0" horzOverflow="overflow">
                    <a:solidFill>
                      <a:srgbClr val="F1F4F9"/>
                    </a:solidFill>
                  </a:tcPr>
                </a:tc>
              </a:tr>
            </a:tbl>
          </a:graphicData>
        </a:graphic>
      </p:graphicFrame>
      <p:sp>
        <p:nvSpPr>
          <p:cNvPr id="406" name="TextBox 19"/>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pc="180" sz="800">
                <a:solidFill>
                  <a:srgbClr val="5D6B7E"/>
                </a:solidFill>
              </a:defRPr>
            </a:lvl1pPr>
          </a:lstStyle>
          <a:p>
            <a:pPr/>
            <a:r>
              <a:t>ISBMS · PGDM 2025–27 · AGENTIC AI &amp; ADVANCED ANALYTICS IN FINANCE</a:t>
            </a:r>
          </a:p>
        </p:txBody>
      </p:sp>
      <p:sp>
        <p:nvSpPr>
          <p:cNvPr id="407" name="TextBox 20"/>
          <p:cNvSpPr txBox="1"/>
          <p:nvPr/>
        </p:nvSpPr>
        <p:spPr>
          <a:xfrm>
            <a:off x="9814255" y="6473952"/>
            <a:ext cx="1828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pc="120" sz="800">
                <a:solidFill>
                  <a:srgbClr val="5D6B7E"/>
                </a:solidFill>
              </a:defRPr>
            </a:lvl1pPr>
          </a:lstStyle>
          <a:p>
            <a:pPr/>
            <a:r>
              <a:t>MODULE 1  ·  13</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409"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410"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2 · ARCHITECTURE</a:t>
            </a:r>
          </a:p>
        </p:txBody>
      </p:sp>
      <p:sp>
        <p:nvSpPr>
          <p:cNvPr id="411"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The agent loop: Observe, Plan, Act, Reflect</a:t>
            </a:r>
          </a:p>
        </p:txBody>
      </p:sp>
      <p:sp>
        <p:nvSpPr>
          <p:cNvPr id="412" name="Rectangle 4"/>
          <p:cNvSpPr/>
          <p:nvPr/>
        </p:nvSpPr>
        <p:spPr>
          <a:xfrm>
            <a:off x="548639" y="1572767"/>
            <a:ext cx="2670050" cy="2560322"/>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413" name="Rectangle 5"/>
          <p:cNvSpPr/>
          <p:nvPr/>
        </p:nvSpPr>
        <p:spPr>
          <a:xfrm>
            <a:off x="548639" y="1572767"/>
            <a:ext cx="2670050" cy="54864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414" name="TextBox 6"/>
          <p:cNvSpPr txBox="1"/>
          <p:nvPr/>
        </p:nvSpPr>
        <p:spPr>
          <a:xfrm>
            <a:off x="768095" y="1768655"/>
            <a:ext cx="2286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b="1" sz="1200">
                <a:solidFill>
                  <a:srgbClr val="C9A227"/>
                </a:solidFill>
              </a:defRPr>
            </a:lvl1pPr>
          </a:lstStyle>
          <a:p>
            <a:pPr/>
            <a:r>
              <a:t>1 · OBSERVE</a:t>
            </a:r>
          </a:p>
        </p:txBody>
      </p:sp>
      <p:sp>
        <p:nvSpPr>
          <p:cNvPr id="415" name="TextBox 7"/>
          <p:cNvSpPr txBox="1"/>
          <p:nvPr/>
        </p:nvSpPr>
        <p:spPr>
          <a:xfrm>
            <a:off x="768095" y="2267711"/>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0F2145"/>
                </a:solidFill>
              </a:defRPr>
            </a:lvl1pPr>
          </a:lstStyle>
          <a:p>
            <a:pPr/>
            <a:r>
              <a:t>It reads the state of the world.</a:t>
            </a:r>
          </a:p>
        </p:txBody>
      </p:sp>
      <p:sp>
        <p:nvSpPr>
          <p:cNvPr id="416" name="TextBox 8"/>
          <p:cNvSpPr txBox="1"/>
          <p:nvPr/>
        </p:nvSpPr>
        <p:spPr>
          <a:xfrm>
            <a:off x="768095" y="2834639"/>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 · NAV BREAK</a:t>
            </a:r>
          </a:p>
          <a:p>
            <a:pPr>
              <a:lnSpc>
                <a:spcPct val="104999"/>
              </a:lnSpc>
              <a:spcBef>
                <a:spcPts val="400"/>
              </a:spcBef>
              <a:defRPr sz="1000">
                <a:solidFill>
                  <a:srgbClr val="5D6B7E"/>
                </a:solidFill>
              </a:defRPr>
            </a:pPr>
            <a:r>
              <a:t>Opens today's NAV file. Fund NAV ₹104.82, custodian says ₹104.40 — a 0.4% break.</a:t>
            </a:r>
          </a:p>
        </p:txBody>
      </p:sp>
      <p:sp>
        <p:nvSpPr>
          <p:cNvPr id="417" name="TextBox 9"/>
          <p:cNvSpPr txBox="1"/>
          <p:nvPr/>
        </p:nvSpPr>
        <p:spPr>
          <a:xfrm>
            <a:off x="3236976" y="2651760"/>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418" name="Rectangle 10"/>
          <p:cNvSpPr/>
          <p:nvPr/>
        </p:nvSpPr>
        <p:spPr>
          <a:xfrm>
            <a:off x="3374135" y="1572767"/>
            <a:ext cx="2670049" cy="2560322"/>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419" name="Rectangle 11"/>
          <p:cNvSpPr/>
          <p:nvPr/>
        </p:nvSpPr>
        <p:spPr>
          <a:xfrm>
            <a:off x="3374135" y="1572767"/>
            <a:ext cx="2670049" cy="54864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420" name="TextBox 12"/>
          <p:cNvSpPr txBox="1"/>
          <p:nvPr/>
        </p:nvSpPr>
        <p:spPr>
          <a:xfrm>
            <a:off x="3593591" y="1768655"/>
            <a:ext cx="2286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b="1" sz="1200">
                <a:solidFill>
                  <a:srgbClr val="C9A227"/>
                </a:solidFill>
              </a:defRPr>
            </a:lvl1pPr>
          </a:lstStyle>
          <a:p>
            <a:pPr/>
            <a:r>
              <a:t>2 · PLAN</a:t>
            </a:r>
          </a:p>
        </p:txBody>
      </p:sp>
      <p:sp>
        <p:nvSpPr>
          <p:cNvPr id="421" name="TextBox 13"/>
          <p:cNvSpPr txBox="1"/>
          <p:nvPr/>
        </p:nvSpPr>
        <p:spPr>
          <a:xfrm>
            <a:off x="3593591" y="2267711"/>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0F2145"/>
                </a:solidFill>
              </a:defRPr>
            </a:lvl1pPr>
          </a:lstStyle>
          <a:p>
            <a:pPr/>
            <a:r>
              <a:t>It writes its own to-do list first.</a:t>
            </a:r>
          </a:p>
        </p:txBody>
      </p:sp>
      <p:sp>
        <p:nvSpPr>
          <p:cNvPr id="422" name="TextBox 14"/>
          <p:cNvSpPr txBox="1"/>
          <p:nvPr/>
        </p:nvSpPr>
        <p:spPr>
          <a:xfrm>
            <a:off x="3593591" y="2834639"/>
            <a:ext cx="2286001" cy="66400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 · NAV BREAK</a:t>
            </a:r>
          </a:p>
          <a:p>
            <a:pPr>
              <a:lnSpc>
                <a:spcPct val="104999"/>
              </a:lnSpc>
              <a:spcBef>
                <a:spcPts val="400"/>
              </a:spcBef>
              <a:defRPr sz="1000">
                <a:solidFill>
                  <a:srgbClr val="5D6B7E"/>
                </a:solidFill>
              </a:defRPr>
            </a:pPr>
            <a:r>
              <a:t>1. Pull today's trades. 2. Check corporate actions. 3. Check the FX rate. 4. Compare line by line.</a:t>
            </a:r>
          </a:p>
        </p:txBody>
      </p:sp>
      <p:sp>
        <p:nvSpPr>
          <p:cNvPr id="423" name="TextBox 15"/>
          <p:cNvSpPr txBox="1"/>
          <p:nvPr/>
        </p:nvSpPr>
        <p:spPr>
          <a:xfrm>
            <a:off x="6062471" y="2651760"/>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424" name="Rectangle 16"/>
          <p:cNvSpPr/>
          <p:nvPr/>
        </p:nvSpPr>
        <p:spPr>
          <a:xfrm>
            <a:off x="6199630" y="1572767"/>
            <a:ext cx="2670049" cy="2560322"/>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425" name="Rectangle 17"/>
          <p:cNvSpPr/>
          <p:nvPr/>
        </p:nvSpPr>
        <p:spPr>
          <a:xfrm>
            <a:off x="6199630" y="1572767"/>
            <a:ext cx="2670049" cy="54864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426" name="TextBox 18"/>
          <p:cNvSpPr txBox="1"/>
          <p:nvPr/>
        </p:nvSpPr>
        <p:spPr>
          <a:xfrm>
            <a:off x="6419088" y="1768655"/>
            <a:ext cx="2286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b="1" sz="1200">
                <a:solidFill>
                  <a:srgbClr val="C9A227"/>
                </a:solidFill>
              </a:defRPr>
            </a:lvl1pPr>
          </a:lstStyle>
          <a:p>
            <a:pPr/>
            <a:r>
              <a:t>3 · ACT</a:t>
            </a:r>
          </a:p>
        </p:txBody>
      </p:sp>
      <p:sp>
        <p:nvSpPr>
          <p:cNvPr id="427" name="TextBox 19"/>
          <p:cNvSpPr txBox="1"/>
          <p:nvPr/>
        </p:nvSpPr>
        <p:spPr>
          <a:xfrm>
            <a:off x="6419088" y="2267711"/>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0F2145"/>
                </a:solidFill>
              </a:defRPr>
            </a:lvl1pPr>
          </a:lstStyle>
          <a:p>
            <a:pPr/>
            <a:r>
              <a:t>It calls a tool — only the ones you gave it.</a:t>
            </a:r>
          </a:p>
        </p:txBody>
      </p:sp>
      <p:sp>
        <p:nvSpPr>
          <p:cNvPr id="428" name="TextBox 20"/>
          <p:cNvSpPr txBox="1"/>
          <p:nvPr/>
        </p:nvSpPr>
        <p:spPr>
          <a:xfrm>
            <a:off x="6419088" y="2834639"/>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 · NAV BREAK</a:t>
            </a:r>
          </a:p>
          <a:p>
            <a:pPr>
              <a:lnSpc>
                <a:spcPct val="104999"/>
              </a:lnSpc>
              <a:spcBef>
                <a:spcPts val="400"/>
              </a:spcBef>
              <a:defRPr sz="1000">
                <a:solidFill>
                  <a:srgbClr val="5D6B7E"/>
                </a:solidFill>
              </a:defRPr>
            </a:pPr>
            <a:r>
              <a:t>Runs the SQL query, calls the price API, finds an unprocessed 1:1 bonus on one holding.</a:t>
            </a:r>
          </a:p>
        </p:txBody>
      </p:sp>
      <p:sp>
        <p:nvSpPr>
          <p:cNvPr id="429" name="TextBox 21"/>
          <p:cNvSpPr txBox="1"/>
          <p:nvPr/>
        </p:nvSpPr>
        <p:spPr>
          <a:xfrm>
            <a:off x="8887966" y="2651760"/>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430" name="Rectangle 22"/>
          <p:cNvSpPr/>
          <p:nvPr/>
        </p:nvSpPr>
        <p:spPr>
          <a:xfrm>
            <a:off x="9025128" y="1572767"/>
            <a:ext cx="2670049" cy="2560322"/>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431" name="Rectangle 23"/>
          <p:cNvSpPr/>
          <p:nvPr/>
        </p:nvSpPr>
        <p:spPr>
          <a:xfrm>
            <a:off x="9025128" y="1572767"/>
            <a:ext cx="2670049" cy="54864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432" name="TextBox 24"/>
          <p:cNvSpPr txBox="1"/>
          <p:nvPr/>
        </p:nvSpPr>
        <p:spPr>
          <a:xfrm>
            <a:off x="9244583" y="1768655"/>
            <a:ext cx="2286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b="1" sz="1200">
                <a:solidFill>
                  <a:srgbClr val="C9A227"/>
                </a:solidFill>
              </a:defRPr>
            </a:lvl1pPr>
          </a:lstStyle>
          <a:p>
            <a:pPr/>
            <a:r>
              <a:t>4 · REFLECT</a:t>
            </a:r>
          </a:p>
        </p:txBody>
      </p:sp>
      <p:sp>
        <p:nvSpPr>
          <p:cNvPr id="433" name="TextBox 25"/>
          <p:cNvSpPr txBox="1"/>
          <p:nvPr/>
        </p:nvSpPr>
        <p:spPr>
          <a:xfrm>
            <a:off x="9244583" y="2267711"/>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0F2145"/>
                </a:solidFill>
              </a:defRPr>
            </a:lvl1pPr>
          </a:lstStyle>
          <a:p>
            <a:pPr/>
            <a:r>
              <a:t>It checks its own work against the goal.</a:t>
            </a:r>
          </a:p>
        </p:txBody>
      </p:sp>
      <p:sp>
        <p:nvSpPr>
          <p:cNvPr id="434" name="TextBox 26"/>
          <p:cNvSpPr txBox="1"/>
          <p:nvPr/>
        </p:nvSpPr>
        <p:spPr>
          <a:xfrm>
            <a:off x="9244583" y="2834639"/>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 · NAV BREAK</a:t>
            </a:r>
          </a:p>
          <a:p>
            <a:pPr>
              <a:lnSpc>
                <a:spcPct val="104999"/>
              </a:lnSpc>
              <a:spcBef>
                <a:spcPts val="400"/>
              </a:spcBef>
              <a:defRPr sz="1000">
                <a:solidFill>
                  <a:srgbClr val="5D6B7E"/>
                </a:solidFill>
              </a:defRPr>
            </a:pPr>
            <a:r>
              <a:t>Does the bonus explain the full 0.4%? Yes. Drafts the break note for a human to sign.</a:t>
            </a:r>
          </a:p>
        </p:txBody>
      </p:sp>
      <p:sp>
        <p:nvSpPr>
          <p:cNvPr id="435" name="TextBox 27"/>
          <p:cNvSpPr txBox="1"/>
          <p:nvPr/>
        </p:nvSpPr>
        <p:spPr>
          <a:xfrm>
            <a:off x="548640" y="4224528"/>
            <a:ext cx="1109167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200">
                <a:solidFill>
                  <a:srgbClr val="0F2145"/>
                </a:solidFill>
              </a:defRPr>
            </a:lvl1pPr>
          </a:lstStyle>
          <a:p>
            <a:pPr/>
            <a:r>
              <a:t>The loop restarts at OBSERVE until the goal is met, or until a limit you set stops it.</a:t>
            </a:r>
          </a:p>
        </p:txBody>
      </p:sp>
      <p:sp>
        <p:nvSpPr>
          <p:cNvPr id="436" name="Rectangle 28"/>
          <p:cNvSpPr/>
          <p:nvPr/>
        </p:nvSpPr>
        <p:spPr>
          <a:xfrm>
            <a:off x="548639" y="4617720"/>
            <a:ext cx="2670050" cy="118872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437" name="TextBox 29"/>
          <p:cNvSpPr txBox="1"/>
          <p:nvPr/>
        </p:nvSpPr>
        <p:spPr>
          <a:xfrm>
            <a:off x="749808" y="4754879"/>
            <a:ext cx="2286001" cy="70359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Step budget</a:t>
            </a:r>
          </a:p>
          <a:p>
            <a:pPr>
              <a:lnSpc>
                <a:spcPct val="104999"/>
              </a:lnSpc>
              <a:spcBef>
                <a:spcPts val="400"/>
              </a:spcBef>
              <a:defRPr sz="1000">
                <a:solidFill>
                  <a:srgbClr val="1B2A41"/>
                </a:solidFill>
              </a:defRPr>
            </a:pPr>
            <a:r>
              <a:t>Stop after a fixed number of loops. Without this, an agent that cannot solve the task keeps trying.</a:t>
            </a:r>
          </a:p>
        </p:txBody>
      </p:sp>
      <p:sp>
        <p:nvSpPr>
          <p:cNvPr id="438" name="Rectangle 30"/>
          <p:cNvSpPr/>
          <p:nvPr/>
        </p:nvSpPr>
        <p:spPr>
          <a:xfrm>
            <a:off x="3374135" y="4617720"/>
            <a:ext cx="2670049" cy="118872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439" name="TextBox 31"/>
          <p:cNvSpPr txBox="1"/>
          <p:nvPr/>
        </p:nvSpPr>
        <p:spPr>
          <a:xfrm>
            <a:off x="3575303" y="4754879"/>
            <a:ext cx="228600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Token budget</a:t>
            </a:r>
          </a:p>
          <a:p>
            <a:pPr>
              <a:lnSpc>
                <a:spcPct val="104999"/>
              </a:lnSpc>
              <a:spcBef>
                <a:spcPts val="400"/>
              </a:spcBef>
              <a:defRPr sz="1000">
                <a:solidFill>
                  <a:srgbClr val="1B2A41"/>
                </a:solidFill>
              </a:defRPr>
            </a:pPr>
            <a:r>
              <a:t>A rupee ceiling per task. Check the cost of one run before you schedule a thousand.</a:t>
            </a:r>
          </a:p>
        </p:txBody>
      </p:sp>
      <p:sp>
        <p:nvSpPr>
          <p:cNvPr id="440" name="Rectangle 32"/>
          <p:cNvSpPr/>
          <p:nvPr/>
        </p:nvSpPr>
        <p:spPr>
          <a:xfrm>
            <a:off x="6199630" y="4617720"/>
            <a:ext cx="2670049" cy="118872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441" name="TextBox 33"/>
          <p:cNvSpPr txBox="1"/>
          <p:nvPr/>
        </p:nvSpPr>
        <p:spPr>
          <a:xfrm>
            <a:off x="6400798" y="4754879"/>
            <a:ext cx="228600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Approval gate</a:t>
            </a:r>
          </a:p>
          <a:p>
            <a:pPr>
              <a:lnSpc>
                <a:spcPct val="104999"/>
              </a:lnSpc>
              <a:spcBef>
                <a:spcPts val="400"/>
              </a:spcBef>
              <a:defRPr sz="1000">
                <a:solidFill>
                  <a:srgbClr val="1B2A41"/>
                </a:solidFill>
              </a:defRPr>
            </a:pPr>
            <a:r>
              <a:t>Anything that moves money or writes to a book of record waits for a human.</a:t>
            </a:r>
          </a:p>
        </p:txBody>
      </p:sp>
      <p:sp>
        <p:nvSpPr>
          <p:cNvPr id="442" name="Rectangle 34"/>
          <p:cNvSpPr/>
          <p:nvPr/>
        </p:nvSpPr>
        <p:spPr>
          <a:xfrm>
            <a:off x="9025128" y="4617720"/>
            <a:ext cx="2670049" cy="118872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443" name="TextBox 35"/>
          <p:cNvSpPr txBox="1"/>
          <p:nvPr/>
        </p:nvSpPr>
        <p:spPr>
          <a:xfrm>
            <a:off x="9226295" y="4754879"/>
            <a:ext cx="2286001" cy="70359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Audit log</a:t>
            </a:r>
          </a:p>
          <a:p>
            <a:pPr>
              <a:lnSpc>
                <a:spcPct val="104999"/>
              </a:lnSpc>
              <a:spcBef>
                <a:spcPts val="400"/>
              </a:spcBef>
              <a:defRPr sz="1000">
                <a:solidFill>
                  <a:srgbClr val="1B2A41"/>
                </a:solidFill>
              </a:defRPr>
            </a:pPr>
            <a:r>
              <a:t>Store every plan, tool call and result. You need the replay when someone questions the output.</a:t>
            </a:r>
          </a:p>
        </p:txBody>
      </p:sp>
      <p:sp>
        <p:nvSpPr>
          <p:cNvPr id="444" name="TextBox 36"/>
          <p:cNvSpPr txBox="1"/>
          <p:nvPr/>
        </p:nvSpPr>
        <p:spPr>
          <a:xfrm>
            <a:off x="548640" y="5943600"/>
            <a:ext cx="1109167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100">
                <a:solidFill>
                  <a:srgbClr val="5D6B7E"/>
                </a:solidFill>
              </a:defRPr>
            </a:lvl1pPr>
          </a:lstStyle>
          <a:p>
            <a:pPr/>
            <a:r>
              <a:t>These four are not optional. A regulated firm will not put an agent into production without them.</a:t>
            </a:r>
          </a:p>
        </p:txBody>
      </p:sp>
      <p:sp>
        <p:nvSpPr>
          <p:cNvPr id="445" name="TextBox 37"/>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446" name="TextBox 38"/>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14</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448"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449" name="TextBox 2"/>
          <p:cNvSpPr txBox="1"/>
          <p:nvPr/>
        </p:nvSpPr>
        <p:spPr>
          <a:xfrm>
            <a:off x="786383" y="310895"/>
            <a:ext cx="10820097"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50" sz="1100">
                <a:solidFill>
                  <a:srgbClr val="C9A227"/>
                </a:solidFill>
              </a:defRPr>
            </a:lvl1pPr>
          </a:lstStyle>
          <a:p>
            <a:pPr/>
            <a:r>
              <a:t>HOUR 2 · AGENTS</a:t>
            </a:r>
          </a:p>
        </p:txBody>
      </p:sp>
      <p:sp>
        <p:nvSpPr>
          <p:cNvPr id="450" name="TextBox 3"/>
          <p:cNvSpPr txBox="1"/>
          <p:nvPr/>
        </p:nvSpPr>
        <p:spPr>
          <a:xfrm>
            <a:off x="548639" y="621791"/>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0F2145"/>
                </a:solidFill>
                <a:latin typeface="Georgia"/>
                <a:ea typeface="Georgia"/>
                <a:cs typeface="Georgia"/>
                <a:sym typeface="Georgia"/>
              </a:defRPr>
            </a:lvl1pPr>
          </a:lstStyle>
          <a:p>
            <a:pPr/>
            <a:r>
              <a:t>Tool use — how an LLM presses buttons</a:t>
            </a:r>
          </a:p>
        </p:txBody>
      </p:sp>
      <p:sp>
        <p:nvSpPr>
          <p:cNvPr id="451" name="Oval 4"/>
          <p:cNvSpPr/>
          <p:nvPr/>
        </p:nvSpPr>
        <p:spPr>
          <a:xfrm>
            <a:off x="548640" y="1719072"/>
            <a:ext cx="475489" cy="475489"/>
          </a:xfrm>
          <a:prstGeom prst="ellipse">
            <a:avLst/>
          </a:prstGeom>
          <a:solidFill>
            <a:srgbClr val="C9A227"/>
          </a:solidFill>
          <a:ln w="12700">
            <a:miter lim="400000"/>
          </a:ln>
        </p:spPr>
        <p:txBody>
          <a:bodyPr lIns="45719" rIns="45719" anchor="ctr"/>
          <a:lstStyle/>
          <a:p>
            <a:pPr algn="ctr">
              <a:defRPr>
                <a:solidFill>
                  <a:srgbClr val="FFFFFF"/>
                </a:solidFill>
              </a:defRPr>
            </a:pPr>
          </a:p>
        </p:txBody>
      </p:sp>
      <p:sp>
        <p:nvSpPr>
          <p:cNvPr id="452" name="TextBox 5"/>
          <p:cNvSpPr txBox="1"/>
          <p:nvPr/>
        </p:nvSpPr>
        <p:spPr>
          <a:xfrm>
            <a:off x="548640" y="1863537"/>
            <a:ext cx="4754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0F2145"/>
                </a:solidFill>
              </a:defRPr>
            </a:lvl1pPr>
          </a:lstStyle>
          <a:p>
            <a:pPr/>
            <a:r>
              <a:t>1</a:t>
            </a:r>
          </a:p>
        </p:txBody>
      </p:sp>
      <p:sp>
        <p:nvSpPr>
          <p:cNvPr id="453" name="Rounded Rectangle 6"/>
          <p:cNvSpPr/>
          <p:nvPr/>
        </p:nvSpPr>
        <p:spPr>
          <a:xfrm>
            <a:off x="1234439" y="1554480"/>
            <a:ext cx="10378442" cy="841248"/>
          </a:xfrm>
          <a:prstGeom prst="roundRect">
            <a:avLst>
              <a:gd name="adj" fmla="val 10000"/>
            </a:avLst>
          </a:prstGeom>
          <a:solidFill>
            <a:srgbClr val="F5ECD3"/>
          </a:solidFill>
          <a:ln w="12700">
            <a:miter lim="400000"/>
          </a:ln>
        </p:spPr>
        <p:txBody>
          <a:bodyPr lIns="45719" rIns="45719" anchor="ctr"/>
          <a:lstStyle/>
          <a:p>
            <a:pPr algn="ctr">
              <a:defRPr>
                <a:solidFill>
                  <a:srgbClr val="FFFFFF"/>
                </a:solidFill>
              </a:defRPr>
            </a:pPr>
          </a:p>
        </p:txBody>
      </p:sp>
      <p:sp>
        <p:nvSpPr>
          <p:cNvPr id="454" name="TextBox 7"/>
          <p:cNvSpPr txBox="1"/>
          <p:nvPr/>
        </p:nvSpPr>
        <p:spPr>
          <a:xfrm>
            <a:off x="1508759" y="1901243"/>
            <a:ext cx="98755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8F7113"/>
                </a:solidFill>
              </a:defRPr>
            </a:pPr>
            <a:r>
              <a:t>You ask   </a:t>
            </a:r>
            <a:r>
              <a:rPr b="0" sz="1100">
                <a:solidFill>
                  <a:srgbClr val="5D6B7E"/>
                </a:solidFill>
              </a:rPr>
              <a:t>“What's HDFC Bank's price move today, and should I worry about my exposure?”</a:t>
            </a:r>
          </a:p>
        </p:txBody>
      </p:sp>
      <p:sp>
        <p:nvSpPr>
          <p:cNvPr id="455" name="Down Arrow 8"/>
          <p:cNvSpPr/>
          <p:nvPr/>
        </p:nvSpPr>
        <p:spPr>
          <a:xfrm>
            <a:off x="731519" y="2267711"/>
            <a:ext cx="128017" cy="2743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6560"/>
                </a:moveTo>
                <a:lnTo>
                  <a:pt x="5400" y="16560"/>
                </a:lnTo>
                <a:lnTo>
                  <a:pt x="5400" y="0"/>
                </a:lnTo>
                <a:lnTo>
                  <a:pt x="16200" y="0"/>
                </a:lnTo>
                <a:lnTo>
                  <a:pt x="16200" y="16560"/>
                </a:lnTo>
                <a:lnTo>
                  <a:pt x="21600" y="16560"/>
                </a:lnTo>
                <a:lnTo>
                  <a:pt x="10800" y="21600"/>
                </a:lnTo>
                <a:close/>
              </a:path>
            </a:pathLst>
          </a:custGeom>
          <a:solidFill>
            <a:srgbClr val="D9DFE9"/>
          </a:solidFill>
          <a:ln w="12700">
            <a:miter lim="400000"/>
          </a:ln>
        </p:spPr>
        <p:txBody>
          <a:bodyPr lIns="45719" rIns="45719" anchor="ctr"/>
          <a:lstStyle/>
          <a:p>
            <a:pPr algn="ctr">
              <a:defRPr>
                <a:solidFill>
                  <a:srgbClr val="FFFFFF"/>
                </a:solidFill>
              </a:defRPr>
            </a:pPr>
          </a:p>
        </p:txBody>
      </p:sp>
      <p:sp>
        <p:nvSpPr>
          <p:cNvPr id="456" name="Oval 9"/>
          <p:cNvSpPr/>
          <p:nvPr/>
        </p:nvSpPr>
        <p:spPr>
          <a:xfrm>
            <a:off x="548640" y="2724911"/>
            <a:ext cx="475489" cy="475489"/>
          </a:xfrm>
          <a:prstGeom prst="ellipse">
            <a:avLst/>
          </a:prstGeom>
          <a:solidFill>
            <a:srgbClr val="C9A227"/>
          </a:solidFill>
          <a:ln w="12700">
            <a:miter lim="400000"/>
          </a:ln>
        </p:spPr>
        <p:txBody>
          <a:bodyPr lIns="45719" rIns="45719" anchor="ctr"/>
          <a:lstStyle/>
          <a:p>
            <a:pPr algn="ctr">
              <a:defRPr>
                <a:solidFill>
                  <a:srgbClr val="FFFFFF"/>
                </a:solidFill>
              </a:defRPr>
            </a:pPr>
          </a:p>
        </p:txBody>
      </p:sp>
      <p:sp>
        <p:nvSpPr>
          <p:cNvPr id="457" name="TextBox 10"/>
          <p:cNvSpPr txBox="1"/>
          <p:nvPr/>
        </p:nvSpPr>
        <p:spPr>
          <a:xfrm>
            <a:off x="548640" y="2869377"/>
            <a:ext cx="4754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0F2145"/>
                </a:solidFill>
              </a:defRPr>
            </a:lvl1pPr>
          </a:lstStyle>
          <a:p>
            <a:pPr/>
            <a:r>
              <a:t>2</a:t>
            </a:r>
          </a:p>
        </p:txBody>
      </p:sp>
      <p:sp>
        <p:nvSpPr>
          <p:cNvPr id="458" name="Rounded Rectangle 11"/>
          <p:cNvSpPr/>
          <p:nvPr/>
        </p:nvSpPr>
        <p:spPr>
          <a:xfrm>
            <a:off x="1234439" y="2560320"/>
            <a:ext cx="10378442" cy="841249"/>
          </a:xfrm>
          <a:prstGeom prst="roundRect">
            <a:avLst>
              <a:gd name="adj" fmla="val 10000"/>
            </a:avLst>
          </a:prstGeom>
          <a:solidFill>
            <a:srgbClr val="24437A"/>
          </a:solidFill>
          <a:ln w="12700">
            <a:miter lim="400000"/>
          </a:ln>
        </p:spPr>
        <p:txBody>
          <a:bodyPr lIns="45719" rIns="45719" anchor="ctr"/>
          <a:lstStyle/>
          <a:p>
            <a:pPr algn="ctr">
              <a:defRPr>
                <a:solidFill>
                  <a:srgbClr val="FFFFFF"/>
                </a:solidFill>
              </a:defRPr>
            </a:pPr>
          </a:p>
        </p:txBody>
      </p:sp>
      <p:sp>
        <p:nvSpPr>
          <p:cNvPr id="459" name="TextBox 12"/>
          <p:cNvSpPr txBox="1"/>
          <p:nvPr/>
        </p:nvSpPr>
        <p:spPr>
          <a:xfrm>
            <a:off x="1508759" y="2907082"/>
            <a:ext cx="98755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FFFFFF"/>
                </a:solidFill>
              </a:defRPr>
            </a:pPr>
            <a:r>
              <a:t>Model chooses a tool   </a:t>
            </a:r>
            <a:r>
              <a:rPr b="0" sz="1100">
                <a:solidFill>
                  <a:srgbClr val="C9D6EE"/>
                </a:solidFill>
              </a:rPr>
              <a:t>It can't know live prices — so it emits a structured call:  get_price(“HDFCBANK”)</a:t>
            </a:r>
          </a:p>
        </p:txBody>
      </p:sp>
      <p:sp>
        <p:nvSpPr>
          <p:cNvPr id="460" name="Down Arrow 13"/>
          <p:cNvSpPr/>
          <p:nvPr/>
        </p:nvSpPr>
        <p:spPr>
          <a:xfrm>
            <a:off x="731519" y="3273552"/>
            <a:ext cx="128017" cy="2743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6560"/>
                </a:moveTo>
                <a:lnTo>
                  <a:pt x="5400" y="16560"/>
                </a:lnTo>
                <a:lnTo>
                  <a:pt x="5400" y="0"/>
                </a:lnTo>
                <a:lnTo>
                  <a:pt x="16200" y="0"/>
                </a:lnTo>
                <a:lnTo>
                  <a:pt x="16200" y="16560"/>
                </a:lnTo>
                <a:lnTo>
                  <a:pt x="21600" y="16560"/>
                </a:lnTo>
                <a:lnTo>
                  <a:pt x="10800" y="21600"/>
                </a:lnTo>
                <a:close/>
              </a:path>
            </a:pathLst>
          </a:custGeom>
          <a:solidFill>
            <a:srgbClr val="D9DFE9"/>
          </a:solidFill>
          <a:ln w="12700">
            <a:miter lim="400000"/>
          </a:ln>
        </p:spPr>
        <p:txBody>
          <a:bodyPr lIns="45719" rIns="45719" anchor="ctr"/>
          <a:lstStyle/>
          <a:p>
            <a:pPr algn="ctr">
              <a:defRPr>
                <a:solidFill>
                  <a:srgbClr val="FFFFFF"/>
                </a:solidFill>
              </a:defRPr>
            </a:pPr>
          </a:p>
        </p:txBody>
      </p:sp>
      <p:sp>
        <p:nvSpPr>
          <p:cNvPr id="461" name="Oval 14"/>
          <p:cNvSpPr/>
          <p:nvPr/>
        </p:nvSpPr>
        <p:spPr>
          <a:xfrm>
            <a:off x="548640" y="3730752"/>
            <a:ext cx="475489" cy="475489"/>
          </a:xfrm>
          <a:prstGeom prst="ellipse">
            <a:avLst/>
          </a:prstGeom>
          <a:solidFill>
            <a:srgbClr val="C9A227"/>
          </a:solidFill>
          <a:ln w="12700">
            <a:miter lim="400000"/>
          </a:ln>
        </p:spPr>
        <p:txBody>
          <a:bodyPr lIns="45719" rIns="45719" anchor="ctr"/>
          <a:lstStyle/>
          <a:p>
            <a:pPr algn="ctr">
              <a:defRPr>
                <a:solidFill>
                  <a:srgbClr val="FFFFFF"/>
                </a:solidFill>
              </a:defRPr>
            </a:pPr>
          </a:p>
        </p:txBody>
      </p:sp>
      <p:sp>
        <p:nvSpPr>
          <p:cNvPr id="462" name="TextBox 15"/>
          <p:cNvSpPr txBox="1"/>
          <p:nvPr/>
        </p:nvSpPr>
        <p:spPr>
          <a:xfrm>
            <a:off x="548640" y="3875217"/>
            <a:ext cx="4754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0F2145"/>
                </a:solidFill>
              </a:defRPr>
            </a:lvl1pPr>
          </a:lstStyle>
          <a:p>
            <a:pPr/>
            <a:r>
              <a:t>3</a:t>
            </a:r>
          </a:p>
        </p:txBody>
      </p:sp>
      <p:sp>
        <p:nvSpPr>
          <p:cNvPr id="463" name="Rounded Rectangle 16"/>
          <p:cNvSpPr/>
          <p:nvPr/>
        </p:nvSpPr>
        <p:spPr>
          <a:xfrm>
            <a:off x="1234439" y="3566159"/>
            <a:ext cx="10378442" cy="841249"/>
          </a:xfrm>
          <a:prstGeom prst="roundRect">
            <a:avLst>
              <a:gd name="adj" fmla="val 10000"/>
            </a:avLst>
          </a:prstGeom>
          <a:solidFill>
            <a:srgbClr val="E9EFF8"/>
          </a:solidFill>
          <a:ln w="12700">
            <a:miter lim="400000"/>
          </a:ln>
        </p:spPr>
        <p:txBody>
          <a:bodyPr lIns="45719" rIns="45719" anchor="ctr"/>
          <a:lstStyle/>
          <a:p>
            <a:pPr algn="ctr">
              <a:defRPr>
                <a:solidFill>
                  <a:srgbClr val="FFFFFF"/>
                </a:solidFill>
              </a:defRPr>
            </a:pPr>
          </a:p>
        </p:txBody>
      </p:sp>
      <p:sp>
        <p:nvSpPr>
          <p:cNvPr id="464" name="TextBox 17"/>
          <p:cNvSpPr txBox="1"/>
          <p:nvPr/>
        </p:nvSpPr>
        <p:spPr>
          <a:xfrm>
            <a:off x="1508759" y="3912923"/>
            <a:ext cx="98755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0F2145"/>
                </a:solidFill>
              </a:defRPr>
            </a:pPr>
            <a:r>
              <a:t>Your system runs it   </a:t>
            </a:r>
            <a:r>
              <a:rPr b="0" sz="1100">
                <a:solidFill>
                  <a:srgbClr val="5D6B7E"/>
                </a:solidFill>
              </a:rPr>
              <a:t>The API executes and returns data: ₹1,642 · −3.1% today</a:t>
            </a:r>
          </a:p>
        </p:txBody>
      </p:sp>
      <p:sp>
        <p:nvSpPr>
          <p:cNvPr id="465" name="Down Arrow 18"/>
          <p:cNvSpPr/>
          <p:nvPr/>
        </p:nvSpPr>
        <p:spPr>
          <a:xfrm>
            <a:off x="731519" y="4279391"/>
            <a:ext cx="128017" cy="2743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6560"/>
                </a:moveTo>
                <a:lnTo>
                  <a:pt x="5400" y="16560"/>
                </a:lnTo>
                <a:lnTo>
                  <a:pt x="5400" y="0"/>
                </a:lnTo>
                <a:lnTo>
                  <a:pt x="16200" y="0"/>
                </a:lnTo>
                <a:lnTo>
                  <a:pt x="16200" y="16560"/>
                </a:lnTo>
                <a:lnTo>
                  <a:pt x="21600" y="16560"/>
                </a:lnTo>
                <a:lnTo>
                  <a:pt x="10800" y="21600"/>
                </a:lnTo>
                <a:close/>
              </a:path>
            </a:pathLst>
          </a:custGeom>
          <a:solidFill>
            <a:srgbClr val="D9DFE9"/>
          </a:solidFill>
          <a:ln w="12700">
            <a:miter lim="400000"/>
          </a:ln>
        </p:spPr>
        <p:txBody>
          <a:bodyPr lIns="45719" rIns="45719" anchor="ctr"/>
          <a:lstStyle/>
          <a:p>
            <a:pPr algn="ctr">
              <a:defRPr>
                <a:solidFill>
                  <a:srgbClr val="FFFFFF"/>
                </a:solidFill>
              </a:defRPr>
            </a:pPr>
          </a:p>
        </p:txBody>
      </p:sp>
      <p:sp>
        <p:nvSpPr>
          <p:cNvPr id="466" name="Oval 19"/>
          <p:cNvSpPr/>
          <p:nvPr/>
        </p:nvSpPr>
        <p:spPr>
          <a:xfrm>
            <a:off x="548640" y="4736591"/>
            <a:ext cx="475489" cy="475489"/>
          </a:xfrm>
          <a:prstGeom prst="ellipse">
            <a:avLst/>
          </a:prstGeom>
          <a:solidFill>
            <a:srgbClr val="C9A227"/>
          </a:solidFill>
          <a:ln w="12700">
            <a:miter lim="400000"/>
          </a:ln>
        </p:spPr>
        <p:txBody>
          <a:bodyPr lIns="45719" rIns="45719" anchor="ctr"/>
          <a:lstStyle/>
          <a:p>
            <a:pPr algn="ctr">
              <a:defRPr>
                <a:solidFill>
                  <a:srgbClr val="FFFFFF"/>
                </a:solidFill>
              </a:defRPr>
            </a:pPr>
          </a:p>
        </p:txBody>
      </p:sp>
      <p:sp>
        <p:nvSpPr>
          <p:cNvPr id="467" name="TextBox 20"/>
          <p:cNvSpPr txBox="1"/>
          <p:nvPr/>
        </p:nvSpPr>
        <p:spPr>
          <a:xfrm>
            <a:off x="548640" y="4881057"/>
            <a:ext cx="4754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0F2145"/>
                </a:solidFill>
              </a:defRPr>
            </a:lvl1pPr>
          </a:lstStyle>
          <a:p>
            <a:pPr/>
            <a:r>
              <a:t>4</a:t>
            </a:r>
          </a:p>
        </p:txBody>
      </p:sp>
      <p:sp>
        <p:nvSpPr>
          <p:cNvPr id="468" name="Rounded Rectangle 21"/>
          <p:cNvSpPr/>
          <p:nvPr/>
        </p:nvSpPr>
        <p:spPr>
          <a:xfrm>
            <a:off x="1234439" y="4572000"/>
            <a:ext cx="10378442" cy="841248"/>
          </a:xfrm>
          <a:prstGeom prst="roundRect">
            <a:avLst>
              <a:gd name="adj" fmla="val 10000"/>
            </a:avLst>
          </a:prstGeom>
          <a:solidFill>
            <a:srgbClr val="0F2145"/>
          </a:solidFill>
          <a:ln w="12700">
            <a:miter lim="400000"/>
          </a:ln>
        </p:spPr>
        <p:txBody>
          <a:bodyPr lIns="45719" rIns="45719" anchor="ctr"/>
          <a:lstStyle/>
          <a:p>
            <a:pPr algn="ctr">
              <a:defRPr>
                <a:solidFill>
                  <a:srgbClr val="FFFFFF"/>
                </a:solidFill>
              </a:defRPr>
            </a:pPr>
          </a:p>
        </p:txBody>
      </p:sp>
      <p:sp>
        <p:nvSpPr>
          <p:cNvPr id="469" name="TextBox 22"/>
          <p:cNvSpPr txBox="1"/>
          <p:nvPr/>
        </p:nvSpPr>
        <p:spPr>
          <a:xfrm>
            <a:off x="1508759" y="4918763"/>
            <a:ext cx="98755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FFFFFF"/>
                </a:solidFill>
              </a:defRPr>
            </a:pPr>
            <a:r>
              <a:t>Model answers with real data   </a:t>
            </a:r>
            <a:r>
              <a:rPr b="0" sz="1100">
                <a:solidFill>
                  <a:srgbClr val="C9D6EE"/>
                </a:solidFill>
              </a:rPr>
              <a:t>“Down 3.1%. Your 18% position breaches the 15% concentration limit — consider trimming.”</a:t>
            </a:r>
          </a:p>
        </p:txBody>
      </p:sp>
      <p:sp>
        <p:nvSpPr>
          <p:cNvPr id="470" name="Rounded Rectangle 23"/>
          <p:cNvSpPr/>
          <p:nvPr/>
        </p:nvSpPr>
        <p:spPr>
          <a:xfrm>
            <a:off x="548640" y="5669279"/>
            <a:ext cx="11094416" cy="566929"/>
          </a:xfrm>
          <a:prstGeom prst="roundRect">
            <a:avLst>
              <a:gd name="adj" fmla="val 14000"/>
            </a:avLst>
          </a:prstGeom>
          <a:solidFill>
            <a:srgbClr val="F5ECD3"/>
          </a:solidFill>
          <a:ln w="12700">
            <a:miter lim="400000"/>
          </a:ln>
        </p:spPr>
        <p:txBody>
          <a:bodyPr lIns="45719" rIns="45719" anchor="ctr"/>
          <a:lstStyle/>
          <a:p>
            <a:pPr algn="ctr">
              <a:defRPr>
                <a:solidFill>
                  <a:srgbClr val="FFFFFF"/>
                </a:solidFill>
              </a:defRPr>
            </a:pPr>
          </a:p>
        </p:txBody>
      </p:sp>
      <p:sp>
        <p:nvSpPr>
          <p:cNvPr id="471" name="TextBox 24"/>
          <p:cNvSpPr txBox="1"/>
          <p:nvPr/>
        </p:nvSpPr>
        <p:spPr>
          <a:xfrm>
            <a:off x="786383" y="5885610"/>
            <a:ext cx="10637216"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8F7113"/>
                </a:solidFill>
              </a:defRPr>
            </a:pPr>
            <a:r>
              <a:t>The model never touches the market. </a:t>
            </a:r>
            <a:r>
              <a:rPr b="0">
                <a:solidFill>
                  <a:srgbClr val="1B2A41"/>
                </a:solidFill>
              </a:rPr>
              <a:t>It requests; your code executes under your permissions. This boundary is where all enterprise-AI governance lives.</a:t>
            </a:r>
          </a:p>
        </p:txBody>
      </p:sp>
      <p:sp>
        <p:nvSpPr>
          <p:cNvPr id="472" name="TextBox 25"/>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pc="180" sz="800">
                <a:solidFill>
                  <a:srgbClr val="5D6B7E"/>
                </a:solidFill>
              </a:defRPr>
            </a:lvl1pPr>
          </a:lstStyle>
          <a:p>
            <a:pPr/>
            <a:r>
              <a:t>ISBMS · PGDM 2025–27 · AGENTIC AI &amp; ADVANCED ANALYTICS IN FINANCE</a:t>
            </a:r>
          </a:p>
        </p:txBody>
      </p:sp>
      <p:sp>
        <p:nvSpPr>
          <p:cNvPr id="473" name="TextBox 26"/>
          <p:cNvSpPr txBox="1"/>
          <p:nvPr/>
        </p:nvSpPr>
        <p:spPr>
          <a:xfrm>
            <a:off x="9814255" y="6473952"/>
            <a:ext cx="1828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pc="120" sz="800">
                <a:solidFill>
                  <a:srgbClr val="5D6B7E"/>
                </a:solidFill>
              </a:defRPr>
            </a:lvl1pPr>
          </a:lstStyle>
          <a:p>
            <a:pPr/>
            <a:r>
              <a:t>MODULE 1  ·  15</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475"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476"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2 · ARCHITECTURE</a:t>
            </a:r>
          </a:p>
        </p:txBody>
      </p:sp>
      <p:sp>
        <p:nvSpPr>
          <p:cNvPr id="477"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What you give the model: tools and memory</a:t>
            </a:r>
          </a:p>
        </p:txBody>
      </p:sp>
      <p:sp>
        <p:nvSpPr>
          <p:cNvPr id="478" name="Rectangle 4"/>
          <p:cNvSpPr/>
          <p:nvPr/>
        </p:nvSpPr>
        <p:spPr>
          <a:xfrm>
            <a:off x="548639" y="1572767"/>
            <a:ext cx="5120642" cy="288036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479" name="TextBox 5"/>
          <p:cNvSpPr txBox="1"/>
          <p:nvPr/>
        </p:nvSpPr>
        <p:spPr>
          <a:xfrm>
            <a:off x="804671" y="1719072"/>
            <a:ext cx="466344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A TOOL DEFINITION</a:t>
            </a:r>
          </a:p>
        </p:txBody>
      </p:sp>
      <p:sp>
        <p:nvSpPr>
          <p:cNvPr id="480" name="TextBox 6"/>
          <p:cNvSpPr txBox="1"/>
          <p:nvPr/>
        </p:nvSpPr>
        <p:spPr>
          <a:xfrm>
            <a:off x="804671" y="2066543"/>
            <a:ext cx="4663442" cy="2006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1000">
                <a:solidFill>
                  <a:srgbClr val="FFFFFF"/>
                </a:solidFill>
                <a:latin typeface="Consolas"/>
                <a:ea typeface="Consolas"/>
                <a:cs typeface="Consolas"/>
                <a:sym typeface="Consolas"/>
              </a:defRPr>
            </a:pPr>
            <a:r>
              <a:t>{</a:t>
            </a:r>
          </a:p>
          <a:p>
            <a:pPr>
              <a:lnSpc>
                <a:spcPct val="104999"/>
              </a:lnSpc>
              <a:spcBef>
                <a:spcPts val="200"/>
              </a:spcBef>
              <a:defRPr sz="1000">
                <a:solidFill>
                  <a:srgbClr val="C9D6EE"/>
                </a:solidFill>
                <a:latin typeface="Consolas"/>
                <a:ea typeface="Consolas"/>
                <a:cs typeface="Consolas"/>
                <a:sym typeface="Consolas"/>
              </a:defRPr>
            </a:pPr>
            <a:r>
              <a:t>  "name": "get_close_price",</a:t>
            </a:r>
          </a:p>
          <a:p>
            <a:pPr>
              <a:lnSpc>
                <a:spcPct val="104999"/>
              </a:lnSpc>
              <a:spcBef>
                <a:spcPts val="200"/>
              </a:spcBef>
              <a:defRPr sz="1000">
                <a:solidFill>
                  <a:srgbClr val="C9D6EE"/>
                </a:solidFill>
                <a:latin typeface="Consolas"/>
                <a:ea typeface="Consolas"/>
                <a:cs typeface="Consolas"/>
                <a:sym typeface="Consolas"/>
              </a:defRPr>
            </a:pPr>
            <a:r>
              <a:t>  "description": "Latest NSE closing</a:t>
            </a:r>
          </a:p>
          <a:p>
            <a:pPr>
              <a:lnSpc>
                <a:spcPct val="104999"/>
              </a:lnSpc>
              <a:spcBef>
                <a:spcPts val="200"/>
              </a:spcBef>
              <a:defRPr sz="1000">
                <a:solidFill>
                  <a:srgbClr val="C9D6EE"/>
                </a:solidFill>
                <a:latin typeface="Consolas"/>
                <a:ea typeface="Consolas"/>
                <a:cs typeface="Consolas"/>
                <a:sym typeface="Consolas"/>
              </a:defRPr>
            </a:pPr>
            <a:r>
              <a:t>                  price for one symbol.",</a:t>
            </a:r>
          </a:p>
          <a:p>
            <a:pPr>
              <a:lnSpc>
                <a:spcPct val="104999"/>
              </a:lnSpc>
              <a:spcBef>
                <a:spcPts val="200"/>
              </a:spcBef>
              <a:defRPr sz="1000">
                <a:solidFill>
                  <a:srgbClr val="C9D6EE"/>
                </a:solidFill>
                <a:latin typeface="Consolas"/>
                <a:ea typeface="Consolas"/>
                <a:cs typeface="Consolas"/>
                <a:sym typeface="Consolas"/>
              </a:defRPr>
            </a:pPr>
            <a:r>
              <a:t>  "input_schema": {</a:t>
            </a:r>
          </a:p>
          <a:p>
            <a:pPr>
              <a:lnSpc>
                <a:spcPct val="104999"/>
              </a:lnSpc>
              <a:spcBef>
                <a:spcPts val="200"/>
              </a:spcBef>
              <a:defRPr sz="1000">
                <a:solidFill>
                  <a:srgbClr val="C9D6EE"/>
                </a:solidFill>
                <a:latin typeface="Consolas"/>
                <a:ea typeface="Consolas"/>
                <a:cs typeface="Consolas"/>
                <a:sym typeface="Consolas"/>
              </a:defRPr>
            </a:pPr>
            <a:r>
              <a:t>    "type": "object",</a:t>
            </a:r>
          </a:p>
          <a:p>
            <a:pPr>
              <a:lnSpc>
                <a:spcPct val="104999"/>
              </a:lnSpc>
              <a:spcBef>
                <a:spcPts val="200"/>
              </a:spcBef>
              <a:defRPr sz="1000">
                <a:solidFill>
                  <a:srgbClr val="C9D6EE"/>
                </a:solidFill>
                <a:latin typeface="Consolas"/>
                <a:ea typeface="Consolas"/>
                <a:cs typeface="Consolas"/>
                <a:sym typeface="Consolas"/>
              </a:defRPr>
            </a:pPr>
            <a:r>
              <a:t>    "properties": {</a:t>
            </a:r>
          </a:p>
          <a:p>
            <a:pPr>
              <a:lnSpc>
                <a:spcPct val="104999"/>
              </a:lnSpc>
              <a:spcBef>
                <a:spcPts val="200"/>
              </a:spcBef>
              <a:defRPr sz="1000">
                <a:solidFill>
                  <a:srgbClr val="C9A227"/>
                </a:solidFill>
                <a:latin typeface="Consolas"/>
                <a:ea typeface="Consolas"/>
                <a:cs typeface="Consolas"/>
                <a:sym typeface="Consolas"/>
              </a:defRPr>
            </a:pPr>
            <a:r>
              <a:t>      "symbol": {"type": "string"},</a:t>
            </a:r>
          </a:p>
          <a:p>
            <a:pPr>
              <a:lnSpc>
                <a:spcPct val="104999"/>
              </a:lnSpc>
              <a:spcBef>
                <a:spcPts val="200"/>
              </a:spcBef>
              <a:defRPr sz="1000">
                <a:solidFill>
                  <a:srgbClr val="C9A227"/>
                </a:solidFill>
                <a:latin typeface="Consolas"/>
                <a:ea typeface="Consolas"/>
                <a:cs typeface="Consolas"/>
                <a:sym typeface="Consolas"/>
              </a:defRPr>
            </a:pPr>
            <a:r>
              <a:t>      "date":   {"type": "string"}},</a:t>
            </a:r>
          </a:p>
          <a:p>
            <a:pPr>
              <a:lnSpc>
                <a:spcPct val="104999"/>
              </a:lnSpc>
              <a:spcBef>
                <a:spcPts val="200"/>
              </a:spcBef>
              <a:defRPr sz="1000">
                <a:solidFill>
                  <a:srgbClr val="C9D6EE"/>
                </a:solidFill>
                <a:latin typeface="Consolas"/>
                <a:ea typeface="Consolas"/>
                <a:cs typeface="Consolas"/>
                <a:sym typeface="Consolas"/>
              </a:defRPr>
            </a:pPr>
            <a:r>
              <a:t>    "required": ["symbol"]}</a:t>
            </a:r>
          </a:p>
          <a:p>
            <a:pPr>
              <a:lnSpc>
                <a:spcPct val="104999"/>
              </a:lnSpc>
              <a:spcBef>
                <a:spcPts val="200"/>
              </a:spcBef>
              <a:defRPr sz="1000">
                <a:solidFill>
                  <a:srgbClr val="FFFFFF"/>
                </a:solidFill>
                <a:latin typeface="Consolas"/>
                <a:ea typeface="Consolas"/>
                <a:cs typeface="Consolas"/>
                <a:sym typeface="Consolas"/>
              </a:defRPr>
            </a:pPr>
            <a:r>
              <a:t>}</a:t>
            </a:r>
          </a:p>
        </p:txBody>
      </p:sp>
      <p:sp>
        <p:nvSpPr>
          <p:cNvPr id="481" name="TextBox 7"/>
          <p:cNvSpPr txBox="1"/>
          <p:nvPr/>
        </p:nvSpPr>
        <p:spPr>
          <a:xfrm>
            <a:off x="548639" y="4617720"/>
            <a:ext cx="5120642" cy="7162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You write the tool definition. The model decides when to call it.</a:t>
            </a:r>
          </a:p>
          <a:p>
            <a:pPr>
              <a:lnSpc>
                <a:spcPct val="104999"/>
              </a:lnSpc>
              <a:spcBef>
                <a:spcPts val="500"/>
              </a:spcBef>
              <a:defRPr sz="1000">
                <a:solidFill>
                  <a:srgbClr val="5D6B7E"/>
                </a:solidFill>
              </a:defRPr>
            </a:pPr>
            <a:r>
              <a:t>The description is the only instruction the model gets. Write it vaguely and the tool gets called at the wrong time. Your code runs the call, under your credentials, with your logging. That is where a bank puts its governance controls.</a:t>
            </a:r>
          </a:p>
        </p:txBody>
      </p:sp>
      <p:sp>
        <p:nvSpPr>
          <p:cNvPr id="482" name="Rectangle 8"/>
          <p:cNvSpPr/>
          <p:nvPr/>
        </p:nvSpPr>
        <p:spPr>
          <a:xfrm>
            <a:off x="5943600" y="1572767"/>
            <a:ext cx="5696712" cy="137160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483" name="TextBox 9"/>
          <p:cNvSpPr txBox="1"/>
          <p:nvPr/>
        </p:nvSpPr>
        <p:spPr>
          <a:xfrm>
            <a:off x="6199632" y="1700783"/>
            <a:ext cx="5212080" cy="7545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3A5C9E"/>
                </a:solidFill>
              </a:defRPr>
            </a:pPr>
            <a:r>
              <a:t>SHORT-TERM MEMORY</a:t>
            </a:r>
          </a:p>
          <a:p>
            <a:pPr>
              <a:lnSpc>
                <a:spcPct val="104999"/>
              </a:lnSpc>
              <a:spcBef>
                <a:spcPts val="400"/>
              </a:spcBef>
              <a:defRPr sz="1000">
                <a:solidFill>
                  <a:srgbClr val="1B2A41"/>
                </a:solidFill>
              </a:defRPr>
            </a:pPr>
            <a:r>
              <a:t>Everything in the context window right now — this chat, the file you pasted, the last tool result. Gone when the session ends.</a:t>
            </a:r>
          </a:p>
          <a:p>
            <a:pPr>
              <a:lnSpc>
                <a:spcPct val="104999"/>
              </a:lnSpc>
              <a:spcBef>
                <a:spcPts val="400"/>
              </a:spcBef>
              <a:defRPr b="1" sz="1000">
                <a:solidFill>
                  <a:srgbClr val="0F2145"/>
                </a:solidFill>
              </a:defRPr>
            </a:pPr>
            <a:r>
              <a:t>e.g.  The holdings table you pasted two minutes ago.</a:t>
            </a:r>
          </a:p>
        </p:txBody>
      </p:sp>
      <p:sp>
        <p:nvSpPr>
          <p:cNvPr id="484" name="Rectangle 10"/>
          <p:cNvSpPr/>
          <p:nvPr/>
        </p:nvSpPr>
        <p:spPr>
          <a:xfrm>
            <a:off x="5943600" y="3035807"/>
            <a:ext cx="5696712" cy="1371601"/>
          </a:xfrm>
          <a:prstGeom prst="rect">
            <a:avLst/>
          </a:prstGeom>
          <a:solidFill>
            <a:srgbClr val="D5E1F2"/>
          </a:solidFill>
          <a:ln w="12700">
            <a:miter lim="400000"/>
          </a:ln>
        </p:spPr>
        <p:txBody>
          <a:bodyPr lIns="45719" rIns="45719" anchor="ctr"/>
          <a:lstStyle/>
          <a:p>
            <a:pPr algn="ctr">
              <a:defRPr>
                <a:solidFill>
                  <a:srgbClr val="FFFFFF"/>
                </a:solidFill>
              </a:defRPr>
            </a:pPr>
          </a:p>
        </p:txBody>
      </p:sp>
      <p:sp>
        <p:nvSpPr>
          <p:cNvPr id="485" name="TextBox 11"/>
          <p:cNvSpPr txBox="1"/>
          <p:nvPr/>
        </p:nvSpPr>
        <p:spPr>
          <a:xfrm>
            <a:off x="6199632" y="3163823"/>
            <a:ext cx="5212080" cy="7545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3A5C9E"/>
                </a:solidFill>
              </a:defRPr>
            </a:pPr>
            <a:r>
              <a:t>EPISODIC MEMORY</a:t>
            </a:r>
          </a:p>
          <a:p>
            <a:pPr>
              <a:lnSpc>
                <a:spcPct val="104999"/>
              </a:lnSpc>
              <a:spcBef>
                <a:spcPts val="400"/>
              </a:spcBef>
              <a:defRPr sz="1000">
                <a:solidFill>
                  <a:srgbClr val="1B2A41"/>
                </a:solidFill>
              </a:defRPr>
            </a:pPr>
            <a:r>
              <a:t>A stored log of past runs and conversations, searched when relevant. You build this; it is not automatic.</a:t>
            </a:r>
          </a:p>
          <a:p>
            <a:pPr>
              <a:lnSpc>
                <a:spcPct val="104999"/>
              </a:lnSpc>
              <a:spcBef>
                <a:spcPts val="400"/>
              </a:spcBef>
              <a:defRPr b="1" sz="1000">
                <a:solidFill>
                  <a:srgbClr val="0F2145"/>
                </a:solidFill>
              </a:defRPr>
            </a:pPr>
            <a:r>
              <a:t>e.g.  “Last quarter this client asked to avoid tobacco stocks.”</a:t>
            </a:r>
          </a:p>
        </p:txBody>
      </p:sp>
      <p:sp>
        <p:nvSpPr>
          <p:cNvPr id="486" name="Rectangle 12"/>
          <p:cNvSpPr/>
          <p:nvPr/>
        </p:nvSpPr>
        <p:spPr>
          <a:xfrm>
            <a:off x="5943600" y="4498847"/>
            <a:ext cx="5696712" cy="1371601"/>
          </a:xfrm>
          <a:prstGeom prst="rect">
            <a:avLst/>
          </a:prstGeom>
          <a:solidFill>
            <a:srgbClr val="BFD2EC"/>
          </a:solidFill>
          <a:ln w="12700">
            <a:miter lim="400000"/>
          </a:ln>
        </p:spPr>
        <p:txBody>
          <a:bodyPr lIns="45719" rIns="45719" anchor="ctr"/>
          <a:lstStyle/>
          <a:p>
            <a:pPr algn="ctr">
              <a:defRPr>
                <a:solidFill>
                  <a:srgbClr val="FFFFFF"/>
                </a:solidFill>
              </a:defRPr>
            </a:pPr>
          </a:p>
        </p:txBody>
      </p:sp>
      <p:sp>
        <p:nvSpPr>
          <p:cNvPr id="487" name="TextBox 13"/>
          <p:cNvSpPr txBox="1"/>
          <p:nvPr/>
        </p:nvSpPr>
        <p:spPr>
          <a:xfrm>
            <a:off x="6199632" y="4626864"/>
            <a:ext cx="5212080" cy="5825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3A5C9E"/>
                </a:solidFill>
              </a:defRPr>
            </a:pPr>
            <a:r>
              <a:t>SEMANTIC MEMORY</a:t>
            </a:r>
          </a:p>
          <a:p>
            <a:pPr>
              <a:lnSpc>
                <a:spcPct val="104999"/>
              </a:lnSpc>
              <a:spcBef>
                <a:spcPts val="400"/>
              </a:spcBef>
              <a:defRPr sz="1000">
                <a:solidFill>
                  <a:srgbClr val="1B2A41"/>
                </a:solidFill>
              </a:defRPr>
            </a:pPr>
            <a:r>
              <a:t>Durable facts and policy kept in a database or vector store and pulled in when needed.</a:t>
            </a:r>
          </a:p>
          <a:p>
            <a:pPr>
              <a:lnSpc>
                <a:spcPct val="104999"/>
              </a:lnSpc>
              <a:spcBef>
                <a:spcPts val="400"/>
              </a:spcBef>
              <a:defRPr b="1" sz="1000">
                <a:solidFill>
                  <a:srgbClr val="0F2145"/>
                </a:solidFill>
              </a:defRPr>
            </a:pPr>
            <a:r>
              <a:t>e.g.  “House limit: no single stock above 8% of a portfolio.”</a:t>
            </a:r>
          </a:p>
        </p:txBody>
      </p:sp>
      <p:sp>
        <p:nvSpPr>
          <p:cNvPr id="488" name="Rectangle 14"/>
          <p:cNvSpPr/>
          <p:nvPr/>
        </p:nvSpPr>
        <p:spPr>
          <a:xfrm>
            <a:off x="5943600" y="5955538"/>
            <a:ext cx="5696712" cy="1270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489" name="TextBox 15"/>
          <p:cNvSpPr txBox="1"/>
          <p:nvPr/>
        </p:nvSpPr>
        <p:spPr>
          <a:xfrm>
            <a:off x="5943600" y="5943600"/>
            <a:ext cx="5696712"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5D6B7E"/>
                </a:solidFill>
              </a:defRPr>
            </a:lvl1pPr>
          </a:lstStyle>
          <a:p>
            <a:pPr/>
            <a:r>
              <a:t>A model remembers nothing between calls. You build all three. In a regulated firm you must also be able to show what was stored and when it was used.</a:t>
            </a:r>
          </a:p>
        </p:txBody>
      </p:sp>
      <p:sp>
        <p:nvSpPr>
          <p:cNvPr id="490" name="TextBox 16"/>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491" name="TextBox 17"/>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16</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493"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494"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2 · MEMORY</a:t>
            </a:r>
          </a:p>
        </p:txBody>
      </p:sp>
      <p:sp>
        <p:nvSpPr>
          <p:cNvPr id="495"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Four layers of memory, using my own setup</a:t>
            </a:r>
          </a:p>
        </p:txBody>
      </p:sp>
      <p:sp>
        <p:nvSpPr>
          <p:cNvPr id="496" name="TextBox 4"/>
          <p:cNvSpPr txBox="1"/>
          <p:nvPr/>
        </p:nvSpPr>
        <p:spPr>
          <a:xfrm>
            <a:off x="548640" y="1371600"/>
            <a:ext cx="1109167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100">
                <a:solidFill>
                  <a:srgbClr val="5D6B7E"/>
                </a:solidFill>
              </a:defRPr>
            </a:lvl1pPr>
          </a:lstStyle>
          <a:p>
            <a:pPr/>
            <a:r>
              <a:t>The model itself remembers nothing between calls. Every layer below is a file that somebody maintains. This is how mine is arranged.</a:t>
            </a:r>
          </a:p>
        </p:txBody>
      </p:sp>
      <p:sp>
        <p:nvSpPr>
          <p:cNvPr id="497" name="Rectangle 5"/>
          <p:cNvSpPr/>
          <p:nvPr/>
        </p:nvSpPr>
        <p:spPr>
          <a:xfrm>
            <a:off x="548639" y="1755648"/>
            <a:ext cx="2670050" cy="320040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498" name="TextBox 6"/>
          <p:cNvSpPr txBox="1"/>
          <p:nvPr/>
        </p:nvSpPr>
        <p:spPr>
          <a:xfrm>
            <a:off x="768095" y="1920239"/>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3A5C9E"/>
                </a:solidFill>
              </a:defRPr>
            </a:lvl1pPr>
          </a:lstStyle>
          <a:p>
            <a:pPr/>
            <a:r>
              <a:t>1 · SESSION CHAT</a:t>
            </a:r>
          </a:p>
        </p:txBody>
      </p:sp>
      <p:sp>
        <p:nvSpPr>
          <p:cNvPr id="499" name="TextBox 7"/>
          <p:cNvSpPr txBox="1"/>
          <p:nvPr/>
        </p:nvSpPr>
        <p:spPr>
          <a:xfrm>
            <a:off x="768095" y="2212848"/>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0F2145"/>
                </a:solidFill>
                <a:latin typeface="Georgia"/>
                <a:ea typeface="Georgia"/>
                <a:cs typeface="Georgia"/>
                <a:sym typeface="Georgia"/>
              </a:defRPr>
            </a:lvl1pPr>
          </a:lstStyle>
          <a:p>
            <a:pPr/>
            <a:r>
              <a:t>Short-term memory</a:t>
            </a:r>
          </a:p>
        </p:txBody>
      </p:sp>
      <p:sp>
        <p:nvSpPr>
          <p:cNvPr id="500" name="TextBox 8"/>
          <p:cNvSpPr txBox="1"/>
          <p:nvPr/>
        </p:nvSpPr>
        <p:spPr>
          <a:xfrm>
            <a:off x="768095" y="2880360"/>
            <a:ext cx="2286001" cy="4809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Everything said in the current conversation. Gone, or squeezed into a summary, when the session ends.</a:t>
            </a:r>
          </a:p>
        </p:txBody>
      </p:sp>
      <p:sp>
        <p:nvSpPr>
          <p:cNvPr id="501" name="TextBox 9"/>
          <p:cNvSpPr txBox="1"/>
          <p:nvPr/>
        </p:nvSpPr>
        <p:spPr>
          <a:xfrm>
            <a:off x="768095" y="425195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5D6B7E"/>
                </a:solidFill>
              </a:defRPr>
            </a:lvl1pPr>
          </a:lstStyle>
          <a:p>
            <a:pPr/>
            <a:r>
              <a:t>Nothing here survives unless it is written to a file.</a:t>
            </a:r>
          </a:p>
        </p:txBody>
      </p:sp>
      <p:sp>
        <p:nvSpPr>
          <p:cNvPr id="502" name="Rectangle 10"/>
          <p:cNvSpPr/>
          <p:nvPr/>
        </p:nvSpPr>
        <p:spPr>
          <a:xfrm>
            <a:off x="3374135" y="1755648"/>
            <a:ext cx="2670049" cy="3200401"/>
          </a:xfrm>
          <a:prstGeom prst="rect">
            <a:avLst/>
          </a:prstGeom>
          <a:solidFill>
            <a:srgbClr val="D5E1F2"/>
          </a:solidFill>
          <a:ln w="12700">
            <a:miter lim="400000"/>
          </a:ln>
        </p:spPr>
        <p:txBody>
          <a:bodyPr lIns="45719" rIns="45719" anchor="ctr"/>
          <a:lstStyle/>
          <a:p>
            <a:pPr algn="ctr">
              <a:defRPr>
                <a:solidFill>
                  <a:srgbClr val="FFFFFF"/>
                </a:solidFill>
              </a:defRPr>
            </a:pPr>
          </a:p>
        </p:txBody>
      </p:sp>
      <p:sp>
        <p:nvSpPr>
          <p:cNvPr id="503" name="TextBox 11"/>
          <p:cNvSpPr txBox="1"/>
          <p:nvPr/>
        </p:nvSpPr>
        <p:spPr>
          <a:xfrm>
            <a:off x="3593591" y="1920239"/>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3A5C9E"/>
                </a:solidFill>
              </a:defRPr>
            </a:lvl1pPr>
          </a:lstStyle>
          <a:p>
            <a:pPr/>
            <a:r>
              <a:t>2 · AUTO-MEMORY</a:t>
            </a:r>
          </a:p>
        </p:txBody>
      </p:sp>
      <p:sp>
        <p:nvSpPr>
          <p:cNvPr id="504" name="TextBox 12"/>
          <p:cNvSpPr txBox="1"/>
          <p:nvPr/>
        </p:nvSpPr>
        <p:spPr>
          <a:xfrm>
            <a:off x="3593591" y="2212848"/>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0F2145"/>
                </a:solidFill>
                <a:latin typeface="Georgia"/>
                <a:ea typeface="Georgia"/>
                <a:cs typeface="Georgia"/>
                <a:sym typeface="Georgia"/>
              </a:defRPr>
            </a:lvl1pPr>
          </a:lstStyle>
          <a:p>
            <a:pPr/>
            <a:r>
              <a:t>Episodic memory</a:t>
            </a:r>
          </a:p>
        </p:txBody>
      </p:sp>
      <p:sp>
        <p:nvSpPr>
          <p:cNvPr id="505" name="TextBox 13"/>
          <p:cNvSpPr txBox="1"/>
          <p:nvPr/>
        </p:nvSpPr>
        <p:spPr>
          <a:xfrm>
            <a:off x="3593591" y="2880360"/>
            <a:ext cx="2286001" cy="6529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One small file per fact, plus an index that loads every session. “HDFC Bank is Pune, not Mumbai.” “The dashboard scrapes at 8 AM.”</a:t>
            </a:r>
          </a:p>
        </p:txBody>
      </p:sp>
      <p:sp>
        <p:nvSpPr>
          <p:cNvPr id="506" name="TextBox 14"/>
          <p:cNvSpPr txBox="1"/>
          <p:nvPr/>
        </p:nvSpPr>
        <p:spPr>
          <a:xfrm>
            <a:off x="3593591" y="425195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5D6B7E"/>
                </a:solidFill>
              </a:defRPr>
            </a:lvl1pPr>
          </a:lstStyle>
          <a:p>
            <a:pPr/>
            <a:r>
              <a:t>I say “remember this” and it gets filed. This is not the rulebook.</a:t>
            </a:r>
          </a:p>
        </p:txBody>
      </p:sp>
      <p:sp>
        <p:nvSpPr>
          <p:cNvPr id="507" name="Rectangle 15"/>
          <p:cNvSpPr/>
          <p:nvPr/>
        </p:nvSpPr>
        <p:spPr>
          <a:xfrm>
            <a:off x="6199630" y="1755648"/>
            <a:ext cx="2670049" cy="3200401"/>
          </a:xfrm>
          <a:prstGeom prst="rect">
            <a:avLst/>
          </a:prstGeom>
          <a:solidFill>
            <a:srgbClr val="BFD2EC"/>
          </a:solidFill>
          <a:ln w="12700">
            <a:miter lim="400000"/>
          </a:ln>
        </p:spPr>
        <p:txBody>
          <a:bodyPr lIns="45719" rIns="45719" anchor="ctr"/>
          <a:lstStyle/>
          <a:p>
            <a:pPr algn="ctr">
              <a:defRPr>
                <a:solidFill>
                  <a:srgbClr val="FFFFFF"/>
                </a:solidFill>
              </a:defRPr>
            </a:pPr>
          </a:p>
        </p:txBody>
      </p:sp>
      <p:sp>
        <p:nvSpPr>
          <p:cNvPr id="508" name="TextBox 16"/>
          <p:cNvSpPr txBox="1"/>
          <p:nvPr/>
        </p:nvSpPr>
        <p:spPr>
          <a:xfrm>
            <a:off x="6419088" y="1920239"/>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3A5C9E"/>
                </a:solidFill>
              </a:defRPr>
            </a:lvl1pPr>
          </a:lstStyle>
          <a:p>
            <a:pPr/>
            <a:r>
              <a:t>3 · CLAUDE.md</a:t>
            </a:r>
          </a:p>
        </p:txBody>
      </p:sp>
      <p:sp>
        <p:nvSpPr>
          <p:cNvPr id="509" name="TextBox 17"/>
          <p:cNvSpPr txBox="1"/>
          <p:nvPr/>
        </p:nvSpPr>
        <p:spPr>
          <a:xfrm>
            <a:off x="6419088" y="2212848"/>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0F2145"/>
                </a:solidFill>
                <a:latin typeface="Georgia"/>
                <a:ea typeface="Georgia"/>
                <a:cs typeface="Georgia"/>
                <a:sym typeface="Georgia"/>
              </a:defRPr>
            </a:lvl1pPr>
          </a:lstStyle>
          <a:p>
            <a:pPr/>
            <a:r>
              <a:t>The rulebook, not memory</a:t>
            </a:r>
          </a:p>
        </p:txBody>
      </p:sp>
      <p:sp>
        <p:nvSpPr>
          <p:cNvPr id="510" name="TextBox 18"/>
          <p:cNvSpPr txBox="1"/>
          <p:nvPr/>
        </p:nvSpPr>
        <p:spPr>
          <a:xfrm>
            <a:off x="6419088" y="2880360"/>
            <a:ext cx="2286001" cy="4809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Standing instructions on how the assistant should behave. Check the policy first. Keep answers short. Change only what I asked for.</a:t>
            </a:r>
          </a:p>
        </p:txBody>
      </p:sp>
      <p:sp>
        <p:nvSpPr>
          <p:cNvPr id="511" name="TextBox 19"/>
          <p:cNvSpPr txBox="1"/>
          <p:nvPr/>
        </p:nvSpPr>
        <p:spPr>
          <a:xfrm>
            <a:off x="6419088" y="425195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5D6B7E"/>
                </a:solidFill>
              </a:defRPr>
            </a:lvl1pPr>
          </a:lstStyle>
          <a:p>
            <a:pPr/>
            <a:r>
              <a:t>An employee handbook. Auto-memory is the employee's notebook.</a:t>
            </a:r>
          </a:p>
        </p:txBody>
      </p:sp>
      <p:sp>
        <p:nvSpPr>
          <p:cNvPr id="512" name="Rectangle 20"/>
          <p:cNvSpPr/>
          <p:nvPr/>
        </p:nvSpPr>
        <p:spPr>
          <a:xfrm>
            <a:off x="9025128" y="1755648"/>
            <a:ext cx="2670049" cy="320040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513" name="TextBox 21"/>
          <p:cNvSpPr txBox="1"/>
          <p:nvPr/>
        </p:nvSpPr>
        <p:spPr>
          <a:xfrm>
            <a:off x="9244583" y="1920239"/>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4 · THE WIKI</a:t>
            </a:r>
          </a:p>
        </p:txBody>
      </p:sp>
      <p:sp>
        <p:nvSpPr>
          <p:cNvPr id="514" name="TextBox 22"/>
          <p:cNvSpPr txBox="1"/>
          <p:nvPr/>
        </p:nvSpPr>
        <p:spPr>
          <a:xfrm>
            <a:off x="9244583" y="2212848"/>
            <a:ext cx="2286001" cy="3905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FFFFFF"/>
                </a:solidFill>
                <a:latin typeface="Georgia"/>
                <a:ea typeface="Georgia"/>
                <a:cs typeface="Georgia"/>
                <a:sym typeface="Georgia"/>
              </a:defRPr>
            </a:lvl1pPr>
          </a:lstStyle>
          <a:p>
            <a:pPr/>
            <a:r>
              <a:t>Semantic memory, and it is mine</a:t>
            </a:r>
          </a:p>
        </p:txBody>
      </p:sp>
      <p:sp>
        <p:nvSpPr>
          <p:cNvPr id="515" name="TextBox 23"/>
          <p:cNvSpPr txBox="1"/>
          <p:nvPr/>
        </p:nvSpPr>
        <p:spPr>
          <a:xfrm>
            <a:off x="9244583" y="2880360"/>
            <a:ext cx="228600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C9D6EE"/>
                </a:solidFill>
              </a:defRPr>
            </a:lvl1pPr>
          </a:lstStyle>
          <a:p>
            <a:pPr/>
            <a:r>
              <a:t>My own second brain: articles, notes and research I want to keep and query later.</a:t>
            </a:r>
          </a:p>
        </p:txBody>
      </p:sp>
      <p:sp>
        <p:nvSpPr>
          <p:cNvPr id="516" name="TextBox 24"/>
          <p:cNvSpPr txBox="1"/>
          <p:nvPr/>
        </p:nvSpPr>
        <p:spPr>
          <a:xfrm>
            <a:off x="9244583" y="425195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It holds my knowledge. It does not instruct the model.</a:t>
            </a:r>
          </a:p>
        </p:txBody>
      </p:sp>
      <p:sp>
        <p:nvSpPr>
          <p:cNvPr id="517" name="Rectangle 25"/>
          <p:cNvSpPr/>
          <p:nvPr/>
        </p:nvSpPr>
        <p:spPr>
          <a:xfrm>
            <a:off x="548640" y="5120640"/>
            <a:ext cx="11091672"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518" name="TextBox 26"/>
          <p:cNvSpPr txBox="1"/>
          <p:nvPr/>
        </p:nvSpPr>
        <p:spPr>
          <a:xfrm>
            <a:off x="822960" y="5343959"/>
            <a:ext cx="1054303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C9A227"/>
                </a:solidFill>
              </a:defRPr>
            </a:pPr>
            <a:r>
              <a:t>The lesson for your own work:  </a:t>
            </a:r>
            <a:r>
              <a:rPr b="0">
                <a:solidFill>
                  <a:srgbClr val="FFFFFF"/>
                </a:solidFill>
              </a:rPr>
              <a:t>if you want an AI system to know something next week, decide today which of these four layers it belongs in, and write it there.</a:t>
            </a:r>
          </a:p>
        </p:txBody>
      </p:sp>
      <p:sp>
        <p:nvSpPr>
          <p:cNvPr id="519" name="TextBox 27"/>
          <p:cNvSpPr txBox="1"/>
          <p:nvPr/>
        </p:nvSpPr>
        <p:spPr>
          <a:xfrm>
            <a:off x="548640" y="5943600"/>
            <a:ext cx="1109167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5D6B7E"/>
                </a:solidFill>
              </a:defRPr>
            </a:lvl1pPr>
          </a:lstStyle>
          <a:p>
            <a:pPr/>
            <a:r>
              <a:t>Students often merge layers 2 and 3 and then wonder why the assistant ignores an instruction, or repeats a question it was told the answer to last week. Keep facts and rules in separate files.</a:t>
            </a:r>
          </a:p>
        </p:txBody>
      </p:sp>
      <p:sp>
        <p:nvSpPr>
          <p:cNvPr id="520" name="TextBox 28"/>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521" name="TextBox 29"/>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17</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92608"/>
          </a:xfrm>
          <a:prstGeom prst="rect">
            <a:avLst/>
          </a:prstGeom>
          <a:noFill/>
        </p:spPr>
        <p:txBody>
          <a:bodyPr wrap="square" lIns="0" rIns="0" tIns="0" bIns="0" anchor="t">
            <a:spAutoFit/>
          </a:bodyPr>
          <a:lstStyle/>
          <a:p>
            <a:pPr algn="l">
              <a:lnSpc>
                <a:spcPct val="105000"/>
              </a:lnSpc>
              <a:spcBef>
                <a:spcPts val="0"/>
              </a:spcBef>
            </a:pPr>
            <a:r>
              <a:rPr sz="1100" b="1">
                <a:solidFill>
                  <a:srgbClr val="C9A227"/>
                </a:solidFill>
                <a:latin typeface="Calibri"/>
              </a:rPr>
              <a:t>AGENTIC AI · A WORKED EXAMPLE</a:t>
            </a:r>
          </a:p>
        </p:txBody>
      </p:sp>
      <p:sp>
        <p:nvSpPr>
          <p:cNvPr id="4" name="TextBox 3"/>
          <p:cNvSpPr txBox="1"/>
          <p:nvPr/>
        </p:nvSpPr>
        <p:spPr>
          <a:xfrm>
            <a:off x="548640" y="621792"/>
            <a:ext cx="11091672" cy="685800"/>
          </a:xfrm>
          <a:prstGeom prst="rect">
            <a:avLst/>
          </a:prstGeom>
          <a:noFill/>
        </p:spPr>
        <p:txBody>
          <a:bodyPr wrap="square" lIns="0" rIns="0" tIns="0" bIns="0" anchor="t">
            <a:spAutoFit/>
          </a:bodyPr>
          <a:lstStyle/>
          <a:p>
            <a:pPr algn="l">
              <a:lnSpc>
                <a:spcPct val="105000"/>
              </a:lnSpc>
              <a:spcBef>
                <a:spcPts val="0"/>
              </a:spcBef>
            </a:pPr>
            <a:r>
              <a:rPr sz="2900" b="1">
                <a:solidFill>
                  <a:srgbClr val="0F2145"/>
                </a:solidFill>
                <a:latin typeface="Georgia"/>
              </a:rPr>
              <a:t>JARVIS: how orchestration actually works</a:t>
            </a:r>
          </a:p>
        </p:txBody>
      </p:sp>
      <p:sp>
        <p:nvSpPr>
          <p:cNvPr id="5" name="TextBox 4"/>
          <p:cNvSpPr txBox="1"/>
          <p:nvPr/>
        </p:nvSpPr>
        <p:spPr>
          <a:xfrm>
            <a:off x="548640" y="1371600"/>
            <a:ext cx="11091672" cy="274320"/>
          </a:xfrm>
          <a:prstGeom prst="rect">
            <a:avLst/>
          </a:prstGeom>
          <a:noFill/>
        </p:spPr>
        <p:txBody>
          <a:bodyPr wrap="square" lIns="0" rIns="0" tIns="0" bIns="0" anchor="t">
            <a:spAutoFit/>
          </a:bodyPr>
          <a:lstStyle/>
          <a:p>
            <a:pPr algn="l">
              <a:lnSpc>
                <a:spcPct val="105000"/>
              </a:lnSpc>
              <a:spcBef>
                <a:spcPts val="0"/>
              </a:spcBef>
            </a:pPr>
            <a:r>
              <a:rPr sz="1050" b="0">
                <a:solidFill>
                  <a:srgbClr val="5D6B7E"/>
                </a:solidFill>
                <a:latin typeface="Calibri"/>
              </a:rPr>
              <a:t>You say a company name. Eight components run in order, each one doing a single job, and a document comes back. Every box below is named, and the name matters when something goes wrong.</a:t>
            </a:r>
          </a:p>
        </p:txBody>
      </p:sp>
      <p:sp>
        <p:nvSpPr>
          <p:cNvPr id="6" name="Rectangle 5"/>
          <p:cNvSpPr/>
          <p:nvPr/>
        </p:nvSpPr>
        <p:spPr>
          <a:xfrm>
            <a:off x="548640" y="1755648"/>
            <a:ext cx="2670048"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55648"/>
            <a:ext cx="2670048" cy="45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83664"/>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0F2145"/>
                </a:solidFill>
                <a:latin typeface="Calibri"/>
              </a:rPr>
              <a:t>LISTENER</a:t>
            </a:r>
          </a:p>
          <a:p>
            <a:pPr algn="l">
              <a:lnSpc>
                <a:spcPct val="105000"/>
              </a:lnSpc>
              <a:spcBef>
                <a:spcPts val="200"/>
              </a:spcBef>
            </a:pPr>
            <a:r>
              <a:rPr sz="850" b="1">
                <a:solidFill>
                  <a:srgbClr val="3A5C9E"/>
                </a:solidFill>
                <a:latin typeface="Calibri"/>
              </a:rPr>
              <a:t>Whisper, on this machine</a:t>
            </a:r>
          </a:p>
          <a:p>
            <a:pPr algn="l">
              <a:lnSpc>
                <a:spcPct val="105000"/>
              </a:lnSpc>
              <a:spcBef>
                <a:spcPts val="300"/>
              </a:spcBef>
            </a:pPr>
            <a:r>
              <a:rPr sz="900" b="0">
                <a:solidFill>
                  <a:srgbClr val="5D6B7E"/>
                </a:solidFill>
                <a:latin typeface="Calibri"/>
              </a:rPr>
              <a:t>Turns speech into text locally. Nothing is sent to the cloud.</a:t>
            </a:r>
          </a:p>
        </p:txBody>
      </p:sp>
      <p:sp>
        <p:nvSpPr>
          <p:cNvPr id="9" name="TextBox 8"/>
          <p:cNvSpPr txBox="1"/>
          <p:nvPr/>
        </p:nvSpPr>
        <p:spPr>
          <a:xfrm>
            <a:off x="3236976" y="2212848"/>
            <a:ext cx="182880" cy="365760"/>
          </a:xfrm>
          <a:prstGeom prst="rect">
            <a:avLst/>
          </a:prstGeom>
          <a:noFill/>
        </p:spPr>
        <p:txBody>
          <a:bodyPr wrap="square" lIns="0" rIns="0" tIns="0" bIns="0" anchor="t">
            <a:spAutoFit/>
          </a:bodyPr>
          <a:lstStyle/>
          <a:p>
            <a:pPr algn="l">
              <a:lnSpc>
                <a:spcPct val="105000"/>
              </a:lnSpc>
              <a:spcBef>
                <a:spcPts val="0"/>
              </a:spcBef>
            </a:pPr>
            <a:r>
              <a:rPr sz="1700" b="1">
                <a:solidFill>
                  <a:srgbClr val="C9A227"/>
                </a:solidFill>
                <a:latin typeface="Georgia"/>
              </a:rPr>
              <a:t>›</a:t>
            </a:r>
          </a:p>
        </p:txBody>
      </p:sp>
      <p:sp>
        <p:nvSpPr>
          <p:cNvPr id="10" name="Rectangle 9"/>
          <p:cNvSpPr/>
          <p:nvPr/>
        </p:nvSpPr>
        <p:spPr>
          <a:xfrm>
            <a:off x="3374136" y="1755648"/>
            <a:ext cx="2670048"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74136" y="1755648"/>
            <a:ext cx="2670048" cy="45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7016" y="1883664"/>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0F2145"/>
                </a:solidFill>
                <a:latin typeface="Calibri"/>
              </a:rPr>
              <a:t>TICKER AGENT</a:t>
            </a:r>
          </a:p>
          <a:p>
            <a:pPr algn="l">
              <a:lnSpc>
                <a:spcPct val="105000"/>
              </a:lnSpc>
              <a:spcBef>
                <a:spcPts val="200"/>
              </a:spcBef>
            </a:pPr>
            <a:r>
              <a:rPr sz="850" b="1">
                <a:solidFill>
                  <a:srgbClr val="3A5C9E"/>
                </a:solidFill>
                <a:latin typeface="Calibri"/>
              </a:rPr>
              <a:t>Sonnet 5</a:t>
            </a:r>
          </a:p>
          <a:p>
            <a:pPr algn="l">
              <a:lnSpc>
                <a:spcPct val="105000"/>
              </a:lnSpc>
              <a:spcBef>
                <a:spcPts val="300"/>
              </a:spcBef>
            </a:pPr>
            <a:r>
              <a:rPr sz="900" b="0">
                <a:solidFill>
                  <a:srgbClr val="5D6B7E"/>
                </a:solidFill>
                <a:latin typeface="Calibri"/>
              </a:rPr>
              <a:t>Turns “Infosys” into INFY.NS. If a company was renamed or delisted, it searches and recovers it. This box decides for itself.</a:t>
            </a:r>
          </a:p>
        </p:txBody>
      </p:sp>
      <p:sp>
        <p:nvSpPr>
          <p:cNvPr id="13" name="TextBox 12"/>
          <p:cNvSpPr txBox="1"/>
          <p:nvPr/>
        </p:nvSpPr>
        <p:spPr>
          <a:xfrm>
            <a:off x="6062472" y="2212848"/>
            <a:ext cx="182880" cy="365760"/>
          </a:xfrm>
          <a:prstGeom prst="rect">
            <a:avLst/>
          </a:prstGeom>
          <a:noFill/>
        </p:spPr>
        <p:txBody>
          <a:bodyPr wrap="square" lIns="0" rIns="0" tIns="0" bIns="0" anchor="t">
            <a:spAutoFit/>
          </a:bodyPr>
          <a:lstStyle/>
          <a:p>
            <a:pPr algn="l">
              <a:lnSpc>
                <a:spcPct val="105000"/>
              </a:lnSpc>
              <a:spcBef>
                <a:spcPts val="0"/>
              </a:spcBef>
            </a:pPr>
            <a:r>
              <a:rPr sz="1700" b="1">
                <a:solidFill>
                  <a:srgbClr val="C9A227"/>
                </a:solidFill>
                <a:latin typeface="Georgia"/>
              </a:rPr>
              <a:t>›</a:t>
            </a:r>
          </a:p>
        </p:txBody>
      </p:sp>
      <p:sp>
        <p:nvSpPr>
          <p:cNvPr id="14" name="Rectangle 13"/>
          <p:cNvSpPr/>
          <p:nvPr/>
        </p:nvSpPr>
        <p:spPr>
          <a:xfrm>
            <a:off x="6199631" y="1755648"/>
            <a:ext cx="2670048"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1" y="1755648"/>
            <a:ext cx="2670048" cy="45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883664"/>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0F2145"/>
                </a:solidFill>
                <a:latin typeface="Calibri"/>
              </a:rPr>
              <a:t>DATA TOOL</a:t>
            </a:r>
          </a:p>
          <a:p>
            <a:pPr algn="l">
              <a:lnSpc>
                <a:spcPct val="105000"/>
              </a:lnSpc>
              <a:spcBef>
                <a:spcPts val="200"/>
              </a:spcBef>
            </a:pPr>
            <a:r>
              <a:rPr sz="850" b="1">
                <a:solidFill>
                  <a:srgbClr val="3A5C9E"/>
                </a:solidFill>
                <a:latin typeface="Calibri"/>
              </a:rPr>
              <a:t>yfinance</a:t>
            </a:r>
          </a:p>
          <a:p>
            <a:pPr algn="l">
              <a:lnSpc>
                <a:spcPct val="105000"/>
              </a:lnSpc>
              <a:spcBef>
                <a:spcPts val="300"/>
              </a:spcBef>
            </a:pPr>
            <a:r>
              <a:rPr sz="900" b="0">
                <a:solidFill>
                  <a:srgbClr val="5D6B7E"/>
                </a:solidFill>
                <a:latin typeface="Calibri"/>
              </a:rPr>
              <a:t>Pulls price, financial statements and ratios for the NSE listing.</a:t>
            </a:r>
          </a:p>
        </p:txBody>
      </p:sp>
      <p:sp>
        <p:nvSpPr>
          <p:cNvPr id="17" name="TextBox 16"/>
          <p:cNvSpPr txBox="1"/>
          <p:nvPr/>
        </p:nvSpPr>
        <p:spPr>
          <a:xfrm>
            <a:off x="8887967" y="2212848"/>
            <a:ext cx="182880" cy="365760"/>
          </a:xfrm>
          <a:prstGeom prst="rect">
            <a:avLst/>
          </a:prstGeom>
          <a:noFill/>
        </p:spPr>
        <p:txBody>
          <a:bodyPr wrap="square" lIns="0" rIns="0" tIns="0" bIns="0" anchor="t">
            <a:spAutoFit/>
          </a:bodyPr>
          <a:lstStyle/>
          <a:p>
            <a:pPr algn="l">
              <a:lnSpc>
                <a:spcPct val="105000"/>
              </a:lnSpc>
              <a:spcBef>
                <a:spcPts val="0"/>
              </a:spcBef>
            </a:pPr>
            <a:r>
              <a:rPr sz="1700" b="1">
                <a:solidFill>
                  <a:srgbClr val="C9A227"/>
                </a:solidFill>
                <a:latin typeface="Georgia"/>
              </a:rPr>
              <a:t>›</a:t>
            </a:r>
          </a:p>
        </p:txBody>
      </p:sp>
      <p:sp>
        <p:nvSpPr>
          <p:cNvPr id="18" name="Rectangle 17"/>
          <p:cNvSpPr/>
          <p:nvPr/>
        </p:nvSpPr>
        <p:spPr>
          <a:xfrm>
            <a:off x="9025128" y="1755648"/>
            <a:ext cx="2670048" cy="132588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25128" y="1755648"/>
            <a:ext cx="267004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7" y="1883664"/>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C9A227"/>
                </a:solidFill>
                <a:latin typeface="Calibri"/>
              </a:rPr>
              <a:t>VALUATION ENGINE</a:t>
            </a:r>
          </a:p>
          <a:p>
            <a:pPr algn="l">
              <a:lnSpc>
                <a:spcPct val="105000"/>
              </a:lnSpc>
              <a:spcBef>
                <a:spcPts val="200"/>
              </a:spcBef>
            </a:pPr>
            <a:r>
              <a:rPr sz="850" b="1">
                <a:solidFill>
                  <a:srgbClr val="C9D6EE"/>
                </a:solidFill>
                <a:latin typeface="Calibri"/>
              </a:rPr>
              <a:t>Python, no model</a:t>
            </a:r>
          </a:p>
          <a:p>
            <a:pPr algn="l">
              <a:lnSpc>
                <a:spcPct val="105000"/>
              </a:lnSpc>
              <a:spcBef>
                <a:spcPts val="300"/>
              </a:spcBef>
            </a:pPr>
            <a:r>
              <a:rPr sz="900" b="0">
                <a:solidFill>
                  <a:srgbClr val="C9D6EE"/>
                </a:solidFill>
                <a:latin typeface="Calibri"/>
              </a:rPr>
              <a:t>DCF fair value and factor scores, computed in code. Arithmetic is not a language task.</a:t>
            </a:r>
          </a:p>
        </p:txBody>
      </p:sp>
      <p:sp>
        <p:nvSpPr>
          <p:cNvPr id="21" name="Rectangle 20"/>
          <p:cNvSpPr/>
          <p:nvPr/>
        </p:nvSpPr>
        <p:spPr>
          <a:xfrm>
            <a:off x="548640" y="3236976"/>
            <a:ext cx="2670048"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236976"/>
            <a:ext cx="2670048" cy="45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364992"/>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0F2145"/>
                </a:solidFill>
                <a:latin typeface="Calibri"/>
              </a:rPr>
              <a:t>ANALYST AGENT</a:t>
            </a:r>
          </a:p>
          <a:p>
            <a:pPr algn="l">
              <a:lnSpc>
                <a:spcPct val="105000"/>
              </a:lnSpc>
              <a:spcBef>
                <a:spcPts val="200"/>
              </a:spcBef>
            </a:pPr>
            <a:r>
              <a:rPr sz="850" b="1">
                <a:solidFill>
                  <a:srgbClr val="3A5C9E"/>
                </a:solidFill>
                <a:latin typeface="Calibri"/>
              </a:rPr>
              <a:t>Opus 4.8</a:t>
            </a:r>
          </a:p>
          <a:p>
            <a:pPr algn="l">
              <a:lnSpc>
                <a:spcPct val="105000"/>
              </a:lnSpc>
              <a:spcBef>
                <a:spcPts val="300"/>
              </a:spcBef>
            </a:pPr>
            <a:r>
              <a:rPr sz="900" b="0">
                <a:solidFill>
                  <a:srgbClr val="5D6B7E"/>
                </a:solidFill>
                <a:latin typeface="Calibri"/>
              </a:rPr>
              <a:t>Writes the thesis, moat, bull and bear case, catalysts, risks and the recommendation, using only the numbers above.</a:t>
            </a:r>
          </a:p>
        </p:txBody>
      </p:sp>
      <p:sp>
        <p:nvSpPr>
          <p:cNvPr id="24" name="TextBox 23"/>
          <p:cNvSpPr txBox="1"/>
          <p:nvPr/>
        </p:nvSpPr>
        <p:spPr>
          <a:xfrm>
            <a:off x="3236976" y="3694176"/>
            <a:ext cx="182880" cy="365760"/>
          </a:xfrm>
          <a:prstGeom prst="rect">
            <a:avLst/>
          </a:prstGeom>
          <a:noFill/>
        </p:spPr>
        <p:txBody>
          <a:bodyPr wrap="square" lIns="0" rIns="0" tIns="0" bIns="0" anchor="t">
            <a:spAutoFit/>
          </a:bodyPr>
          <a:lstStyle/>
          <a:p>
            <a:pPr algn="l">
              <a:lnSpc>
                <a:spcPct val="105000"/>
              </a:lnSpc>
              <a:spcBef>
                <a:spcPts val="0"/>
              </a:spcBef>
            </a:pPr>
            <a:r>
              <a:rPr sz="1700" b="1">
                <a:solidFill>
                  <a:srgbClr val="C9A227"/>
                </a:solidFill>
                <a:latin typeface="Georgia"/>
              </a:rPr>
              <a:t>›</a:t>
            </a:r>
          </a:p>
        </p:txBody>
      </p:sp>
      <p:sp>
        <p:nvSpPr>
          <p:cNvPr id="25" name="Rectangle 24"/>
          <p:cNvSpPr/>
          <p:nvPr/>
        </p:nvSpPr>
        <p:spPr>
          <a:xfrm>
            <a:off x="3374136" y="3236976"/>
            <a:ext cx="2670048" cy="132588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74136" y="3236976"/>
            <a:ext cx="267004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57016" y="3364992"/>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C9A227"/>
                </a:solidFill>
                <a:latin typeface="Calibri"/>
              </a:rPr>
              <a:t>VALIDATOR</a:t>
            </a:r>
          </a:p>
          <a:p>
            <a:pPr algn="l">
              <a:lnSpc>
                <a:spcPct val="105000"/>
              </a:lnSpc>
              <a:spcBef>
                <a:spcPts val="200"/>
              </a:spcBef>
            </a:pPr>
            <a:r>
              <a:rPr sz="850" b="1">
                <a:solidFill>
                  <a:srgbClr val="C9D6EE"/>
                </a:solidFill>
                <a:latin typeface="Calibri"/>
              </a:rPr>
              <a:t>Python, no model</a:t>
            </a:r>
          </a:p>
          <a:p>
            <a:pPr algn="l">
              <a:lnSpc>
                <a:spcPct val="105000"/>
              </a:lnSpc>
              <a:spcBef>
                <a:spcPts val="300"/>
              </a:spcBef>
            </a:pPr>
            <a:r>
              <a:rPr sz="900" b="0">
                <a:solidFill>
                  <a:srgbClr val="C9D6EE"/>
                </a:solidFill>
                <a:latin typeface="Calibri"/>
              </a:rPr>
              <a:t>Recomputes the DCF independently, cross-checks the price, gates on data recency. Failures are reported, not hidden.</a:t>
            </a:r>
          </a:p>
        </p:txBody>
      </p:sp>
      <p:sp>
        <p:nvSpPr>
          <p:cNvPr id="28" name="TextBox 27"/>
          <p:cNvSpPr txBox="1"/>
          <p:nvPr/>
        </p:nvSpPr>
        <p:spPr>
          <a:xfrm>
            <a:off x="6062472" y="3694176"/>
            <a:ext cx="182880" cy="365760"/>
          </a:xfrm>
          <a:prstGeom prst="rect">
            <a:avLst/>
          </a:prstGeom>
          <a:noFill/>
        </p:spPr>
        <p:txBody>
          <a:bodyPr wrap="square" lIns="0" rIns="0" tIns="0" bIns="0" anchor="t">
            <a:spAutoFit/>
          </a:bodyPr>
          <a:lstStyle/>
          <a:p>
            <a:pPr algn="l">
              <a:lnSpc>
                <a:spcPct val="105000"/>
              </a:lnSpc>
              <a:spcBef>
                <a:spcPts val="0"/>
              </a:spcBef>
            </a:pPr>
            <a:r>
              <a:rPr sz="1700" b="1">
                <a:solidFill>
                  <a:srgbClr val="C9A227"/>
                </a:solidFill>
                <a:latin typeface="Georgia"/>
              </a:rPr>
              <a:t>›</a:t>
            </a:r>
          </a:p>
        </p:txBody>
      </p:sp>
      <p:sp>
        <p:nvSpPr>
          <p:cNvPr id="29" name="Rectangle 28"/>
          <p:cNvSpPr/>
          <p:nvPr/>
        </p:nvSpPr>
        <p:spPr>
          <a:xfrm>
            <a:off x="6199631" y="3236976"/>
            <a:ext cx="2670048"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9631" y="3236976"/>
            <a:ext cx="2670048" cy="45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82512" y="3364992"/>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0F2145"/>
                </a:solidFill>
                <a:latin typeface="Calibri"/>
              </a:rPr>
              <a:t>PUBLISHER</a:t>
            </a:r>
          </a:p>
          <a:p>
            <a:pPr algn="l">
              <a:lnSpc>
                <a:spcPct val="105000"/>
              </a:lnSpc>
              <a:spcBef>
                <a:spcPts val="200"/>
              </a:spcBef>
            </a:pPr>
            <a:r>
              <a:rPr sz="850" b="1">
                <a:solidFill>
                  <a:srgbClr val="3A5C9E"/>
                </a:solidFill>
                <a:latin typeface="Calibri"/>
              </a:rPr>
              <a:t>openpyxl · reportlab</a:t>
            </a:r>
          </a:p>
          <a:p>
            <a:pPr algn="l">
              <a:lnSpc>
                <a:spcPct val="105000"/>
              </a:lnSpc>
              <a:spcBef>
                <a:spcPts val="300"/>
              </a:spcBef>
            </a:pPr>
            <a:r>
              <a:rPr sz="900" b="0">
                <a:solidFill>
                  <a:srgbClr val="5D6B7E"/>
                </a:solidFill>
                <a:latin typeface="Calibri"/>
              </a:rPr>
              <a:t>Builds the formula-linked Excel model and the institutional PDF.</a:t>
            </a:r>
          </a:p>
        </p:txBody>
      </p:sp>
      <p:sp>
        <p:nvSpPr>
          <p:cNvPr id="32" name="TextBox 31"/>
          <p:cNvSpPr txBox="1"/>
          <p:nvPr/>
        </p:nvSpPr>
        <p:spPr>
          <a:xfrm>
            <a:off x="8887967" y="3694176"/>
            <a:ext cx="182880" cy="365760"/>
          </a:xfrm>
          <a:prstGeom prst="rect">
            <a:avLst/>
          </a:prstGeom>
          <a:noFill/>
        </p:spPr>
        <p:txBody>
          <a:bodyPr wrap="square" lIns="0" rIns="0" tIns="0" bIns="0" anchor="t">
            <a:spAutoFit/>
          </a:bodyPr>
          <a:lstStyle/>
          <a:p>
            <a:pPr algn="l">
              <a:lnSpc>
                <a:spcPct val="105000"/>
              </a:lnSpc>
              <a:spcBef>
                <a:spcPts val="0"/>
              </a:spcBef>
            </a:pPr>
            <a:r>
              <a:rPr sz="1700" b="1">
                <a:solidFill>
                  <a:srgbClr val="C9A227"/>
                </a:solidFill>
                <a:latin typeface="Georgia"/>
              </a:rPr>
              <a:t>›</a:t>
            </a:r>
          </a:p>
        </p:txBody>
      </p:sp>
      <p:sp>
        <p:nvSpPr>
          <p:cNvPr id="33" name="Rectangle 32"/>
          <p:cNvSpPr/>
          <p:nvPr/>
        </p:nvSpPr>
        <p:spPr>
          <a:xfrm>
            <a:off x="9025128" y="3236976"/>
            <a:ext cx="2670048"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25128" y="3236976"/>
            <a:ext cx="2670048" cy="45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08007" y="3364992"/>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0F2145"/>
                </a:solidFill>
                <a:latin typeface="Calibri"/>
              </a:rPr>
              <a:t>THE ANALYST</a:t>
            </a:r>
          </a:p>
          <a:p>
            <a:pPr algn="l">
              <a:lnSpc>
                <a:spcPct val="105000"/>
              </a:lnSpc>
              <a:spcBef>
                <a:spcPts val="200"/>
              </a:spcBef>
            </a:pPr>
            <a:r>
              <a:rPr sz="850" b="1">
                <a:solidFill>
                  <a:srgbClr val="3A5C9E"/>
                </a:solidFill>
                <a:latin typeface="Calibri"/>
              </a:rPr>
              <a:t>a human</a:t>
            </a:r>
          </a:p>
          <a:p>
            <a:pPr algn="l">
              <a:lnSpc>
                <a:spcPct val="105000"/>
              </a:lnSpc>
              <a:spcBef>
                <a:spcPts val="300"/>
              </a:spcBef>
            </a:pPr>
            <a:r>
              <a:rPr sz="900" b="0">
                <a:solidFill>
                  <a:srgbClr val="5D6B7E"/>
                </a:solidFill>
                <a:latin typeface="Calibri"/>
              </a:rPr>
              <a:t>Reads it, decides, signs. The system never trades and never mails a client.</a:t>
            </a:r>
          </a:p>
        </p:txBody>
      </p:sp>
      <p:sp>
        <p:nvSpPr>
          <p:cNvPr id="36" name="Rectangle 35"/>
          <p:cNvSpPr/>
          <p:nvPr/>
        </p:nvSpPr>
        <p:spPr>
          <a:xfrm>
            <a:off x="548640" y="4800600"/>
            <a:ext cx="5577840" cy="123444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4937760"/>
            <a:ext cx="5120640" cy="1051560"/>
          </a:xfrm>
          <a:prstGeom prst="rect">
            <a:avLst/>
          </a:prstGeom>
          <a:noFill/>
        </p:spPr>
        <p:txBody>
          <a:bodyPr wrap="square" lIns="0" rIns="0" tIns="0" bIns="0" anchor="t">
            <a:spAutoFit/>
          </a:bodyPr>
          <a:lstStyle/>
          <a:p>
            <a:pPr algn="l">
              <a:lnSpc>
                <a:spcPct val="105000"/>
              </a:lnSpc>
              <a:spcBef>
                <a:spcPts val="0"/>
              </a:spcBef>
            </a:pPr>
            <a:r>
              <a:rPr sz="1150" b="1">
                <a:solidFill>
                  <a:srgbClr val="0F2145"/>
                </a:solidFill>
                <a:latin typeface="Calibri"/>
              </a:rPr>
              <a:t>What orchestration means</a:t>
            </a:r>
          </a:p>
          <a:p>
            <a:pPr algn="l">
              <a:lnSpc>
                <a:spcPct val="105000"/>
              </a:lnSpc>
              <a:spcBef>
                <a:spcPts val="400"/>
              </a:spcBef>
            </a:pPr>
            <a:r>
              <a:rPr sz="1000" b="0">
                <a:solidFill>
                  <a:srgbClr val="1B2A41"/>
                </a:solidFill>
                <a:latin typeface="Calibri"/>
              </a:rPr>
              <a:t>One controller decides which component runs when, hands each one only what it needs, and stops the chain if a check fails. No agent talks to another directly; they all report back. That is why Opus can be swapped for Sonnet without touching anything else, and why you can point at the exact box that produced a wrong number.</a:t>
            </a:r>
          </a:p>
        </p:txBody>
      </p:sp>
      <p:sp>
        <p:nvSpPr>
          <p:cNvPr id="38" name="Rectangle 37"/>
          <p:cNvSpPr/>
          <p:nvPr/>
        </p:nvSpPr>
        <p:spPr>
          <a:xfrm>
            <a:off x="6492240" y="4800600"/>
            <a:ext cx="5148072" cy="123444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48272" y="4937760"/>
            <a:ext cx="4663440" cy="1051560"/>
          </a:xfrm>
          <a:prstGeom prst="rect">
            <a:avLst/>
          </a:prstGeom>
          <a:noFill/>
        </p:spPr>
        <p:txBody>
          <a:bodyPr wrap="square" lIns="0" rIns="0" tIns="0" bIns="0" anchor="t">
            <a:spAutoFit/>
          </a:bodyPr>
          <a:lstStyle/>
          <a:p>
            <a:pPr algn="l">
              <a:lnSpc>
                <a:spcPct val="105000"/>
              </a:lnSpc>
              <a:spcBef>
                <a:spcPts val="0"/>
              </a:spcBef>
            </a:pPr>
            <a:r>
              <a:rPr sz="1150" b="1">
                <a:solidFill>
                  <a:srgbClr val="C9A227"/>
                </a:solidFill>
                <a:latin typeface="Calibri"/>
              </a:rPr>
              <a:t>Yes, it was built with agentic AI</a:t>
            </a:r>
          </a:p>
          <a:p>
            <a:pPr algn="l">
              <a:lnSpc>
                <a:spcPct val="105000"/>
              </a:lnSpc>
              <a:spcBef>
                <a:spcPts val="400"/>
              </a:spcBef>
            </a:pPr>
            <a:r>
              <a:rPr sz="1000" b="0">
                <a:solidFill>
                  <a:srgbClr val="C9D6EE"/>
                </a:solidFill>
                <a:latin typeface="Calibri"/>
              </a:rPr>
              <a:t>I described this system in English and Claude Code wrote and ran it. What it produced is an orchestrated pipeline with agentic parts: the ticker agent chooses and recovers, the models are routed by task. The order is fixed by design and the maths sits in Python. In finance you keep the loop narrow on purpose.</a:t>
            </a:r>
          </a:p>
        </p:txBody>
      </p:sp>
      <p:sp>
        <p:nvSpPr>
          <p:cNvPr id="40" name="TextBox 39"/>
          <p:cNvSpPr txBox="1"/>
          <p:nvPr/>
        </p:nvSpPr>
        <p:spPr>
          <a:xfrm>
            <a:off x="548640" y="6126480"/>
            <a:ext cx="11091672" cy="274320"/>
          </a:xfrm>
          <a:prstGeom prst="rect">
            <a:avLst/>
          </a:prstGeom>
          <a:noFill/>
        </p:spPr>
        <p:txBody>
          <a:bodyPr wrap="square" lIns="0" rIns="0" tIns="0" bIns="0" anchor="t">
            <a:spAutoFit/>
          </a:bodyPr>
          <a:lstStyle/>
          <a:p>
            <a:pPr algn="l">
              <a:lnSpc>
                <a:spcPct val="105000"/>
              </a:lnSpc>
              <a:spcBef>
                <a:spcPts val="0"/>
              </a:spcBef>
            </a:pPr>
            <a:r>
              <a:rPr sz="1000" b="0">
                <a:solidFill>
                  <a:srgbClr val="5D6B7E"/>
                </a:solidFill>
                <a:latin typeface="Calibri"/>
              </a:rPr>
              <a:t>An agent that can improvise its own valuation method is not an asset. Decide where the machine may choose, and where it may not.</a:t>
            </a:r>
          </a:p>
        </p:txBody>
      </p:sp>
      <p:sp>
        <p:nvSpPr>
          <p:cNvPr id="41" name="TextBox 40"/>
          <p:cNvSpPr txBox="1"/>
          <p:nvPr/>
        </p:nvSpPr>
        <p:spPr>
          <a:xfrm>
            <a:off x="548640" y="6473952"/>
            <a:ext cx="7315200" cy="274320"/>
          </a:xfrm>
          <a:prstGeom prst="rect">
            <a:avLst/>
          </a:prstGeom>
          <a:noFill/>
        </p:spPr>
        <p:txBody>
          <a:bodyPr wrap="square" lIns="0" rIns="0" tIns="0" bIns="0" anchor="t">
            <a:spAutoFit/>
          </a:bodyPr>
          <a:lstStyle/>
          <a:p>
            <a:pPr algn="l">
              <a:lnSpc>
                <a:spcPct val="105000"/>
              </a:lnSpc>
              <a:spcBef>
                <a:spcPts val="0"/>
              </a:spcBef>
            </a:pPr>
            <a:r>
              <a:rPr sz="850" b="0">
                <a:solidFill>
                  <a:srgbClr val="5D6B7E"/>
                </a:solidFill>
                <a:latin typeface="Calibri"/>
              </a:rPr>
              <a:t>ISBMS · PGDM 2025–27 · AGENTIC AI &amp; ADVANCED ANALYTICS IN FINANCE</a:t>
            </a:r>
          </a:p>
        </p:txBody>
      </p:sp>
      <p:sp>
        <p:nvSpPr>
          <p:cNvPr id="42" name="TextBox 41"/>
          <p:cNvSpPr txBox="1"/>
          <p:nvPr/>
        </p:nvSpPr>
        <p:spPr>
          <a:xfrm>
            <a:off x="9262872" y="6473952"/>
            <a:ext cx="2377440" cy="274320"/>
          </a:xfrm>
          <a:prstGeom prst="rect">
            <a:avLst/>
          </a:prstGeom>
          <a:noFill/>
        </p:spPr>
        <p:txBody>
          <a:bodyPr wrap="square" lIns="0" rIns="0" tIns="0" bIns="0" anchor="t">
            <a:spAutoFit/>
          </a:bodyPr>
          <a:lstStyle/>
          <a:p>
            <a:pPr algn="r">
              <a:lnSpc>
                <a:spcPct val="105000"/>
              </a:lnSpc>
              <a:spcBef>
                <a:spcPts val="0"/>
              </a:spcBef>
            </a:pPr>
            <a:r>
              <a:rPr sz="850" b="0">
                <a:solidFill>
                  <a:srgbClr val="5D6B7E"/>
                </a:solidFill>
                <a:latin typeface="Calibri"/>
              </a:rPr>
              <a:t>MODULE 1  ·  17</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561"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562"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CASE STUDY</a:t>
            </a:r>
          </a:p>
        </p:txBody>
      </p:sp>
      <p:sp>
        <p:nvSpPr>
          <p:cNvPr id="563"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Morgan Stanley: a GPT-4 assistant on the advisor's desk</a:t>
            </a:r>
          </a:p>
        </p:txBody>
      </p:sp>
      <p:sp>
        <p:nvSpPr>
          <p:cNvPr id="564" name="Rectangle 4"/>
          <p:cNvSpPr/>
          <p:nvPr/>
        </p:nvSpPr>
        <p:spPr>
          <a:xfrm>
            <a:off x="548640" y="1572767"/>
            <a:ext cx="6766560" cy="132588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565" name="Rectangle 5"/>
          <p:cNvSpPr/>
          <p:nvPr/>
        </p:nvSpPr>
        <p:spPr>
          <a:xfrm>
            <a:off x="548640" y="1572767"/>
            <a:ext cx="64009" cy="132588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566" name="TextBox 6"/>
          <p:cNvSpPr txBox="1"/>
          <p:nvPr/>
        </p:nvSpPr>
        <p:spPr>
          <a:xfrm>
            <a:off x="822959" y="1719072"/>
            <a:ext cx="6309362" cy="5415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3A5C9E"/>
                </a:solidFill>
              </a:defRPr>
            </a:pPr>
            <a:r>
              <a:t>THE PROBLEM</a:t>
            </a:r>
          </a:p>
          <a:p>
            <a:pPr>
              <a:lnSpc>
                <a:spcPct val="104999"/>
              </a:lnSpc>
              <a:spcBef>
                <a:spcPts val="500"/>
              </a:spcBef>
              <a:defRPr sz="1100">
                <a:solidFill>
                  <a:srgbClr val="1B2A41"/>
                </a:solidFill>
              </a:defRPr>
            </a:pPr>
            <a:r>
              <a:t>Morgan Stanley Wealth Management holds a research library of hundreds of thousands of documents. An advisor could not find the right page during a client call. The research existed and went unread.</a:t>
            </a:r>
          </a:p>
        </p:txBody>
      </p:sp>
      <p:sp>
        <p:nvSpPr>
          <p:cNvPr id="567" name="Rectangle 7"/>
          <p:cNvSpPr/>
          <p:nvPr/>
        </p:nvSpPr>
        <p:spPr>
          <a:xfrm>
            <a:off x="548640" y="3008376"/>
            <a:ext cx="6766560" cy="132588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568" name="Rectangle 8"/>
          <p:cNvSpPr/>
          <p:nvPr/>
        </p:nvSpPr>
        <p:spPr>
          <a:xfrm>
            <a:off x="548640" y="3008376"/>
            <a:ext cx="64009" cy="132588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569" name="TextBox 9"/>
          <p:cNvSpPr txBox="1"/>
          <p:nvPr/>
        </p:nvSpPr>
        <p:spPr>
          <a:xfrm>
            <a:off x="822959" y="3154679"/>
            <a:ext cx="6309362" cy="7133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3A5C9E"/>
                </a:solidFill>
              </a:defRPr>
            </a:pPr>
            <a:r>
              <a:t>WHAT THEY BUILT</a:t>
            </a:r>
          </a:p>
          <a:p>
            <a:pPr>
              <a:lnSpc>
                <a:spcPct val="104999"/>
              </a:lnSpc>
              <a:spcBef>
                <a:spcPts val="500"/>
              </a:spcBef>
              <a:defRPr sz="1100">
                <a:solidFill>
                  <a:srgbClr val="1B2A41"/>
                </a:solidFill>
              </a:defRPr>
            </a:pPr>
            <a:r>
              <a:t>“AI @ Morgan Stanley Assistant”, launched September 2023 on OpenAI's GPT-4. It answers advisor questions from the firm's own research library and cites the source. Retrieval first, generation second. A second tool, Debrief, drafts the notes and the follow-up email after a client meeting.</a:t>
            </a:r>
          </a:p>
        </p:txBody>
      </p:sp>
      <p:sp>
        <p:nvSpPr>
          <p:cNvPr id="570" name="Rectangle 10"/>
          <p:cNvSpPr/>
          <p:nvPr/>
        </p:nvSpPr>
        <p:spPr>
          <a:xfrm>
            <a:off x="548640" y="4443984"/>
            <a:ext cx="6766560" cy="132588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571" name="Rectangle 11"/>
          <p:cNvSpPr/>
          <p:nvPr/>
        </p:nvSpPr>
        <p:spPr>
          <a:xfrm>
            <a:off x="548640" y="4443984"/>
            <a:ext cx="64009" cy="132588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572" name="TextBox 12"/>
          <p:cNvSpPr txBox="1"/>
          <p:nvPr/>
        </p:nvSpPr>
        <p:spPr>
          <a:xfrm>
            <a:off x="822959" y="4590288"/>
            <a:ext cx="6309362" cy="5415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3A5C9E"/>
                </a:solidFill>
              </a:defRPr>
            </a:pPr>
            <a:r>
              <a:t>WHAT WAS REPORTED</a:t>
            </a:r>
          </a:p>
          <a:p>
            <a:pPr>
              <a:lnSpc>
                <a:spcPct val="104999"/>
              </a:lnSpc>
              <a:spcBef>
                <a:spcPts val="500"/>
              </a:spcBef>
              <a:defRPr sz="1100">
                <a:solidFill>
                  <a:srgbClr val="1B2A41"/>
                </a:solidFill>
              </a:defRPr>
            </a:pPr>
            <a:r>
              <a:t>Adoption by over 98% of advisor teams. Advisor access to documents reported to have risen from roughly 20% to 80%. Leadership has publicly estimated savings of 10–15 hours a week per advisor.</a:t>
            </a:r>
          </a:p>
        </p:txBody>
      </p:sp>
      <p:sp>
        <p:nvSpPr>
          <p:cNvPr id="573" name="Rectangle 13"/>
          <p:cNvSpPr/>
          <p:nvPr/>
        </p:nvSpPr>
        <p:spPr>
          <a:xfrm>
            <a:off x="7680959" y="1572767"/>
            <a:ext cx="3959353" cy="3922778"/>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574" name="TextBox 14"/>
          <p:cNvSpPr txBox="1"/>
          <p:nvPr/>
        </p:nvSpPr>
        <p:spPr>
          <a:xfrm>
            <a:off x="7955278" y="1755648"/>
            <a:ext cx="34747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400">
                <a:solidFill>
                  <a:srgbClr val="C9A227"/>
                </a:solidFill>
                <a:latin typeface="Georgia"/>
                <a:ea typeface="Georgia"/>
                <a:cs typeface="Georgia"/>
                <a:sym typeface="Georgia"/>
              </a:defRPr>
            </a:lvl1pPr>
          </a:lstStyle>
          <a:p>
            <a:pPr/>
            <a:r>
              <a:t>What to take from it</a:t>
            </a:r>
          </a:p>
        </p:txBody>
      </p:sp>
      <p:sp>
        <p:nvSpPr>
          <p:cNvPr id="575" name="TextBox 15"/>
          <p:cNvSpPr txBox="1"/>
          <p:nvPr/>
        </p:nvSpPr>
        <p:spPr>
          <a:xfrm>
            <a:off x="7955278" y="2286000"/>
            <a:ext cx="347472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C9A227"/>
                </a:solidFill>
              </a:defRPr>
            </a:pPr>
            <a:r>
              <a:t>▪  </a:t>
            </a:r>
            <a:r>
              <a:rPr b="0">
                <a:solidFill>
                  <a:srgbClr val="C9D6EE"/>
                </a:solidFill>
              </a:rPr>
              <a:t>The model answers from the firm's own documents. That is the design.</a:t>
            </a:r>
          </a:p>
        </p:txBody>
      </p:sp>
      <p:sp>
        <p:nvSpPr>
          <p:cNvPr id="576" name="TextBox 16"/>
          <p:cNvSpPr txBox="1"/>
          <p:nvPr/>
        </p:nvSpPr>
        <p:spPr>
          <a:xfrm>
            <a:off x="7955278" y="3072383"/>
            <a:ext cx="347472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C9A227"/>
                </a:solidFill>
              </a:defRPr>
            </a:pPr>
            <a:r>
              <a:t>▪  </a:t>
            </a:r>
            <a:r>
              <a:rPr b="0">
                <a:solidFill>
                  <a:srgbClr val="C9D6EE"/>
                </a:solidFill>
              </a:rPr>
              <a:t>They aimed it at the most repeated task on the desk, which is finding documents. They did not aim it at giving advice.</a:t>
            </a:r>
          </a:p>
        </p:txBody>
      </p:sp>
      <p:sp>
        <p:nvSpPr>
          <p:cNvPr id="577" name="TextBox 17"/>
          <p:cNvSpPr txBox="1"/>
          <p:nvPr/>
        </p:nvSpPr>
        <p:spPr>
          <a:xfrm>
            <a:off x="7955278" y="3858767"/>
            <a:ext cx="347472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C9A227"/>
                </a:solidFill>
              </a:defRPr>
            </a:pPr>
            <a:r>
              <a:t>▪  </a:t>
            </a:r>
            <a:r>
              <a:rPr b="0">
                <a:solidFill>
                  <a:srgbClr val="C9D6EE"/>
                </a:solidFill>
              </a:rPr>
              <a:t>A human still faces the client. The assistant drafts and the advisor signs.</a:t>
            </a:r>
          </a:p>
        </p:txBody>
      </p:sp>
      <p:sp>
        <p:nvSpPr>
          <p:cNvPr id="578" name="TextBox 18"/>
          <p:cNvSpPr txBox="1"/>
          <p:nvPr/>
        </p:nvSpPr>
        <p:spPr>
          <a:xfrm>
            <a:off x="7955278" y="4645152"/>
            <a:ext cx="347472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C9A227"/>
                </a:solidFill>
              </a:defRPr>
            </a:pPr>
            <a:r>
              <a:t>▪  </a:t>
            </a:r>
            <a:r>
              <a:rPr b="0">
                <a:solidFill>
                  <a:srgbClr val="C9D6EE"/>
                </a:solidFill>
              </a:rPr>
              <a:t>Adoption came after evaluation. They tested the answers against expert-written ones before rollout.</a:t>
            </a:r>
          </a:p>
        </p:txBody>
      </p:sp>
      <p:sp>
        <p:nvSpPr>
          <p:cNvPr id="579" name="TextBox 19"/>
          <p:cNvSpPr txBox="1"/>
          <p:nvPr/>
        </p:nvSpPr>
        <p:spPr>
          <a:xfrm>
            <a:off x="548640" y="5943600"/>
            <a:ext cx="1109167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Discuss:  </a:t>
            </a:r>
            <a:r>
              <a:rPr b="0">
                <a:solidFill>
                  <a:srgbClr val="5D6B7E"/>
                </a:solidFill>
              </a:rPr>
              <a:t>which workflow at an Indian bank or GCC would you aim this at first, and what would you have to prove before compliance switched it on?    </a:t>
            </a:r>
            <a:r>
              <a:rPr b="0" sz="900">
                <a:solidFill>
                  <a:srgbClr val="8FA1C4"/>
                </a:solidFill>
              </a:rPr>
              <a:t>Figures as reported by Morgan Stanley and OpenAI.</a:t>
            </a:r>
          </a:p>
        </p:txBody>
      </p:sp>
      <p:sp>
        <p:nvSpPr>
          <p:cNvPr id="580" name="TextBox 20"/>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581" name="TextBox 21"/>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19</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583"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584"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2 · DATA</a:t>
            </a:r>
          </a:p>
        </p:txBody>
      </p:sp>
      <p:sp>
        <p:nvSpPr>
          <p:cNvPr id="585" name="TextBox 3"/>
          <p:cNvSpPr txBox="1"/>
          <p:nvPr/>
        </p:nvSpPr>
        <p:spPr>
          <a:xfrm>
            <a:off x="548640" y="621791"/>
            <a:ext cx="11091672" cy="8591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Where the numbers come from: sources an Indian desk uses</a:t>
            </a:r>
          </a:p>
        </p:txBody>
      </p:sp>
      <p:sp>
        <p:nvSpPr>
          <p:cNvPr id="586" name="Rectangle 4"/>
          <p:cNvSpPr/>
          <p:nvPr/>
        </p:nvSpPr>
        <p:spPr>
          <a:xfrm>
            <a:off x="548639" y="1572767"/>
            <a:ext cx="2670050" cy="3063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587" name="Rectangle 5"/>
          <p:cNvSpPr/>
          <p:nvPr/>
        </p:nvSpPr>
        <p:spPr>
          <a:xfrm>
            <a:off x="548639" y="1572767"/>
            <a:ext cx="2670050"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588" name="TextBox 6"/>
          <p:cNvSpPr txBox="1"/>
          <p:nvPr/>
        </p:nvSpPr>
        <p:spPr>
          <a:xfrm>
            <a:off x="768095" y="1705411"/>
            <a:ext cx="2286001" cy="3382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FFFFFF"/>
                </a:solidFill>
              </a:defRPr>
            </a:pPr>
            <a:r>
              <a:t>NSE / BSE</a:t>
            </a:r>
          </a:p>
          <a:p>
            <a:pPr>
              <a:lnSpc>
                <a:spcPct val="104999"/>
              </a:lnSpc>
              <a:spcBef>
                <a:spcPts val="200"/>
              </a:spcBef>
              <a:defRPr sz="900">
                <a:solidFill>
                  <a:srgbClr val="C9A227"/>
                </a:solidFill>
              </a:defRPr>
            </a:pPr>
            <a:r>
              <a:t>Exchange data</a:t>
            </a:r>
          </a:p>
        </p:txBody>
      </p:sp>
      <p:sp>
        <p:nvSpPr>
          <p:cNvPr id="589" name="TextBox 7"/>
          <p:cNvSpPr txBox="1"/>
          <p:nvPr/>
        </p:nvSpPr>
        <p:spPr>
          <a:xfrm>
            <a:off x="768095" y="2331720"/>
            <a:ext cx="228600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Quotes, indices, end-of-day bhavcopy files, corporate announcements, F&amp;O data.</a:t>
            </a:r>
          </a:p>
        </p:txBody>
      </p:sp>
      <p:sp>
        <p:nvSpPr>
          <p:cNvPr id="590" name="TextBox 8"/>
          <p:cNvSpPr txBox="1"/>
          <p:nvPr/>
        </p:nvSpPr>
        <p:spPr>
          <a:xfrm>
            <a:off x="768095" y="3474720"/>
            <a:ext cx="2286001" cy="8359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WATCH OUT</a:t>
            </a:r>
          </a:p>
          <a:p>
            <a:pPr>
              <a:lnSpc>
                <a:spcPct val="104999"/>
              </a:lnSpc>
              <a:spcBef>
                <a:spcPts val="400"/>
              </a:spcBef>
              <a:defRPr sz="1000">
                <a:solidFill>
                  <a:srgbClr val="5D6B7E"/>
                </a:solidFill>
              </a:defRPr>
            </a:pPr>
            <a:r>
              <a:t>The public website endpoints are unofficial and rate-limited. Fetch slowly, cache what you pull, and do not run production on them.</a:t>
            </a:r>
          </a:p>
        </p:txBody>
      </p:sp>
      <p:sp>
        <p:nvSpPr>
          <p:cNvPr id="591" name="Rectangle 9"/>
          <p:cNvSpPr/>
          <p:nvPr/>
        </p:nvSpPr>
        <p:spPr>
          <a:xfrm>
            <a:off x="3374135" y="1572767"/>
            <a:ext cx="2670049" cy="3063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592" name="Rectangle 10"/>
          <p:cNvSpPr/>
          <p:nvPr/>
        </p:nvSpPr>
        <p:spPr>
          <a:xfrm>
            <a:off x="3374135" y="1572767"/>
            <a:ext cx="2670049"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593" name="TextBox 11"/>
          <p:cNvSpPr txBox="1"/>
          <p:nvPr/>
        </p:nvSpPr>
        <p:spPr>
          <a:xfrm>
            <a:off x="3593591" y="1705411"/>
            <a:ext cx="2286001" cy="3382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FFFFFF"/>
                </a:solidFill>
              </a:defRPr>
            </a:pPr>
            <a:r>
              <a:t>Yahoo Finance</a:t>
            </a:r>
          </a:p>
          <a:p>
            <a:pPr>
              <a:lnSpc>
                <a:spcPct val="104999"/>
              </a:lnSpc>
              <a:spcBef>
                <a:spcPts val="200"/>
              </a:spcBef>
              <a:defRPr sz="900">
                <a:solidFill>
                  <a:srgbClr val="C9A227"/>
                </a:solidFill>
              </a:defRPr>
            </a:pPr>
            <a:r>
              <a:t>yfinance, Python</a:t>
            </a:r>
          </a:p>
        </p:txBody>
      </p:sp>
      <p:sp>
        <p:nvSpPr>
          <p:cNvPr id="594" name="TextBox 12"/>
          <p:cNvSpPr txBox="1"/>
          <p:nvPr/>
        </p:nvSpPr>
        <p:spPr>
          <a:xfrm>
            <a:off x="3593591" y="2331720"/>
            <a:ext cx="228600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Free historical prices for global and Indian tickers — RELIANCE.NS, ^NSEI.</a:t>
            </a:r>
          </a:p>
        </p:txBody>
      </p:sp>
      <p:sp>
        <p:nvSpPr>
          <p:cNvPr id="595" name="TextBox 13"/>
          <p:cNvSpPr txBox="1"/>
          <p:nvPr/>
        </p:nvSpPr>
        <p:spPr>
          <a:xfrm>
            <a:off x="3593591" y="3474720"/>
            <a:ext cx="2286001" cy="6640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WATCH OUT</a:t>
            </a:r>
          </a:p>
          <a:p>
            <a:pPr>
              <a:lnSpc>
                <a:spcPct val="104999"/>
              </a:lnSpc>
              <a:spcBef>
                <a:spcPts val="400"/>
              </a:spcBef>
              <a:defRPr sz="1000">
                <a:solidFill>
                  <a:srgbClr val="5D6B7E"/>
                </a:solidFill>
              </a:defRPr>
            </a:pPr>
            <a:r>
              <a:t>Good for teaching, prototypes and backtests. Price adjustments are imperfect, so do not value a book with it.</a:t>
            </a:r>
          </a:p>
        </p:txBody>
      </p:sp>
      <p:sp>
        <p:nvSpPr>
          <p:cNvPr id="596" name="Rectangle 14"/>
          <p:cNvSpPr/>
          <p:nvPr/>
        </p:nvSpPr>
        <p:spPr>
          <a:xfrm>
            <a:off x="6199630" y="1572767"/>
            <a:ext cx="2670049" cy="3063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597" name="Rectangle 15"/>
          <p:cNvSpPr/>
          <p:nvPr/>
        </p:nvSpPr>
        <p:spPr>
          <a:xfrm>
            <a:off x="6199630" y="1572767"/>
            <a:ext cx="2670049"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598" name="TextBox 16"/>
          <p:cNvSpPr txBox="1"/>
          <p:nvPr/>
        </p:nvSpPr>
        <p:spPr>
          <a:xfrm>
            <a:off x="6419088" y="1705411"/>
            <a:ext cx="2286001" cy="3382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FFFFFF"/>
                </a:solidFill>
              </a:defRPr>
            </a:pPr>
            <a:r>
              <a:t>RBI DBIE</a:t>
            </a:r>
          </a:p>
          <a:p>
            <a:pPr>
              <a:lnSpc>
                <a:spcPct val="104999"/>
              </a:lnSpc>
              <a:spcBef>
                <a:spcPts val="200"/>
              </a:spcBef>
              <a:defRPr sz="900">
                <a:solidFill>
                  <a:srgbClr val="C9A227"/>
                </a:solidFill>
              </a:defRPr>
            </a:pPr>
            <a:r>
              <a:t>data.rbi.org.in</a:t>
            </a:r>
          </a:p>
        </p:txBody>
      </p:sp>
      <p:sp>
        <p:nvSpPr>
          <p:cNvPr id="599" name="TextBox 17"/>
          <p:cNvSpPr txBox="1"/>
          <p:nvPr/>
        </p:nvSpPr>
        <p:spPr>
          <a:xfrm>
            <a:off x="6419088" y="2331720"/>
            <a:ext cx="2286001" cy="4809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Official Indian macro and banking time series: policy rate, CPI, deposits, credit growth.</a:t>
            </a:r>
          </a:p>
        </p:txBody>
      </p:sp>
      <p:sp>
        <p:nvSpPr>
          <p:cNvPr id="600" name="TextBox 18"/>
          <p:cNvSpPr txBox="1"/>
          <p:nvPr/>
        </p:nvSpPr>
        <p:spPr>
          <a:xfrm>
            <a:off x="6419088" y="3474720"/>
            <a:ext cx="2286001" cy="6640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WATCH OUT</a:t>
            </a:r>
          </a:p>
          <a:p>
            <a:pPr>
              <a:lnSpc>
                <a:spcPct val="104999"/>
              </a:lnSpc>
              <a:spcBef>
                <a:spcPts val="400"/>
              </a:spcBef>
              <a:defRPr sz="1000">
                <a:solidFill>
                  <a:srgbClr val="5D6B7E"/>
                </a:solidFill>
              </a:defRPr>
            </a:pPr>
            <a:r>
              <a:t>Excel and CSV downloads. It is slow to use, and it is the official source, so cite it in a report.</a:t>
            </a:r>
          </a:p>
        </p:txBody>
      </p:sp>
      <p:sp>
        <p:nvSpPr>
          <p:cNvPr id="601" name="Rectangle 19"/>
          <p:cNvSpPr/>
          <p:nvPr/>
        </p:nvSpPr>
        <p:spPr>
          <a:xfrm>
            <a:off x="9025128" y="1572767"/>
            <a:ext cx="2670049" cy="3063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02" name="Rectangle 20"/>
          <p:cNvSpPr/>
          <p:nvPr/>
        </p:nvSpPr>
        <p:spPr>
          <a:xfrm>
            <a:off x="9025128" y="1572767"/>
            <a:ext cx="2670049"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03" name="TextBox 21"/>
          <p:cNvSpPr txBox="1"/>
          <p:nvPr/>
        </p:nvSpPr>
        <p:spPr>
          <a:xfrm>
            <a:off x="9244583" y="1705411"/>
            <a:ext cx="2286001" cy="3382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FFFFFF"/>
                </a:solidFill>
              </a:defRPr>
            </a:pPr>
            <a:r>
              <a:t>Licensed vendors</a:t>
            </a:r>
          </a:p>
          <a:p>
            <a:pPr>
              <a:lnSpc>
                <a:spcPct val="104999"/>
              </a:lnSpc>
              <a:spcBef>
                <a:spcPts val="200"/>
              </a:spcBef>
              <a:defRPr sz="900">
                <a:solidFill>
                  <a:srgbClr val="C9A227"/>
                </a:solidFill>
              </a:defRPr>
            </a:pPr>
            <a:r>
              <a:t>FactSet · LSEG · Bloomberg</a:t>
            </a:r>
          </a:p>
        </p:txBody>
      </p:sp>
      <p:sp>
        <p:nvSpPr>
          <p:cNvPr id="604" name="TextBox 22"/>
          <p:cNvSpPr txBox="1"/>
          <p:nvPr/>
        </p:nvSpPr>
        <p:spPr>
          <a:xfrm>
            <a:off x="9244583" y="2331720"/>
            <a:ext cx="228600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Cleaned, point-in-time, entitlement-controlled data, with support and an SLA.</a:t>
            </a:r>
          </a:p>
        </p:txBody>
      </p:sp>
      <p:sp>
        <p:nvSpPr>
          <p:cNvPr id="605" name="TextBox 23"/>
          <p:cNvSpPr txBox="1"/>
          <p:nvPr/>
        </p:nvSpPr>
        <p:spPr>
          <a:xfrm>
            <a:off x="9244583" y="3474720"/>
            <a:ext cx="2286001" cy="6640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WATCH OUT</a:t>
            </a:r>
          </a:p>
          <a:p>
            <a:pPr>
              <a:lnSpc>
                <a:spcPct val="104999"/>
              </a:lnSpc>
              <a:spcBef>
                <a:spcPts val="400"/>
              </a:spcBef>
              <a:defRPr sz="1000">
                <a:solidFill>
                  <a:srgbClr val="5D6B7E"/>
                </a:solidFill>
              </a:defRPr>
            </a:pPr>
            <a:r>
              <a:t>This is what a desk pays for. Know the difference between free data and data you can defend to a regulator.</a:t>
            </a:r>
          </a:p>
        </p:txBody>
      </p:sp>
      <p:sp>
        <p:nvSpPr>
          <p:cNvPr id="606" name="Rectangle 24"/>
          <p:cNvSpPr/>
          <p:nvPr/>
        </p:nvSpPr>
        <p:spPr>
          <a:xfrm>
            <a:off x="548640" y="4846320"/>
            <a:ext cx="3611880" cy="109728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607" name="TextBox 25"/>
          <p:cNvSpPr txBox="1"/>
          <p:nvPr/>
        </p:nvSpPr>
        <p:spPr>
          <a:xfrm>
            <a:off x="768095" y="4992623"/>
            <a:ext cx="3154682"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Never hardcode a key</a:t>
            </a:r>
          </a:p>
          <a:p>
            <a:pPr>
              <a:lnSpc>
                <a:spcPct val="104999"/>
              </a:lnSpc>
              <a:spcBef>
                <a:spcPts val="400"/>
              </a:spcBef>
              <a:defRPr sz="1000">
                <a:solidFill>
                  <a:srgbClr val="1B2A41"/>
                </a:solidFill>
              </a:defRPr>
            </a:pPr>
            <a:r>
              <a:t>Keys go in a .env file that git never sees. A key pushed to a public repository is a reportable incident at a bank.</a:t>
            </a:r>
          </a:p>
        </p:txBody>
      </p:sp>
      <p:sp>
        <p:nvSpPr>
          <p:cNvPr id="608" name="Rectangle 26"/>
          <p:cNvSpPr/>
          <p:nvPr/>
        </p:nvSpPr>
        <p:spPr>
          <a:xfrm>
            <a:off x="4315967" y="4846320"/>
            <a:ext cx="3611881" cy="109728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609" name="TextBox 27"/>
          <p:cNvSpPr txBox="1"/>
          <p:nvPr/>
        </p:nvSpPr>
        <p:spPr>
          <a:xfrm>
            <a:off x="4535423" y="4992623"/>
            <a:ext cx="3154682"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Cache the raw pull</a:t>
            </a:r>
          </a:p>
          <a:p>
            <a:pPr>
              <a:lnSpc>
                <a:spcPct val="104999"/>
              </a:lnSpc>
              <a:spcBef>
                <a:spcPts val="400"/>
              </a:spcBef>
              <a:defRPr sz="1000">
                <a:solidFill>
                  <a:srgbClr val="1B2A41"/>
                </a:solidFill>
              </a:defRPr>
            </a:pPr>
            <a:r>
              <a:t>Save the untouched response with its timestamp. You will need it when a number is challenged.</a:t>
            </a:r>
          </a:p>
        </p:txBody>
      </p:sp>
      <p:sp>
        <p:nvSpPr>
          <p:cNvPr id="610" name="Rectangle 28"/>
          <p:cNvSpPr/>
          <p:nvPr/>
        </p:nvSpPr>
        <p:spPr>
          <a:xfrm>
            <a:off x="8083295" y="4846320"/>
            <a:ext cx="3611881" cy="109728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611" name="TextBox 29"/>
          <p:cNvSpPr txBox="1"/>
          <p:nvPr/>
        </p:nvSpPr>
        <p:spPr>
          <a:xfrm>
            <a:off x="8302752" y="4992623"/>
            <a:ext cx="315468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Log the as-of time</a:t>
            </a:r>
          </a:p>
          <a:p>
            <a:pPr>
              <a:lnSpc>
                <a:spcPct val="104999"/>
              </a:lnSpc>
              <a:spcBef>
                <a:spcPts val="400"/>
              </a:spcBef>
              <a:defRPr sz="1000">
                <a:solidFill>
                  <a:srgbClr val="1B2A41"/>
                </a:solidFill>
              </a:defRPr>
            </a:pPr>
            <a:r>
              <a:t>Record when you pulled the data. “Price at 15:30 IST on 6 Aug 2026” is checkable. “Price” is not.</a:t>
            </a:r>
          </a:p>
        </p:txBody>
      </p:sp>
      <p:sp>
        <p:nvSpPr>
          <p:cNvPr id="612" name="TextBox 30"/>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613" name="TextBox 31"/>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20</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615"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16"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3 · LAB, PART A</a:t>
            </a:r>
          </a:p>
        </p:txBody>
      </p:sp>
      <p:sp>
        <p:nvSpPr>
          <p:cNvPr id="617"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Python first: share price, revenue, and the P&amp;L</a:t>
            </a:r>
          </a:p>
        </p:txBody>
      </p:sp>
      <p:sp>
        <p:nvSpPr>
          <p:cNvPr id="618" name="TextBox 4"/>
          <p:cNvSpPr txBox="1"/>
          <p:nvPr/>
        </p:nvSpPr>
        <p:spPr>
          <a:xfrm>
            <a:off x="548640" y="1371600"/>
            <a:ext cx="1109167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100">
                <a:solidFill>
                  <a:srgbClr val="5D6B7E"/>
                </a:solidFill>
              </a:defRPr>
            </a:lvl1pPr>
          </a:lstStyle>
          <a:p>
            <a:pPr/>
            <a:r>
              <a:t>Our goal: Swiggy's share price, its revenue and three years of its profit and loss. Thirty lines of Python and one free library.</a:t>
            </a:r>
          </a:p>
        </p:txBody>
      </p:sp>
      <p:sp>
        <p:nvSpPr>
          <p:cNvPr id="619" name="Rectangle 5"/>
          <p:cNvSpPr/>
          <p:nvPr/>
        </p:nvSpPr>
        <p:spPr>
          <a:xfrm>
            <a:off x="548639" y="1737360"/>
            <a:ext cx="5760722" cy="283464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20" name="TextBox 6"/>
          <p:cNvSpPr txBox="1"/>
          <p:nvPr/>
        </p:nvSpPr>
        <p:spPr>
          <a:xfrm>
            <a:off x="804671" y="1883664"/>
            <a:ext cx="530352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THE ENTIRE PROGRAM</a:t>
            </a:r>
          </a:p>
        </p:txBody>
      </p:sp>
      <p:sp>
        <p:nvSpPr>
          <p:cNvPr id="621" name="TextBox 7"/>
          <p:cNvSpPr txBox="1"/>
          <p:nvPr/>
        </p:nvSpPr>
        <p:spPr>
          <a:xfrm>
            <a:off x="804671" y="2231135"/>
            <a:ext cx="5303522" cy="21920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1000">
                <a:solidFill>
                  <a:srgbClr val="C9D6EE"/>
                </a:solidFill>
                <a:latin typeface="Consolas"/>
                <a:ea typeface="Consolas"/>
                <a:cs typeface="Consolas"/>
                <a:sym typeface="Consolas"/>
              </a:defRPr>
            </a:pPr>
            <a:r>
              <a:t>import yfinance as yf</a:t>
            </a:r>
          </a:p>
          <a:p>
            <a:pPr>
              <a:lnSpc>
                <a:spcPct val="104999"/>
              </a:lnSpc>
              <a:spcBef>
                <a:spcPts val="200"/>
              </a:spcBef>
              <a:defRPr sz="1000">
                <a:solidFill>
                  <a:srgbClr val="C9D6EE"/>
                </a:solidFill>
                <a:latin typeface="Consolas"/>
                <a:ea typeface="Consolas"/>
                <a:cs typeface="Consolas"/>
                <a:sym typeface="Consolas"/>
              </a:defRPr>
            </a:pPr>
            <a:r>
              <a:t> </a:t>
            </a:r>
          </a:p>
          <a:p>
            <a:pPr>
              <a:lnSpc>
                <a:spcPct val="104999"/>
              </a:lnSpc>
              <a:spcBef>
                <a:spcPts val="200"/>
              </a:spcBef>
              <a:defRPr sz="1000">
                <a:solidFill>
                  <a:srgbClr val="FFFFFF"/>
                </a:solidFill>
                <a:latin typeface="Consolas"/>
                <a:ea typeface="Consolas"/>
                <a:cs typeface="Consolas"/>
                <a:sym typeface="Consolas"/>
              </a:defRPr>
            </a:pPr>
            <a:r>
              <a:t>t = yf.Ticker("SWIGGY.NS")</a:t>
            </a:r>
          </a:p>
          <a:p>
            <a:pPr>
              <a:lnSpc>
                <a:spcPct val="104999"/>
              </a:lnSpc>
              <a:spcBef>
                <a:spcPts val="200"/>
              </a:spcBef>
              <a:defRPr sz="1000">
                <a:solidFill>
                  <a:srgbClr val="C9D6EE"/>
                </a:solidFill>
                <a:latin typeface="Consolas"/>
                <a:ea typeface="Consolas"/>
                <a:cs typeface="Consolas"/>
                <a:sym typeface="Consolas"/>
              </a:defRPr>
            </a:pPr>
            <a:r>
              <a:t> </a:t>
            </a:r>
          </a:p>
          <a:p>
            <a:pPr>
              <a:lnSpc>
                <a:spcPct val="104999"/>
              </a:lnSpc>
              <a:spcBef>
                <a:spcPts val="200"/>
              </a:spcBef>
              <a:defRPr sz="1000">
                <a:solidFill>
                  <a:srgbClr val="8FA1C4"/>
                </a:solidFill>
                <a:latin typeface="Consolas"/>
                <a:ea typeface="Consolas"/>
                <a:cs typeface="Consolas"/>
                <a:sym typeface="Consolas"/>
              </a:defRPr>
            </a:pPr>
            <a:r>
              <a:t># 1. the market price right now</a:t>
            </a:r>
          </a:p>
          <a:p>
            <a:pPr>
              <a:lnSpc>
                <a:spcPct val="104999"/>
              </a:lnSpc>
              <a:spcBef>
                <a:spcPts val="200"/>
              </a:spcBef>
              <a:defRPr sz="1000">
                <a:solidFill>
                  <a:srgbClr val="FFFFFF"/>
                </a:solidFill>
                <a:latin typeface="Consolas"/>
                <a:ea typeface="Consolas"/>
                <a:cs typeface="Consolas"/>
                <a:sym typeface="Consolas"/>
              </a:defRPr>
            </a:pPr>
            <a:r>
              <a:t>print(t.info["regularMarketPrice"])</a:t>
            </a:r>
          </a:p>
          <a:p>
            <a:pPr>
              <a:lnSpc>
                <a:spcPct val="104999"/>
              </a:lnSpc>
              <a:spcBef>
                <a:spcPts val="200"/>
              </a:spcBef>
              <a:defRPr sz="1000">
                <a:solidFill>
                  <a:srgbClr val="C9D6EE"/>
                </a:solidFill>
                <a:latin typeface="Consolas"/>
                <a:ea typeface="Consolas"/>
                <a:cs typeface="Consolas"/>
                <a:sym typeface="Consolas"/>
              </a:defRPr>
            </a:pPr>
            <a:r>
              <a:t> </a:t>
            </a:r>
          </a:p>
          <a:p>
            <a:pPr>
              <a:lnSpc>
                <a:spcPct val="104999"/>
              </a:lnSpc>
              <a:spcBef>
                <a:spcPts val="200"/>
              </a:spcBef>
              <a:defRPr sz="1000">
                <a:solidFill>
                  <a:srgbClr val="8FA1C4"/>
                </a:solidFill>
                <a:latin typeface="Consolas"/>
                <a:ea typeface="Consolas"/>
                <a:cs typeface="Consolas"/>
                <a:sym typeface="Consolas"/>
              </a:defRPr>
            </a:pPr>
            <a:r>
              <a:t># 2. the whole P&amp;L, five years, as a table</a:t>
            </a:r>
          </a:p>
          <a:p>
            <a:pPr>
              <a:lnSpc>
                <a:spcPct val="104999"/>
              </a:lnSpc>
              <a:spcBef>
                <a:spcPts val="200"/>
              </a:spcBef>
              <a:defRPr sz="1000">
                <a:solidFill>
                  <a:srgbClr val="FFFFFF"/>
                </a:solidFill>
                <a:latin typeface="Consolas"/>
                <a:ea typeface="Consolas"/>
                <a:cs typeface="Consolas"/>
                <a:sym typeface="Consolas"/>
              </a:defRPr>
            </a:pPr>
            <a:r>
              <a:t>print(t.financials)</a:t>
            </a:r>
          </a:p>
          <a:p>
            <a:pPr>
              <a:lnSpc>
                <a:spcPct val="104999"/>
              </a:lnSpc>
              <a:spcBef>
                <a:spcPts val="200"/>
              </a:spcBef>
              <a:defRPr sz="1000">
                <a:solidFill>
                  <a:srgbClr val="C9D6EE"/>
                </a:solidFill>
                <a:latin typeface="Consolas"/>
                <a:ea typeface="Consolas"/>
                <a:cs typeface="Consolas"/>
                <a:sym typeface="Consolas"/>
              </a:defRPr>
            </a:pPr>
            <a:r>
              <a:t> </a:t>
            </a:r>
          </a:p>
          <a:p>
            <a:pPr>
              <a:lnSpc>
                <a:spcPct val="104999"/>
              </a:lnSpc>
              <a:spcBef>
                <a:spcPts val="200"/>
              </a:spcBef>
              <a:defRPr sz="1000">
                <a:solidFill>
                  <a:srgbClr val="8FA1C4"/>
                </a:solidFill>
                <a:latin typeface="Consolas"/>
                <a:ea typeface="Consolas"/>
                <a:cs typeface="Consolas"/>
                <a:sym typeface="Consolas"/>
              </a:defRPr>
            </a:pPr>
            <a:r>
              <a:t># 3. one line out of that table</a:t>
            </a:r>
          </a:p>
          <a:p>
            <a:pPr>
              <a:lnSpc>
                <a:spcPct val="104999"/>
              </a:lnSpc>
              <a:spcBef>
                <a:spcPts val="200"/>
              </a:spcBef>
              <a:defRPr sz="1000">
                <a:solidFill>
                  <a:srgbClr val="FFFFFF"/>
                </a:solidFill>
                <a:latin typeface="Consolas"/>
                <a:ea typeface="Consolas"/>
                <a:cs typeface="Consolas"/>
                <a:sym typeface="Consolas"/>
              </a:defRPr>
            </a:pPr>
            <a:r>
              <a:t>print(t.financials.loc["Total Revenue"])</a:t>
            </a:r>
          </a:p>
        </p:txBody>
      </p:sp>
      <p:sp>
        <p:nvSpPr>
          <p:cNvPr id="622" name="Rectangle 8"/>
          <p:cNvSpPr/>
          <p:nvPr/>
        </p:nvSpPr>
        <p:spPr>
          <a:xfrm>
            <a:off x="6492240" y="1737360"/>
            <a:ext cx="5148072" cy="128016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23" name="Rectangle 9"/>
          <p:cNvSpPr/>
          <p:nvPr/>
        </p:nvSpPr>
        <p:spPr>
          <a:xfrm>
            <a:off x="6492240" y="1737360"/>
            <a:ext cx="64009" cy="128016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624" name="TextBox 10"/>
          <p:cNvSpPr txBox="1"/>
          <p:nvPr/>
        </p:nvSpPr>
        <p:spPr>
          <a:xfrm>
            <a:off x="6748271" y="1865376"/>
            <a:ext cx="4663441" cy="80927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0F2145"/>
                </a:solidFill>
              </a:defRPr>
            </a:pPr>
            <a:r>
              <a:t>Swiggy Limited   SWIGGY.NS</a:t>
            </a:r>
          </a:p>
          <a:p>
            <a:pPr>
              <a:lnSpc>
                <a:spcPct val="104999"/>
              </a:lnSpc>
              <a:spcBef>
                <a:spcPts val="400"/>
              </a:spcBef>
              <a:defRPr b="1" sz="1500">
                <a:solidFill>
                  <a:srgbClr val="0F2145"/>
                </a:solidFill>
                <a:latin typeface="Georgia"/>
                <a:ea typeface="Georgia"/>
                <a:cs typeface="Georgia"/>
                <a:sym typeface="Georgia"/>
              </a:defRPr>
            </a:pPr>
            <a:r>
              <a:t>INR 280.75</a:t>
            </a:r>
          </a:p>
          <a:p>
            <a:pPr>
              <a:lnSpc>
                <a:spcPct val="104999"/>
              </a:lnSpc>
              <a:spcBef>
                <a:spcPts val="400"/>
              </a:spcBef>
              <a:defRPr sz="1000">
                <a:solidFill>
                  <a:srgbClr val="5D6B7E"/>
                </a:solidFill>
              </a:defRPr>
            </a:pPr>
            <a:r>
              <a:t>Revenue INR 22,828 crore for the year to 31 Mar 2026. Revenue doubled in two years, and the operating loss widened every year: 2,601 to 3,392 to 4,414 crore.</a:t>
            </a:r>
          </a:p>
        </p:txBody>
      </p:sp>
      <p:sp>
        <p:nvSpPr>
          <p:cNvPr id="625" name="Rectangle 11"/>
          <p:cNvSpPr/>
          <p:nvPr/>
        </p:nvSpPr>
        <p:spPr>
          <a:xfrm>
            <a:off x="6492240" y="3154679"/>
            <a:ext cx="5148072" cy="128016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626" name="Rectangle 12"/>
          <p:cNvSpPr/>
          <p:nvPr/>
        </p:nvSpPr>
        <p:spPr>
          <a:xfrm>
            <a:off x="6492240" y="3154679"/>
            <a:ext cx="64009" cy="128016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27" name="TextBox 13"/>
          <p:cNvSpPr txBox="1"/>
          <p:nvPr/>
        </p:nvSpPr>
        <p:spPr>
          <a:xfrm>
            <a:off x="6748271" y="3282696"/>
            <a:ext cx="4663441" cy="6373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0F2145"/>
                </a:solidFill>
              </a:defRPr>
            </a:pPr>
            <a:r>
              <a:t>Infosys   INFY.NS</a:t>
            </a:r>
          </a:p>
          <a:p>
            <a:pPr>
              <a:lnSpc>
                <a:spcPct val="104999"/>
              </a:lnSpc>
              <a:spcBef>
                <a:spcPts val="400"/>
              </a:spcBef>
              <a:defRPr b="1" sz="1500">
                <a:solidFill>
                  <a:srgbClr val="0F2145"/>
                </a:solidFill>
                <a:latin typeface="Georgia"/>
                <a:ea typeface="Georgia"/>
                <a:cs typeface="Georgia"/>
                <a:sym typeface="Georgia"/>
              </a:defRPr>
            </a:pPr>
            <a:r>
              <a:t>INR 1,175.10</a:t>
            </a:r>
          </a:p>
          <a:p>
            <a:pPr>
              <a:lnSpc>
                <a:spcPct val="104999"/>
              </a:lnSpc>
              <a:spcBef>
                <a:spcPts val="400"/>
              </a:spcBef>
              <a:defRPr sz="1000">
                <a:solidFill>
                  <a:srgbClr val="0F2145"/>
                </a:solidFill>
              </a:defRPr>
            </a:pPr>
            <a:r>
              <a:t>Revenue 20.16B, reported in USD but labelled INR. Wrong by about eighty times.</a:t>
            </a:r>
          </a:p>
        </p:txBody>
      </p:sp>
      <p:sp>
        <p:nvSpPr>
          <p:cNvPr id="628" name="Rectangle 14"/>
          <p:cNvSpPr/>
          <p:nvPr/>
        </p:nvSpPr>
        <p:spPr>
          <a:xfrm>
            <a:off x="6492240" y="4572000"/>
            <a:ext cx="5148072" cy="14173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29" name="TextBox 15"/>
          <p:cNvSpPr txBox="1"/>
          <p:nvPr/>
        </p:nvSpPr>
        <p:spPr>
          <a:xfrm>
            <a:off x="6748271" y="4736591"/>
            <a:ext cx="4663441" cy="5725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300">
                <a:solidFill>
                  <a:srgbClr val="C9A227"/>
                </a:solidFill>
                <a:latin typeface="Georgia"/>
                <a:ea typeface="Georgia"/>
                <a:cs typeface="Georgia"/>
                <a:sym typeface="Georgia"/>
              </a:defRPr>
            </a:pPr>
            <a:r>
              <a:t>The trap, in your first ten minutes</a:t>
            </a:r>
          </a:p>
          <a:p>
            <a:pPr>
              <a:lnSpc>
                <a:spcPct val="104999"/>
              </a:lnSpc>
              <a:spcBef>
                <a:spcPts val="500"/>
              </a:spcBef>
              <a:defRPr sz="1000">
                <a:solidFill>
                  <a:srgbClr val="C9D6EE"/>
                </a:solidFill>
              </a:defRPr>
            </a:pPr>
            <a:r>
              <a:t>Yahoo carries two currency fields. Infosys files its statements in dollars, so the price comes back in rupees and the revenue does not. Print both fields and compare them, every time.</a:t>
            </a:r>
          </a:p>
        </p:txBody>
      </p:sp>
      <p:sp>
        <p:nvSpPr>
          <p:cNvPr id="630" name="TextBox 16"/>
          <p:cNvSpPr txBox="1"/>
          <p:nvPr/>
        </p:nvSpPr>
        <p:spPr>
          <a:xfrm>
            <a:off x="548639" y="4754879"/>
            <a:ext cx="5760722" cy="9644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What you have after ten minutes</a:t>
            </a:r>
          </a:p>
          <a:p>
            <a:pPr>
              <a:lnSpc>
                <a:spcPct val="104999"/>
              </a:lnSpc>
              <a:spcBef>
                <a:spcPts val="500"/>
              </a:spcBef>
              <a:defRPr sz="1000">
                <a:solidFill>
                  <a:srgbClr val="5D6B7E"/>
                </a:solidFill>
              </a:defRPr>
            </a:pPr>
            <a:r>
              <a:t>Swiggy's full profit and loss on your screen, three years side by side, and a company you can actually argue about. No subscription and no data licence.</a:t>
            </a:r>
          </a:p>
          <a:p>
            <a:pPr>
              <a:lnSpc>
                <a:spcPct val="104999"/>
              </a:lnSpc>
              <a:spcBef>
                <a:spcPts val="600"/>
              </a:spcBef>
              <a:defRPr sz="1000">
                <a:solidFill>
                  <a:srgbClr val="5D6B7E"/>
                </a:solidFill>
              </a:defRPr>
            </a:pPr>
            <a:r>
              <a:t>yfinance reads Yahoo Finance. Good for teaching, prototypes and backtests. It is not licensed market data, so nothing you value for a client rests on it.</a:t>
            </a:r>
          </a:p>
        </p:txBody>
      </p:sp>
      <p:sp>
        <p:nvSpPr>
          <p:cNvPr id="631" name="TextBox 17"/>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632" name="TextBox 18"/>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21</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634"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35"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3 · LAB, PART B</a:t>
            </a:r>
          </a:p>
        </p:txBody>
      </p:sp>
      <p:sp>
        <p:nvSpPr>
          <p:cNvPr id="636"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Then Codex builds the whole application</a:t>
            </a:r>
          </a:p>
        </p:txBody>
      </p:sp>
      <p:sp>
        <p:nvSpPr>
          <p:cNvPr id="637" name="Rectangle 4"/>
          <p:cNvSpPr/>
          <p:nvPr/>
        </p:nvSpPr>
        <p:spPr>
          <a:xfrm>
            <a:off x="548639" y="1371600"/>
            <a:ext cx="5760722" cy="9601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38" name="TextBox 5"/>
          <p:cNvSpPr txBox="1"/>
          <p:nvPr/>
        </p:nvSpPr>
        <p:spPr>
          <a:xfrm>
            <a:off x="804671" y="1517903"/>
            <a:ext cx="530352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EVERYTHING THAT WAS TYPED</a:t>
            </a:r>
          </a:p>
        </p:txBody>
      </p:sp>
      <p:sp>
        <p:nvSpPr>
          <p:cNvPr id="639" name="TextBox 6"/>
          <p:cNvSpPr txBox="1"/>
          <p:nvPr/>
        </p:nvSpPr>
        <p:spPr>
          <a:xfrm>
            <a:off x="804671" y="1865376"/>
            <a:ext cx="5303522" cy="5232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1000">
                <a:solidFill>
                  <a:srgbClr val="FFFFFF"/>
                </a:solidFill>
                <a:latin typeface="Consolas"/>
                <a:ea typeface="Consolas"/>
                <a:cs typeface="Consolas"/>
                <a:sym typeface="Consolas"/>
              </a:defRPr>
            </a:pPr>
            <a:r>
              <a:t>Create an application where I enter the name of a</a:t>
            </a:r>
          </a:p>
          <a:p>
            <a:pPr>
              <a:lnSpc>
                <a:spcPct val="104999"/>
              </a:lnSpc>
              <a:spcBef>
                <a:spcPts val="200"/>
              </a:spcBef>
              <a:defRPr sz="1000">
                <a:solidFill>
                  <a:srgbClr val="FFFFFF"/>
                </a:solidFill>
                <a:latin typeface="Consolas"/>
                <a:ea typeface="Consolas"/>
                <a:cs typeface="Consolas"/>
                <a:sym typeface="Consolas"/>
              </a:defRPr>
            </a:pPr>
            <a:r>
              <a:t>company and it connects to yfinance to give me the</a:t>
            </a:r>
          </a:p>
          <a:p>
            <a:pPr>
              <a:lnSpc>
                <a:spcPct val="104999"/>
              </a:lnSpc>
              <a:spcBef>
                <a:spcPts val="200"/>
              </a:spcBef>
              <a:defRPr sz="1000">
                <a:solidFill>
                  <a:srgbClr val="FFFFFF"/>
                </a:solidFill>
                <a:latin typeface="Consolas"/>
                <a:ea typeface="Consolas"/>
                <a:cs typeface="Consolas"/>
                <a:sym typeface="Consolas"/>
              </a:defRPr>
            </a:pPr>
            <a:r>
              <a:t>revenue and the latest market price.</a:t>
            </a:r>
          </a:p>
        </p:txBody>
      </p:sp>
      <p:sp>
        <p:nvSpPr>
          <p:cNvPr id="640" name="Rectangle 7"/>
          <p:cNvSpPr/>
          <p:nvPr/>
        </p:nvSpPr>
        <p:spPr>
          <a:xfrm>
            <a:off x="548640" y="2514600"/>
            <a:ext cx="1325881" cy="9601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41" name="TextBox 8"/>
          <p:cNvSpPr txBox="1"/>
          <p:nvPr/>
        </p:nvSpPr>
        <p:spPr>
          <a:xfrm>
            <a:off x="694944" y="2651760"/>
            <a:ext cx="1143001" cy="435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a:solidFill>
                  <a:srgbClr val="C9A227"/>
                </a:solidFill>
                <a:latin typeface="Georgia"/>
                <a:ea typeface="Georgia"/>
                <a:cs typeface="Georgia"/>
                <a:sym typeface="Georgia"/>
              </a:defRPr>
            </a:pPr>
            <a:r>
              <a:t>5</a:t>
            </a:r>
          </a:p>
          <a:p>
            <a:pPr>
              <a:lnSpc>
                <a:spcPct val="104999"/>
              </a:lnSpc>
              <a:spcBef>
                <a:spcPts val="400"/>
              </a:spcBef>
              <a:defRPr sz="800">
                <a:solidFill>
                  <a:srgbClr val="C9D6EE"/>
                </a:solidFill>
              </a:defRPr>
            </a:pPr>
            <a:r>
              <a:t>files written</a:t>
            </a:r>
          </a:p>
        </p:txBody>
      </p:sp>
      <p:sp>
        <p:nvSpPr>
          <p:cNvPr id="642" name="Rectangle 9"/>
          <p:cNvSpPr/>
          <p:nvPr/>
        </p:nvSpPr>
        <p:spPr>
          <a:xfrm>
            <a:off x="2011679" y="2514600"/>
            <a:ext cx="1325881" cy="9601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43" name="TextBox 10"/>
          <p:cNvSpPr txBox="1"/>
          <p:nvPr/>
        </p:nvSpPr>
        <p:spPr>
          <a:xfrm>
            <a:off x="2157983" y="2651760"/>
            <a:ext cx="1143001" cy="435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a:solidFill>
                  <a:srgbClr val="C9A227"/>
                </a:solidFill>
                <a:latin typeface="Georgia"/>
                <a:ea typeface="Georgia"/>
                <a:cs typeface="Georgia"/>
                <a:sym typeface="Georgia"/>
              </a:defRPr>
            </a:pPr>
            <a:r>
              <a:t>702</a:t>
            </a:r>
          </a:p>
          <a:p>
            <a:pPr>
              <a:lnSpc>
                <a:spcPct val="104999"/>
              </a:lnSpc>
              <a:spcBef>
                <a:spcPts val="400"/>
              </a:spcBef>
              <a:defRPr sz="800">
                <a:solidFill>
                  <a:srgbClr val="C9D6EE"/>
                </a:solidFill>
              </a:defRPr>
            </a:pPr>
            <a:r>
              <a:t>lines of code</a:t>
            </a:r>
          </a:p>
        </p:txBody>
      </p:sp>
      <p:sp>
        <p:nvSpPr>
          <p:cNvPr id="644" name="Rectangle 11"/>
          <p:cNvSpPr/>
          <p:nvPr/>
        </p:nvSpPr>
        <p:spPr>
          <a:xfrm>
            <a:off x="3474720" y="2514600"/>
            <a:ext cx="1325881" cy="9601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45" name="TextBox 12"/>
          <p:cNvSpPr txBox="1"/>
          <p:nvPr/>
        </p:nvSpPr>
        <p:spPr>
          <a:xfrm>
            <a:off x="3621023" y="2651760"/>
            <a:ext cx="1143001" cy="435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a:solidFill>
                  <a:srgbClr val="C9A227"/>
                </a:solidFill>
                <a:latin typeface="Georgia"/>
                <a:ea typeface="Georgia"/>
                <a:cs typeface="Georgia"/>
                <a:sym typeface="Georgia"/>
              </a:defRPr>
            </a:pPr>
            <a:r>
              <a:t>5m 29s</a:t>
            </a:r>
          </a:p>
          <a:p>
            <a:pPr>
              <a:lnSpc>
                <a:spcPct val="104999"/>
              </a:lnSpc>
              <a:spcBef>
                <a:spcPts val="400"/>
              </a:spcBef>
              <a:defRPr sz="800">
                <a:solidFill>
                  <a:srgbClr val="C9D6EE"/>
                </a:solidFill>
              </a:defRPr>
            </a:pPr>
            <a:r>
              <a:t>to a running app</a:t>
            </a:r>
          </a:p>
        </p:txBody>
      </p:sp>
      <p:sp>
        <p:nvSpPr>
          <p:cNvPr id="646" name="Rectangle 13"/>
          <p:cNvSpPr/>
          <p:nvPr/>
        </p:nvSpPr>
        <p:spPr>
          <a:xfrm>
            <a:off x="4937759" y="2514600"/>
            <a:ext cx="1325881" cy="9601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47" name="TextBox 14"/>
          <p:cNvSpPr txBox="1"/>
          <p:nvPr/>
        </p:nvSpPr>
        <p:spPr>
          <a:xfrm>
            <a:off x="5084064" y="2651760"/>
            <a:ext cx="1143001" cy="435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a:solidFill>
                  <a:srgbClr val="C9A227"/>
                </a:solidFill>
                <a:latin typeface="Georgia"/>
                <a:ea typeface="Georgia"/>
                <a:cs typeface="Georgia"/>
                <a:sym typeface="Georgia"/>
              </a:defRPr>
            </a:pPr>
            <a:r>
              <a:t>0</a:t>
            </a:r>
          </a:p>
          <a:p>
            <a:pPr>
              <a:lnSpc>
                <a:spcPct val="104999"/>
              </a:lnSpc>
              <a:spcBef>
                <a:spcPts val="400"/>
              </a:spcBef>
              <a:defRPr sz="800">
                <a:solidFill>
                  <a:srgbClr val="C9D6EE"/>
                </a:solidFill>
              </a:defRPr>
            </a:pPr>
            <a:r>
              <a:t>lines typed by a human</a:t>
            </a:r>
          </a:p>
        </p:txBody>
      </p:sp>
      <p:sp>
        <p:nvSpPr>
          <p:cNvPr id="648" name="Rectangle 15"/>
          <p:cNvSpPr/>
          <p:nvPr/>
        </p:nvSpPr>
        <p:spPr>
          <a:xfrm>
            <a:off x="548639" y="3657600"/>
            <a:ext cx="5760722" cy="777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49" name="Rectangle 16"/>
          <p:cNvSpPr/>
          <p:nvPr/>
        </p:nvSpPr>
        <p:spPr>
          <a:xfrm>
            <a:off x="548640" y="3657600"/>
            <a:ext cx="64009" cy="77724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50" name="TextBox 17"/>
          <p:cNvSpPr txBox="1"/>
          <p:nvPr/>
        </p:nvSpPr>
        <p:spPr>
          <a:xfrm>
            <a:off x="804671" y="3758184"/>
            <a:ext cx="5303522" cy="3243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It wrote the whole thing</a:t>
            </a:r>
          </a:p>
          <a:p>
            <a:pPr>
              <a:lnSpc>
                <a:spcPct val="104999"/>
              </a:lnSpc>
              <a:spcBef>
                <a:spcPts val="300"/>
              </a:spcBef>
              <a:defRPr sz="900">
                <a:solidFill>
                  <a:srgbClr val="5D6B7E"/>
                </a:solidFill>
              </a:defRPr>
            </a:pPr>
            <a:r>
              <a:t>server.py, index.html, app.js, styles.css and a README.</a:t>
            </a:r>
          </a:p>
        </p:txBody>
      </p:sp>
      <p:sp>
        <p:nvSpPr>
          <p:cNvPr id="651" name="Rectangle 18"/>
          <p:cNvSpPr/>
          <p:nvPr/>
        </p:nvSpPr>
        <p:spPr>
          <a:xfrm>
            <a:off x="548639" y="4498847"/>
            <a:ext cx="5760722" cy="777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52" name="Rectangle 19"/>
          <p:cNvSpPr/>
          <p:nvPr/>
        </p:nvSpPr>
        <p:spPr>
          <a:xfrm>
            <a:off x="548640" y="4498847"/>
            <a:ext cx="64009" cy="77724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53" name="TextBox 20"/>
          <p:cNvSpPr txBox="1"/>
          <p:nvPr/>
        </p:nvSpPr>
        <p:spPr>
          <a:xfrm>
            <a:off x="804671" y="4599432"/>
            <a:ext cx="5303522" cy="4698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It ran itself, and failed</a:t>
            </a:r>
          </a:p>
          <a:p>
            <a:pPr>
              <a:lnSpc>
                <a:spcPct val="104999"/>
              </a:lnSpc>
              <a:spcBef>
                <a:spcPts val="300"/>
              </a:spcBef>
              <a:defRPr sz="900">
                <a:solidFill>
                  <a:srgbClr val="5D6B7E"/>
                </a:solidFill>
              </a:defRPr>
            </a:pPr>
            <a:r>
              <a:t>Started Flask, called its own API, got no answer, worked out that the debug reloader was killing the process, switched it off and restarted.</a:t>
            </a:r>
          </a:p>
        </p:txBody>
      </p:sp>
      <p:sp>
        <p:nvSpPr>
          <p:cNvPr id="654" name="Rectangle 21"/>
          <p:cNvSpPr/>
          <p:nvPr/>
        </p:nvSpPr>
        <p:spPr>
          <a:xfrm>
            <a:off x="548639" y="5340096"/>
            <a:ext cx="5760722" cy="777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55" name="Rectangle 22"/>
          <p:cNvSpPr/>
          <p:nvPr/>
        </p:nvSpPr>
        <p:spPr>
          <a:xfrm>
            <a:off x="548640" y="5340096"/>
            <a:ext cx="64009" cy="77724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56" name="TextBox 23"/>
          <p:cNvSpPr txBox="1"/>
          <p:nvPr/>
        </p:nvSpPr>
        <p:spPr>
          <a:xfrm>
            <a:off x="804671" y="5440679"/>
            <a:ext cx="5303522" cy="4698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It checked the screen</a:t>
            </a:r>
          </a:p>
          <a:p>
            <a:pPr>
              <a:lnSpc>
                <a:spcPct val="104999"/>
              </a:lnSpc>
              <a:spcBef>
                <a:spcPts val="300"/>
              </a:spcBef>
              <a:defRPr sz="900">
                <a:solidFill>
                  <a:srgbClr val="5D6B7E"/>
                </a:solidFill>
              </a:defRPr>
            </a:pPr>
            <a:r>
              <a:t>Opened the page in a browser, searched a company, and confirmed the result card rendered properly at desktop width.</a:t>
            </a:r>
          </a:p>
        </p:txBody>
      </p:sp>
      <p:sp>
        <p:nvSpPr>
          <p:cNvPr id="657" name="Rectangle 24"/>
          <p:cNvSpPr/>
          <p:nvPr/>
        </p:nvSpPr>
        <p:spPr>
          <a:xfrm>
            <a:off x="6492240" y="1371600"/>
            <a:ext cx="5148072" cy="2148840"/>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658" name="TextBox 25"/>
          <p:cNvSpPr txBox="1"/>
          <p:nvPr/>
        </p:nvSpPr>
        <p:spPr>
          <a:xfrm>
            <a:off x="6748271" y="1536191"/>
            <a:ext cx="4663441" cy="1400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400">
                <a:solidFill>
                  <a:srgbClr val="0F2145"/>
                </a:solidFill>
                <a:latin typeface="Georgia"/>
                <a:ea typeface="Georgia"/>
                <a:cs typeface="Georgia"/>
                <a:sym typeface="Georgia"/>
              </a:defRPr>
            </a:pPr>
            <a:r>
              <a:t>What a harness actually is</a:t>
            </a:r>
          </a:p>
          <a:p>
            <a:pPr>
              <a:lnSpc>
                <a:spcPct val="104999"/>
              </a:lnSpc>
              <a:spcBef>
                <a:spcPts val="500"/>
              </a:spcBef>
              <a:defRPr sz="1000">
                <a:solidFill>
                  <a:srgbClr val="1B2A41"/>
                </a:solidFill>
              </a:defRPr>
            </a:pPr>
            <a:r>
              <a:t>A harness is the layer around the model that lets it act instead of answer. It can read your files, write files, run commands, see the error message and try again.</a:t>
            </a:r>
          </a:p>
          <a:p>
            <a:pPr>
              <a:lnSpc>
                <a:spcPct val="104999"/>
              </a:lnSpc>
              <a:spcBef>
                <a:spcPts val="500"/>
              </a:spcBef>
              <a:defRPr sz="1000">
                <a:solidFill>
                  <a:srgbClr val="1B2A41"/>
                </a:solidFill>
              </a:defRPr>
            </a:pPr>
            <a:r>
              <a:t>The model did not get smarter. It was given hands, a workspace, and permission to fail in private until the thing worked.</a:t>
            </a:r>
          </a:p>
          <a:p>
            <a:pPr>
              <a:lnSpc>
                <a:spcPct val="104999"/>
              </a:lnSpc>
              <a:spcBef>
                <a:spcPts val="500"/>
              </a:spcBef>
              <a:defRPr sz="1000">
                <a:solidFill>
                  <a:srgbClr val="1B2A41"/>
                </a:solidFill>
              </a:defRPr>
            </a:pPr>
            <a:r>
              <a:t>Claude Code, Codex and Cursor are all harnesses. This is the difference between being handed code and being handed an application.</a:t>
            </a:r>
          </a:p>
        </p:txBody>
      </p:sp>
      <p:sp>
        <p:nvSpPr>
          <p:cNvPr id="659" name="Rectangle 26"/>
          <p:cNvSpPr/>
          <p:nvPr/>
        </p:nvSpPr>
        <p:spPr>
          <a:xfrm>
            <a:off x="6492240" y="3657600"/>
            <a:ext cx="5148072" cy="13716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60" name="Rectangle 27"/>
          <p:cNvSpPr/>
          <p:nvPr/>
        </p:nvSpPr>
        <p:spPr>
          <a:xfrm>
            <a:off x="6492240" y="3657600"/>
            <a:ext cx="64009" cy="1371600"/>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661" name="TextBox 28"/>
          <p:cNvSpPr txBox="1"/>
          <p:nvPr/>
        </p:nvSpPr>
        <p:spPr>
          <a:xfrm>
            <a:off x="6748271" y="3803903"/>
            <a:ext cx="4663441" cy="71629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How it scales to any name</a:t>
            </a:r>
          </a:p>
          <a:p>
            <a:pPr>
              <a:lnSpc>
                <a:spcPct val="104999"/>
              </a:lnSpc>
              <a:spcBef>
                <a:spcPts val="500"/>
              </a:spcBef>
              <a:defRPr sz="1000">
                <a:solidFill>
                  <a:srgbClr val="5D6B7E"/>
                </a:solidFill>
              </a:defRPr>
            </a:pPr>
            <a:r>
              <a:t>The script only did Swiggy, because the ticker was typed into it. The app takes any name, asks Yahoo's search for the matching symbol, prefers the NSE listing, then fetches. That one lookup is the whole difference between a script and a tool.</a:t>
            </a:r>
          </a:p>
        </p:txBody>
      </p:sp>
      <p:sp>
        <p:nvSpPr>
          <p:cNvPr id="662" name="Rectangle 29"/>
          <p:cNvSpPr/>
          <p:nvPr/>
        </p:nvSpPr>
        <p:spPr>
          <a:xfrm>
            <a:off x="6492240" y="5166359"/>
            <a:ext cx="5148072" cy="86868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63" name="TextBox 30"/>
          <p:cNvSpPr txBox="1"/>
          <p:nvPr/>
        </p:nvSpPr>
        <p:spPr>
          <a:xfrm>
            <a:off x="6748271" y="5303520"/>
            <a:ext cx="4663441" cy="5316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And what it does not change</a:t>
            </a:r>
          </a:p>
          <a:p>
            <a:pPr>
              <a:lnSpc>
                <a:spcPct val="104999"/>
              </a:lnSpc>
              <a:spcBef>
                <a:spcPts val="400"/>
              </a:spcBef>
              <a:defRPr sz="1000">
                <a:solidFill>
                  <a:srgbClr val="C9D6EE"/>
                </a:solidFill>
              </a:defRPr>
            </a:pPr>
            <a:r>
              <a:t>Codex could not tell that the Infosys revenue was a dollar figure with a rupee label. It built exactly what was asked. The checking is still yours.</a:t>
            </a:r>
          </a:p>
        </p:txBody>
      </p:sp>
      <p:sp>
        <p:nvSpPr>
          <p:cNvPr id="664" name="TextBox 31"/>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665" name="TextBox 32"/>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22</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667"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68"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THE ARC OF THIS COURSE</a:t>
            </a:r>
          </a:p>
        </p:txBody>
      </p:sp>
      <p:sp>
        <p:nvSpPr>
          <p:cNvPr id="669"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How one question scales into a system</a:t>
            </a:r>
          </a:p>
        </p:txBody>
      </p:sp>
      <p:sp>
        <p:nvSpPr>
          <p:cNvPr id="670" name="Rectangle 4"/>
          <p:cNvSpPr/>
          <p:nvPr/>
        </p:nvSpPr>
        <p:spPr>
          <a:xfrm>
            <a:off x="548639" y="1572767"/>
            <a:ext cx="2670050" cy="342900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671" name="TextBox 5"/>
          <p:cNvSpPr txBox="1"/>
          <p:nvPr/>
        </p:nvSpPr>
        <p:spPr>
          <a:xfrm>
            <a:off x="768095"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3A5C9E"/>
                </a:solidFill>
              </a:defRPr>
            </a:lvl1pPr>
          </a:lstStyle>
          <a:p>
            <a:pPr/>
            <a:r>
              <a:t>STEP 1</a:t>
            </a:r>
          </a:p>
        </p:txBody>
      </p:sp>
      <p:sp>
        <p:nvSpPr>
          <p:cNvPr id="672" name="TextBox 6"/>
          <p:cNvSpPr txBox="1"/>
          <p:nvPr/>
        </p:nvSpPr>
        <p:spPr>
          <a:xfrm>
            <a:off x="768095" y="2011679"/>
            <a:ext cx="2286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400">
                <a:solidFill>
                  <a:srgbClr val="0F2145"/>
                </a:solidFill>
                <a:latin typeface="Georgia"/>
                <a:ea typeface="Georgia"/>
                <a:cs typeface="Georgia"/>
                <a:sym typeface="Georgia"/>
              </a:defRPr>
            </a:lvl1pPr>
          </a:lstStyle>
          <a:p>
            <a:pPr/>
            <a:r>
              <a:t>You ask</a:t>
            </a:r>
          </a:p>
        </p:txBody>
      </p:sp>
      <p:sp>
        <p:nvSpPr>
          <p:cNvPr id="673" name="TextBox 7"/>
          <p:cNvSpPr txBox="1"/>
          <p:nvPr/>
        </p:nvSpPr>
        <p:spPr>
          <a:xfrm>
            <a:off x="768095" y="2487167"/>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You type a question into a chat window. “What was Reliance's revenue last year?”</a:t>
            </a:r>
          </a:p>
        </p:txBody>
      </p:sp>
      <p:sp>
        <p:nvSpPr>
          <p:cNvPr id="674" name="TextBox 8"/>
          <p:cNvSpPr txBox="1"/>
          <p:nvPr/>
        </p:nvSpPr>
        <p:spPr>
          <a:xfrm>
            <a:off x="768095" y="3977638"/>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5D6B7E"/>
                </a:solidFill>
              </a:defRPr>
            </a:pPr>
            <a:r>
              <a:t>WHAT YOU GET</a:t>
            </a:r>
          </a:p>
          <a:p>
            <a:pPr>
              <a:lnSpc>
                <a:spcPct val="104999"/>
              </a:lnSpc>
              <a:spcBef>
                <a:spcPts val="400"/>
              </a:spcBef>
              <a:defRPr sz="1000">
                <a:solidFill>
                  <a:srgbClr val="5D6B7E"/>
                </a:solidFill>
              </a:defRPr>
            </a:pPr>
            <a:r>
              <a:t>One answer. Nothing is saved. You cannot repeat it tomorrow without typing it again.</a:t>
            </a:r>
          </a:p>
        </p:txBody>
      </p:sp>
      <p:sp>
        <p:nvSpPr>
          <p:cNvPr id="675" name="TextBox 9"/>
          <p:cNvSpPr txBox="1"/>
          <p:nvPr/>
        </p:nvSpPr>
        <p:spPr>
          <a:xfrm>
            <a:off x="768095" y="4709159"/>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800">
                <a:solidFill>
                  <a:srgbClr val="3A5C9E"/>
                </a:solidFill>
              </a:defRPr>
            </a:lvl1pPr>
          </a:lstStyle>
          <a:p>
            <a:pPr/>
            <a:r>
              <a:t>Hour 3, first half</a:t>
            </a:r>
          </a:p>
        </p:txBody>
      </p:sp>
      <p:sp>
        <p:nvSpPr>
          <p:cNvPr id="676" name="TextBox 10"/>
          <p:cNvSpPr txBox="1"/>
          <p:nvPr/>
        </p:nvSpPr>
        <p:spPr>
          <a:xfrm>
            <a:off x="3236976" y="3017520"/>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677" name="Rectangle 11"/>
          <p:cNvSpPr/>
          <p:nvPr/>
        </p:nvSpPr>
        <p:spPr>
          <a:xfrm>
            <a:off x="3374135" y="1572767"/>
            <a:ext cx="2670049" cy="3429001"/>
          </a:xfrm>
          <a:prstGeom prst="rect">
            <a:avLst/>
          </a:prstGeom>
          <a:solidFill>
            <a:srgbClr val="D5E1F2"/>
          </a:solidFill>
          <a:ln w="12700">
            <a:miter lim="400000"/>
          </a:ln>
        </p:spPr>
        <p:txBody>
          <a:bodyPr lIns="45719" rIns="45719" anchor="ctr"/>
          <a:lstStyle/>
          <a:p>
            <a:pPr algn="ctr">
              <a:defRPr>
                <a:solidFill>
                  <a:srgbClr val="FFFFFF"/>
                </a:solidFill>
              </a:defRPr>
            </a:pPr>
          </a:p>
        </p:txBody>
      </p:sp>
      <p:sp>
        <p:nvSpPr>
          <p:cNvPr id="678" name="TextBox 12"/>
          <p:cNvSpPr txBox="1"/>
          <p:nvPr/>
        </p:nvSpPr>
        <p:spPr>
          <a:xfrm>
            <a:off x="3593591"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3A5C9E"/>
                </a:solidFill>
              </a:defRPr>
            </a:lvl1pPr>
          </a:lstStyle>
          <a:p>
            <a:pPr/>
            <a:r>
              <a:t>STEP 2</a:t>
            </a:r>
          </a:p>
        </p:txBody>
      </p:sp>
      <p:sp>
        <p:nvSpPr>
          <p:cNvPr id="679" name="TextBox 13"/>
          <p:cNvSpPr txBox="1"/>
          <p:nvPr/>
        </p:nvSpPr>
        <p:spPr>
          <a:xfrm>
            <a:off x="3593591" y="2011679"/>
            <a:ext cx="2286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400">
                <a:solidFill>
                  <a:srgbClr val="0F2145"/>
                </a:solidFill>
                <a:latin typeface="Georgia"/>
                <a:ea typeface="Georgia"/>
                <a:cs typeface="Georgia"/>
                <a:sym typeface="Georgia"/>
              </a:defRPr>
            </a:lvl1pPr>
          </a:lstStyle>
          <a:p>
            <a:pPr/>
            <a:r>
              <a:t>You get code</a:t>
            </a:r>
          </a:p>
        </p:txBody>
      </p:sp>
      <p:sp>
        <p:nvSpPr>
          <p:cNvPr id="680" name="TextBox 14"/>
          <p:cNvSpPr txBox="1"/>
          <p:nvPr/>
        </p:nvSpPr>
        <p:spPr>
          <a:xfrm>
            <a:off x="3593591" y="2487167"/>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You ask the same chat to write the Python. It hands you eight lines that call yfinance.</a:t>
            </a:r>
          </a:p>
        </p:txBody>
      </p:sp>
      <p:sp>
        <p:nvSpPr>
          <p:cNvPr id="681" name="TextBox 15"/>
          <p:cNvSpPr txBox="1"/>
          <p:nvPr/>
        </p:nvSpPr>
        <p:spPr>
          <a:xfrm>
            <a:off x="3593591" y="3977638"/>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5D6B7E"/>
                </a:solidFill>
              </a:defRPr>
            </a:pPr>
            <a:r>
              <a:t>WHAT YOU GET</a:t>
            </a:r>
          </a:p>
          <a:p>
            <a:pPr>
              <a:lnSpc>
                <a:spcPct val="104999"/>
              </a:lnSpc>
              <a:spcBef>
                <a:spcPts val="400"/>
              </a:spcBef>
              <a:defRPr sz="1000">
                <a:solidFill>
                  <a:srgbClr val="5D6B7E"/>
                </a:solidFill>
              </a:defRPr>
            </a:pPr>
            <a:r>
              <a:t>Now it repeats. Change the company name and it runs again.</a:t>
            </a:r>
          </a:p>
        </p:txBody>
      </p:sp>
      <p:sp>
        <p:nvSpPr>
          <p:cNvPr id="682" name="TextBox 16"/>
          <p:cNvSpPr txBox="1"/>
          <p:nvPr/>
        </p:nvSpPr>
        <p:spPr>
          <a:xfrm>
            <a:off x="3593591" y="4709159"/>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800">
                <a:solidFill>
                  <a:srgbClr val="3A5C9E"/>
                </a:solidFill>
              </a:defRPr>
            </a:lvl1pPr>
          </a:lstStyle>
          <a:p>
            <a:pPr/>
            <a:r>
              <a:t>Hour 3, first half</a:t>
            </a:r>
          </a:p>
        </p:txBody>
      </p:sp>
      <p:sp>
        <p:nvSpPr>
          <p:cNvPr id="683" name="TextBox 17"/>
          <p:cNvSpPr txBox="1"/>
          <p:nvPr/>
        </p:nvSpPr>
        <p:spPr>
          <a:xfrm>
            <a:off x="6062471" y="3017520"/>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684" name="Rectangle 18"/>
          <p:cNvSpPr/>
          <p:nvPr/>
        </p:nvSpPr>
        <p:spPr>
          <a:xfrm>
            <a:off x="6199630" y="1572767"/>
            <a:ext cx="2670049" cy="3429001"/>
          </a:xfrm>
          <a:prstGeom prst="rect">
            <a:avLst/>
          </a:prstGeom>
          <a:solidFill>
            <a:srgbClr val="BFD2EC"/>
          </a:solidFill>
          <a:ln w="12700">
            <a:miter lim="400000"/>
          </a:ln>
        </p:spPr>
        <p:txBody>
          <a:bodyPr lIns="45719" rIns="45719" anchor="ctr"/>
          <a:lstStyle/>
          <a:p>
            <a:pPr algn="ctr">
              <a:defRPr>
                <a:solidFill>
                  <a:srgbClr val="FFFFFF"/>
                </a:solidFill>
              </a:defRPr>
            </a:pPr>
          </a:p>
        </p:txBody>
      </p:sp>
      <p:sp>
        <p:nvSpPr>
          <p:cNvPr id="685" name="TextBox 19"/>
          <p:cNvSpPr txBox="1"/>
          <p:nvPr/>
        </p:nvSpPr>
        <p:spPr>
          <a:xfrm>
            <a:off x="6419088"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3A5C9E"/>
                </a:solidFill>
              </a:defRPr>
            </a:lvl1pPr>
          </a:lstStyle>
          <a:p>
            <a:pPr/>
            <a:r>
              <a:t>STEP 3</a:t>
            </a:r>
          </a:p>
        </p:txBody>
      </p:sp>
      <p:sp>
        <p:nvSpPr>
          <p:cNvPr id="686" name="TextBox 20"/>
          <p:cNvSpPr txBox="1"/>
          <p:nvPr/>
        </p:nvSpPr>
        <p:spPr>
          <a:xfrm>
            <a:off x="6419088" y="2011679"/>
            <a:ext cx="2286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400">
                <a:solidFill>
                  <a:srgbClr val="0F2145"/>
                </a:solidFill>
                <a:latin typeface="Georgia"/>
                <a:ea typeface="Georgia"/>
                <a:cs typeface="Georgia"/>
                <a:sym typeface="Georgia"/>
              </a:defRPr>
            </a:lvl1pPr>
          </a:lstStyle>
          <a:p>
            <a:pPr/>
            <a:r>
              <a:t>An agent builds the app</a:t>
            </a:r>
          </a:p>
        </p:txBody>
      </p:sp>
      <p:sp>
        <p:nvSpPr>
          <p:cNvPr id="687" name="TextBox 21"/>
          <p:cNvSpPr txBox="1"/>
          <p:nvPr/>
        </p:nvSpPr>
        <p:spPr>
          <a:xfrm>
            <a:off x="6419088" y="2487167"/>
            <a:ext cx="2286001" cy="4809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You describe the app in English. Codex writes the server, the page and the styling, runs it, and fixes its own errors.</a:t>
            </a:r>
          </a:p>
        </p:txBody>
      </p:sp>
      <p:sp>
        <p:nvSpPr>
          <p:cNvPr id="688" name="TextBox 22"/>
          <p:cNvSpPr txBox="1"/>
          <p:nvPr/>
        </p:nvSpPr>
        <p:spPr>
          <a:xfrm>
            <a:off x="6419088" y="3977638"/>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5D6B7E"/>
                </a:solidFill>
              </a:defRPr>
            </a:pPr>
            <a:r>
              <a:t>WHAT YOU GET</a:t>
            </a:r>
          </a:p>
          <a:p>
            <a:pPr>
              <a:lnSpc>
                <a:spcPct val="104999"/>
              </a:lnSpc>
              <a:spcBef>
                <a:spcPts val="400"/>
              </a:spcBef>
              <a:defRPr sz="1000">
                <a:solidFill>
                  <a:srgbClr val="5D6B7E"/>
                </a:solidFill>
              </a:defRPr>
            </a:pPr>
            <a:r>
              <a:t>A working tool with a search box. Anyone on the desk can use it.</a:t>
            </a:r>
          </a:p>
        </p:txBody>
      </p:sp>
      <p:sp>
        <p:nvSpPr>
          <p:cNvPr id="689" name="TextBox 23"/>
          <p:cNvSpPr txBox="1"/>
          <p:nvPr/>
        </p:nvSpPr>
        <p:spPr>
          <a:xfrm>
            <a:off x="6419088" y="4709159"/>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800">
                <a:solidFill>
                  <a:srgbClr val="3A5C9E"/>
                </a:solidFill>
              </a:defRPr>
            </a:lvl1pPr>
          </a:lstStyle>
          <a:p>
            <a:pPr/>
            <a:r>
              <a:t>Hour 3, second half</a:t>
            </a:r>
          </a:p>
        </p:txBody>
      </p:sp>
      <p:sp>
        <p:nvSpPr>
          <p:cNvPr id="690" name="TextBox 24"/>
          <p:cNvSpPr txBox="1"/>
          <p:nvPr/>
        </p:nvSpPr>
        <p:spPr>
          <a:xfrm>
            <a:off x="8887966" y="3017520"/>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691" name="Rectangle 25"/>
          <p:cNvSpPr/>
          <p:nvPr/>
        </p:nvSpPr>
        <p:spPr>
          <a:xfrm>
            <a:off x="9025128" y="1572767"/>
            <a:ext cx="2670049" cy="342900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92" name="TextBox 26"/>
          <p:cNvSpPr txBox="1"/>
          <p:nvPr/>
        </p:nvSpPr>
        <p:spPr>
          <a:xfrm>
            <a:off x="9244583"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C9A227"/>
                </a:solidFill>
              </a:defRPr>
            </a:lvl1pPr>
          </a:lstStyle>
          <a:p>
            <a:pPr/>
            <a:r>
              <a:t>STEP 4</a:t>
            </a:r>
          </a:p>
        </p:txBody>
      </p:sp>
      <p:sp>
        <p:nvSpPr>
          <p:cNvPr id="693" name="TextBox 27"/>
          <p:cNvSpPr txBox="1"/>
          <p:nvPr/>
        </p:nvSpPr>
        <p:spPr>
          <a:xfrm>
            <a:off x="9244583" y="2011679"/>
            <a:ext cx="2286001" cy="4165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400">
                <a:solidFill>
                  <a:srgbClr val="FFFFFF"/>
                </a:solidFill>
                <a:latin typeface="Georgia"/>
                <a:ea typeface="Georgia"/>
                <a:cs typeface="Georgia"/>
                <a:sym typeface="Georgia"/>
              </a:defRPr>
            </a:lvl1pPr>
          </a:lstStyle>
          <a:p>
            <a:pPr/>
            <a:r>
              <a:t>Many models, orchestrated</a:t>
            </a:r>
          </a:p>
        </p:txBody>
      </p:sp>
      <p:sp>
        <p:nvSpPr>
          <p:cNvPr id="694" name="TextBox 28"/>
          <p:cNvSpPr txBox="1"/>
          <p:nvPr/>
        </p:nvSpPr>
        <p:spPr>
          <a:xfrm>
            <a:off x="9244583" y="2487167"/>
            <a:ext cx="2286001" cy="4809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C9D6EE"/>
                </a:solidFill>
              </a:defRPr>
            </a:lvl1pPr>
          </a:lstStyle>
          <a:p>
            <a:pPr/>
            <a:r>
              <a:t>Several models, each with a job, calling tools, checked by Python, ending in a document a human signs.</a:t>
            </a:r>
          </a:p>
        </p:txBody>
      </p:sp>
      <p:sp>
        <p:nvSpPr>
          <p:cNvPr id="695" name="TextBox 29"/>
          <p:cNvSpPr txBox="1"/>
          <p:nvPr/>
        </p:nvSpPr>
        <p:spPr>
          <a:xfrm>
            <a:off x="9244583" y="3977638"/>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C9A227"/>
                </a:solidFill>
              </a:defRPr>
            </a:pPr>
            <a:r>
              <a:t>WHAT YOU GET</a:t>
            </a:r>
          </a:p>
          <a:p>
            <a:pPr>
              <a:lnSpc>
                <a:spcPct val="104999"/>
              </a:lnSpc>
              <a:spcBef>
                <a:spcPts val="400"/>
              </a:spcBef>
              <a:defRPr sz="1000">
                <a:solidFill>
                  <a:srgbClr val="C9D6EE"/>
                </a:solidFill>
              </a:defRPr>
            </a:pPr>
            <a:r>
              <a:t>That is JARVIS, and it is where Modules 3 to 10 take you.</a:t>
            </a:r>
          </a:p>
        </p:txBody>
      </p:sp>
      <p:sp>
        <p:nvSpPr>
          <p:cNvPr id="696" name="TextBox 30"/>
          <p:cNvSpPr txBox="1"/>
          <p:nvPr/>
        </p:nvSpPr>
        <p:spPr>
          <a:xfrm>
            <a:off x="9244583" y="4709159"/>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800">
                <a:solidFill>
                  <a:srgbClr val="C9A227"/>
                </a:solidFill>
              </a:defRPr>
            </a:lvl1pPr>
          </a:lstStyle>
          <a:p>
            <a:pPr/>
            <a:r>
              <a:t>Slide 17, then Module 3</a:t>
            </a:r>
          </a:p>
        </p:txBody>
      </p:sp>
      <p:sp>
        <p:nvSpPr>
          <p:cNvPr id="697" name="Rectangle 31"/>
          <p:cNvSpPr/>
          <p:nvPr/>
        </p:nvSpPr>
        <p:spPr>
          <a:xfrm>
            <a:off x="548640" y="5166359"/>
            <a:ext cx="11091672" cy="91440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98" name="Rectangle 32"/>
          <p:cNvSpPr/>
          <p:nvPr/>
        </p:nvSpPr>
        <p:spPr>
          <a:xfrm>
            <a:off x="548640" y="5166359"/>
            <a:ext cx="64009" cy="91440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99" name="TextBox 33"/>
          <p:cNvSpPr txBox="1"/>
          <p:nvPr/>
        </p:nvSpPr>
        <p:spPr>
          <a:xfrm>
            <a:off x="822960" y="5303520"/>
            <a:ext cx="10515601" cy="5696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300">
                <a:solidFill>
                  <a:srgbClr val="0F2145"/>
                </a:solidFill>
                <a:latin typeface="Georgia"/>
                <a:ea typeface="Georgia"/>
                <a:cs typeface="Georgia"/>
                <a:sym typeface="Georgia"/>
              </a:defRPr>
            </a:pPr>
            <a:r>
              <a:t>The work does not change. The scale does.</a:t>
            </a:r>
          </a:p>
          <a:p>
            <a:pPr>
              <a:lnSpc>
                <a:spcPct val="104999"/>
              </a:lnSpc>
              <a:spcBef>
                <a:spcPts val="500"/>
              </a:spcBef>
              <a:defRPr sz="1100">
                <a:solidFill>
                  <a:srgbClr val="1B2A41"/>
                </a:solidFill>
              </a:defRPr>
            </a:pPr>
            <a:r>
              <a:t>Every step above asks for the same thing: a company's revenue and price. Step 1 answers it once. Step 4 answers it for a hundred companies, every morning, with the arithmetic checked. You will do steps 1, 2 and 3 today.</a:t>
            </a:r>
          </a:p>
        </p:txBody>
      </p:sp>
      <p:sp>
        <p:nvSpPr>
          <p:cNvPr id="700" name="TextBox 34"/>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ISBMS · PGDM 2025–27 · AGENTIC AI &amp; ADVANCED ANALYTICS IN FINANCE</a:t>
            </a:r>
          </a:p>
        </p:txBody>
      </p:sp>
      <p:sp>
        <p:nvSpPr>
          <p:cNvPr id="701" name="TextBox 35"/>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23</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92608"/>
          </a:xfrm>
          <a:prstGeom prst="rect">
            <a:avLst/>
          </a:prstGeom>
          <a:noFill/>
        </p:spPr>
        <p:txBody>
          <a:bodyPr wrap="square" lIns="0" rIns="0" tIns="0" bIns="0" anchor="t">
            <a:spAutoFit/>
          </a:bodyPr>
          <a:lstStyle/>
          <a:p>
            <a:pPr algn="l">
              <a:lnSpc>
                <a:spcPct val="105000"/>
              </a:lnSpc>
              <a:spcBef>
                <a:spcPts val="0"/>
              </a:spcBef>
            </a:pPr>
            <a:r>
              <a:rPr sz="1100" b="1">
                <a:solidFill>
                  <a:srgbClr val="C9A227"/>
                </a:solidFill>
                <a:latin typeface="Calibri"/>
              </a:rPr>
              <a:t>PRACTICE QUESTIONS · PART A</a:t>
            </a:r>
          </a:p>
        </p:txBody>
      </p:sp>
      <p:sp>
        <p:nvSpPr>
          <p:cNvPr id="4" name="TextBox 3"/>
          <p:cNvSpPr txBox="1"/>
          <p:nvPr/>
        </p:nvSpPr>
        <p:spPr>
          <a:xfrm>
            <a:off x="548640" y="621792"/>
            <a:ext cx="11091672" cy="685800"/>
          </a:xfrm>
          <a:prstGeom prst="rect">
            <a:avLst/>
          </a:prstGeom>
          <a:noFill/>
        </p:spPr>
        <p:txBody>
          <a:bodyPr wrap="square" lIns="0" rIns="0" tIns="0" bIns="0" anchor="t">
            <a:spAutoFit/>
          </a:bodyPr>
          <a:lstStyle/>
          <a:p>
            <a:pPr algn="l">
              <a:lnSpc>
                <a:spcPct val="105000"/>
              </a:lnSpc>
              <a:spcBef>
                <a:spcPts val="0"/>
              </a:spcBef>
            </a:pPr>
            <a:r>
              <a:rPr sz="2900" b="1">
                <a:solidFill>
                  <a:srgbClr val="0F2145"/>
                </a:solidFill>
                <a:latin typeface="Georgia"/>
              </a:rPr>
              <a:t>Six questions on today's basics</a:t>
            </a:r>
          </a:p>
        </p:txBody>
      </p:sp>
      <p:sp>
        <p:nvSpPr>
          <p:cNvPr id="5" name="Rectangle 4"/>
          <p:cNvSpPr/>
          <p:nvPr/>
        </p:nvSpPr>
        <p:spPr>
          <a:xfrm>
            <a:off x="548640" y="1572768"/>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55064"/>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Q1</a:t>
            </a:r>
          </a:p>
        </p:txBody>
      </p:sp>
      <p:sp>
        <p:nvSpPr>
          <p:cNvPr id="8" name="TextBox 7"/>
          <p:cNvSpPr txBox="1"/>
          <p:nvPr/>
        </p:nvSpPr>
        <p:spPr>
          <a:xfrm>
            <a:off x="1554480" y="1636776"/>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In one line each, what is generative AI, what is an AI agent, and what is agentic AI?</a:t>
            </a:r>
          </a:p>
          <a:p>
            <a:pPr algn="l">
              <a:lnSpc>
                <a:spcPct val="105000"/>
              </a:lnSpc>
              <a:spcBef>
                <a:spcPts val="200"/>
              </a:spcBef>
            </a:pPr>
            <a:r>
              <a:rPr sz="900" b="1">
                <a:solidFill>
                  <a:srgbClr val="C9A227"/>
                </a:solidFill>
                <a:latin typeface="Calibri"/>
              </a:rPr>
              <a:t>TIP  </a:t>
            </a:r>
            <a:r>
              <a:rPr sz="900" b="0">
                <a:solidFill>
                  <a:srgbClr val="5D6B7E"/>
                </a:solidFill>
                <a:latin typeface="Calibri"/>
              </a:rPr>
              <a:t>Generative AI writes. An agent uses tools to act. Agentic AI is several agents coordinated, with checks between them.</a:t>
            </a:r>
          </a:p>
        </p:txBody>
      </p:sp>
      <p:sp>
        <p:nvSpPr>
          <p:cNvPr id="9" name="Rectangle 8"/>
          <p:cNvSpPr/>
          <p:nvPr/>
        </p:nvSpPr>
        <p:spPr>
          <a:xfrm>
            <a:off x="548640" y="2377440"/>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77440"/>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59736"/>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Q2</a:t>
            </a:r>
          </a:p>
        </p:txBody>
      </p:sp>
      <p:sp>
        <p:nvSpPr>
          <p:cNvPr id="12" name="TextBox 11"/>
          <p:cNvSpPr txBox="1"/>
          <p:nvPr/>
        </p:nvSpPr>
        <p:spPr>
          <a:xfrm>
            <a:off x="1554480" y="2441448"/>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What is a token, and roughly how many tokens are in a 1,000-word research note?</a:t>
            </a:r>
          </a:p>
          <a:p>
            <a:pPr algn="l">
              <a:lnSpc>
                <a:spcPct val="105000"/>
              </a:lnSpc>
              <a:spcBef>
                <a:spcPts val="200"/>
              </a:spcBef>
            </a:pPr>
            <a:r>
              <a:rPr sz="900" b="1">
                <a:solidFill>
                  <a:srgbClr val="C9A227"/>
                </a:solidFill>
                <a:latin typeface="Calibri"/>
              </a:rPr>
              <a:t>TIP  </a:t>
            </a:r>
            <a:r>
              <a:rPr sz="900" b="0">
                <a:solidFill>
                  <a:srgbClr val="5D6B7E"/>
                </a:solidFill>
                <a:latin typeface="Calibri"/>
              </a:rPr>
              <a:t>A token is a piece of a word, about three quarters of one. A 1,000-word note is roughly 1,300 tokens.</a:t>
            </a:r>
          </a:p>
        </p:txBody>
      </p:sp>
      <p:sp>
        <p:nvSpPr>
          <p:cNvPr id="13" name="Rectangle 12"/>
          <p:cNvSpPr/>
          <p:nvPr/>
        </p:nvSpPr>
        <p:spPr>
          <a:xfrm>
            <a:off x="548640" y="3182112"/>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82112"/>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264408"/>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Q3</a:t>
            </a:r>
          </a:p>
        </p:txBody>
      </p:sp>
      <p:sp>
        <p:nvSpPr>
          <p:cNvPr id="16" name="TextBox 15"/>
          <p:cNvSpPr txBox="1"/>
          <p:nvPr/>
        </p:nvSpPr>
        <p:spPr>
          <a:xfrm>
            <a:off x="1554480" y="3246120"/>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What does a transformer do that older models could not, and why does that matter for a 200-page annual report?</a:t>
            </a:r>
          </a:p>
          <a:p>
            <a:pPr algn="l">
              <a:lnSpc>
                <a:spcPct val="105000"/>
              </a:lnSpc>
              <a:spcBef>
                <a:spcPts val="200"/>
              </a:spcBef>
            </a:pPr>
            <a:r>
              <a:rPr sz="900" b="1">
                <a:solidFill>
                  <a:srgbClr val="C9A227"/>
                </a:solidFill>
                <a:latin typeface="Calibri"/>
              </a:rPr>
              <a:t>TIP  </a:t>
            </a:r>
            <a:r>
              <a:rPr sz="900" b="0">
                <a:solidFill>
                  <a:srgbClr val="5D6B7E"/>
                </a:solidFill>
                <a:latin typeface="Calibri"/>
              </a:rPr>
              <a:t>It reads the whole passage at once and weighs which words matter, so page 180 can be answered while page 4 is still in view.</a:t>
            </a:r>
          </a:p>
        </p:txBody>
      </p:sp>
      <p:sp>
        <p:nvSpPr>
          <p:cNvPr id="17" name="Rectangle 16"/>
          <p:cNvSpPr/>
          <p:nvPr/>
        </p:nvSpPr>
        <p:spPr>
          <a:xfrm>
            <a:off x="548640" y="3986784"/>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86784"/>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069080"/>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Q4</a:t>
            </a:r>
          </a:p>
        </p:txBody>
      </p:sp>
      <p:sp>
        <p:nvSpPr>
          <p:cNvPr id="20" name="TextBox 19"/>
          <p:cNvSpPr txBox="1"/>
          <p:nvPr/>
        </p:nvSpPr>
        <p:spPr>
          <a:xfrm>
            <a:off x="1554480" y="4050792"/>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Name the four steps of the agent loop, in order.</a:t>
            </a:r>
          </a:p>
          <a:p>
            <a:pPr algn="l">
              <a:lnSpc>
                <a:spcPct val="105000"/>
              </a:lnSpc>
              <a:spcBef>
                <a:spcPts val="200"/>
              </a:spcBef>
            </a:pPr>
            <a:r>
              <a:rPr sz="900" b="1">
                <a:solidFill>
                  <a:srgbClr val="C9A227"/>
                </a:solidFill>
                <a:latin typeface="Calibri"/>
              </a:rPr>
              <a:t>TIP  </a:t>
            </a:r>
            <a:r>
              <a:rPr sz="900" b="0">
                <a:solidFill>
                  <a:srgbClr val="5D6B7E"/>
                </a:solidFill>
                <a:latin typeface="Calibri"/>
              </a:rPr>
              <a:t>Observe, Plan, Act, Reflect. Then repeat until the goal is met or a limit stops it.</a:t>
            </a:r>
          </a:p>
        </p:txBody>
      </p:sp>
      <p:sp>
        <p:nvSpPr>
          <p:cNvPr id="21" name="Rectangle 20"/>
          <p:cNvSpPr/>
          <p:nvPr/>
        </p:nvSpPr>
        <p:spPr>
          <a:xfrm>
            <a:off x="548640" y="4791456"/>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791456"/>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873752"/>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Q5</a:t>
            </a:r>
          </a:p>
        </p:txBody>
      </p:sp>
      <p:sp>
        <p:nvSpPr>
          <p:cNvPr id="24" name="TextBox 23"/>
          <p:cNvSpPr txBox="1"/>
          <p:nvPr/>
        </p:nvSpPr>
        <p:spPr>
          <a:xfrm>
            <a:off x="1554480" y="4855464"/>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You must score 50,000 headlines every night on the bank's own servers. FinBERT or a frontier model?</a:t>
            </a:r>
          </a:p>
          <a:p>
            <a:pPr algn="l">
              <a:lnSpc>
                <a:spcPct val="105000"/>
              </a:lnSpc>
              <a:spcBef>
                <a:spcPts val="200"/>
              </a:spcBef>
            </a:pPr>
            <a:r>
              <a:rPr sz="900" b="1">
                <a:solidFill>
                  <a:srgbClr val="C9A227"/>
                </a:solidFill>
                <a:latin typeface="Calibri"/>
              </a:rPr>
              <a:t>TIP  </a:t>
            </a:r>
            <a:r>
              <a:rPr sz="900" b="0">
                <a:solidFill>
                  <a:srgbClr val="5D6B7E"/>
                </a:solidFill>
                <a:latin typeface="Calibri"/>
              </a:rPr>
              <a:t>FinBERT. One narrow repeated job, it runs in-house, there is no API bill and no data leaves the bank.</a:t>
            </a:r>
          </a:p>
        </p:txBody>
      </p:sp>
      <p:sp>
        <p:nvSpPr>
          <p:cNvPr id="25" name="Rectangle 24"/>
          <p:cNvSpPr/>
          <p:nvPr/>
        </p:nvSpPr>
        <p:spPr>
          <a:xfrm>
            <a:off x="548640" y="5596128"/>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596128"/>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678424"/>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Q6</a:t>
            </a:r>
          </a:p>
        </p:txBody>
      </p:sp>
      <p:sp>
        <p:nvSpPr>
          <p:cNvPr id="28" name="TextBox 27"/>
          <p:cNvSpPr txBox="1"/>
          <p:nvPr/>
        </p:nvSpPr>
        <p:spPr>
          <a:xfrm>
            <a:off x="1554480" y="5660136"/>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An output says the unit is INR crore but the filing prints “₹ in lakhs”. What is that worth, and what stops it?</a:t>
            </a:r>
          </a:p>
          <a:p>
            <a:pPr algn="l">
              <a:lnSpc>
                <a:spcPct val="105000"/>
              </a:lnSpc>
              <a:spcBef>
                <a:spcPts val="200"/>
              </a:spcBef>
            </a:pPr>
            <a:r>
              <a:rPr sz="900" b="1">
                <a:solidFill>
                  <a:srgbClr val="C9A227"/>
                </a:solidFill>
                <a:latin typeface="Calibri"/>
              </a:rPr>
              <a:t>TIP  </a:t>
            </a:r>
            <a:r>
              <a:rPr sz="900" b="0">
                <a:solidFill>
                  <a:srgbClr val="5D6B7E"/>
                </a:solidFill>
                <a:latin typeface="Calibri"/>
              </a:rPr>
              <a:t>A factor-of-100 error. Carry the printed unit through untouched and convert in Python, never in the model.</a:t>
            </a:r>
          </a:p>
        </p:txBody>
      </p:sp>
      <p:sp>
        <p:nvSpPr>
          <p:cNvPr id="29" name="TextBox 28"/>
          <p:cNvSpPr txBox="1"/>
          <p:nvPr/>
        </p:nvSpPr>
        <p:spPr>
          <a:xfrm>
            <a:off x="548640" y="6446520"/>
            <a:ext cx="8229600" cy="274320"/>
          </a:xfrm>
          <a:prstGeom prst="rect">
            <a:avLst/>
          </a:prstGeom>
          <a:noFill/>
        </p:spPr>
        <p:txBody>
          <a:bodyPr wrap="square" lIns="0" rIns="0" tIns="0" bIns="0" anchor="t">
            <a:spAutoFit/>
          </a:bodyPr>
          <a:lstStyle/>
          <a:p>
            <a:pPr algn="l">
              <a:lnSpc>
                <a:spcPct val="105000"/>
              </a:lnSpc>
              <a:spcBef>
                <a:spcPts val="0"/>
              </a:spcBef>
            </a:pPr>
            <a:r>
              <a:rPr sz="900" b="0">
                <a:solidFill>
                  <a:srgbClr val="5D6B7E"/>
                </a:solidFill>
                <a:latin typeface="Calibri"/>
              </a:rPr>
              <a:t>The tip is the shape of the answer, not the whole answer. Two or three sentences each in the exam.</a:t>
            </a:r>
          </a:p>
        </p:txBody>
      </p:sp>
      <p:sp>
        <p:nvSpPr>
          <p:cNvPr id="30" name="TextBox 29"/>
          <p:cNvSpPr txBox="1"/>
          <p:nvPr/>
        </p:nvSpPr>
        <p:spPr>
          <a:xfrm>
            <a:off x="9262872" y="6446520"/>
            <a:ext cx="2377440" cy="274320"/>
          </a:xfrm>
          <a:prstGeom prst="rect">
            <a:avLst/>
          </a:prstGeom>
          <a:noFill/>
        </p:spPr>
        <p:txBody>
          <a:bodyPr wrap="square" lIns="0" rIns="0" tIns="0" bIns="0" anchor="t">
            <a:spAutoFit/>
          </a:bodyPr>
          <a:lstStyle/>
          <a:p>
            <a:pPr algn="r">
              <a:lnSpc>
                <a:spcPct val="105000"/>
              </a:lnSpc>
              <a:spcBef>
                <a:spcPts val="0"/>
              </a:spcBef>
            </a:pPr>
            <a:r>
              <a:rPr sz="850" b="0">
                <a:solidFill>
                  <a:srgbClr val="5D6B7E"/>
                </a:solidFill>
                <a:latin typeface="Calibri"/>
              </a:rPr>
              <a:t>MODULE 1  ·  23</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92608"/>
          </a:xfrm>
          <a:prstGeom prst="rect">
            <a:avLst/>
          </a:prstGeom>
          <a:noFill/>
        </p:spPr>
        <p:txBody>
          <a:bodyPr wrap="square" lIns="0" rIns="0" tIns="0" bIns="0" anchor="t">
            <a:spAutoFit/>
          </a:bodyPr>
          <a:lstStyle/>
          <a:p>
            <a:pPr algn="l">
              <a:lnSpc>
                <a:spcPct val="105000"/>
              </a:lnSpc>
              <a:spcBef>
                <a:spcPts val="0"/>
              </a:spcBef>
            </a:pPr>
            <a:r>
              <a:rPr sz="1100" b="1">
                <a:solidFill>
                  <a:srgbClr val="C9A227"/>
                </a:solidFill>
                <a:latin typeface="Calibri"/>
              </a:rPr>
              <a:t>PRACTICE QUESTIONS · PART B</a:t>
            </a:r>
          </a:p>
        </p:txBody>
      </p:sp>
      <p:sp>
        <p:nvSpPr>
          <p:cNvPr id="4" name="TextBox 3"/>
          <p:cNvSpPr txBox="1"/>
          <p:nvPr/>
        </p:nvSpPr>
        <p:spPr>
          <a:xfrm>
            <a:off x="548640" y="621792"/>
            <a:ext cx="11091672" cy="685800"/>
          </a:xfrm>
          <a:prstGeom prst="rect">
            <a:avLst/>
          </a:prstGeom>
          <a:noFill/>
        </p:spPr>
        <p:txBody>
          <a:bodyPr wrap="square" lIns="0" rIns="0" tIns="0" bIns="0" anchor="t">
            <a:spAutoFit/>
          </a:bodyPr>
          <a:lstStyle/>
          <a:p>
            <a:pPr algn="l">
              <a:lnSpc>
                <a:spcPct val="105000"/>
              </a:lnSpc>
              <a:spcBef>
                <a:spcPts val="0"/>
              </a:spcBef>
            </a:pPr>
            <a:r>
              <a:rPr sz="2900" b="1">
                <a:solidFill>
                  <a:srgbClr val="0F2145"/>
                </a:solidFill>
                <a:latin typeface="Georgia"/>
              </a:rPr>
              <a:t>Two questions on the cases</a:t>
            </a:r>
          </a:p>
        </p:txBody>
      </p:sp>
      <p:sp>
        <p:nvSpPr>
          <p:cNvPr id="5" name="Rectangle 4"/>
          <p:cNvSpPr/>
          <p:nvPr/>
        </p:nvSpPr>
        <p:spPr>
          <a:xfrm>
            <a:off x="548640" y="1828800"/>
            <a:ext cx="11091672"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8288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03120"/>
            <a:ext cx="822960" cy="548640"/>
          </a:xfrm>
          <a:prstGeom prst="rect">
            <a:avLst/>
          </a:prstGeom>
          <a:noFill/>
        </p:spPr>
        <p:txBody>
          <a:bodyPr wrap="square" lIns="0" rIns="0" tIns="0" bIns="0" anchor="t">
            <a:spAutoFit/>
          </a:bodyPr>
          <a:lstStyle/>
          <a:p>
            <a:pPr algn="l">
              <a:lnSpc>
                <a:spcPct val="105000"/>
              </a:lnSpc>
              <a:spcBef>
                <a:spcPts val="0"/>
              </a:spcBef>
            </a:pPr>
            <a:r>
              <a:rPr sz="2000" b="1">
                <a:solidFill>
                  <a:srgbClr val="3A5C9E"/>
                </a:solidFill>
                <a:latin typeface="Georgia"/>
              </a:rPr>
              <a:t>Q7</a:t>
            </a:r>
          </a:p>
        </p:txBody>
      </p:sp>
      <p:sp>
        <p:nvSpPr>
          <p:cNvPr id="8" name="TextBox 7"/>
          <p:cNvSpPr txBox="1"/>
          <p:nvPr/>
        </p:nvSpPr>
        <p:spPr>
          <a:xfrm>
            <a:off x="1737360" y="2084832"/>
            <a:ext cx="9601200" cy="1371600"/>
          </a:xfrm>
          <a:prstGeom prst="rect">
            <a:avLst/>
          </a:prstGeom>
          <a:noFill/>
        </p:spPr>
        <p:txBody>
          <a:bodyPr wrap="square" lIns="0" rIns="0" tIns="0" bIns="0" anchor="t">
            <a:spAutoFit/>
          </a:bodyPr>
          <a:lstStyle/>
          <a:p>
            <a:pPr algn="l">
              <a:lnSpc>
                <a:spcPct val="105000"/>
              </a:lnSpc>
              <a:spcBef>
                <a:spcPts val="0"/>
              </a:spcBef>
            </a:pPr>
            <a:r>
              <a:rPr sz="1300" b="0">
                <a:solidFill>
                  <a:srgbClr val="1B2A41"/>
                </a:solidFill>
                <a:latin typeface="Calibri"/>
              </a:rPr>
              <a:t>Morgan Stanley aimed its GPT-4 assistant at finding documents, not at giving advice. Why was that the safer first use, and what did the firm test before rolling it out?</a:t>
            </a:r>
          </a:p>
          <a:p>
            <a:pPr algn="l">
              <a:lnSpc>
                <a:spcPct val="105000"/>
              </a:lnSpc>
              <a:spcBef>
                <a:spcPts val="800"/>
              </a:spcBef>
            </a:pPr>
            <a:r>
              <a:rPr sz="1050" b="1">
                <a:solidFill>
                  <a:srgbClr val="C9A227"/>
                </a:solidFill>
                <a:latin typeface="Calibri"/>
              </a:rPr>
              <a:t>TIP  </a:t>
            </a:r>
            <a:r>
              <a:rPr sz="1050" b="0">
                <a:solidFill>
                  <a:srgbClr val="5D6B7E"/>
                </a:solidFill>
                <a:latin typeface="Calibri"/>
              </a:rPr>
              <a:t>Retrieval is checkable against the firm's own library and carries no advice risk. They tested the assistant's answers against expert-written ones before advisors got near it.</a:t>
            </a:r>
          </a:p>
        </p:txBody>
      </p:sp>
      <p:sp>
        <p:nvSpPr>
          <p:cNvPr id="9" name="Rectangle 8"/>
          <p:cNvSpPr/>
          <p:nvPr/>
        </p:nvSpPr>
        <p:spPr>
          <a:xfrm>
            <a:off x="548640" y="3840480"/>
            <a:ext cx="11091672"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840480"/>
            <a:ext cx="64008" cy="18288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114800"/>
            <a:ext cx="822960" cy="548640"/>
          </a:xfrm>
          <a:prstGeom prst="rect">
            <a:avLst/>
          </a:prstGeom>
          <a:noFill/>
        </p:spPr>
        <p:txBody>
          <a:bodyPr wrap="square" lIns="0" rIns="0" tIns="0" bIns="0" anchor="t">
            <a:spAutoFit/>
          </a:bodyPr>
          <a:lstStyle/>
          <a:p>
            <a:pPr algn="l">
              <a:lnSpc>
                <a:spcPct val="105000"/>
              </a:lnSpc>
              <a:spcBef>
                <a:spcPts val="0"/>
              </a:spcBef>
            </a:pPr>
            <a:r>
              <a:rPr sz="2000" b="1">
                <a:solidFill>
                  <a:srgbClr val="3A5C9E"/>
                </a:solidFill>
                <a:latin typeface="Georgia"/>
              </a:rPr>
              <a:t>Q8</a:t>
            </a:r>
          </a:p>
        </p:txBody>
      </p:sp>
      <p:sp>
        <p:nvSpPr>
          <p:cNvPr id="12" name="TextBox 11"/>
          <p:cNvSpPr txBox="1"/>
          <p:nvPr/>
        </p:nvSpPr>
        <p:spPr>
          <a:xfrm>
            <a:off x="1737360" y="4096512"/>
            <a:ext cx="9601200" cy="1371600"/>
          </a:xfrm>
          <a:prstGeom prst="rect">
            <a:avLst/>
          </a:prstGeom>
          <a:noFill/>
        </p:spPr>
        <p:txBody>
          <a:bodyPr wrap="square" lIns="0" rIns="0" tIns="0" bIns="0" anchor="t">
            <a:spAutoFit/>
          </a:bodyPr>
          <a:lstStyle/>
          <a:p>
            <a:pPr algn="l">
              <a:lnSpc>
                <a:spcPct val="105000"/>
              </a:lnSpc>
              <a:spcBef>
                <a:spcPts val="0"/>
              </a:spcBef>
            </a:pPr>
            <a:r>
              <a:rPr sz="1300" b="0">
                <a:solidFill>
                  <a:srgbClr val="1B2A41"/>
                </a:solidFill>
                <a:latin typeface="Calibri"/>
              </a:rPr>
              <a:t>In JARVIS the valuation is computed in Python and the commentary is written by a model. Explain why the work is split that way.</a:t>
            </a:r>
          </a:p>
          <a:p>
            <a:pPr algn="l">
              <a:lnSpc>
                <a:spcPct val="105000"/>
              </a:lnSpc>
              <a:spcBef>
                <a:spcPts val="800"/>
              </a:spcBef>
            </a:pPr>
            <a:r>
              <a:rPr sz="1050" b="1">
                <a:solidFill>
                  <a:srgbClr val="C9A227"/>
                </a:solidFill>
                <a:latin typeface="Calibri"/>
              </a:rPr>
              <a:t>TIP  </a:t>
            </a:r>
            <a:r>
              <a:rPr sz="1050" b="0">
                <a:solidFill>
                  <a:srgbClr val="5D6B7E"/>
                </a:solidFill>
                <a:latin typeface="Calibri"/>
              </a:rPr>
              <a:t>A model predicts language, so it cannot be trusted to compute. Arithmetic goes to code that can be re-run and audited; judgement and wording go to the model.</a:t>
            </a:r>
          </a:p>
        </p:txBody>
      </p:sp>
      <p:sp>
        <p:nvSpPr>
          <p:cNvPr id="13" name="Rectangle 12"/>
          <p:cNvSpPr/>
          <p:nvPr/>
        </p:nvSpPr>
        <p:spPr>
          <a:xfrm>
            <a:off x="548640" y="5897880"/>
            <a:ext cx="11091672" cy="54864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897880"/>
            <a:ext cx="10515600" cy="548640"/>
          </a:xfrm>
          <a:prstGeom prst="rect">
            <a:avLst/>
          </a:prstGeom>
          <a:noFill/>
        </p:spPr>
        <p:txBody>
          <a:bodyPr wrap="square" lIns="0" rIns="0" tIns="0" bIns="0" anchor="ctr">
            <a:spAutoFit/>
          </a:bodyPr>
          <a:lstStyle/>
          <a:p>
            <a:pPr algn="l">
              <a:lnSpc>
                <a:spcPct val="105000"/>
              </a:lnSpc>
              <a:spcBef>
                <a:spcPts val="0"/>
              </a:spcBef>
            </a:pPr>
            <a:r>
              <a:rPr sz="1050" b="1">
                <a:solidFill>
                  <a:srgbClr val="0F2145"/>
                </a:solidFill>
                <a:latin typeface="Calibri"/>
              </a:rPr>
              <a:t>Before Session 2:  </a:t>
            </a:r>
            <a:r>
              <a:rPr sz="1050" b="0">
                <a:solidFill>
                  <a:srgbClr val="5D6B7E"/>
                </a:solidFill>
                <a:latin typeface="Calibri"/>
              </a:rPr>
              <a:t>run the Swiggy script, then the app, and write four lines — one number you verified against the annual report, one that looked wrong, and the check that caught it.</a:t>
            </a:r>
          </a:p>
        </p:txBody>
      </p:sp>
      <p:sp>
        <p:nvSpPr>
          <p:cNvPr id="15" name="TextBox 14"/>
          <p:cNvSpPr txBox="1"/>
          <p:nvPr/>
        </p:nvSpPr>
        <p:spPr>
          <a:xfrm>
            <a:off x="548640" y="6473952"/>
            <a:ext cx="7315200" cy="274320"/>
          </a:xfrm>
          <a:prstGeom prst="rect">
            <a:avLst/>
          </a:prstGeom>
          <a:noFill/>
        </p:spPr>
        <p:txBody>
          <a:bodyPr wrap="square" lIns="0" rIns="0" tIns="0" bIns="0" anchor="t">
            <a:spAutoFit/>
          </a:bodyPr>
          <a:lstStyle/>
          <a:p>
            <a:pPr algn="l">
              <a:lnSpc>
                <a:spcPct val="105000"/>
              </a:lnSpc>
              <a:spcBef>
                <a:spcPts val="0"/>
              </a:spcBef>
            </a:pPr>
            <a:r>
              <a:rPr sz="850" b="0">
                <a:solidFill>
                  <a:srgbClr val="5D6B7E"/>
                </a:solidFill>
                <a:latin typeface="Calibri"/>
              </a:rPr>
              <a:t>ISBMS · PGDM 2025–27 · AGENTIC AI &amp; ADVANCED ANALYTICS IN FINANCE</a:t>
            </a:r>
          </a:p>
        </p:txBody>
      </p:sp>
      <p:sp>
        <p:nvSpPr>
          <p:cNvPr id="16" name="TextBox 15"/>
          <p:cNvSpPr txBox="1"/>
          <p:nvPr/>
        </p:nvSpPr>
        <p:spPr>
          <a:xfrm>
            <a:off x="9262872" y="6473952"/>
            <a:ext cx="2377440" cy="274320"/>
          </a:xfrm>
          <a:prstGeom prst="rect">
            <a:avLst/>
          </a:prstGeom>
          <a:noFill/>
        </p:spPr>
        <p:txBody>
          <a:bodyPr wrap="square" lIns="0" rIns="0" tIns="0" bIns="0" anchor="t">
            <a:spAutoFit/>
          </a:bodyPr>
          <a:lstStyle/>
          <a:p>
            <a:pPr algn="r">
              <a:lnSpc>
                <a:spcPct val="105000"/>
              </a:lnSpc>
              <a:spcBef>
                <a:spcPts val="0"/>
              </a:spcBef>
            </a:pPr>
            <a:r>
              <a:rPr sz="850" b="0">
                <a:solidFill>
                  <a:srgbClr val="5D6B7E"/>
                </a:solidFill>
                <a:latin typeface="Calibri"/>
              </a:rPr>
              <a:t>MODULE 1  ·  24</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
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2.xml" ContentType="application/vnd.openxmlformats-officedocument.presentationml.slide+xml"/>
  <Override PartName="/ppt/slides/slide24.xml" ContentType="application/vnd.openxmlformats-officedocument.presentationml.slide+xml"/>
  <Override PartName="/ppt/slides/slide26.xml" ContentType="application/vnd.openxmlformats-officedocument.presentationml.slide+xml"/>
  <Override PartName="/ppt/slides/slide5.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319" r:id="rId69"/>
    <p:sldId id="320" r:id="rId70"/>
    <p:sldId id="259" r:id="rId6"/>
    <p:sldId id="321" r:id="rId71"/>
    <p:sldId id="262" r:id="rId9"/>
    <p:sldId id="322" r:id="rId72"/>
    <p:sldId id="263" r:id="rId10"/>
    <p:sldId id="265" r:id="rId13"/>
    <p:sldId id="276" r:id="rId25"/>
    <p:sldId id="323" r:id="rId73"/>
    <p:sldId id="278" r:id="rId27"/>
    <p:sldId id="324" r:id="rId74"/>
    <p:sldId id="325" r:id="rId75"/>
    <p:sldId id="326" r:id="rId76"/>
    <p:sldId id="327" r:id="rId77"/>
    <p:sldId id="328" r:id="rId78"/>
    <p:sldId id="329" r:id="rId79"/>
    <p:sldId id="330" r:id="rId80"/>
    <p:sldId id="331" r:id="rId81"/>
    <p:sldId id="332" r:id="rId8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6F50CBA-C617-4581-46FD-96F204AEE3F3}" v="752" dt="2026-07-04T20:53:26.92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6" Type="http://schemas.openxmlformats.org/officeDocument/2006/relationships/slide" Target="slides/slide5.xml"/><Relationship Id="rId9" Type="http://schemas.openxmlformats.org/officeDocument/2006/relationships/slide" Target="slides/slide8.xml"/><Relationship Id="rId10" Type="http://schemas.openxmlformats.org/officeDocument/2006/relationships/slide" Target="slides/slide9.xml"/><Relationship Id="rId13" Type="http://schemas.openxmlformats.org/officeDocument/2006/relationships/slide" Target="slides/slide12.xml"/><Relationship Id="rId25" Type="http://schemas.openxmlformats.org/officeDocument/2006/relationships/slide" Target="slides/slide24.xml"/><Relationship Id="rId27" Type="http://schemas.openxmlformats.org/officeDocument/2006/relationships/slide" Target="slides/slide26.xml"/><Relationship Id="rId63" Type="http://schemas.openxmlformats.org/officeDocument/2006/relationships/presProps" Target="presProps.xml"/><Relationship Id="rId64" Type="http://schemas.openxmlformats.org/officeDocument/2006/relationships/viewProps" Target="viewProps.xml"/><Relationship Id="rId65" Type="http://schemas.openxmlformats.org/officeDocument/2006/relationships/theme" Target="theme/theme1.xml"/><Relationship Id="rId66" Type="http://schemas.openxmlformats.org/officeDocument/2006/relationships/tableStyles" Target="tableStyles.xml"/><Relationship Id="rId67" Type="http://schemas.microsoft.com/office/2015/10/relationships/revisionInfo" Target="revisionInfo.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7/4/2026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7/4/2026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7/4/2026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7/4/2026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7/4/2026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7/4/2026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7/4/2026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86384" y="310896"/>
            <a:ext cx="10820095" cy="292608"/>
          </a:xfrm>
          <a:prstGeom prst="rect">
            <a:avLst/>
          </a:prstGeom>
          <a:noFill/>
        </p:spPr>
        <p:txBody>
          <a:bodyPr wrap="square" lIns="0" tIns="0" rIns="0" bIns="0" anchor="t">
            <a:spAutoFit/>
          </a:bodyPr>
          <a:lstStyle/>
          <a:p>
            <a:pPr algn="l"/>
            <a:r>
              <a:rPr sz="1100" b="1" i="0" spc="250">
                <a:solidFill>
                  <a:srgbClr val="C9A227"/>
                </a:solidFill>
                <a:latin typeface="Calibri"/>
              </a:rPr>
              <a:t>HOUR 1 · BASICS</a:t>
            </a:r>
          </a:p>
        </p:txBody>
      </p:sp>
      <p:sp>
        <p:nvSpPr>
          <p:cNvPr id="4" name="TextBox 3"/>
          <p:cNvSpPr txBox="1"/>
          <p:nvPr/>
        </p:nvSpPr>
        <p:spPr>
          <a:xfrm>
            <a:off x="548640" y="621792"/>
            <a:ext cx="11094415" cy="685800"/>
          </a:xfrm>
          <a:prstGeom prst="rect">
            <a:avLst/>
          </a:prstGeom>
          <a:noFill/>
        </p:spPr>
        <p:txBody>
          <a:bodyPr wrap="square" lIns="0" tIns="0" rIns="0" bIns="0" anchor="t">
            <a:spAutoFit/>
          </a:bodyPr>
          <a:lstStyle/>
          <a:p>
            <a:pPr algn="l"/>
            <a:r>
              <a:rPr sz="2900" b="1" i="0">
                <a:solidFill>
                  <a:srgbClr val="0F2145"/>
                </a:solidFill>
                <a:latin typeface="Georgia"/>
              </a:rPr>
              <a:t>What is AI? Four nested ideas</a:t>
            </a:r>
          </a:p>
        </p:txBody>
      </p:sp>
      <p:sp>
        <p:nvSpPr>
          <p:cNvPr id="5" name="Rounded Rectangle 4"/>
          <p:cNvSpPr/>
          <p:nvPr/>
        </p:nvSpPr>
        <p:spPr>
          <a:xfrm>
            <a:off x="548640" y="1554480"/>
            <a:ext cx="5577840" cy="4480560"/>
          </a:xfrm>
          <a:prstGeom prst="roundRect">
            <a:avLst>
              <a:gd name="adj" fmla="val 5000"/>
            </a:avLst>
          </a:prstGeom>
          <a:solidFill>
            <a:srgbClr val="E9EFF8"/>
          </a:solidFill>
          <a:ln w="9525">
            <a:solidFill>
              <a:srgbClr val="3A5C9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68096" y="1636776"/>
            <a:ext cx="5166359" cy="585216"/>
          </a:xfrm>
          <a:prstGeom prst="rect">
            <a:avLst/>
          </a:prstGeom>
          <a:noFill/>
        </p:spPr>
        <p:txBody>
          <a:bodyPr wrap="square" lIns="0" tIns="0" rIns="0" bIns="0" anchor="t">
            <a:spAutoFit/>
          </a:bodyPr>
          <a:lstStyle/>
          <a:p>
            <a:pPr algn="l"/>
            <a:r>
              <a:rPr sz="1200" b="1" i="0" spc="100">
                <a:solidFill>
                  <a:srgbClr val="0F2145"/>
                </a:solidFill>
                <a:latin typeface="Calibri"/>
              </a:rPr>
              <a:t>ARTIFICIAL INTELLIGENCE</a:t>
            </a:r>
          </a:p>
          <a:p>
            <a:pPr algn="l">
              <a:spcBef>
                <a:spcPts val="100"/>
              </a:spcBef>
            </a:pPr>
            <a:r>
              <a:rPr sz="950" b="0" i="0">
                <a:solidFill>
                  <a:srgbClr val="5D6B7E"/>
                </a:solidFill>
                <a:latin typeface="Calibri"/>
              </a:rPr>
              <a:t>Any software that mimics human judgement</a:t>
            </a:r>
          </a:p>
        </p:txBody>
      </p:sp>
      <p:sp>
        <p:nvSpPr>
          <p:cNvPr id="7" name="Rounded Rectangle 6"/>
          <p:cNvSpPr/>
          <p:nvPr/>
        </p:nvSpPr>
        <p:spPr>
          <a:xfrm>
            <a:off x="804672" y="2249424"/>
            <a:ext cx="5065775" cy="3639312"/>
          </a:xfrm>
          <a:prstGeom prst="roundRect">
            <a:avLst>
              <a:gd name="adj" fmla="val 5000"/>
            </a:avLst>
          </a:prstGeom>
          <a:solidFill>
            <a:srgbClr val="D5E1F2"/>
          </a:solidFill>
          <a:ln w="9525">
            <a:solidFill>
              <a:srgbClr val="3A5C9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24128" y="2331720"/>
            <a:ext cx="4654295" cy="585216"/>
          </a:xfrm>
          <a:prstGeom prst="rect">
            <a:avLst/>
          </a:prstGeom>
          <a:noFill/>
        </p:spPr>
        <p:txBody>
          <a:bodyPr wrap="square" lIns="0" tIns="0" rIns="0" bIns="0" anchor="t">
            <a:spAutoFit/>
          </a:bodyPr>
          <a:lstStyle/>
          <a:p>
            <a:pPr algn="l"/>
            <a:r>
              <a:rPr sz="1200" b="1" i="0" spc="100">
                <a:solidFill>
                  <a:srgbClr val="0F2145"/>
                </a:solidFill>
                <a:latin typeface="Calibri"/>
              </a:rPr>
              <a:t>MACHINE LEARNING</a:t>
            </a:r>
          </a:p>
          <a:p>
            <a:pPr algn="l">
              <a:spcBef>
                <a:spcPts val="100"/>
              </a:spcBef>
            </a:pPr>
            <a:r>
              <a:rPr sz="950" b="0" i="0">
                <a:solidFill>
                  <a:srgbClr val="5D6B7E"/>
                </a:solidFill>
                <a:latin typeface="Calibri"/>
              </a:rPr>
              <a:t>Learns rules from data instead of being programmed</a:t>
            </a:r>
          </a:p>
        </p:txBody>
      </p:sp>
      <p:sp>
        <p:nvSpPr>
          <p:cNvPr id="9" name="Rounded Rectangle 8"/>
          <p:cNvSpPr/>
          <p:nvPr/>
        </p:nvSpPr>
        <p:spPr>
          <a:xfrm>
            <a:off x="1060704" y="2944368"/>
            <a:ext cx="4553712" cy="2798064"/>
          </a:xfrm>
          <a:prstGeom prst="roundRect">
            <a:avLst>
              <a:gd name="adj" fmla="val 5000"/>
            </a:avLst>
          </a:prstGeom>
          <a:solidFill>
            <a:srgbClr val="BFD2EC"/>
          </a:solidFill>
          <a:ln w="9525">
            <a:solidFill>
              <a:srgbClr val="3A5C9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280160" y="3026663"/>
            <a:ext cx="4142231" cy="585216"/>
          </a:xfrm>
          <a:prstGeom prst="rect">
            <a:avLst/>
          </a:prstGeom>
          <a:noFill/>
        </p:spPr>
        <p:txBody>
          <a:bodyPr wrap="square" lIns="0" tIns="0" rIns="0" bIns="0" anchor="t">
            <a:spAutoFit/>
          </a:bodyPr>
          <a:lstStyle/>
          <a:p>
            <a:pPr algn="l"/>
            <a:r>
              <a:rPr sz="1200" b="1" i="0" spc="100">
                <a:solidFill>
                  <a:srgbClr val="0F2145"/>
                </a:solidFill>
                <a:latin typeface="Calibri"/>
              </a:rPr>
              <a:t>DEEP LEARNING</a:t>
            </a:r>
          </a:p>
          <a:p>
            <a:pPr algn="l">
              <a:spcBef>
                <a:spcPts val="100"/>
              </a:spcBef>
            </a:pPr>
            <a:r>
              <a:rPr sz="950" b="0" i="0">
                <a:solidFill>
                  <a:srgbClr val="5D6B7E"/>
                </a:solidFill>
                <a:latin typeface="Calibri"/>
              </a:rPr>
              <a:t>Neural networks — learns from raw text, images, sound</a:t>
            </a:r>
          </a:p>
        </p:txBody>
      </p:sp>
      <p:sp>
        <p:nvSpPr>
          <p:cNvPr id="11" name="Rounded Rectangle 10"/>
          <p:cNvSpPr/>
          <p:nvPr/>
        </p:nvSpPr>
        <p:spPr>
          <a:xfrm>
            <a:off x="1316736" y="3639312"/>
            <a:ext cx="4041648" cy="1956816"/>
          </a:xfrm>
          <a:prstGeom prst="roundRect">
            <a:avLst>
              <a:gd name="adj" fmla="val 5000"/>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536192" y="3721608"/>
            <a:ext cx="3630168" cy="585216"/>
          </a:xfrm>
          <a:prstGeom prst="rect">
            <a:avLst/>
          </a:prstGeom>
          <a:noFill/>
        </p:spPr>
        <p:txBody>
          <a:bodyPr wrap="square" lIns="0" tIns="0" rIns="0" bIns="0" anchor="t">
            <a:spAutoFit/>
          </a:bodyPr>
          <a:lstStyle/>
          <a:p>
            <a:pPr algn="l"/>
            <a:r>
              <a:rPr sz="1200" b="1" i="0" spc="100">
                <a:solidFill>
                  <a:srgbClr val="FFFFFF"/>
                </a:solidFill>
                <a:latin typeface="Calibri"/>
              </a:rPr>
              <a:t>GENERATIVE AI · LLMs</a:t>
            </a:r>
          </a:p>
          <a:p>
            <a:pPr algn="l">
              <a:spcBef>
                <a:spcPts val="100"/>
              </a:spcBef>
            </a:pPr>
            <a:r>
              <a:rPr sz="950" b="0" i="0">
                <a:solidFill>
                  <a:srgbClr val="C9D6EE"/>
                </a:solidFill>
                <a:latin typeface="Calibri"/>
              </a:rPr>
              <a:t>Creates new text, code and analysis — ChatGPT, Claude</a:t>
            </a:r>
          </a:p>
        </p:txBody>
      </p:sp>
      <p:sp>
        <p:nvSpPr>
          <p:cNvPr id="13" name="Rectangle 12"/>
          <p:cNvSpPr/>
          <p:nvPr/>
        </p:nvSpPr>
        <p:spPr>
          <a:xfrm>
            <a:off x="6492240" y="1554480"/>
            <a:ext cx="5120640" cy="1024128"/>
          </a:xfrm>
          <a:prstGeom prst="rect">
            <a:avLst/>
          </a:prstGeom>
          <a:solidFill>
            <a:srgbClr val="FFFFFF"/>
          </a:solidFill>
          <a:ln w="9525">
            <a:solidFill>
              <a:srgbClr val="D9DF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6492240" y="1554480"/>
            <a:ext cx="64008" cy="1024128"/>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711696" y="1700784"/>
            <a:ext cx="4754879" cy="365760"/>
          </a:xfrm>
          <a:prstGeom prst="rect">
            <a:avLst/>
          </a:prstGeom>
          <a:noFill/>
        </p:spPr>
        <p:txBody>
          <a:bodyPr wrap="square" lIns="0" tIns="0" rIns="0" bIns="0" anchor="t">
            <a:spAutoFit/>
          </a:bodyPr>
          <a:lstStyle/>
          <a:p>
            <a:pPr algn="l"/>
            <a:r>
              <a:rPr sz="1250" b="1" i="0">
                <a:solidFill>
                  <a:srgbClr val="0F2145"/>
                </a:solidFill>
                <a:latin typeface="Georgia"/>
              </a:rPr>
              <a:t>AI</a:t>
            </a:r>
          </a:p>
        </p:txBody>
      </p:sp>
      <p:sp>
        <p:nvSpPr>
          <p:cNvPr id="16" name="TextBox 15"/>
          <p:cNvSpPr txBox="1"/>
          <p:nvPr/>
        </p:nvSpPr>
        <p:spPr>
          <a:xfrm>
            <a:off x="6711696" y="2084831"/>
            <a:ext cx="4736592" cy="420624"/>
          </a:xfrm>
          <a:prstGeom prst="rect">
            <a:avLst/>
          </a:prstGeom>
          <a:noFill/>
        </p:spPr>
        <p:txBody>
          <a:bodyPr wrap="square" lIns="0" tIns="0" rIns="0" bIns="0" anchor="t">
            <a:spAutoFit/>
          </a:bodyPr>
          <a:lstStyle/>
          <a:p>
            <a:pPr algn="l">
              <a:lnSpc>
                <a:spcPct val="108000"/>
              </a:lnSpc>
            </a:pPr>
            <a:r>
              <a:rPr sz="1050" b="0" i="0">
                <a:solidFill>
                  <a:srgbClr val="5D6B7E"/>
                </a:solidFill>
                <a:latin typeface="Calibri"/>
              </a:rPr>
              <a:t>The umbrella. Rules, logic, prediction — e.g. a loan-eligibility rule engine.</a:t>
            </a:r>
          </a:p>
        </p:txBody>
      </p:sp>
      <p:sp>
        <p:nvSpPr>
          <p:cNvPr id="17" name="Rectangle 16"/>
          <p:cNvSpPr/>
          <p:nvPr/>
        </p:nvSpPr>
        <p:spPr>
          <a:xfrm>
            <a:off x="6492240" y="2706624"/>
            <a:ext cx="5120640" cy="1024128"/>
          </a:xfrm>
          <a:prstGeom prst="rect">
            <a:avLst/>
          </a:prstGeom>
          <a:solidFill>
            <a:srgbClr val="FFFFFF"/>
          </a:solidFill>
          <a:ln w="9525">
            <a:solidFill>
              <a:srgbClr val="D9DF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6492240" y="2706624"/>
            <a:ext cx="64008" cy="1024128"/>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711696" y="2852928"/>
            <a:ext cx="4754879" cy="365760"/>
          </a:xfrm>
          <a:prstGeom prst="rect">
            <a:avLst/>
          </a:prstGeom>
          <a:noFill/>
        </p:spPr>
        <p:txBody>
          <a:bodyPr wrap="square" lIns="0" tIns="0" rIns="0" bIns="0" anchor="t">
            <a:spAutoFit/>
          </a:bodyPr>
          <a:lstStyle/>
          <a:p>
            <a:pPr algn="l"/>
            <a:r>
              <a:rPr sz="1250" b="1" i="0">
                <a:solidFill>
                  <a:srgbClr val="0F2145"/>
                </a:solidFill>
                <a:latin typeface="Georgia"/>
              </a:rPr>
              <a:t>Machine Learning</a:t>
            </a:r>
          </a:p>
        </p:txBody>
      </p:sp>
      <p:sp>
        <p:nvSpPr>
          <p:cNvPr id="20" name="TextBox 19"/>
          <p:cNvSpPr txBox="1"/>
          <p:nvPr/>
        </p:nvSpPr>
        <p:spPr>
          <a:xfrm>
            <a:off x="6711696" y="3236976"/>
            <a:ext cx="4736592" cy="420623"/>
          </a:xfrm>
          <a:prstGeom prst="rect">
            <a:avLst/>
          </a:prstGeom>
          <a:noFill/>
        </p:spPr>
        <p:txBody>
          <a:bodyPr wrap="square" lIns="0" tIns="0" rIns="0" bIns="0" anchor="t">
            <a:spAutoFit/>
          </a:bodyPr>
          <a:lstStyle/>
          <a:p>
            <a:pPr algn="l">
              <a:lnSpc>
                <a:spcPct val="108000"/>
              </a:lnSpc>
            </a:pPr>
            <a:r>
              <a:rPr sz="1050" b="0" i="0">
                <a:solidFill>
                  <a:srgbClr val="5D6B7E"/>
                </a:solidFill>
                <a:latin typeface="Calibri"/>
              </a:rPr>
              <a:t>Show it 1 lakh past loans; it learns which borrowers default. No rules hand-written.</a:t>
            </a:r>
          </a:p>
        </p:txBody>
      </p:sp>
      <p:sp>
        <p:nvSpPr>
          <p:cNvPr id="21" name="Rectangle 20"/>
          <p:cNvSpPr/>
          <p:nvPr/>
        </p:nvSpPr>
        <p:spPr>
          <a:xfrm>
            <a:off x="6492240" y="3858768"/>
            <a:ext cx="5120640" cy="1024128"/>
          </a:xfrm>
          <a:prstGeom prst="rect">
            <a:avLst/>
          </a:prstGeom>
          <a:solidFill>
            <a:srgbClr val="FFFFFF"/>
          </a:solidFill>
          <a:ln w="9525">
            <a:solidFill>
              <a:srgbClr val="D9DF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6492240" y="3858768"/>
            <a:ext cx="64008" cy="1024128"/>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711696" y="4005072"/>
            <a:ext cx="4754879" cy="365760"/>
          </a:xfrm>
          <a:prstGeom prst="rect">
            <a:avLst/>
          </a:prstGeom>
          <a:noFill/>
        </p:spPr>
        <p:txBody>
          <a:bodyPr wrap="square" lIns="0" tIns="0" rIns="0" bIns="0" anchor="t">
            <a:spAutoFit/>
          </a:bodyPr>
          <a:lstStyle/>
          <a:p>
            <a:pPr algn="l"/>
            <a:r>
              <a:rPr sz="1250" b="1" i="0">
                <a:solidFill>
                  <a:srgbClr val="0F2145"/>
                </a:solidFill>
                <a:latin typeface="Georgia"/>
              </a:rPr>
              <a:t>Deep Learning</a:t>
            </a:r>
          </a:p>
        </p:txBody>
      </p:sp>
      <p:sp>
        <p:nvSpPr>
          <p:cNvPr id="24" name="TextBox 23"/>
          <p:cNvSpPr txBox="1"/>
          <p:nvPr/>
        </p:nvSpPr>
        <p:spPr>
          <a:xfrm>
            <a:off x="6711696" y="4389120"/>
            <a:ext cx="4736592" cy="420623"/>
          </a:xfrm>
          <a:prstGeom prst="rect">
            <a:avLst/>
          </a:prstGeom>
          <a:noFill/>
        </p:spPr>
        <p:txBody>
          <a:bodyPr wrap="square" lIns="0" tIns="0" rIns="0" bIns="0" anchor="t">
            <a:spAutoFit/>
          </a:bodyPr>
          <a:lstStyle/>
          <a:p>
            <a:pPr algn="l">
              <a:lnSpc>
                <a:spcPct val="108000"/>
              </a:lnSpc>
            </a:pPr>
            <a:r>
              <a:rPr sz="1050" b="0" i="0">
                <a:solidFill>
                  <a:srgbClr val="5D6B7E"/>
                </a:solidFill>
                <a:latin typeface="Calibri"/>
              </a:rPr>
              <a:t>ML with many-layered neural networks. Powers fraud detection, face-KYC, speech.</a:t>
            </a:r>
          </a:p>
        </p:txBody>
      </p:sp>
      <p:sp>
        <p:nvSpPr>
          <p:cNvPr id="25" name="Rectangle 24"/>
          <p:cNvSpPr/>
          <p:nvPr/>
        </p:nvSpPr>
        <p:spPr>
          <a:xfrm>
            <a:off x="6492240" y="5010912"/>
            <a:ext cx="5120640" cy="1024128"/>
          </a:xfrm>
          <a:prstGeom prst="rect">
            <a:avLst/>
          </a:prstGeom>
          <a:solidFill>
            <a:srgbClr val="FFFFFF"/>
          </a:solidFill>
          <a:ln w="9525">
            <a:solidFill>
              <a:srgbClr val="D9DF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6492240" y="5010912"/>
            <a:ext cx="64008" cy="1024128"/>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711696" y="5157216"/>
            <a:ext cx="4754879" cy="365760"/>
          </a:xfrm>
          <a:prstGeom prst="rect">
            <a:avLst/>
          </a:prstGeom>
          <a:noFill/>
        </p:spPr>
        <p:txBody>
          <a:bodyPr wrap="square" lIns="0" tIns="0" rIns="0" bIns="0" anchor="t">
            <a:spAutoFit/>
          </a:bodyPr>
          <a:lstStyle/>
          <a:p>
            <a:pPr algn="l"/>
            <a:r>
              <a:rPr sz="1250" b="1" i="0">
                <a:solidFill>
                  <a:srgbClr val="0F2145"/>
                </a:solidFill>
                <a:latin typeface="Georgia"/>
              </a:rPr>
              <a:t>Generative AI</a:t>
            </a:r>
          </a:p>
        </p:txBody>
      </p:sp>
      <p:sp>
        <p:nvSpPr>
          <p:cNvPr id="28" name="TextBox 27"/>
          <p:cNvSpPr txBox="1"/>
          <p:nvPr/>
        </p:nvSpPr>
        <p:spPr>
          <a:xfrm>
            <a:off x="6711696" y="5541264"/>
            <a:ext cx="4736592" cy="420623"/>
          </a:xfrm>
          <a:prstGeom prst="rect">
            <a:avLst/>
          </a:prstGeom>
          <a:noFill/>
        </p:spPr>
        <p:txBody>
          <a:bodyPr wrap="square" lIns="0" tIns="0" rIns="0" bIns="0" anchor="t">
            <a:spAutoFit/>
          </a:bodyPr>
          <a:lstStyle/>
          <a:p>
            <a:pPr algn="l">
              <a:lnSpc>
                <a:spcPct val="108000"/>
              </a:lnSpc>
            </a:pPr>
            <a:r>
              <a:rPr sz="1050" b="0" i="0">
                <a:solidFill>
                  <a:srgbClr val="5D6B7E"/>
                </a:solidFill>
                <a:latin typeface="Calibri"/>
              </a:rPr>
              <a:t>Doesn't just score or classify — it writes. Research notes, memos, code, emails.</a:t>
            </a:r>
          </a:p>
        </p:txBody>
      </p:sp>
      <p:sp>
        <p:nvSpPr>
          <p:cNvPr id="29" name="TextBox 28"/>
          <p:cNvSpPr txBox="1"/>
          <p:nvPr/>
        </p:nvSpPr>
        <p:spPr>
          <a:xfrm>
            <a:off x="548640" y="6473952"/>
            <a:ext cx="7315200" cy="274320"/>
          </a:xfrm>
          <a:prstGeom prst="rect">
            <a:avLst/>
          </a:prstGeom>
          <a:noFill/>
        </p:spPr>
        <p:txBody>
          <a:bodyPr wrap="square" lIns="0" tIns="0" rIns="0" bIns="0" anchor="t">
            <a:spAutoFit/>
          </a:bodyPr>
          <a:lstStyle/>
          <a:p>
            <a:pPr algn="l"/>
            <a:r>
              <a:rPr sz="850" b="0" i="0" spc="180">
                <a:solidFill>
                  <a:srgbClr val="5D6B7E"/>
                </a:solidFill>
                <a:latin typeface="Calibri"/>
              </a:rPr>
              <a:t>ISBMS · PGDM 2025–27 · AGENTIC AI &amp; ADVANCED ANALYTICS IN FINANCE</a:t>
            </a:r>
          </a:p>
        </p:txBody>
      </p:sp>
      <p:sp>
        <p:nvSpPr>
          <p:cNvPr id="30" name="TextBox 29"/>
          <p:cNvSpPr txBox="1"/>
          <p:nvPr/>
        </p:nvSpPr>
        <p:spPr>
          <a:xfrm>
            <a:off x="9814255" y="6473952"/>
            <a:ext cx="1828800" cy="274320"/>
          </a:xfrm>
          <a:prstGeom prst="rect">
            <a:avLst/>
          </a:prstGeom>
          <a:noFill/>
        </p:spPr>
        <p:txBody>
          <a:bodyPr wrap="square" lIns="0" tIns="0" rIns="0" bIns="0" anchor="t">
            <a:spAutoFit/>
          </a:bodyPr>
          <a:lstStyle/>
          <a:p>
            <a:pPr algn="r"/>
            <a:r>
              <a:rPr sz="850" b="0" i="0" spc="120">
                <a:solidFill>
                  <a:srgbClr val="5D6B7E"/>
                </a:solidFill>
                <a:latin typeface="Calibri"/>
              </a:rPr>
              <a:t>MODULE 1  ·  03</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86384" y="310896"/>
            <a:ext cx="10820095" cy="292608"/>
          </a:xfrm>
          <a:prstGeom prst="rect">
            <a:avLst/>
          </a:prstGeom>
          <a:noFill/>
        </p:spPr>
        <p:txBody>
          <a:bodyPr wrap="square" lIns="0" tIns="0" rIns="0" bIns="0" anchor="t">
            <a:spAutoFit/>
          </a:bodyPr>
          <a:lstStyle/>
          <a:p>
            <a:pPr algn="l"/>
            <a:r>
              <a:rPr sz="1100" b="1" i="0" spc="250">
                <a:solidFill>
                  <a:srgbClr val="C9A227"/>
                </a:solidFill>
                <a:latin typeface="Calibri"/>
              </a:rPr>
              <a:t>HOUR 1 · BASICS</a:t>
            </a:r>
          </a:p>
        </p:txBody>
      </p:sp>
      <p:sp>
        <p:nvSpPr>
          <p:cNvPr id="4" name="TextBox 3"/>
          <p:cNvSpPr txBox="1"/>
          <p:nvPr/>
        </p:nvSpPr>
        <p:spPr>
          <a:xfrm>
            <a:off x="548640" y="621792"/>
            <a:ext cx="11094415" cy="685800"/>
          </a:xfrm>
          <a:prstGeom prst="rect">
            <a:avLst/>
          </a:prstGeom>
          <a:noFill/>
        </p:spPr>
        <p:txBody>
          <a:bodyPr wrap="square" lIns="0" tIns="0" rIns="0" bIns="0" anchor="t">
            <a:spAutoFit/>
          </a:bodyPr>
          <a:lstStyle/>
          <a:p>
            <a:pPr algn="l"/>
            <a:r>
              <a:rPr sz="2900" b="1" i="0">
                <a:solidFill>
                  <a:srgbClr val="0F2145"/>
                </a:solidFill>
                <a:latin typeface="Georgia"/>
              </a:rPr>
              <a:t>The LLM — autocomplete trained on the internet</a:t>
            </a:r>
          </a:p>
        </p:txBody>
      </p:sp>
      <p:sp>
        <p:nvSpPr>
          <p:cNvPr id="5" name="Rounded Rectangle 4"/>
          <p:cNvSpPr/>
          <p:nvPr/>
        </p:nvSpPr>
        <p:spPr>
          <a:xfrm>
            <a:off x="548640" y="1517904"/>
            <a:ext cx="5486400" cy="2286000"/>
          </a:xfrm>
          <a:prstGeom prst="roundRect">
            <a:avLst>
              <a:gd name="adj" fmla="val 7000"/>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59" y="1682496"/>
            <a:ext cx="5029200" cy="274320"/>
          </a:xfrm>
          <a:prstGeom prst="rect">
            <a:avLst/>
          </a:prstGeom>
          <a:noFill/>
        </p:spPr>
        <p:txBody>
          <a:bodyPr wrap="square" lIns="0" tIns="0" rIns="0" bIns="0" anchor="t">
            <a:spAutoFit/>
          </a:bodyPr>
          <a:lstStyle/>
          <a:p>
            <a:pPr algn="l"/>
            <a:r>
              <a:rPr sz="1000" b="1" i="0" spc="180">
                <a:solidFill>
                  <a:srgbClr val="C9A227"/>
                </a:solidFill>
                <a:latin typeface="Calibri"/>
              </a:rPr>
              <a:t>ONE JOB: PREDICT THE NEXT WORD</a:t>
            </a:r>
          </a:p>
        </p:txBody>
      </p:sp>
      <p:sp>
        <p:nvSpPr>
          <p:cNvPr id="7" name="TextBox 6"/>
          <p:cNvSpPr txBox="1"/>
          <p:nvPr/>
        </p:nvSpPr>
        <p:spPr>
          <a:xfrm>
            <a:off x="822959" y="2011680"/>
            <a:ext cx="5029200" cy="411480"/>
          </a:xfrm>
          <a:prstGeom prst="rect">
            <a:avLst/>
          </a:prstGeom>
          <a:noFill/>
        </p:spPr>
        <p:txBody>
          <a:bodyPr wrap="square" lIns="0" tIns="0" rIns="0" bIns="0" anchor="t">
            <a:spAutoFit/>
          </a:bodyPr>
          <a:lstStyle/>
          <a:p>
            <a:pPr algn="l"/>
            <a:r>
              <a:rPr sz="1600" b="1" i="0">
                <a:solidFill>
                  <a:srgbClr val="FFFFFF"/>
                </a:solidFill>
                <a:latin typeface="Georgia"/>
              </a:rPr>
              <a:t>“The RBI raised the repo ____”</a:t>
            </a:r>
          </a:p>
        </p:txBody>
      </p:sp>
      <p:sp>
        <p:nvSpPr>
          <p:cNvPr id="8" name="TextBox 7"/>
          <p:cNvSpPr txBox="1"/>
          <p:nvPr/>
        </p:nvSpPr>
        <p:spPr>
          <a:xfrm>
            <a:off x="868680" y="2542032"/>
            <a:ext cx="960120" cy="274320"/>
          </a:xfrm>
          <a:prstGeom prst="rect">
            <a:avLst/>
          </a:prstGeom>
          <a:noFill/>
        </p:spPr>
        <p:txBody>
          <a:bodyPr wrap="square" lIns="0" tIns="0" rIns="0" bIns="0" anchor="t">
            <a:spAutoFit/>
          </a:bodyPr>
          <a:lstStyle/>
          <a:p>
            <a:pPr algn="l"/>
            <a:r>
              <a:rPr sz="1150" b="1" i="0">
                <a:solidFill>
                  <a:srgbClr val="C9D6EE"/>
                </a:solidFill>
                <a:latin typeface="Calibri"/>
              </a:rPr>
              <a:t>rate</a:t>
            </a:r>
          </a:p>
        </p:txBody>
      </p:sp>
      <p:sp>
        <p:nvSpPr>
          <p:cNvPr id="9" name="Rectangle 8"/>
          <p:cNvSpPr/>
          <p:nvPr/>
        </p:nvSpPr>
        <p:spPr>
          <a:xfrm>
            <a:off x="1920240" y="2587751"/>
            <a:ext cx="2860243" cy="16459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853635" y="2542032"/>
            <a:ext cx="822960" cy="274320"/>
          </a:xfrm>
          <a:prstGeom prst="rect">
            <a:avLst/>
          </a:prstGeom>
          <a:noFill/>
        </p:spPr>
        <p:txBody>
          <a:bodyPr wrap="square" lIns="0" tIns="0" rIns="0" bIns="0" anchor="t">
            <a:spAutoFit/>
          </a:bodyPr>
          <a:lstStyle/>
          <a:p>
            <a:pPr algn="l"/>
            <a:r>
              <a:rPr sz="1000" b="0" i="0">
                <a:solidFill>
                  <a:srgbClr val="8FA1C4"/>
                </a:solidFill>
                <a:latin typeface="Calibri"/>
              </a:rPr>
              <a:t>92%</a:t>
            </a:r>
          </a:p>
        </p:txBody>
      </p:sp>
      <p:sp>
        <p:nvSpPr>
          <p:cNvPr id="11" name="TextBox 10"/>
          <p:cNvSpPr txBox="1"/>
          <p:nvPr/>
        </p:nvSpPr>
        <p:spPr>
          <a:xfrm>
            <a:off x="868680" y="2926079"/>
            <a:ext cx="960120" cy="274320"/>
          </a:xfrm>
          <a:prstGeom prst="rect">
            <a:avLst/>
          </a:prstGeom>
          <a:noFill/>
        </p:spPr>
        <p:txBody>
          <a:bodyPr wrap="square" lIns="0" tIns="0" rIns="0" bIns="0" anchor="t">
            <a:spAutoFit/>
          </a:bodyPr>
          <a:lstStyle/>
          <a:p>
            <a:pPr algn="l"/>
            <a:r>
              <a:rPr sz="1150" b="1" i="0">
                <a:solidFill>
                  <a:srgbClr val="C9D6EE"/>
                </a:solidFill>
                <a:latin typeface="Calibri"/>
              </a:rPr>
              <a:t>rating</a:t>
            </a:r>
          </a:p>
        </p:txBody>
      </p:sp>
      <p:sp>
        <p:nvSpPr>
          <p:cNvPr id="12" name="Rectangle 11"/>
          <p:cNvSpPr/>
          <p:nvPr/>
        </p:nvSpPr>
        <p:spPr>
          <a:xfrm>
            <a:off x="1920240" y="2971799"/>
            <a:ext cx="124358" cy="164592"/>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2117750" y="2926079"/>
            <a:ext cx="822960" cy="274320"/>
          </a:xfrm>
          <a:prstGeom prst="rect">
            <a:avLst/>
          </a:prstGeom>
          <a:noFill/>
        </p:spPr>
        <p:txBody>
          <a:bodyPr wrap="square" lIns="0" tIns="0" rIns="0" bIns="0" anchor="t">
            <a:spAutoFit/>
          </a:bodyPr>
          <a:lstStyle/>
          <a:p>
            <a:pPr algn="l"/>
            <a:r>
              <a:rPr sz="1000" b="0" i="0">
                <a:solidFill>
                  <a:srgbClr val="8FA1C4"/>
                </a:solidFill>
                <a:latin typeface="Calibri"/>
              </a:rPr>
              <a:t>4%</a:t>
            </a:r>
          </a:p>
        </p:txBody>
      </p:sp>
      <p:sp>
        <p:nvSpPr>
          <p:cNvPr id="14" name="TextBox 13"/>
          <p:cNvSpPr txBox="1"/>
          <p:nvPr/>
        </p:nvSpPr>
        <p:spPr>
          <a:xfrm>
            <a:off x="868680" y="3310127"/>
            <a:ext cx="960120" cy="274320"/>
          </a:xfrm>
          <a:prstGeom prst="rect">
            <a:avLst/>
          </a:prstGeom>
          <a:noFill/>
        </p:spPr>
        <p:txBody>
          <a:bodyPr wrap="square" lIns="0" tIns="0" rIns="0" bIns="0" anchor="t">
            <a:spAutoFit/>
          </a:bodyPr>
          <a:lstStyle/>
          <a:p>
            <a:pPr algn="l"/>
            <a:r>
              <a:rPr sz="1150" b="1" i="0">
                <a:solidFill>
                  <a:srgbClr val="C9D6EE"/>
                </a:solidFill>
                <a:latin typeface="Calibri"/>
              </a:rPr>
              <a:t>report</a:t>
            </a:r>
          </a:p>
        </p:txBody>
      </p:sp>
      <p:sp>
        <p:nvSpPr>
          <p:cNvPr id="15" name="Rectangle 14"/>
          <p:cNvSpPr/>
          <p:nvPr/>
        </p:nvSpPr>
        <p:spPr>
          <a:xfrm>
            <a:off x="1920240" y="3355847"/>
            <a:ext cx="62179" cy="164592"/>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2055571" y="3310127"/>
            <a:ext cx="822960" cy="274320"/>
          </a:xfrm>
          <a:prstGeom prst="rect">
            <a:avLst/>
          </a:prstGeom>
          <a:noFill/>
        </p:spPr>
        <p:txBody>
          <a:bodyPr wrap="square" lIns="0" tIns="0" rIns="0" bIns="0" anchor="t">
            <a:spAutoFit/>
          </a:bodyPr>
          <a:lstStyle/>
          <a:p>
            <a:pPr algn="l"/>
            <a:r>
              <a:rPr sz="1000" b="0" i="0">
                <a:solidFill>
                  <a:srgbClr val="8FA1C4"/>
                </a:solidFill>
                <a:latin typeface="Calibri"/>
              </a:rPr>
              <a:t>2%</a:t>
            </a:r>
          </a:p>
        </p:txBody>
      </p:sp>
      <p:sp>
        <p:nvSpPr>
          <p:cNvPr id="17" name="Rectangle 16"/>
          <p:cNvSpPr/>
          <p:nvPr/>
        </p:nvSpPr>
        <p:spPr>
          <a:xfrm>
            <a:off x="548640" y="3986784"/>
            <a:ext cx="5486400" cy="2011680"/>
          </a:xfrm>
          <a:prstGeom prst="rect">
            <a:avLst/>
          </a:prstGeom>
          <a:solidFill>
            <a:srgbClr val="FFFFFF"/>
          </a:solidFill>
          <a:ln w="9525">
            <a:solidFill>
              <a:srgbClr val="D9DF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86384" y="4133087"/>
            <a:ext cx="5029200" cy="1737360"/>
          </a:xfrm>
          <a:prstGeom prst="rect">
            <a:avLst/>
          </a:prstGeom>
          <a:noFill/>
        </p:spPr>
        <p:txBody>
          <a:bodyPr wrap="square" lIns="0" tIns="0" rIns="0" bIns="0" anchor="t">
            <a:spAutoFit/>
          </a:bodyPr>
          <a:lstStyle/>
          <a:p>
            <a:pPr algn="l"/>
            <a:r>
              <a:rPr sz="1300" b="1" i="0">
                <a:solidFill>
                  <a:srgbClr val="0F2145"/>
                </a:solidFill>
                <a:latin typeface="Georgia"/>
              </a:rPr>
              <a:t>Tokens — the model's unit of text</a:t>
            </a:r>
          </a:p>
          <a:p>
            <a:pPr algn="l">
              <a:lnSpc>
                <a:spcPct val="125000"/>
              </a:lnSpc>
              <a:spcBef>
                <a:spcPts val="600"/>
              </a:spcBef>
            </a:pPr>
            <a:r>
              <a:rPr sz="1100" b="0" i="0">
                <a:solidFill>
                  <a:srgbClr val="5D6B7E"/>
                </a:solidFill>
                <a:latin typeface="Calibri"/>
              </a:rPr>
              <a:t>Words are split into chunks (≈ ¾ of a word each). “Derivatives” → deriv + atives. Models read, think and charge per token.</a:t>
            </a:r>
          </a:p>
          <a:p>
            <a:pPr algn="l">
              <a:lnSpc>
                <a:spcPct val="125000"/>
              </a:lnSpc>
              <a:spcBef>
                <a:spcPts val="600"/>
              </a:spcBef>
            </a:pPr>
            <a:r>
              <a:rPr sz="1100" b="0" i="0">
                <a:solidFill>
                  <a:srgbClr val="5D6B7E"/>
                </a:solidFill>
                <a:latin typeface="Calibri"/>
              </a:rPr>
              <a:t>Context windows, API pricing and speed are all quoted in tokens — it's the metre of this world.</a:t>
            </a:r>
          </a:p>
          <a:p>
            <a:pPr algn="l">
              <a:spcBef>
                <a:spcPts val="700"/>
              </a:spcBef>
            </a:pPr>
            <a:r>
              <a:rPr sz="1100" b="1" i="0">
                <a:solidFill>
                  <a:srgbClr val="8F7113"/>
                </a:solidFill>
                <a:latin typeface="Calibri"/>
              </a:rPr>
              <a:t>A 200-page annual report ≈ 100,000 tokens.</a:t>
            </a:r>
          </a:p>
        </p:txBody>
      </p:sp>
      <p:sp>
        <p:nvSpPr>
          <p:cNvPr id="19" name="TextBox 18"/>
          <p:cNvSpPr txBox="1"/>
          <p:nvPr/>
        </p:nvSpPr>
        <p:spPr>
          <a:xfrm>
            <a:off x="6400800" y="1517904"/>
            <a:ext cx="5212080" cy="274320"/>
          </a:xfrm>
          <a:prstGeom prst="rect">
            <a:avLst/>
          </a:prstGeom>
          <a:noFill/>
        </p:spPr>
        <p:txBody>
          <a:bodyPr wrap="square" lIns="0" tIns="0" rIns="0" bIns="0" anchor="t">
            <a:spAutoFit/>
          </a:bodyPr>
          <a:lstStyle/>
          <a:p>
            <a:pPr algn="l"/>
            <a:r>
              <a:rPr sz="1000" b="1" i="0" spc="200">
                <a:solidFill>
                  <a:srgbClr val="5D6B7E"/>
                </a:solidFill>
                <a:latin typeface="Calibri"/>
              </a:rPr>
              <a:t>HOW IT'S BUILT</a:t>
            </a:r>
          </a:p>
        </p:txBody>
      </p:sp>
      <p:sp>
        <p:nvSpPr>
          <p:cNvPr id="20" name="Rectangle 19"/>
          <p:cNvSpPr/>
          <p:nvPr/>
        </p:nvSpPr>
        <p:spPr>
          <a:xfrm>
            <a:off x="6400800" y="1847088"/>
            <a:ext cx="5212080" cy="1060704"/>
          </a:xfrm>
          <a:prstGeom prst="rect">
            <a:avLst/>
          </a:prstGeom>
          <a:solidFill>
            <a:srgbClr val="FFFFFF"/>
          </a:solidFill>
          <a:ln w="9525">
            <a:solidFill>
              <a:srgbClr val="D9DF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6400800" y="1847088"/>
            <a:ext cx="64008" cy="1060704"/>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620256" y="1956816"/>
            <a:ext cx="4846320" cy="815864"/>
          </a:xfrm>
          <a:prstGeom prst="rect">
            <a:avLst/>
          </a:prstGeom>
          <a:noFill/>
        </p:spPr>
        <p:txBody>
          <a:bodyPr wrap="square" lIns="0" tIns="0" rIns="0" bIns="0" anchor="t">
            <a:spAutoFit/>
          </a:bodyPr>
          <a:lstStyle/>
          <a:p>
            <a:pPr algn="l"/>
            <a:r>
              <a:rPr sz="1250" b="1" i="0">
                <a:solidFill>
                  <a:srgbClr val="0F2145"/>
                </a:solidFill>
                <a:latin typeface="Calibri"/>
              </a:rPr>
              <a:t>1 · Pre-training</a:t>
            </a:r>
          </a:p>
          <a:p>
            <a:pPr>
              <a:lnSpc>
                <a:spcPct val="115000"/>
              </a:lnSpc>
              <a:spcBef>
                <a:spcPts val="300"/>
              </a:spcBef>
            </a:pPr>
            <a:r>
              <a:rPr sz="1050" b="0" i="0" dirty="0">
                <a:solidFill>
                  <a:srgbClr val="5D6B7E"/>
                </a:solidFill>
                <a:latin typeface="Calibri"/>
              </a:rPr>
              <a:t>Read trillions of words — books, filings, the web. Learn language, facts, reasoning patterns.</a:t>
            </a:r>
            <a:r>
              <a:rPr lang="en-GB" sz="1050" dirty="0">
                <a:solidFill>
                  <a:srgbClr val="5D6B7E"/>
                </a:solidFill>
                <a:latin typeface="Calibri"/>
              </a:rPr>
              <a:t> NLP- Natural language processi</a:t>
            </a:r>
            <a:r>
              <a:rPr lang="en-GB" sz="1050">
                <a:solidFill>
                  <a:srgbClr val="5D6B7E"/>
                </a:solidFill>
                <a:latin typeface="Calibri"/>
              </a:rPr>
              <a:t>ng- LLM uses</a:t>
            </a:r>
            <a:endParaRPr sz="1050" b="0" i="0">
              <a:solidFill>
                <a:srgbClr val="5D6B7E"/>
              </a:solidFill>
              <a:latin typeface="Calibri"/>
            </a:endParaRPr>
          </a:p>
          <a:p>
            <a:pPr>
              <a:lnSpc>
                <a:spcPct val="114999"/>
              </a:lnSpc>
              <a:spcBef>
                <a:spcPts val="300"/>
              </a:spcBef>
            </a:pPr>
            <a:endParaRPr lang="en-GB" sz="1050" dirty="0">
              <a:solidFill>
                <a:srgbClr val="5D6B7E"/>
              </a:solidFill>
              <a:latin typeface="Calibri"/>
              <a:ea typeface="Calibri"/>
              <a:cs typeface="Calibri"/>
            </a:endParaRPr>
          </a:p>
        </p:txBody>
      </p:sp>
      <p:sp>
        <p:nvSpPr>
          <p:cNvPr id="23" name="Down Arrow 22"/>
          <p:cNvSpPr/>
          <p:nvPr/>
        </p:nvSpPr>
        <p:spPr>
          <a:xfrm>
            <a:off x="8887968" y="2889503"/>
            <a:ext cx="201168" cy="237744"/>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6400800" y="3127248"/>
            <a:ext cx="5212080" cy="1060704"/>
          </a:xfrm>
          <a:prstGeom prst="rect">
            <a:avLst/>
          </a:prstGeom>
          <a:solidFill>
            <a:srgbClr val="FFFFFF"/>
          </a:solidFill>
          <a:ln w="9525">
            <a:solidFill>
              <a:srgbClr val="D9DF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6400800" y="3127248"/>
            <a:ext cx="64008" cy="1060704"/>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6620256" y="3236976"/>
            <a:ext cx="4846320" cy="868680"/>
          </a:xfrm>
          <a:prstGeom prst="rect">
            <a:avLst/>
          </a:prstGeom>
          <a:noFill/>
        </p:spPr>
        <p:txBody>
          <a:bodyPr wrap="square" lIns="0" tIns="0" rIns="0" bIns="0" anchor="t">
            <a:spAutoFit/>
          </a:bodyPr>
          <a:lstStyle/>
          <a:p>
            <a:pPr algn="l"/>
            <a:r>
              <a:rPr sz="1250" b="1" i="0">
                <a:solidFill>
                  <a:srgbClr val="0F2145"/>
                </a:solidFill>
                <a:latin typeface="Calibri"/>
              </a:rPr>
              <a:t>2 · Fine-tuning</a:t>
            </a:r>
          </a:p>
          <a:p>
            <a:pPr algn="l">
              <a:lnSpc>
                <a:spcPct val="115000"/>
              </a:lnSpc>
              <a:spcBef>
                <a:spcPts val="300"/>
              </a:spcBef>
            </a:pPr>
            <a:r>
              <a:rPr sz="1050" b="0" i="0">
                <a:solidFill>
                  <a:srgbClr val="5D6B7E"/>
                </a:solidFill>
                <a:latin typeface="Calibri"/>
              </a:rPr>
              <a:t>Teach it to follow instructions: “summarise”, “compare”, “draft”.</a:t>
            </a:r>
          </a:p>
        </p:txBody>
      </p:sp>
      <p:sp>
        <p:nvSpPr>
          <p:cNvPr id="27" name="Down Arrow 26"/>
          <p:cNvSpPr/>
          <p:nvPr/>
        </p:nvSpPr>
        <p:spPr>
          <a:xfrm>
            <a:off x="8887968" y="4169664"/>
            <a:ext cx="201168" cy="237744"/>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6400800" y="4407408"/>
            <a:ext cx="5212080" cy="1060704"/>
          </a:xfrm>
          <a:prstGeom prst="rect">
            <a:avLst/>
          </a:prstGeom>
          <a:solidFill>
            <a:srgbClr val="FFFFFF"/>
          </a:solidFill>
          <a:ln w="9525">
            <a:solidFill>
              <a:srgbClr val="D9DF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ectangle 28"/>
          <p:cNvSpPr/>
          <p:nvPr/>
        </p:nvSpPr>
        <p:spPr>
          <a:xfrm>
            <a:off x="6400800" y="4407408"/>
            <a:ext cx="64008" cy="1060704"/>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6620256" y="4517136"/>
            <a:ext cx="4846320" cy="591572"/>
          </a:xfrm>
          <a:prstGeom prst="rect">
            <a:avLst/>
          </a:prstGeom>
          <a:noFill/>
        </p:spPr>
        <p:txBody>
          <a:bodyPr wrap="square" lIns="0" tIns="0" rIns="0" bIns="0" anchor="t">
            <a:spAutoFit/>
          </a:bodyPr>
          <a:lstStyle/>
          <a:p>
            <a:pPr algn="l"/>
            <a:r>
              <a:rPr sz="1250" b="1" i="0">
                <a:solidFill>
                  <a:srgbClr val="0F2145"/>
                </a:solidFill>
                <a:latin typeface="Calibri"/>
              </a:rPr>
              <a:t>3 · Human feedback (RLHF)</a:t>
            </a:r>
          </a:p>
          <a:p>
            <a:pPr>
              <a:lnSpc>
                <a:spcPct val="115000"/>
              </a:lnSpc>
              <a:spcBef>
                <a:spcPts val="300"/>
              </a:spcBef>
            </a:pPr>
            <a:r>
              <a:rPr sz="1050" b="0" i="0" dirty="0">
                <a:solidFill>
                  <a:srgbClr val="5D6B7E"/>
                </a:solidFill>
                <a:latin typeface="Calibri"/>
              </a:rPr>
              <a:t>Humans rank answers; the model learns to be helpful, honest, harmless.</a:t>
            </a:r>
            <a:r>
              <a:rPr lang="en-GB" sz="1050" dirty="0">
                <a:solidFill>
                  <a:srgbClr val="5D6B7E"/>
                </a:solidFill>
                <a:latin typeface="Calibri"/>
              </a:rPr>
              <a:t> </a:t>
            </a:r>
            <a:r>
              <a:rPr lang="en-GB" sz="1050" dirty="0" err="1">
                <a:solidFill>
                  <a:srgbClr val="5D6B7E"/>
                </a:solidFill>
                <a:latin typeface="Calibri"/>
              </a:rPr>
              <a:t>Reinforcued</a:t>
            </a:r>
            <a:r>
              <a:rPr lang="en-GB" sz="1050" dirty="0">
                <a:solidFill>
                  <a:srgbClr val="5D6B7E"/>
                </a:solidFill>
                <a:latin typeface="Calibri"/>
              </a:rPr>
              <a:t> learning from Human feedback</a:t>
            </a:r>
            <a:endParaRPr sz="1050" b="0" i="0" dirty="0">
              <a:solidFill>
                <a:srgbClr val="5D6B7E"/>
              </a:solidFill>
              <a:latin typeface="Calibri"/>
            </a:endParaRPr>
          </a:p>
        </p:txBody>
      </p:sp>
      <p:sp>
        <p:nvSpPr>
          <p:cNvPr id="31" name="Rounded Rectangle 30"/>
          <p:cNvSpPr/>
          <p:nvPr/>
        </p:nvSpPr>
        <p:spPr>
          <a:xfrm>
            <a:off x="6400800" y="5705856"/>
            <a:ext cx="5212080" cy="566928"/>
          </a:xfrm>
          <a:prstGeom prst="roundRect">
            <a:avLst>
              <a:gd name="adj" fmla="val 14000"/>
            </a:avLst>
          </a:prstGeom>
          <a:solidFill>
            <a:srgbClr val="F5EC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6620256" y="5705856"/>
            <a:ext cx="4846320" cy="566928"/>
          </a:xfrm>
          <a:prstGeom prst="rect">
            <a:avLst/>
          </a:prstGeom>
          <a:noFill/>
        </p:spPr>
        <p:txBody>
          <a:bodyPr wrap="square" lIns="0" tIns="0" rIns="0" bIns="0" anchor="ctr">
            <a:spAutoFit/>
          </a:bodyPr>
          <a:lstStyle/>
          <a:p>
            <a:pPr algn="l"/>
            <a:r>
              <a:rPr sz="1100" b="0" i="0">
                <a:solidFill>
                  <a:srgbClr val="1B2A41"/>
                </a:solidFill>
                <a:latin typeface="Calibri"/>
              </a:rPr>
              <a:t>It has no database of truth — </a:t>
            </a:r>
            <a:r>
              <a:rPr sz="1100" b="1" i="0">
                <a:solidFill>
                  <a:srgbClr val="8F7113"/>
                </a:solidFill>
                <a:latin typeface="Calibri"/>
              </a:rPr>
              <a:t>it generates the most plausible next words.</a:t>
            </a:r>
          </a:p>
        </p:txBody>
      </p:sp>
      <p:sp>
        <p:nvSpPr>
          <p:cNvPr id="33" name="TextBox 32"/>
          <p:cNvSpPr txBox="1"/>
          <p:nvPr/>
        </p:nvSpPr>
        <p:spPr>
          <a:xfrm>
            <a:off x="548640" y="6473952"/>
            <a:ext cx="7315200" cy="274320"/>
          </a:xfrm>
          <a:prstGeom prst="rect">
            <a:avLst/>
          </a:prstGeom>
          <a:noFill/>
        </p:spPr>
        <p:txBody>
          <a:bodyPr wrap="square" lIns="0" tIns="0" rIns="0" bIns="0" anchor="t">
            <a:spAutoFit/>
          </a:bodyPr>
          <a:lstStyle/>
          <a:p>
            <a:pPr algn="l"/>
            <a:r>
              <a:rPr sz="850" b="0" i="0" spc="180">
                <a:solidFill>
                  <a:srgbClr val="5D6B7E"/>
                </a:solidFill>
                <a:latin typeface="Calibri"/>
              </a:rPr>
              <a:t>ISBMS · PGDM 2025–27 · AGENTIC AI &amp; ADVANCED ANALYTICS IN FINANCE</a:t>
            </a:r>
          </a:p>
        </p:txBody>
      </p:sp>
      <p:sp>
        <p:nvSpPr>
          <p:cNvPr id="34" name="TextBox 33"/>
          <p:cNvSpPr txBox="1"/>
          <p:nvPr/>
        </p:nvSpPr>
        <p:spPr>
          <a:xfrm>
            <a:off x="9814255" y="6473952"/>
            <a:ext cx="1828800" cy="274320"/>
          </a:xfrm>
          <a:prstGeom prst="rect">
            <a:avLst/>
          </a:prstGeom>
          <a:noFill/>
        </p:spPr>
        <p:txBody>
          <a:bodyPr wrap="square" lIns="0" tIns="0" rIns="0" bIns="0" anchor="t">
            <a:spAutoFit/>
          </a:bodyPr>
          <a:lstStyle/>
          <a:p>
            <a:pPr algn="r"/>
            <a:r>
              <a:rPr sz="850" b="0" i="0" spc="120">
                <a:solidFill>
                  <a:srgbClr val="5D6B7E"/>
                </a:solidFill>
                <a:latin typeface="Calibri"/>
              </a:rPr>
              <a:t>MODULE 1  ·  05</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86384" y="310896"/>
            <a:ext cx="10820095" cy="292608"/>
          </a:xfrm>
          <a:prstGeom prst="rect">
            <a:avLst/>
          </a:prstGeom>
          <a:noFill/>
        </p:spPr>
        <p:txBody>
          <a:bodyPr wrap="square" lIns="0" tIns="0" rIns="0" bIns="0" anchor="t">
            <a:spAutoFit/>
          </a:bodyPr>
          <a:lstStyle/>
          <a:p>
            <a:pPr algn="l"/>
            <a:r>
              <a:rPr sz="1100" b="1" i="0" spc="250">
                <a:solidFill>
                  <a:srgbClr val="C9A227"/>
                </a:solidFill>
                <a:latin typeface="Calibri"/>
              </a:rPr>
              <a:t>HOUR 1 · BASICS</a:t>
            </a:r>
          </a:p>
        </p:txBody>
      </p:sp>
      <p:sp>
        <p:nvSpPr>
          <p:cNvPr id="4" name="TextBox 3"/>
          <p:cNvSpPr txBox="1"/>
          <p:nvPr/>
        </p:nvSpPr>
        <p:spPr>
          <a:xfrm>
            <a:off x="548640" y="621792"/>
            <a:ext cx="11094415" cy="685800"/>
          </a:xfrm>
          <a:prstGeom prst="rect">
            <a:avLst/>
          </a:prstGeom>
          <a:noFill/>
        </p:spPr>
        <p:txBody>
          <a:bodyPr wrap="square" lIns="0" tIns="0" rIns="0" bIns="0" anchor="t">
            <a:spAutoFit/>
          </a:bodyPr>
          <a:lstStyle/>
          <a:p>
            <a:pPr algn="l"/>
            <a:r>
              <a:rPr sz="2900" b="1" i="0">
                <a:solidFill>
                  <a:srgbClr val="0F2145"/>
                </a:solidFill>
                <a:latin typeface="Georgia"/>
              </a:rPr>
              <a:t>The model landscape in 2026</a:t>
            </a:r>
          </a:p>
        </p:txBody>
      </p:sp>
      <p:sp>
        <p:nvSpPr>
          <p:cNvPr id="5" name="Rectangle 4"/>
          <p:cNvSpPr/>
          <p:nvPr/>
        </p:nvSpPr>
        <p:spPr>
          <a:xfrm>
            <a:off x="548640" y="1536192"/>
            <a:ext cx="11094415" cy="786384"/>
          </a:xfrm>
          <a:prstGeom prst="rect">
            <a:avLst/>
          </a:prstGeom>
          <a:solidFill>
            <a:srgbClr val="FFFFFF"/>
          </a:solidFill>
          <a:ln w="9525">
            <a:solidFill>
              <a:srgbClr val="D9DF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68096" y="1627632"/>
            <a:ext cx="3291840" cy="640080"/>
          </a:xfrm>
          <a:prstGeom prst="rect">
            <a:avLst/>
          </a:prstGeom>
          <a:noFill/>
        </p:spPr>
        <p:txBody>
          <a:bodyPr wrap="square" lIns="0" tIns="0" rIns="0" bIns="0" anchor="ctr">
            <a:spAutoFit/>
          </a:bodyPr>
          <a:lstStyle/>
          <a:p>
            <a:pPr algn="l"/>
            <a:r>
              <a:rPr sz="1250" b="1" i="0">
                <a:solidFill>
                  <a:srgbClr val="0F2145"/>
                </a:solidFill>
                <a:latin typeface="Calibri"/>
              </a:rPr>
              <a:t>OpenAI — GPT family</a:t>
            </a:r>
          </a:p>
        </p:txBody>
      </p:sp>
      <p:sp>
        <p:nvSpPr>
          <p:cNvPr id="7" name="TextBox 6"/>
          <p:cNvSpPr txBox="1"/>
          <p:nvPr/>
        </p:nvSpPr>
        <p:spPr>
          <a:xfrm>
            <a:off x="4206240" y="1627632"/>
            <a:ext cx="4206240" cy="640080"/>
          </a:xfrm>
          <a:prstGeom prst="rect">
            <a:avLst/>
          </a:prstGeom>
          <a:noFill/>
        </p:spPr>
        <p:txBody>
          <a:bodyPr wrap="square" lIns="0" tIns="0" rIns="0" bIns="0" anchor="ctr">
            <a:spAutoFit/>
          </a:bodyPr>
          <a:lstStyle/>
          <a:p>
            <a:pPr algn="l">
              <a:lnSpc>
                <a:spcPct val="110000"/>
              </a:lnSpc>
            </a:pPr>
            <a:r>
              <a:rPr sz="1100" b="0" i="0">
                <a:solidFill>
                  <a:srgbClr val="1B2A41"/>
                </a:solidFill>
                <a:latin typeface="Calibri"/>
              </a:rPr>
              <a:t>ChatGPT; strongest brand, broad ecosystem</a:t>
            </a:r>
          </a:p>
        </p:txBody>
      </p:sp>
      <p:sp>
        <p:nvSpPr>
          <p:cNvPr id="8" name="TextBox 7"/>
          <p:cNvSpPr txBox="1"/>
          <p:nvPr/>
        </p:nvSpPr>
        <p:spPr>
          <a:xfrm>
            <a:off x="8595360" y="1627632"/>
            <a:ext cx="3017520" cy="640080"/>
          </a:xfrm>
          <a:prstGeom prst="rect">
            <a:avLst/>
          </a:prstGeom>
          <a:noFill/>
        </p:spPr>
        <p:txBody>
          <a:bodyPr wrap="square" lIns="0" tIns="0" rIns="0" bIns="0" anchor="ctr">
            <a:spAutoFit/>
          </a:bodyPr>
          <a:lstStyle/>
          <a:p>
            <a:pPr algn="l">
              <a:lnSpc>
                <a:spcPct val="110000"/>
              </a:lnSpc>
            </a:pPr>
            <a:r>
              <a:rPr sz="1050" b="0" i="1">
                <a:solidFill>
                  <a:srgbClr val="5D6B7E"/>
                </a:solidFill>
                <a:latin typeface="Calibri"/>
              </a:rPr>
              <a:t>Everyday analysis, drafting, coding</a:t>
            </a:r>
          </a:p>
        </p:txBody>
      </p:sp>
      <p:sp>
        <p:nvSpPr>
          <p:cNvPr id="9" name="Rectangle 8"/>
          <p:cNvSpPr/>
          <p:nvPr/>
        </p:nvSpPr>
        <p:spPr>
          <a:xfrm>
            <a:off x="548640" y="2377440"/>
            <a:ext cx="11094415" cy="786384"/>
          </a:xfrm>
          <a:prstGeom prst="rect">
            <a:avLst/>
          </a:prstGeom>
          <a:solidFill>
            <a:srgbClr val="FFFFFF"/>
          </a:solidFill>
          <a:ln w="9525">
            <a:solidFill>
              <a:srgbClr val="D9DF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68096" y="2468880"/>
            <a:ext cx="3291840" cy="640080"/>
          </a:xfrm>
          <a:prstGeom prst="rect">
            <a:avLst/>
          </a:prstGeom>
          <a:noFill/>
        </p:spPr>
        <p:txBody>
          <a:bodyPr wrap="square" lIns="0" tIns="0" rIns="0" bIns="0" anchor="ctr">
            <a:spAutoFit/>
          </a:bodyPr>
          <a:lstStyle/>
          <a:p>
            <a:pPr algn="l"/>
            <a:r>
              <a:rPr sz="1250" b="1" i="0">
                <a:solidFill>
                  <a:srgbClr val="0F2145"/>
                </a:solidFill>
                <a:latin typeface="Calibri"/>
              </a:rPr>
              <a:t>Anthropic — Claude</a:t>
            </a:r>
          </a:p>
        </p:txBody>
      </p:sp>
      <p:sp>
        <p:nvSpPr>
          <p:cNvPr id="11" name="TextBox 10"/>
          <p:cNvSpPr txBox="1"/>
          <p:nvPr/>
        </p:nvSpPr>
        <p:spPr>
          <a:xfrm>
            <a:off x="4206240" y="2468880"/>
            <a:ext cx="4206240" cy="640080"/>
          </a:xfrm>
          <a:prstGeom prst="rect">
            <a:avLst/>
          </a:prstGeom>
          <a:noFill/>
        </p:spPr>
        <p:txBody>
          <a:bodyPr wrap="square" lIns="0" tIns="0" rIns="0" bIns="0" anchor="ctr">
            <a:spAutoFit/>
          </a:bodyPr>
          <a:lstStyle/>
          <a:p>
            <a:pPr algn="l">
              <a:lnSpc>
                <a:spcPct val="110000"/>
              </a:lnSpc>
            </a:pPr>
            <a:r>
              <a:rPr sz="1100" b="0" i="0">
                <a:solidFill>
                  <a:srgbClr val="1B2A41"/>
                </a:solidFill>
                <a:latin typeface="Calibri"/>
              </a:rPr>
              <a:t>Long documents, careful reasoning, agents &amp; coding</a:t>
            </a:r>
          </a:p>
        </p:txBody>
      </p:sp>
      <p:sp>
        <p:nvSpPr>
          <p:cNvPr id="12" name="TextBox 11"/>
          <p:cNvSpPr txBox="1"/>
          <p:nvPr/>
        </p:nvSpPr>
        <p:spPr>
          <a:xfrm>
            <a:off x="8595360" y="2468880"/>
            <a:ext cx="3017520" cy="640080"/>
          </a:xfrm>
          <a:prstGeom prst="rect">
            <a:avLst/>
          </a:prstGeom>
          <a:noFill/>
        </p:spPr>
        <p:txBody>
          <a:bodyPr wrap="square" lIns="0" tIns="0" rIns="0" bIns="0" anchor="ctr">
            <a:spAutoFit/>
          </a:bodyPr>
          <a:lstStyle/>
          <a:p>
            <a:pPr algn="l">
              <a:lnSpc>
                <a:spcPct val="110000"/>
              </a:lnSpc>
            </a:pPr>
            <a:r>
              <a:rPr sz="1050" b="0" i="1">
                <a:solidFill>
                  <a:srgbClr val="5D6B7E"/>
                </a:solidFill>
                <a:latin typeface="Calibri"/>
              </a:rPr>
              <a:t>Research over filings, agentic workflows</a:t>
            </a:r>
          </a:p>
        </p:txBody>
      </p:sp>
      <p:sp>
        <p:nvSpPr>
          <p:cNvPr id="13" name="Rectangle 12"/>
          <p:cNvSpPr/>
          <p:nvPr/>
        </p:nvSpPr>
        <p:spPr>
          <a:xfrm>
            <a:off x="548640" y="3218688"/>
            <a:ext cx="11094415" cy="786384"/>
          </a:xfrm>
          <a:prstGeom prst="rect">
            <a:avLst/>
          </a:prstGeom>
          <a:solidFill>
            <a:srgbClr val="FFFFFF"/>
          </a:solidFill>
          <a:ln w="9525">
            <a:solidFill>
              <a:srgbClr val="D9DF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68096" y="3310128"/>
            <a:ext cx="3291840" cy="640080"/>
          </a:xfrm>
          <a:prstGeom prst="rect">
            <a:avLst/>
          </a:prstGeom>
          <a:noFill/>
        </p:spPr>
        <p:txBody>
          <a:bodyPr wrap="square" lIns="0" tIns="0" rIns="0" bIns="0" anchor="ctr">
            <a:spAutoFit/>
          </a:bodyPr>
          <a:lstStyle/>
          <a:p>
            <a:pPr algn="l"/>
            <a:r>
              <a:rPr sz="1250" b="1" i="0">
                <a:solidFill>
                  <a:srgbClr val="0F2145"/>
                </a:solidFill>
                <a:latin typeface="Calibri"/>
              </a:rPr>
              <a:t>Google — Gemini</a:t>
            </a:r>
          </a:p>
        </p:txBody>
      </p:sp>
      <p:sp>
        <p:nvSpPr>
          <p:cNvPr id="15" name="TextBox 14"/>
          <p:cNvSpPr txBox="1"/>
          <p:nvPr/>
        </p:nvSpPr>
        <p:spPr>
          <a:xfrm>
            <a:off x="4206240" y="3310128"/>
            <a:ext cx="4206240" cy="640080"/>
          </a:xfrm>
          <a:prstGeom prst="rect">
            <a:avLst/>
          </a:prstGeom>
          <a:noFill/>
        </p:spPr>
        <p:txBody>
          <a:bodyPr wrap="square" lIns="0" tIns="0" rIns="0" bIns="0" anchor="ctr">
            <a:spAutoFit/>
          </a:bodyPr>
          <a:lstStyle/>
          <a:p>
            <a:pPr algn="l">
              <a:lnSpc>
                <a:spcPct val="110000"/>
              </a:lnSpc>
            </a:pPr>
            <a:r>
              <a:rPr sz="1100" b="0" i="0">
                <a:solidFill>
                  <a:srgbClr val="1B2A41"/>
                </a:solidFill>
                <a:latin typeface="Calibri"/>
              </a:rPr>
              <a:t>Native to Workspace; huge context windows</a:t>
            </a:r>
          </a:p>
        </p:txBody>
      </p:sp>
      <p:sp>
        <p:nvSpPr>
          <p:cNvPr id="16" name="TextBox 15"/>
          <p:cNvSpPr txBox="1"/>
          <p:nvPr/>
        </p:nvSpPr>
        <p:spPr>
          <a:xfrm>
            <a:off x="8595360" y="3310128"/>
            <a:ext cx="3017520" cy="640080"/>
          </a:xfrm>
          <a:prstGeom prst="rect">
            <a:avLst/>
          </a:prstGeom>
          <a:noFill/>
        </p:spPr>
        <p:txBody>
          <a:bodyPr wrap="square" lIns="0" tIns="0" rIns="0" bIns="0" anchor="ctr">
            <a:spAutoFit/>
          </a:bodyPr>
          <a:lstStyle/>
          <a:p>
            <a:pPr algn="l">
              <a:lnSpc>
                <a:spcPct val="110000"/>
              </a:lnSpc>
            </a:pPr>
            <a:r>
              <a:rPr sz="1050" b="0" i="1">
                <a:solidFill>
                  <a:srgbClr val="5D6B7E"/>
                </a:solidFill>
                <a:latin typeface="Calibri"/>
              </a:rPr>
              <a:t>Teams already on Google stack</a:t>
            </a:r>
          </a:p>
        </p:txBody>
      </p:sp>
      <p:sp>
        <p:nvSpPr>
          <p:cNvPr id="17" name="Rectangle 16"/>
          <p:cNvSpPr/>
          <p:nvPr/>
        </p:nvSpPr>
        <p:spPr>
          <a:xfrm>
            <a:off x="548640" y="4059936"/>
            <a:ext cx="11094415" cy="786384"/>
          </a:xfrm>
          <a:prstGeom prst="rect">
            <a:avLst/>
          </a:prstGeom>
          <a:solidFill>
            <a:srgbClr val="FFFFFF"/>
          </a:solidFill>
          <a:ln w="9525">
            <a:solidFill>
              <a:srgbClr val="D9DF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4151376"/>
            <a:ext cx="3291840" cy="640080"/>
          </a:xfrm>
          <a:prstGeom prst="rect">
            <a:avLst/>
          </a:prstGeom>
          <a:noFill/>
        </p:spPr>
        <p:txBody>
          <a:bodyPr wrap="square" lIns="0" tIns="0" rIns="0" bIns="0" anchor="ctr">
            <a:spAutoFit/>
          </a:bodyPr>
          <a:lstStyle/>
          <a:p>
            <a:pPr algn="l"/>
            <a:r>
              <a:rPr sz="1250" b="1" i="0">
                <a:solidFill>
                  <a:srgbClr val="0F2145"/>
                </a:solidFill>
                <a:latin typeface="Calibri"/>
              </a:rPr>
              <a:t>Meta — Llama (open)</a:t>
            </a:r>
          </a:p>
        </p:txBody>
      </p:sp>
      <p:sp>
        <p:nvSpPr>
          <p:cNvPr id="19" name="TextBox 18"/>
          <p:cNvSpPr txBox="1"/>
          <p:nvPr/>
        </p:nvSpPr>
        <p:spPr>
          <a:xfrm>
            <a:off x="4206240" y="4151376"/>
            <a:ext cx="4206240" cy="640080"/>
          </a:xfrm>
          <a:prstGeom prst="rect">
            <a:avLst/>
          </a:prstGeom>
          <a:noFill/>
        </p:spPr>
        <p:txBody>
          <a:bodyPr wrap="square" lIns="0" tIns="0" rIns="0" bIns="0" anchor="ctr">
            <a:spAutoFit/>
          </a:bodyPr>
          <a:lstStyle/>
          <a:p>
            <a:pPr algn="l">
              <a:lnSpc>
                <a:spcPct val="110000"/>
              </a:lnSpc>
            </a:pPr>
            <a:r>
              <a:rPr sz="1100" b="0" i="0">
                <a:solidFill>
                  <a:srgbClr val="1B2A41"/>
                </a:solidFill>
                <a:latin typeface="Calibri"/>
              </a:rPr>
              <a:t>Open-weights: run it on your own servers</a:t>
            </a:r>
          </a:p>
        </p:txBody>
      </p:sp>
      <p:sp>
        <p:nvSpPr>
          <p:cNvPr id="20" name="TextBox 19"/>
          <p:cNvSpPr txBox="1"/>
          <p:nvPr/>
        </p:nvSpPr>
        <p:spPr>
          <a:xfrm>
            <a:off x="8595360" y="4151376"/>
            <a:ext cx="3017520" cy="640080"/>
          </a:xfrm>
          <a:prstGeom prst="rect">
            <a:avLst/>
          </a:prstGeom>
          <a:noFill/>
        </p:spPr>
        <p:txBody>
          <a:bodyPr wrap="square" lIns="0" tIns="0" rIns="0" bIns="0" anchor="ctr">
            <a:spAutoFit/>
          </a:bodyPr>
          <a:lstStyle/>
          <a:p>
            <a:pPr algn="l">
              <a:lnSpc>
                <a:spcPct val="110000"/>
              </a:lnSpc>
            </a:pPr>
            <a:r>
              <a:rPr sz="1050" b="0" i="1">
                <a:solidFill>
                  <a:srgbClr val="5D6B7E"/>
                </a:solidFill>
                <a:latin typeface="Calibri"/>
              </a:rPr>
              <a:t>Banks needing data to stay in-house</a:t>
            </a:r>
          </a:p>
        </p:txBody>
      </p:sp>
      <p:sp>
        <p:nvSpPr>
          <p:cNvPr id="21" name="Rectangle 20"/>
          <p:cNvSpPr/>
          <p:nvPr/>
        </p:nvSpPr>
        <p:spPr>
          <a:xfrm>
            <a:off x="548640" y="4901184"/>
            <a:ext cx="11094415" cy="786384"/>
          </a:xfrm>
          <a:prstGeom prst="rect">
            <a:avLst/>
          </a:prstGeom>
          <a:solidFill>
            <a:srgbClr val="FFFFFF"/>
          </a:solidFill>
          <a:ln w="9525">
            <a:solidFill>
              <a:srgbClr val="D9DF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768096" y="4992624"/>
            <a:ext cx="3291840" cy="640080"/>
          </a:xfrm>
          <a:prstGeom prst="rect">
            <a:avLst/>
          </a:prstGeom>
          <a:noFill/>
        </p:spPr>
        <p:txBody>
          <a:bodyPr wrap="square" lIns="0" tIns="0" rIns="0" bIns="0" anchor="ctr">
            <a:spAutoFit/>
          </a:bodyPr>
          <a:lstStyle/>
          <a:p>
            <a:pPr algn="l"/>
            <a:r>
              <a:rPr sz="1250" b="1" i="0">
                <a:solidFill>
                  <a:srgbClr val="0F2145"/>
                </a:solidFill>
                <a:latin typeface="Calibri"/>
              </a:rPr>
              <a:t>BloombergGPT / FinBERT</a:t>
            </a:r>
          </a:p>
        </p:txBody>
      </p:sp>
      <p:sp>
        <p:nvSpPr>
          <p:cNvPr id="23" name="TextBox 22"/>
          <p:cNvSpPr txBox="1"/>
          <p:nvPr/>
        </p:nvSpPr>
        <p:spPr>
          <a:xfrm>
            <a:off x="4206240" y="4992624"/>
            <a:ext cx="4206240" cy="640080"/>
          </a:xfrm>
          <a:prstGeom prst="rect">
            <a:avLst/>
          </a:prstGeom>
          <a:noFill/>
        </p:spPr>
        <p:txBody>
          <a:bodyPr wrap="square" lIns="0" tIns="0" rIns="0" bIns="0" anchor="ctr">
            <a:spAutoFit/>
          </a:bodyPr>
          <a:lstStyle/>
          <a:p>
            <a:pPr algn="l">
              <a:lnSpc>
                <a:spcPct val="110000"/>
              </a:lnSpc>
            </a:pPr>
            <a:r>
              <a:rPr sz="1100" b="0" i="0">
                <a:solidFill>
                  <a:srgbClr val="1B2A41"/>
                </a:solidFill>
                <a:latin typeface="Calibri"/>
              </a:rPr>
              <a:t>Domain models trained on finance text</a:t>
            </a:r>
          </a:p>
        </p:txBody>
      </p:sp>
      <p:sp>
        <p:nvSpPr>
          <p:cNvPr id="24" name="TextBox 23"/>
          <p:cNvSpPr txBox="1"/>
          <p:nvPr/>
        </p:nvSpPr>
        <p:spPr>
          <a:xfrm>
            <a:off x="8595360" y="4992624"/>
            <a:ext cx="3017520" cy="640080"/>
          </a:xfrm>
          <a:prstGeom prst="rect">
            <a:avLst/>
          </a:prstGeom>
          <a:noFill/>
        </p:spPr>
        <p:txBody>
          <a:bodyPr wrap="square" lIns="0" tIns="0" rIns="0" bIns="0" anchor="ctr">
            <a:spAutoFit/>
          </a:bodyPr>
          <a:lstStyle/>
          <a:p>
            <a:pPr algn="l">
              <a:lnSpc>
                <a:spcPct val="110000"/>
              </a:lnSpc>
            </a:pPr>
            <a:r>
              <a:rPr sz="1050" b="0" i="1">
                <a:solidFill>
                  <a:srgbClr val="5D6B7E"/>
                </a:solidFill>
                <a:latin typeface="Calibri"/>
              </a:rPr>
              <a:t>Terminal workflows, sentiment scoring</a:t>
            </a:r>
          </a:p>
        </p:txBody>
      </p:sp>
      <p:sp>
        <p:nvSpPr>
          <p:cNvPr id="25" name="TextBox 24"/>
          <p:cNvSpPr txBox="1"/>
          <p:nvPr/>
        </p:nvSpPr>
        <p:spPr>
          <a:xfrm>
            <a:off x="4206240" y="1325880"/>
            <a:ext cx="4206240" cy="219456"/>
          </a:xfrm>
          <a:prstGeom prst="rect">
            <a:avLst/>
          </a:prstGeom>
          <a:noFill/>
        </p:spPr>
        <p:txBody>
          <a:bodyPr wrap="square" lIns="0" tIns="0" rIns="0" bIns="0" anchor="t">
            <a:spAutoFit/>
          </a:bodyPr>
          <a:lstStyle/>
          <a:p>
            <a:pPr algn="l"/>
            <a:r>
              <a:rPr sz="850" b="1" i="0" spc="200">
                <a:solidFill>
                  <a:srgbClr val="5D6B7E"/>
                </a:solidFill>
                <a:latin typeface="Calibri"/>
              </a:rPr>
              <a:t>KNOWN FOR</a:t>
            </a:r>
          </a:p>
        </p:txBody>
      </p:sp>
      <p:sp>
        <p:nvSpPr>
          <p:cNvPr id="26" name="TextBox 25"/>
          <p:cNvSpPr txBox="1"/>
          <p:nvPr/>
        </p:nvSpPr>
        <p:spPr>
          <a:xfrm>
            <a:off x="8595360" y="1325880"/>
            <a:ext cx="3017520" cy="219456"/>
          </a:xfrm>
          <a:prstGeom prst="rect">
            <a:avLst/>
          </a:prstGeom>
          <a:noFill/>
        </p:spPr>
        <p:txBody>
          <a:bodyPr wrap="square" lIns="0" tIns="0" rIns="0" bIns="0" anchor="t">
            <a:spAutoFit/>
          </a:bodyPr>
          <a:lstStyle/>
          <a:p>
            <a:pPr algn="l"/>
            <a:r>
              <a:rPr sz="850" b="1" i="0" spc="200">
                <a:solidFill>
                  <a:srgbClr val="5D6B7E"/>
                </a:solidFill>
                <a:latin typeface="Calibri"/>
              </a:rPr>
              <a:t>PICK IT WHEN</a:t>
            </a:r>
          </a:p>
        </p:txBody>
      </p:sp>
      <p:sp>
        <p:nvSpPr>
          <p:cNvPr id="27" name="Rounded Rectangle 26"/>
          <p:cNvSpPr/>
          <p:nvPr/>
        </p:nvSpPr>
        <p:spPr>
          <a:xfrm>
            <a:off x="548640" y="5797296"/>
            <a:ext cx="11094415" cy="512064"/>
          </a:xfrm>
          <a:prstGeom prst="roundRect">
            <a:avLst>
              <a:gd name="adj" fmla="val 14000"/>
            </a:avLst>
          </a:prstGeom>
          <a:solidFill>
            <a:srgbClr val="E9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786384" y="5797296"/>
            <a:ext cx="10637215" cy="512064"/>
          </a:xfrm>
          <a:prstGeom prst="rect">
            <a:avLst/>
          </a:prstGeom>
          <a:noFill/>
        </p:spPr>
        <p:txBody>
          <a:bodyPr wrap="square" lIns="0" tIns="0" rIns="0" bIns="0" anchor="ctr">
            <a:spAutoFit/>
          </a:bodyPr>
          <a:lstStyle/>
          <a:p>
            <a:pPr algn="l"/>
            <a:r>
              <a:rPr sz="1150" b="1" i="0">
                <a:solidFill>
                  <a:srgbClr val="0F2145"/>
                </a:solidFill>
                <a:latin typeface="Calibri"/>
              </a:rPr>
              <a:t>Closed models </a:t>
            </a:r>
            <a:r>
              <a:rPr sz="1150" b="0" i="0">
                <a:solidFill>
                  <a:srgbClr val="1B2A41"/>
                </a:solidFill>
                <a:latin typeface="Calibri"/>
              </a:rPr>
              <a:t>= rented via API, best quality.  </a:t>
            </a:r>
            <a:r>
              <a:rPr sz="1150" b="1" i="0">
                <a:solidFill>
                  <a:srgbClr val="0F2145"/>
                </a:solidFill>
                <a:latin typeface="Calibri"/>
              </a:rPr>
              <a:t>Open models </a:t>
            </a:r>
            <a:r>
              <a:rPr sz="1150" b="0" i="0">
                <a:solidFill>
                  <a:srgbClr val="1B2A41"/>
                </a:solidFill>
                <a:latin typeface="Calibri"/>
              </a:rPr>
              <a:t>= downloaded and self-hosted — banks often choose these for confidential data.</a:t>
            </a:r>
          </a:p>
        </p:txBody>
      </p:sp>
      <p:sp>
        <p:nvSpPr>
          <p:cNvPr id="29" name="TextBox 28"/>
          <p:cNvSpPr txBox="1"/>
          <p:nvPr/>
        </p:nvSpPr>
        <p:spPr>
          <a:xfrm>
            <a:off x="548640" y="6473952"/>
            <a:ext cx="7315200" cy="274320"/>
          </a:xfrm>
          <a:prstGeom prst="rect">
            <a:avLst/>
          </a:prstGeom>
          <a:noFill/>
        </p:spPr>
        <p:txBody>
          <a:bodyPr wrap="square" lIns="0" tIns="0" rIns="0" bIns="0" anchor="t">
            <a:spAutoFit/>
          </a:bodyPr>
          <a:lstStyle/>
          <a:p>
            <a:pPr algn="l"/>
            <a:r>
              <a:rPr sz="850" b="0" i="0" spc="180">
                <a:solidFill>
                  <a:srgbClr val="5D6B7E"/>
                </a:solidFill>
                <a:latin typeface="Calibri"/>
              </a:rPr>
              <a:t>ISBMS · PGDM 2025–27 · AGENTIC AI &amp; ADVANCED ANALYTICS IN FINANCE</a:t>
            </a:r>
          </a:p>
        </p:txBody>
      </p:sp>
      <p:sp>
        <p:nvSpPr>
          <p:cNvPr id="30" name="TextBox 29"/>
          <p:cNvSpPr txBox="1"/>
          <p:nvPr/>
        </p:nvSpPr>
        <p:spPr>
          <a:xfrm>
            <a:off x="9814255" y="6473952"/>
            <a:ext cx="1828800" cy="274320"/>
          </a:xfrm>
          <a:prstGeom prst="rect">
            <a:avLst/>
          </a:prstGeom>
          <a:noFill/>
        </p:spPr>
        <p:txBody>
          <a:bodyPr wrap="square" lIns="0" tIns="0" rIns="0" bIns="0" anchor="t">
            <a:spAutoFit/>
          </a:bodyPr>
          <a:lstStyle/>
          <a:p>
            <a:pPr algn="r"/>
            <a:r>
              <a:rPr sz="850" b="0" i="0" spc="120">
                <a:solidFill>
                  <a:srgbClr val="5D6B7E"/>
                </a:solidFill>
                <a:latin typeface="Calibri"/>
              </a:rPr>
              <a:t>MODULE 1  ·  07</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86384" y="310896"/>
            <a:ext cx="10820095" cy="292608"/>
          </a:xfrm>
          <a:prstGeom prst="rect">
            <a:avLst/>
          </a:prstGeom>
          <a:noFill/>
        </p:spPr>
        <p:txBody>
          <a:bodyPr wrap="square" lIns="0" tIns="0" rIns="0" bIns="0" anchor="t">
            <a:spAutoFit/>
          </a:bodyPr>
          <a:lstStyle/>
          <a:p>
            <a:pPr algn="l"/>
            <a:r>
              <a:rPr sz="1100" b="1" i="0" spc="250">
                <a:solidFill>
                  <a:srgbClr val="C9A227"/>
                </a:solidFill>
                <a:latin typeface="Calibri"/>
              </a:rPr>
              <a:t>HOUR 1 · BASICS</a:t>
            </a:r>
          </a:p>
        </p:txBody>
      </p:sp>
      <p:sp>
        <p:nvSpPr>
          <p:cNvPr id="4" name="TextBox 3"/>
          <p:cNvSpPr txBox="1"/>
          <p:nvPr/>
        </p:nvSpPr>
        <p:spPr>
          <a:xfrm>
            <a:off x="548640" y="621792"/>
            <a:ext cx="11094415" cy="685800"/>
          </a:xfrm>
          <a:prstGeom prst="rect">
            <a:avLst/>
          </a:prstGeom>
          <a:noFill/>
        </p:spPr>
        <p:txBody>
          <a:bodyPr wrap="square" lIns="0" tIns="0" rIns="0" bIns="0" anchor="t">
            <a:spAutoFit/>
          </a:bodyPr>
          <a:lstStyle/>
          <a:p>
            <a:pPr algn="l"/>
            <a:r>
              <a:rPr sz="2900" b="1" i="0">
                <a:solidFill>
                  <a:srgbClr val="0F2145"/>
                </a:solidFill>
                <a:latin typeface="Georgia"/>
              </a:rPr>
              <a:t>Glossary I — words you'll hear all day</a:t>
            </a:r>
          </a:p>
        </p:txBody>
      </p:sp>
      <p:graphicFrame>
        <p:nvGraphicFramePr>
          <p:cNvPr id="5" name="Table 4"/>
          <p:cNvGraphicFramePr>
            <a:graphicFrameLocks noGrp="1"/>
          </p:cNvGraphicFramePr>
          <p:nvPr/>
        </p:nvGraphicFramePr>
        <p:xfrm>
          <a:off x="548640" y="1517904"/>
          <a:ext cx="11109959" cy="4690863"/>
        </p:xfrm>
        <a:graphic>
          <a:graphicData uri="http://schemas.openxmlformats.org/drawingml/2006/table">
            <a:tbl>
              <a:tblPr firstRow="1" bandRow="1">
                <a:tableStyleId>{5C22544A-7EE6-4342-B048-85BDC9FD1C3A}</a:tableStyleId>
              </a:tblPr>
              <a:tblGrid>
                <a:gridCol w="1920240">
                  <a:extLst>
                    <a:ext uri="{9D8B030D-6E8A-4147-A177-3AD203B41FA5}">
                      <a16:colId xmlns:a16="http://schemas.microsoft.com/office/drawing/2014/main" val="20000"/>
                    </a:ext>
                  </a:extLst>
                </a:gridCol>
                <a:gridCol w="5212080">
                  <a:extLst>
                    <a:ext uri="{9D8B030D-6E8A-4147-A177-3AD203B41FA5}">
                      <a16:colId xmlns:a16="http://schemas.microsoft.com/office/drawing/2014/main" val="20001"/>
                    </a:ext>
                  </a:extLst>
                </a:gridCol>
                <a:gridCol w="3977639">
                  <a:extLst>
                    <a:ext uri="{9D8B030D-6E8A-4147-A177-3AD203B41FA5}">
                      <a16:colId xmlns:a16="http://schemas.microsoft.com/office/drawing/2014/main" val="20002"/>
                    </a:ext>
                  </a:extLst>
                </a:gridCol>
              </a:tblGrid>
              <a:tr h="521207">
                <a:tc>
                  <a:txBody>
                    <a:bodyPr/>
                    <a:lstStyle/>
                    <a:p>
                      <a:pPr algn="l"/>
                      <a:r>
                        <a:rPr sz="1200" b="1">
                          <a:solidFill>
                            <a:srgbClr val="FFFFFF"/>
                          </a:solidFill>
                          <a:latin typeface="Calibri"/>
                        </a:rPr>
                        <a:t>Term</a:t>
                      </a:r>
                    </a:p>
                  </a:txBody>
                  <a:tcPr marR="73152" marT="36576" marB="36576" anchor="ctr">
                    <a:solidFill>
                      <a:srgbClr val="0F2145"/>
                    </a:solidFill>
                  </a:tcPr>
                </a:tc>
                <a:tc>
                  <a:txBody>
                    <a:bodyPr/>
                    <a:lstStyle/>
                    <a:p>
                      <a:pPr algn="l"/>
                      <a:r>
                        <a:rPr sz="1200" b="1">
                          <a:solidFill>
                            <a:srgbClr val="FFFFFF"/>
                          </a:solidFill>
                          <a:latin typeface="Calibri"/>
                        </a:rPr>
                        <a:t>Plain-English meaning</a:t>
                      </a:r>
                    </a:p>
                  </a:txBody>
                  <a:tcPr marR="73152" marT="36576" marB="36576" anchor="ctr">
                    <a:solidFill>
                      <a:srgbClr val="0F2145"/>
                    </a:solidFill>
                  </a:tcPr>
                </a:tc>
                <a:tc>
                  <a:txBody>
                    <a:bodyPr/>
                    <a:lstStyle/>
                    <a:p>
                      <a:pPr algn="l"/>
                      <a:r>
                        <a:rPr sz="1200" b="1">
                          <a:solidFill>
                            <a:srgbClr val="FFFFFF"/>
                          </a:solidFill>
                          <a:latin typeface="Calibri"/>
                        </a:rPr>
                        <a:t>Finance example</a:t>
                      </a:r>
                    </a:p>
                  </a:txBody>
                  <a:tcPr marR="73152" marT="36576" marB="36576" anchor="ctr">
                    <a:solidFill>
                      <a:srgbClr val="0F2145"/>
                    </a:solidFill>
                  </a:tcPr>
                </a:tc>
                <a:extLst>
                  <a:ext uri="{0D108BD9-81ED-4DB2-BD59-A6C34878D82A}">
                    <a16:rowId xmlns:a16="http://schemas.microsoft.com/office/drawing/2014/main" val="10000"/>
                  </a:ext>
                </a:extLst>
              </a:tr>
              <a:tr h="521207">
                <a:tc>
                  <a:txBody>
                    <a:bodyPr/>
                    <a:lstStyle/>
                    <a:p>
                      <a:pPr algn="l"/>
                      <a:r>
                        <a:rPr sz="1050" b="1">
                          <a:solidFill>
                            <a:srgbClr val="0F2145"/>
                          </a:solidFill>
                          <a:latin typeface="Calibri"/>
                        </a:rPr>
                        <a:t>Model</a:t>
                      </a:r>
                    </a:p>
                  </a:txBody>
                  <a:tcPr marR="73152" marT="36576" marB="36576" anchor="ctr">
                    <a:solidFill>
                      <a:srgbClr val="FFFFFF"/>
                    </a:solidFill>
                  </a:tcPr>
                </a:tc>
                <a:tc>
                  <a:txBody>
                    <a:bodyPr/>
                    <a:lstStyle/>
                    <a:p>
                      <a:pPr algn="l"/>
                      <a:r>
                        <a:rPr sz="1050" b="0">
                          <a:solidFill>
                            <a:srgbClr val="1B2A41"/>
                          </a:solidFill>
                          <a:latin typeface="Calibri"/>
                        </a:rPr>
                        <a:t>The trained “brain” — a giant pattern-matcher built from data</a:t>
                      </a:r>
                    </a:p>
                  </a:txBody>
                  <a:tcPr marR="73152" marT="36576" marB="36576" anchor="ctr">
                    <a:solidFill>
                      <a:srgbClr val="FFFFFF"/>
                    </a:solidFill>
                  </a:tcPr>
                </a:tc>
                <a:tc>
                  <a:txBody>
                    <a:bodyPr/>
                    <a:lstStyle/>
                    <a:p>
                      <a:pPr algn="l"/>
                      <a:r>
                        <a:rPr sz="1050" b="0">
                          <a:solidFill>
                            <a:srgbClr val="1B2A41"/>
                          </a:solidFill>
                          <a:latin typeface="Calibri"/>
                        </a:rPr>
                        <a:t>GPT, Claude and Gemini are all models</a:t>
                      </a:r>
                    </a:p>
                  </a:txBody>
                  <a:tcPr marR="73152" marT="36576" marB="36576" anchor="ctr">
                    <a:solidFill>
                      <a:srgbClr val="FFFFFF"/>
                    </a:solidFill>
                  </a:tcPr>
                </a:tc>
                <a:extLst>
                  <a:ext uri="{0D108BD9-81ED-4DB2-BD59-A6C34878D82A}">
                    <a16:rowId xmlns:a16="http://schemas.microsoft.com/office/drawing/2014/main" val="10001"/>
                  </a:ext>
                </a:extLst>
              </a:tr>
              <a:tr h="521207">
                <a:tc>
                  <a:txBody>
                    <a:bodyPr/>
                    <a:lstStyle/>
                    <a:p>
                      <a:pPr algn="l"/>
                      <a:r>
                        <a:rPr sz="1050" b="1">
                          <a:solidFill>
                            <a:srgbClr val="0F2145"/>
                          </a:solidFill>
                          <a:latin typeface="Calibri"/>
                        </a:rPr>
                        <a:t>Training vs inference</a:t>
                      </a:r>
                    </a:p>
                  </a:txBody>
                  <a:tcPr marR="73152" marT="36576" marB="36576" anchor="ctr">
                    <a:solidFill>
                      <a:srgbClr val="F1F4F9"/>
                    </a:solidFill>
                  </a:tcPr>
                </a:tc>
                <a:tc>
                  <a:txBody>
                    <a:bodyPr/>
                    <a:lstStyle/>
                    <a:p>
                      <a:pPr algn="l"/>
                      <a:r>
                        <a:rPr sz="1050" b="0">
                          <a:solidFill>
                            <a:srgbClr val="1B2A41"/>
                          </a:solidFill>
                          <a:latin typeface="Calibri"/>
                        </a:rPr>
                        <a:t>Training = building the brain (once, costly). Inference = using it (every chat)</a:t>
                      </a:r>
                    </a:p>
                  </a:txBody>
                  <a:tcPr marR="73152" marT="36576" marB="36576" anchor="ctr">
                    <a:solidFill>
                      <a:srgbClr val="F1F4F9"/>
                    </a:solidFill>
                  </a:tcPr>
                </a:tc>
                <a:tc>
                  <a:txBody>
                    <a:bodyPr/>
                    <a:lstStyle/>
                    <a:p>
                      <a:pPr algn="l"/>
                      <a:r>
                        <a:rPr sz="1050" b="0">
                          <a:solidFill>
                            <a:srgbClr val="1B2A41"/>
                          </a:solidFill>
                          <a:latin typeface="Calibri"/>
                        </a:rPr>
                        <a:t>Your ChatGPT question = one inference call</a:t>
                      </a:r>
                    </a:p>
                  </a:txBody>
                  <a:tcPr marR="73152" marT="36576" marB="36576" anchor="ctr">
                    <a:solidFill>
                      <a:srgbClr val="F1F4F9"/>
                    </a:solidFill>
                  </a:tcPr>
                </a:tc>
                <a:extLst>
                  <a:ext uri="{0D108BD9-81ED-4DB2-BD59-A6C34878D82A}">
                    <a16:rowId xmlns:a16="http://schemas.microsoft.com/office/drawing/2014/main" val="10002"/>
                  </a:ext>
                </a:extLst>
              </a:tr>
              <a:tr h="521207">
                <a:tc>
                  <a:txBody>
                    <a:bodyPr/>
                    <a:lstStyle/>
                    <a:p>
                      <a:pPr algn="l"/>
                      <a:r>
                        <a:rPr sz="1050" b="1">
                          <a:solidFill>
                            <a:srgbClr val="0F2145"/>
                          </a:solidFill>
                          <a:latin typeface="Calibri"/>
                        </a:rPr>
                        <a:t>Parameters</a:t>
                      </a:r>
                    </a:p>
                  </a:txBody>
                  <a:tcPr marR="73152" marT="36576" marB="36576" anchor="ctr">
                    <a:solidFill>
                      <a:srgbClr val="FFFFFF"/>
                    </a:solidFill>
                  </a:tcPr>
                </a:tc>
                <a:tc>
                  <a:txBody>
                    <a:bodyPr/>
                    <a:lstStyle/>
                    <a:p>
                      <a:pPr algn="l"/>
                      <a:r>
                        <a:rPr sz="1050" b="0">
                          <a:solidFill>
                            <a:srgbClr val="1B2A41"/>
                          </a:solidFill>
                          <a:latin typeface="Calibri"/>
                        </a:rPr>
                        <a:t>The dials inside the brain — more dials, more capability</a:t>
                      </a:r>
                    </a:p>
                  </a:txBody>
                  <a:tcPr marR="73152" marT="36576" marB="36576" anchor="ctr">
                    <a:solidFill>
                      <a:srgbClr val="FFFFFF"/>
                    </a:solidFill>
                  </a:tcPr>
                </a:tc>
                <a:tc>
                  <a:txBody>
                    <a:bodyPr/>
                    <a:lstStyle/>
                    <a:p>
                      <a:pPr algn="l"/>
                      <a:r>
                        <a:rPr sz="1050" b="0">
                          <a:solidFill>
                            <a:srgbClr val="1B2A41"/>
                          </a:solidFill>
                          <a:latin typeface="Calibri"/>
                        </a:rPr>
                        <a:t>“175B parameters” ≈ brain size, not IQ</a:t>
                      </a:r>
                    </a:p>
                  </a:txBody>
                  <a:tcPr marR="73152" marT="36576" marB="36576" anchor="ctr">
                    <a:solidFill>
                      <a:srgbClr val="FFFFFF"/>
                    </a:solidFill>
                  </a:tcPr>
                </a:tc>
                <a:extLst>
                  <a:ext uri="{0D108BD9-81ED-4DB2-BD59-A6C34878D82A}">
                    <a16:rowId xmlns:a16="http://schemas.microsoft.com/office/drawing/2014/main" val="10003"/>
                  </a:ext>
                </a:extLst>
              </a:tr>
              <a:tr h="521207">
                <a:tc>
                  <a:txBody>
                    <a:bodyPr/>
                    <a:lstStyle/>
                    <a:p>
                      <a:pPr algn="l"/>
                      <a:r>
                        <a:rPr sz="1050" b="1">
                          <a:solidFill>
                            <a:srgbClr val="0F2145"/>
                          </a:solidFill>
                          <a:latin typeface="Calibri"/>
                        </a:rPr>
                        <a:t>Token</a:t>
                      </a:r>
                    </a:p>
                  </a:txBody>
                  <a:tcPr marR="73152" marT="36576" marB="36576" anchor="ctr">
                    <a:solidFill>
                      <a:srgbClr val="F1F4F9"/>
                    </a:solidFill>
                  </a:tcPr>
                </a:tc>
                <a:tc>
                  <a:txBody>
                    <a:bodyPr/>
                    <a:lstStyle/>
                    <a:p>
                      <a:pPr algn="l"/>
                      <a:r>
                        <a:rPr sz="1050" b="0">
                          <a:solidFill>
                            <a:srgbClr val="1B2A41"/>
                          </a:solidFill>
                          <a:latin typeface="Calibri"/>
                        </a:rPr>
                        <a:t>The unit of text models read and bill by (≈ ¾ of a word)</a:t>
                      </a:r>
                    </a:p>
                  </a:txBody>
                  <a:tcPr marR="73152" marT="36576" marB="36576" anchor="ctr">
                    <a:solidFill>
                      <a:srgbClr val="F1F4F9"/>
                    </a:solidFill>
                  </a:tcPr>
                </a:tc>
                <a:tc>
                  <a:txBody>
                    <a:bodyPr/>
                    <a:lstStyle/>
                    <a:p>
                      <a:pPr algn="l"/>
                      <a:r>
                        <a:rPr sz="1050" b="0">
                          <a:solidFill>
                            <a:srgbClr val="1B2A41"/>
                          </a:solidFill>
                          <a:latin typeface="Calibri"/>
                        </a:rPr>
                        <a:t>A 200-page annual report ≈ 100,000 tokens</a:t>
                      </a:r>
                    </a:p>
                  </a:txBody>
                  <a:tcPr marR="73152" marT="36576" marB="36576" anchor="ctr">
                    <a:solidFill>
                      <a:srgbClr val="F1F4F9"/>
                    </a:solidFill>
                  </a:tcPr>
                </a:tc>
                <a:extLst>
                  <a:ext uri="{0D108BD9-81ED-4DB2-BD59-A6C34878D82A}">
                    <a16:rowId xmlns:a16="http://schemas.microsoft.com/office/drawing/2014/main" val="10004"/>
                  </a:ext>
                </a:extLst>
              </a:tr>
              <a:tr h="521207">
                <a:tc>
                  <a:txBody>
                    <a:bodyPr/>
                    <a:lstStyle/>
                    <a:p>
                      <a:pPr algn="l"/>
                      <a:r>
                        <a:rPr sz="1050" b="1">
                          <a:solidFill>
                            <a:srgbClr val="0F2145"/>
                          </a:solidFill>
                          <a:latin typeface="Calibri"/>
                        </a:rPr>
                        <a:t>Embedding</a:t>
                      </a:r>
                    </a:p>
                  </a:txBody>
                  <a:tcPr marR="73152" marT="36576" marB="36576" anchor="ctr">
                    <a:solidFill>
                      <a:srgbClr val="FFFFFF"/>
                    </a:solidFill>
                  </a:tcPr>
                </a:tc>
                <a:tc>
                  <a:txBody>
                    <a:bodyPr/>
                    <a:lstStyle/>
                    <a:p>
                      <a:pPr algn="l"/>
                      <a:r>
                        <a:rPr sz="1050" b="0">
                          <a:solidFill>
                            <a:srgbClr val="1B2A41"/>
                          </a:solidFill>
                          <a:latin typeface="Calibri"/>
                        </a:rPr>
                        <a:t>Text converted into numbers that capture its meaning</a:t>
                      </a:r>
                    </a:p>
                  </a:txBody>
                  <a:tcPr marR="73152" marT="36576" marB="36576" anchor="ctr">
                    <a:solidFill>
                      <a:srgbClr val="FFFFFF"/>
                    </a:solidFill>
                  </a:tcPr>
                </a:tc>
                <a:tc>
                  <a:txBody>
                    <a:bodyPr/>
                    <a:lstStyle/>
                    <a:p>
                      <a:pPr algn="l"/>
                      <a:r>
                        <a:rPr sz="1050" b="0">
                          <a:solidFill>
                            <a:srgbClr val="1B2A41"/>
                          </a:solidFill>
                          <a:latin typeface="Calibri"/>
                        </a:rPr>
                        <a:t>“profit fell” and “earnings declined” land side by side</a:t>
                      </a:r>
                    </a:p>
                  </a:txBody>
                  <a:tcPr marR="73152" marT="36576" marB="36576" anchor="ctr">
                    <a:solidFill>
                      <a:srgbClr val="FFFFFF"/>
                    </a:solidFill>
                  </a:tcPr>
                </a:tc>
                <a:extLst>
                  <a:ext uri="{0D108BD9-81ED-4DB2-BD59-A6C34878D82A}">
                    <a16:rowId xmlns:a16="http://schemas.microsoft.com/office/drawing/2014/main" val="10005"/>
                  </a:ext>
                </a:extLst>
              </a:tr>
              <a:tr h="521207">
                <a:tc>
                  <a:txBody>
                    <a:bodyPr/>
                    <a:lstStyle/>
                    <a:p>
                      <a:pPr algn="l"/>
                      <a:r>
                        <a:rPr sz="1050" b="1">
                          <a:solidFill>
                            <a:srgbClr val="0F2145"/>
                          </a:solidFill>
                          <a:latin typeface="Calibri"/>
                        </a:rPr>
                        <a:t>Vector database</a:t>
                      </a:r>
                    </a:p>
                  </a:txBody>
                  <a:tcPr marR="73152" marT="36576" marB="36576" anchor="ctr">
                    <a:solidFill>
                      <a:srgbClr val="F1F4F9"/>
                    </a:solidFill>
                  </a:tcPr>
                </a:tc>
                <a:tc>
                  <a:txBody>
                    <a:bodyPr/>
                    <a:lstStyle/>
                    <a:p>
                      <a:pPr algn="l"/>
                      <a:r>
                        <a:rPr sz="1050" b="0">
                          <a:solidFill>
                            <a:srgbClr val="1B2A41"/>
                          </a:solidFill>
                          <a:latin typeface="Calibri"/>
                        </a:rPr>
                        <a:t>A library indexed by meaning, not keywords</a:t>
                      </a:r>
                    </a:p>
                  </a:txBody>
                  <a:tcPr marR="73152" marT="36576" marB="36576" anchor="ctr">
                    <a:solidFill>
                      <a:srgbClr val="F1F4F9"/>
                    </a:solidFill>
                  </a:tcPr>
                </a:tc>
                <a:tc>
                  <a:txBody>
                    <a:bodyPr/>
                    <a:lstStyle/>
                    <a:p>
                      <a:pPr algn="l"/>
                      <a:r>
                        <a:rPr sz="1050" b="0">
                          <a:solidFill>
                            <a:srgbClr val="1B2A41"/>
                          </a:solidFill>
                          <a:latin typeface="Calibri"/>
                        </a:rPr>
                        <a:t>Search “margin pressure”, find “pricing headwinds”</a:t>
                      </a:r>
                    </a:p>
                  </a:txBody>
                  <a:tcPr marR="73152" marT="36576" marB="36576" anchor="ctr">
                    <a:solidFill>
                      <a:srgbClr val="F1F4F9"/>
                    </a:solidFill>
                  </a:tcPr>
                </a:tc>
                <a:extLst>
                  <a:ext uri="{0D108BD9-81ED-4DB2-BD59-A6C34878D82A}">
                    <a16:rowId xmlns:a16="http://schemas.microsoft.com/office/drawing/2014/main" val="10006"/>
                  </a:ext>
                </a:extLst>
              </a:tr>
              <a:tr h="521207">
                <a:tc>
                  <a:txBody>
                    <a:bodyPr/>
                    <a:lstStyle/>
                    <a:p>
                      <a:pPr algn="l"/>
                      <a:r>
                        <a:rPr sz="1050" b="1">
                          <a:solidFill>
                            <a:srgbClr val="0F2145"/>
                          </a:solidFill>
                          <a:latin typeface="Calibri"/>
                        </a:rPr>
                        <a:t>Temperature</a:t>
                      </a:r>
                    </a:p>
                  </a:txBody>
                  <a:tcPr marR="73152" marT="36576" marB="36576" anchor="ctr">
                    <a:solidFill>
                      <a:srgbClr val="FFFFFF"/>
                    </a:solidFill>
                  </a:tcPr>
                </a:tc>
                <a:tc>
                  <a:txBody>
                    <a:bodyPr/>
                    <a:lstStyle/>
                    <a:p>
                      <a:pPr algn="l"/>
                      <a:r>
                        <a:rPr sz="1050" b="0">
                          <a:solidFill>
                            <a:srgbClr val="1B2A41"/>
                          </a:solidFill>
                          <a:latin typeface="Calibri"/>
                        </a:rPr>
                        <a:t>The creativity dial — low = consistent, high = varied</a:t>
                      </a:r>
                    </a:p>
                  </a:txBody>
                  <a:tcPr marR="73152" marT="36576" marB="36576" anchor="ctr">
                    <a:solidFill>
                      <a:srgbClr val="FFFFFF"/>
                    </a:solidFill>
                  </a:tcPr>
                </a:tc>
                <a:tc>
                  <a:txBody>
                    <a:bodyPr/>
                    <a:lstStyle/>
                    <a:p>
                      <a:pPr algn="l"/>
                      <a:r>
                        <a:rPr sz="1050" b="0">
                          <a:solidFill>
                            <a:srgbClr val="1B2A41"/>
                          </a:solidFill>
                          <a:latin typeface="Calibri"/>
                        </a:rPr>
                        <a:t>Compliance drafts at 0.2, brainstorms at 0.9</a:t>
                      </a:r>
                    </a:p>
                  </a:txBody>
                  <a:tcPr marR="73152" marT="36576" marB="36576" anchor="ctr">
                    <a:solidFill>
                      <a:srgbClr val="FFFFFF"/>
                    </a:solidFill>
                  </a:tcPr>
                </a:tc>
                <a:extLst>
                  <a:ext uri="{0D108BD9-81ED-4DB2-BD59-A6C34878D82A}">
                    <a16:rowId xmlns:a16="http://schemas.microsoft.com/office/drawing/2014/main" val="10007"/>
                  </a:ext>
                </a:extLst>
              </a:tr>
              <a:tr h="521207">
                <a:tc>
                  <a:txBody>
                    <a:bodyPr/>
                    <a:lstStyle/>
                    <a:p>
                      <a:pPr algn="l"/>
                      <a:r>
                        <a:rPr sz="1050" b="1">
                          <a:solidFill>
                            <a:srgbClr val="0F2145"/>
                          </a:solidFill>
                          <a:latin typeface="Calibri"/>
                        </a:rPr>
                        <a:t>API</a:t>
                      </a:r>
                    </a:p>
                  </a:txBody>
                  <a:tcPr marR="73152" marT="36576" marB="36576" anchor="ctr">
                    <a:solidFill>
                      <a:srgbClr val="F1F4F9"/>
                    </a:solidFill>
                  </a:tcPr>
                </a:tc>
                <a:tc>
                  <a:txBody>
                    <a:bodyPr/>
                    <a:lstStyle/>
                    <a:p>
                      <a:pPr algn="l"/>
                      <a:r>
                        <a:rPr sz="1050" b="0">
                          <a:solidFill>
                            <a:srgbClr val="1B2A41"/>
                          </a:solidFill>
                          <a:latin typeface="Calibri"/>
                        </a:rPr>
                        <a:t>The plug that lets software call a model programmatically</a:t>
                      </a:r>
                    </a:p>
                  </a:txBody>
                  <a:tcPr marR="73152" marT="36576" marB="36576" anchor="ctr">
                    <a:solidFill>
                      <a:srgbClr val="F1F4F9"/>
                    </a:solidFill>
                  </a:tcPr>
                </a:tc>
                <a:tc>
                  <a:txBody>
                    <a:bodyPr/>
                    <a:lstStyle/>
                    <a:p>
                      <a:pPr algn="l"/>
                      <a:r>
                        <a:rPr sz="1050" b="0">
                          <a:solidFill>
                            <a:srgbClr val="1B2A41"/>
                          </a:solidFill>
                          <a:latin typeface="Calibri"/>
                        </a:rPr>
                        <a:t>An Excel add-in querying Claude = an API call</a:t>
                      </a:r>
                    </a:p>
                  </a:txBody>
                  <a:tcPr marR="73152" marT="36576" marB="36576" anchor="ctr">
                    <a:solidFill>
                      <a:srgbClr val="F1F4F9"/>
                    </a:solidFill>
                  </a:tcPr>
                </a:tc>
                <a:extLst>
                  <a:ext uri="{0D108BD9-81ED-4DB2-BD59-A6C34878D82A}">
                    <a16:rowId xmlns:a16="http://schemas.microsoft.com/office/drawing/2014/main" val="10008"/>
                  </a:ext>
                </a:extLst>
              </a:tr>
            </a:tbl>
          </a:graphicData>
        </a:graphic>
      </p:graphicFrame>
      <p:sp>
        <p:nvSpPr>
          <p:cNvPr id="6" name="TextBox 5"/>
          <p:cNvSpPr txBox="1"/>
          <p:nvPr/>
        </p:nvSpPr>
        <p:spPr>
          <a:xfrm>
            <a:off x="548640" y="6473952"/>
            <a:ext cx="7315200" cy="274320"/>
          </a:xfrm>
          <a:prstGeom prst="rect">
            <a:avLst/>
          </a:prstGeom>
          <a:noFill/>
        </p:spPr>
        <p:txBody>
          <a:bodyPr wrap="square" lIns="0" tIns="0" rIns="0" bIns="0" anchor="t">
            <a:spAutoFit/>
          </a:bodyPr>
          <a:lstStyle/>
          <a:p>
            <a:pPr algn="l"/>
            <a:r>
              <a:rPr sz="850" b="0" i="0" spc="180">
                <a:solidFill>
                  <a:srgbClr val="5D6B7E"/>
                </a:solidFill>
                <a:latin typeface="Calibri"/>
              </a:rPr>
              <a:t>ISBMS · PGDM 2025–27 · AGENTIC AI &amp; ADVANCED ANALYTICS IN FINANCE</a:t>
            </a:r>
          </a:p>
        </p:txBody>
      </p:sp>
      <p:sp>
        <p:nvSpPr>
          <p:cNvPr id="7" name="TextBox 6"/>
          <p:cNvSpPr txBox="1"/>
          <p:nvPr/>
        </p:nvSpPr>
        <p:spPr>
          <a:xfrm>
            <a:off x="9814255" y="6473952"/>
            <a:ext cx="1828800" cy="274320"/>
          </a:xfrm>
          <a:prstGeom prst="rect">
            <a:avLst/>
          </a:prstGeom>
          <a:noFill/>
        </p:spPr>
        <p:txBody>
          <a:bodyPr wrap="square" lIns="0" tIns="0" rIns="0" bIns="0" anchor="t">
            <a:spAutoFit/>
          </a:bodyPr>
          <a:lstStyle/>
          <a:p>
            <a:pPr algn="r"/>
            <a:r>
              <a:rPr sz="850" b="0" i="0" spc="120">
                <a:solidFill>
                  <a:srgbClr val="5D6B7E"/>
                </a:solidFill>
                <a:latin typeface="Calibri"/>
              </a:rPr>
              <a:t>MODULE 1  ·  08</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86384" y="310896"/>
            <a:ext cx="10820095" cy="292608"/>
          </a:xfrm>
          <a:prstGeom prst="rect">
            <a:avLst/>
          </a:prstGeom>
          <a:noFill/>
        </p:spPr>
        <p:txBody>
          <a:bodyPr wrap="square" lIns="0" tIns="0" rIns="0" bIns="0" anchor="t">
            <a:spAutoFit/>
          </a:bodyPr>
          <a:lstStyle/>
          <a:p>
            <a:pPr algn="l"/>
            <a:r>
              <a:rPr sz="1100" b="1" i="0" spc="250">
                <a:solidFill>
                  <a:srgbClr val="C9A227"/>
                </a:solidFill>
                <a:latin typeface="Calibri"/>
              </a:rPr>
              <a:t>HOUR 2 · AGENTS</a:t>
            </a:r>
          </a:p>
        </p:txBody>
      </p:sp>
      <p:sp>
        <p:nvSpPr>
          <p:cNvPr id="4" name="TextBox 3"/>
          <p:cNvSpPr txBox="1"/>
          <p:nvPr/>
        </p:nvSpPr>
        <p:spPr>
          <a:xfrm>
            <a:off x="548640" y="621792"/>
            <a:ext cx="11094415" cy="685800"/>
          </a:xfrm>
          <a:prstGeom prst="rect">
            <a:avLst/>
          </a:prstGeom>
          <a:noFill/>
        </p:spPr>
        <p:txBody>
          <a:bodyPr wrap="square" lIns="0" tIns="0" rIns="0" bIns="0" anchor="t">
            <a:spAutoFit/>
          </a:bodyPr>
          <a:lstStyle/>
          <a:p>
            <a:pPr algn="l"/>
            <a:r>
              <a:rPr sz="2900" b="1" i="0">
                <a:solidFill>
                  <a:srgbClr val="0F2145"/>
                </a:solidFill>
                <a:latin typeface="Georgia"/>
              </a:rPr>
              <a:t>From chatbot to agent — answering vs doing</a:t>
            </a:r>
          </a:p>
        </p:txBody>
      </p:sp>
      <p:sp>
        <p:nvSpPr>
          <p:cNvPr id="5" name="Rounded Rectangle 4"/>
          <p:cNvSpPr/>
          <p:nvPr/>
        </p:nvSpPr>
        <p:spPr>
          <a:xfrm>
            <a:off x="548640" y="1783080"/>
            <a:ext cx="1883664" cy="1143000"/>
          </a:xfrm>
          <a:prstGeom prst="roundRect">
            <a:avLst>
              <a:gd name="adj" fmla="val 10000"/>
            </a:avLst>
          </a:prstGeom>
          <a:solidFill>
            <a:srgbClr val="244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21792" y="1783080"/>
            <a:ext cx="1737360" cy="1143000"/>
          </a:xfrm>
          <a:prstGeom prst="rect">
            <a:avLst/>
          </a:prstGeom>
          <a:noFill/>
        </p:spPr>
        <p:txBody>
          <a:bodyPr wrap="square" lIns="0" tIns="0" rIns="0" bIns="0" anchor="ctr">
            <a:spAutoFit/>
          </a:bodyPr>
          <a:lstStyle/>
          <a:p>
            <a:pPr algn="ctr"/>
            <a:r>
              <a:rPr sz="1400" b="1" i="0">
                <a:solidFill>
                  <a:srgbClr val="FFFFFF"/>
                </a:solidFill>
                <a:latin typeface="Calibri"/>
              </a:rPr>
              <a:t>LLM</a:t>
            </a:r>
          </a:p>
          <a:p>
            <a:pPr algn="ctr">
              <a:spcBef>
                <a:spcPts val="200"/>
              </a:spcBef>
            </a:pPr>
            <a:r>
              <a:rPr sz="850" b="0" i="0">
                <a:solidFill>
                  <a:srgbClr val="C9D6EE"/>
                </a:solidFill>
                <a:latin typeface="Calibri"/>
              </a:rPr>
              <a:t>the brain</a:t>
            </a:r>
          </a:p>
        </p:txBody>
      </p:sp>
      <p:sp>
        <p:nvSpPr>
          <p:cNvPr id="7" name="TextBox 6"/>
          <p:cNvSpPr txBox="1"/>
          <p:nvPr/>
        </p:nvSpPr>
        <p:spPr>
          <a:xfrm>
            <a:off x="2487168" y="2011680"/>
            <a:ext cx="384048" cy="640080"/>
          </a:xfrm>
          <a:prstGeom prst="rect">
            <a:avLst/>
          </a:prstGeom>
          <a:noFill/>
        </p:spPr>
        <p:txBody>
          <a:bodyPr wrap="square" lIns="0" tIns="0" rIns="0" bIns="0" anchor="ctr">
            <a:spAutoFit/>
          </a:bodyPr>
          <a:lstStyle/>
          <a:p>
            <a:pPr algn="ctr"/>
            <a:r>
              <a:rPr sz="2600" b="1" i="0">
                <a:solidFill>
                  <a:srgbClr val="5D6B7E"/>
                </a:solidFill>
                <a:latin typeface="Calibri"/>
              </a:rPr>
              <a:t>+</a:t>
            </a:r>
          </a:p>
        </p:txBody>
      </p:sp>
      <p:sp>
        <p:nvSpPr>
          <p:cNvPr id="8" name="Rounded Rectangle 7"/>
          <p:cNvSpPr/>
          <p:nvPr/>
        </p:nvSpPr>
        <p:spPr>
          <a:xfrm>
            <a:off x="2889504" y="1783080"/>
            <a:ext cx="1883664" cy="1143000"/>
          </a:xfrm>
          <a:prstGeom prst="roundRect">
            <a:avLst>
              <a:gd name="adj" fmla="val 10000"/>
            </a:avLst>
          </a:prstGeom>
          <a:solidFill>
            <a:srgbClr val="244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962656" y="1783080"/>
            <a:ext cx="1737360" cy="1143000"/>
          </a:xfrm>
          <a:prstGeom prst="rect">
            <a:avLst/>
          </a:prstGeom>
          <a:noFill/>
        </p:spPr>
        <p:txBody>
          <a:bodyPr wrap="square" lIns="0" tIns="0" rIns="0" bIns="0" anchor="ctr">
            <a:spAutoFit/>
          </a:bodyPr>
          <a:lstStyle/>
          <a:p>
            <a:pPr algn="ctr"/>
            <a:r>
              <a:rPr sz="1400" b="1" i="0">
                <a:solidFill>
                  <a:srgbClr val="FFFFFF"/>
                </a:solidFill>
                <a:latin typeface="Calibri"/>
              </a:rPr>
              <a:t>Tools</a:t>
            </a:r>
          </a:p>
          <a:p>
            <a:pPr algn="ctr">
              <a:spcBef>
                <a:spcPts val="200"/>
              </a:spcBef>
            </a:pPr>
            <a:r>
              <a:rPr sz="850" b="0" i="0">
                <a:solidFill>
                  <a:srgbClr val="C9D6EE"/>
                </a:solidFill>
                <a:latin typeface="Calibri"/>
              </a:rPr>
              <a:t>hands — APIs, code,
search, spreadsheets</a:t>
            </a:r>
          </a:p>
        </p:txBody>
      </p:sp>
      <p:sp>
        <p:nvSpPr>
          <p:cNvPr id="10" name="TextBox 9"/>
          <p:cNvSpPr txBox="1"/>
          <p:nvPr/>
        </p:nvSpPr>
        <p:spPr>
          <a:xfrm>
            <a:off x="4828032" y="2011680"/>
            <a:ext cx="384048" cy="640080"/>
          </a:xfrm>
          <a:prstGeom prst="rect">
            <a:avLst/>
          </a:prstGeom>
          <a:noFill/>
        </p:spPr>
        <p:txBody>
          <a:bodyPr wrap="square" lIns="0" tIns="0" rIns="0" bIns="0" anchor="ctr">
            <a:spAutoFit/>
          </a:bodyPr>
          <a:lstStyle/>
          <a:p>
            <a:pPr algn="ctr"/>
            <a:r>
              <a:rPr sz="2600" b="1" i="0">
                <a:solidFill>
                  <a:srgbClr val="5D6B7E"/>
                </a:solidFill>
                <a:latin typeface="Calibri"/>
              </a:rPr>
              <a:t>+</a:t>
            </a:r>
          </a:p>
        </p:txBody>
      </p:sp>
      <p:sp>
        <p:nvSpPr>
          <p:cNvPr id="11" name="Rounded Rectangle 10"/>
          <p:cNvSpPr/>
          <p:nvPr/>
        </p:nvSpPr>
        <p:spPr>
          <a:xfrm>
            <a:off x="5230368" y="1783080"/>
            <a:ext cx="1883664" cy="1143000"/>
          </a:xfrm>
          <a:prstGeom prst="roundRect">
            <a:avLst>
              <a:gd name="adj" fmla="val 10000"/>
            </a:avLst>
          </a:prstGeom>
          <a:solidFill>
            <a:srgbClr val="244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303520" y="1783080"/>
            <a:ext cx="1737360" cy="1143000"/>
          </a:xfrm>
          <a:prstGeom prst="rect">
            <a:avLst/>
          </a:prstGeom>
          <a:noFill/>
        </p:spPr>
        <p:txBody>
          <a:bodyPr wrap="square" lIns="0" tIns="0" rIns="0" bIns="0" anchor="ctr">
            <a:spAutoFit/>
          </a:bodyPr>
          <a:lstStyle/>
          <a:p>
            <a:pPr algn="ctr"/>
            <a:r>
              <a:rPr sz="1400" b="1" i="0">
                <a:solidFill>
                  <a:srgbClr val="FFFFFF"/>
                </a:solidFill>
                <a:latin typeface="Calibri"/>
              </a:rPr>
              <a:t>Memory</a:t>
            </a:r>
          </a:p>
          <a:p>
            <a:pPr algn="ctr">
              <a:spcBef>
                <a:spcPts val="200"/>
              </a:spcBef>
            </a:pPr>
            <a:r>
              <a:rPr sz="850" b="0" i="0">
                <a:solidFill>
                  <a:srgbClr val="C9D6EE"/>
                </a:solidFill>
                <a:latin typeface="Calibri"/>
              </a:rPr>
              <a:t>notebook — state
across steps</a:t>
            </a:r>
          </a:p>
        </p:txBody>
      </p:sp>
      <p:sp>
        <p:nvSpPr>
          <p:cNvPr id="13" name="TextBox 12"/>
          <p:cNvSpPr txBox="1"/>
          <p:nvPr/>
        </p:nvSpPr>
        <p:spPr>
          <a:xfrm>
            <a:off x="7168896" y="2011680"/>
            <a:ext cx="384048" cy="640080"/>
          </a:xfrm>
          <a:prstGeom prst="rect">
            <a:avLst/>
          </a:prstGeom>
          <a:noFill/>
        </p:spPr>
        <p:txBody>
          <a:bodyPr wrap="square" lIns="0" tIns="0" rIns="0" bIns="0" anchor="ctr">
            <a:spAutoFit/>
          </a:bodyPr>
          <a:lstStyle/>
          <a:p>
            <a:pPr algn="ctr"/>
            <a:r>
              <a:rPr sz="2600" b="1" i="0">
                <a:solidFill>
                  <a:srgbClr val="5D6B7E"/>
                </a:solidFill>
                <a:latin typeface="Calibri"/>
              </a:rPr>
              <a:t>+</a:t>
            </a:r>
          </a:p>
        </p:txBody>
      </p:sp>
      <p:sp>
        <p:nvSpPr>
          <p:cNvPr id="14" name="Rounded Rectangle 13"/>
          <p:cNvSpPr/>
          <p:nvPr/>
        </p:nvSpPr>
        <p:spPr>
          <a:xfrm>
            <a:off x="7571232" y="1783080"/>
            <a:ext cx="1883664" cy="1143000"/>
          </a:xfrm>
          <a:prstGeom prst="roundRect">
            <a:avLst>
              <a:gd name="adj" fmla="val 10000"/>
            </a:avLst>
          </a:prstGeom>
          <a:solidFill>
            <a:srgbClr val="244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644384" y="1783080"/>
            <a:ext cx="1737360" cy="1143000"/>
          </a:xfrm>
          <a:prstGeom prst="rect">
            <a:avLst/>
          </a:prstGeom>
          <a:noFill/>
        </p:spPr>
        <p:txBody>
          <a:bodyPr wrap="square" lIns="0" tIns="0" rIns="0" bIns="0" anchor="ctr">
            <a:spAutoFit/>
          </a:bodyPr>
          <a:lstStyle/>
          <a:p>
            <a:pPr algn="ctr"/>
            <a:r>
              <a:rPr sz="1400" b="1" i="0">
                <a:solidFill>
                  <a:srgbClr val="FFFFFF"/>
                </a:solidFill>
                <a:latin typeface="Calibri"/>
              </a:rPr>
              <a:t>Planning</a:t>
            </a:r>
          </a:p>
          <a:p>
            <a:pPr algn="ctr">
              <a:spcBef>
                <a:spcPts val="200"/>
              </a:spcBef>
            </a:pPr>
            <a:r>
              <a:rPr sz="850" b="0" i="0">
                <a:solidFill>
                  <a:srgbClr val="C9D6EE"/>
                </a:solidFill>
                <a:latin typeface="Calibri"/>
              </a:rPr>
              <a:t>the to-do list —
decide, act, check</a:t>
            </a:r>
          </a:p>
        </p:txBody>
      </p:sp>
      <p:sp>
        <p:nvSpPr>
          <p:cNvPr id="16" name="TextBox 15"/>
          <p:cNvSpPr txBox="1"/>
          <p:nvPr/>
        </p:nvSpPr>
        <p:spPr>
          <a:xfrm>
            <a:off x="9509760" y="2011680"/>
            <a:ext cx="384048" cy="640080"/>
          </a:xfrm>
          <a:prstGeom prst="rect">
            <a:avLst/>
          </a:prstGeom>
          <a:noFill/>
        </p:spPr>
        <p:txBody>
          <a:bodyPr wrap="square" lIns="0" tIns="0" rIns="0" bIns="0" anchor="ctr">
            <a:spAutoFit/>
          </a:bodyPr>
          <a:lstStyle/>
          <a:p>
            <a:pPr algn="ctr"/>
            <a:r>
              <a:rPr sz="2600" b="1" i="0">
                <a:solidFill>
                  <a:srgbClr val="5D6B7E"/>
                </a:solidFill>
                <a:latin typeface="Calibri"/>
              </a:rPr>
              <a:t>=</a:t>
            </a:r>
          </a:p>
        </p:txBody>
      </p:sp>
      <p:sp>
        <p:nvSpPr>
          <p:cNvPr id="17" name="Rounded Rectangle 16"/>
          <p:cNvSpPr/>
          <p:nvPr/>
        </p:nvSpPr>
        <p:spPr>
          <a:xfrm>
            <a:off x="9912096" y="1783080"/>
            <a:ext cx="2011680" cy="1143000"/>
          </a:xfrm>
          <a:prstGeom prst="roundRect">
            <a:avLst>
              <a:gd name="adj" fmla="val 10000"/>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9985248" y="1783080"/>
            <a:ext cx="1865376" cy="1143000"/>
          </a:xfrm>
          <a:prstGeom prst="rect">
            <a:avLst/>
          </a:prstGeom>
          <a:noFill/>
        </p:spPr>
        <p:txBody>
          <a:bodyPr wrap="square" lIns="0" tIns="0" rIns="0" bIns="0" anchor="ctr">
            <a:spAutoFit/>
          </a:bodyPr>
          <a:lstStyle/>
          <a:p>
            <a:pPr algn="ctr"/>
            <a:r>
              <a:rPr sz="1400" b="1" i="0">
                <a:solidFill>
                  <a:srgbClr val="0F2145"/>
                </a:solidFill>
                <a:latin typeface="Calibri"/>
              </a:rPr>
              <a:t>AGENT</a:t>
            </a:r>
          </a:p>
          <a:p>
            <a:pPr algn="ctr">
              <a:spcBef>
                <a:spcPts val="200"/>
              </a:spcBef>
            </a:pPr>
            <a:r>
              <a:rPr sz="850" b="0" i="0">
                <a:solidFill>
                  <a:srgbClr val="5C4A0E"/>
                </a:solidFill>
                <a:latin typeface="Calibri"/>
              </a:rPr>
              <a:t>works toward a goal</a:t>
            </a:r>
          </a:p>
        </p:txBody>
      </p:sp>
      <p:graphicFrame>
        <p:nvGraphicFramePr>
          <p:cNvPr id="19" name="Table 18"/>
          <p:cNvGraphicFramePr>
            <a:graphicFrameLocks noGrp="1"/>
          </p:cNvGraphicFramePr>
          <p:nvPr/>
        </p:nvGraphicFramePr>
        <p:xfrm>
          <a:off x="548640" y="3310128"/>
          <a:ext cx="11064240" cy="2560320"/>
        </p:xfrm>
        <a:graphic>
          <a:graphicData uri="http://schemas.openxmlformats.org/drawingml/2006/table">
            <a:tbl>
              <a:tblPr firstRow="1" bandRow="1">
                <a:tableStyleId>{5C22544A-7EE6-4342-B048-85BDC9FD1C3A}</a:tableStyleId>
              </a:tblPr>
              <a:tblGrid>
                <a:gridCol w="2103120">
                  <a:extLst>
                    <a:ext uri="{9D8B030D-6E8A-4147-A177-3AD203B41FA5}">
                      <a16:colId xmlns:a16="http://schemas.microsoft.com/office/drawing/2014/main" val="20000"/>
                    </a:ext>
                  </a:extLst>
                </a:gridCol>
                <a:gridCol w="4480560">
                  <a:extLst>
                    <a:ext uri="{9D8B030D-6E8A-4147-A177-3AD203B41FA5}">
                      <a16:colId xmlns:a16="http://schemas.microsoft.com/office/drawing/2014/main" val="20001"/>
                    </a:ext>
                  </a:extLst>
                </a:gridCol>
                <a:gridCol w="4480560">
                  <a:extLst>
                    <a:ext uri="{9D8B030D-6E8A-4147-A177-3AD203B41FA5}">
                      <a16:colId xmlns:a16="http://schemas.microsoft.com/office/drawing/2014/main" val="20002"/>
                    </a:ext>
                  </a:extLst>
                </a:gridCol>
              </a:tblGrid>
              <a:tr h="512064">
                <a:tc>
                  <a:txBody>
                    <a:bodyPr/>
                    <a:lstStyle/>
                    <a:p>
                      <a:pPr algn="l"/>
                      <a:endParaRPr/>
                    </a:p>
                  </a:txBody>
                  <a:tcPr marR="73152" marT="36576" marB="36576" anchor="ctr">
                    <a:solidFill>
                      <a:srgbClr val="0F2145"/>
                    </a:solidFill>
                  </a:tcPr>
                </a:tc>
                <a:tc>
                  <a:txBody>
                    <a:bodyPr/>
                    <a:lstStyle/>
                    <a:p>
                      <a:pPr algn="l"/>
                      <a:r>
                        <a:rPr sz="1200" b="1">
                          <a:solidFill>
                            <a:srgbClr val="FFFFFF"/>
                          </a:solidFill>
                          <a:latin typeface="Calibri"/>
                        </a:rPr>
                        <a:t>Chatbot</a:t>
                      </a:r>
                    </a:p>
                  </a:txBody>
                  <a:tcPr marR="73152" marT="36576" marB="36576" anchor="ctr">
                    <a:solidFill>
                      <a:srgbClr val="0F2145"/>
                    </a:solidFill>
                  </a:tcPr>
                </a:tc>
                <a:tc>
                  <a:txBody>
                    <a:bodyPr/>
                    <a:lstStyle/>
                    <a:p>
                      <a:pPr algn="l"/>
                      <a:r>
                        <a:rPr sz="1200" b="1">
                          <a:solidFill>
                            <a:srgbClr val="FFFFFF"/>
                          </a:solidFill>
                          <a:latin typeface="Calibri"/>
                        </a:rPr>
                        <a:t>Agent</a:t>
                      </a:r>
                    </a:p>
                  </a:txBody>
                  <a:tcPr marR="73152" marT="36576" marB="36576" anchor="ctr">
                    <a:solidFill>
                      <a:srgbClr val="0F2145"/>
                    </a:solidFill>
                  </a:tcPr>
                </a:tc>
                <a:extLst>
                  <a:ext uri="{0D108BD9-81ED-4DB2-BD59-A6C34878D82A}">
                    <a16:rowId xmlns:a16="http://schemas.microsoft.com/office/drawing/2014/main" val="10000"/>
                  </a:ext>
                </a:extLst>
              </a:tr>
              <a:tr h="512064">
                <a:tc>
                  <a:txBody>
                    <a:bodyPr/>
                    <a:lstStyle/>
                    <a:p>
                      <a:pPr algn="l"/>
                      <a:r>
                        <a:rPr sz="1100" b="1">
                          <a:solidFill>
                            <a:srgbClr val="0F2145"/>
                          </a:solidFill>
                          <a:latin typeface="Calibri"/>
                        </a:rPr>
                        <a:t>You ask</a:t>
                      </a:r>
                    </a:p>
                  </a:txBody>
                  <a:tcPr marR="73152" marT="36576" marB="36576" anchor="ctr">
                    <a:solidFill>
                      <a:srgbClr val="FFFFFF"/>
                    </a:solidFill>
                  </a:tcPr>
                </a:tc>
                <a:tc>
                  <a:txBody>
                    <a:bodyPr/>
                    <a:lstStyle/>
                    <a:p>
                      <a:pPr algn="l"/>
                      <a:r>
                        <a:rPr sz="1100" b="0">
                          <a:solidFill>
                            <a:srgbClr val="1B2A41"/>
                          </a:solidFill>
                          <a:latin typeface="Calibri"/>
                        </a:rPr>
                        <a:t>“What is Infosys' P/E?”</a:t>
                      </a:r>
                    </a:p>
                  </a:txBody>
                  <a:tcPr marR="73152" marT="36576" marB="36576" anchor="ctr">
                    <a:solidFill>
                      <a:srgbClr val="FFFFFF"/>
                    </a:solidFill>
                  </a:tcPr>
                </a:tc>
                <a:tc>
                  <a:txBody>
                    <a:bodyPr/>
                    <a:lstStyle/>
                    <a:p>
                      <a:pPr algn="l"/>
                      <a:r>
                        <a:rPr sz="1100" b="0">
                          <a:solidFill>
                            <a:srgbClr val="1B2A41"/>
                          </a:solidFill>
                          <a:latin typeface="Calibri"/>
                        </a:rPr>
                        <a:t>“Review my portfolio and flag concentration risks.”</a:t>
                      </a:r>
                    </a:p>
                  </a:txBody>
                  <a:tcPr marR="73152" marT="36576" marB="36576" anchor="ctr">
                    <a:solidFill>
                      <a:srgbClr val="FFFFFF"/>
                    </a:solidFill>
                  </a:tcPr>
                </a:tc>
                <a:extLst>
                  <a:ext uri="{0D108BD9-81ED-4DB2-BD59-A6C34878D82A}">
                    <a16:rowId xmlns:a16="http://schemas.microsoft.com/office/drawing/2014/main" val="10001"/>
                  </a:ext>
                </a:extLst>
              </a:tr>
              <a:tr h="512064">
                <a:tc>
                  <a:txBody>
                    <a:bodyPr/>
                    <a:lstStyle/>
                    <a:p>
                      <a:pPr algn="l"/>
                      <a:r>
                        <a:rPr sz="1100" b="1">
                          <a:solidFill>
                            <a:srgbClr val="0F2145"/>
                          </a:solidFill>
                          <a:latin typeface="Calibri"/>
                        </a:rPr>
                        <a:t>It does</a:t>
                      </a:r>
                    </a:p>
                  </a:txBody>
                  <a:tcPr marR="73152" marT="36576" marB="36576" anchor="ctr">
                    <a:solidFill>
                      <a:srgbClr val="F1F4F9"/>
                    </a:solidFill>
                  </a:tcPr>
                </a:tc>
                <a:tc>
                  <a:txBody>
                    <a:bodyPr/>
                    <a:lstStyle/>
                    <a:p>
                      <a:pPr algn="l"/>
                      <a:r>
                        <a:rPr sz="1100" b="0">
                          <a:solidFill>
                            <a:srgbClr val="1B2A41"/>
                          </a:solidFill>
                          <a:latin typeface="Calibri"/>
                        </a:rPr>
                        <a:t>Answers from context in one shot</a:t>
                      </a:r>
                    </a:p>
                  </a:txBody>
                  <a:tcPr marR="73152" marT="36576" marB="36576" anchor="ctr">
                    <a:solidFill>
                      <a:srgbClr val="F1F4F9"/>
                    </a:solidFill>
                  </a:tcPr>
                </a:tc>
                <a:tc>
                  <a:txBody>
                    <a:bodyPr/>
                    <a:lstStyle/>
                    <a:p>
                      <a:pPr algn="l"/>
                      <a:r>
                        <a:rPr sz="1100" b="0">
                          <a:solidFill>
                            <a:srgbClr val="1B2A41"/>
                          </a:solidFill>
                          <a:latin typeface="Calibri"/>
                        </a:rPr>
                        <a:t>Fetches prices → computes weights → checks limits → drafts memo</a:t>
                      </a:r>
                    </a:p>
                  </a:txBody>
                  <a:tcPr marR="73152" marT="36576" marB="36576" anchor="ctr">
                    <a:solidFill>
                      <a:srgbClr val="F1F4F9"/>
                    </a:solidFill>
                  </a:tcPr>
                </a:tc>
                <a:extLst>
                  <a:ext uri="{0D108BD9-81ED-4DB2-BD59-A6C34878D82A}">
                    <a16:rowId xmlns:a16="http://schemas.microsoft.com/office/drawing/2014/main" val="10002"/>
                  </a:ext>
                </a:extLst>
              </a:tr>
              <a:tr h="512064">
                <a:tc>
                  <a:txBody>
                    <a:bodyPr/>
                    <a:lstStyle/>
                    <a:p>
                      <a:pPr algn="l"/>
                      <a:r>
                        <a:rPr sz="1100" b="1">
                          <a:solidFill>
                            <a:srgbClr val="0F2145"/>
                          </a:solidFill>
                          <a:latin typeface="Calibri"/>
                        </a:rPr>
                        <a:t>Steps</a:t>
                      </a:r>
                    </a:p>
                  </a:txBody>
                  <a:tcPr marR="73152" marT="36576" marB="36576" anchor="ctr">
                    <a:solidFill>
                      <a:srgbClr val="FFFFFF"/>
                    </a:solidFill>
                  </a:tcPr>
                </a:tc>
                <a:tc>
                  <a:txBody>
                    <a:bodyPr/>
                    <a:lstStyle/>
                    <a:p>
                      <a:pPr algn="l"/>
                      <a:r>
                        <a:rPr sz="1100" b="0">
                          <a:solidFill>
                            <a:srgbClr val="1B2A41"/>
                          </a:solidFill>
                          <a:latin typeface="Calibri"/>
                        </a:rPr>
                        <a:t>One</a:t>
                      </a:r>
                    </a:p>
                  </a:txBody>
                  <a:tcPr marR="73152" marT="36576" marB="36576" anchor="ctr">
                    <a:solidFill>
                      <a:srgbClr val="FFFFFF"/>
                    </a:solidFill>
                  </a:tcPr>
                </a:tc>
                <a:tc>
                  <a:txBody>
                    <a:bodyPr/>
                    <a:lstStyle/>
                    <a:p>
                      <a:pPr algn="l"/>
                      <a:r>
                        <a:rPr sz="1100" b="0">
                          <a:solidFill>
                            <a:srgbClr val="1B2A41"/>
                          </a:solidFill>
                          <a:latin typeface="Calibri"/>
                        </a:rPr>
                        <a:t>Many — it decides the sequence itself</a:t>
                      </a:r>
                    </a:p>
                  </a:txBody>
                  <a:tcPr marR="73152" marT="36576" marB="36576" anchor="ctr">
                    <a:solidFill>
                      <a:srgbClr val="FFFFFF"/>
                    </a:solidFill>
                  </a:tcPr>
                </a:tc>
                <a:extLst>
                  <a:ext uri="{0D108BD9-81ED-4DB2-BD59-A6C34878D82A}">
                    <a16:rowId xmlns:a16="http://schemas.microsoft.com/office/drawing/2014/main" val="10003"/>
                  </a:ext>
                </a:extLst>
              </a:tr>
              <a:tr h="512064">
                <a:tc>
                  <a:txBody>
                    <a:bodyPr/>
                    <a:lstStyle/>
                    <a:p>
                      <a:pPr algn="l"/>
                      <a:r>
                        <a:rPr sz="1100" b="1">
                          <a:solidFill>
                            <a:srgbClr val="0F2145"/>
                          </a:solidFill>
                          <a:latin typeface="Calibri"/>
                        </a:rPr>
                        <a:t>Trust needed</a:t>
                      </a:r>
                    </a:p>
                  </a:txBody>
                  <a:tcPr marR="73152" marT="36576" marB="36576" anchor="ctr">
                    <a:solidFill>
                      <a:srgbClr val="F1F4F9"/>
                    </a:solidFill>
                  </a:tcPr>
                </a:tc>
                <a:tc>
                  <a:txBody>
                    <a:bodyPr/>
                    <a:lstStyle/>
                    <a:p>
                      <a:pPr algn="l"/>
                      <a:r>
                        <a:rPr sz="1100" b="0">
                          <a:solidFill>
                            <a:srgbClr val="1B2A41"/>
                          </a:solidFill>
                          <a:latin typeface="Calibri"/>
                        </a:rPr>
                        <a:t>Verify the answer</a:t>
                      </a:r>
                    </a:p>
                  </a:txBody>
                  <a:tcPr marR="73152" marT="36576" marB="36576" anchor="ctr">
                    <a:solidFill>
                      <a:srgbClr val="F1F4F9"/>
                    </a:solidFill>
                  </a:tcPr>
                </a:tc>
                <a:tc>
                  <a:txBody>
                    <a:bodyPr/>
                    <a:lstStyle/>
                    <a:p>
                      <a:pPr algn="l"/>
                      <a:r>
                        <a:rPr sz="1100" b="0">
                          <a:solidFill>
                            <a:srgbClr val="1B2A41"/>
                          </a:solidFill>
                          <a:latin typeface="Calibri"/>
                        </a:rPr>
                        <a:t>Verify the actions — permissions matter</a:t>
                      </a:r>
                    </a:p>
                  </a:txBody>
                  <a:tcPr marR="73152" marT="36576" marB="36576" anchor="ctr">
                    <a:solidFill>
                      <a:srgbClr val="F1F4F9"/>
                    </a:solidFill>
                  </a:tcPr>
                </a:tc>
                <a:extLst>
                  <a:ext uri="{0D108BD9-81ED-4DB2-BD59-A6C34878D82A}">
                    <a16:rowId xmlns:a16="http://schemas.microsoft.com/office/drawing/2014/main" val="10004"/>
                  </a:ext>
                </a:extLst>
              </a:tr>
            </a:tbl>
          </a:graphicData>
        </a:graphic>
      </p:graphicFrame>
      <p:sp>
        <p:nvSpPr>
          <p:cNvPr id="20" name="TextBox 19"/>
          <p:cNvSpPr txBox="1"/>
          <p:nvPr/>
        </p:nvSpPr>
        <p:spPr>
          <a:xfrm>
            <a:off x="548640" y="6473952"/>
            <a:ext cx="7315200" cy="274320"/>
          </a:xfrm>
          <a:prstGeom prst="rect">
            <a:avLst/>
          </a:prstGeom>
          <a:noFill/>
        </p:spPr>
        <p:txBody>
          <a:bodyPr wrap="square" lIns="0" tIns="0" rIns="0" bIns="0" anchor="t">
            <a:spAutoFit/>
          </a:bodyPr>
          <a:lstStyle/>
          <a:p>
            <a:pPr algn="l"/>
            <a:r>
              <a:rPr sz="850" b="0" i="0" spc="180">
                <a:solidFill>
                  <a:srgbClr val="5D6B7E"/>
                </a:solidFill>
                <a:latin typeface="Calibri"/>
              </a:rPr>
              <a:t>ISBMS · PGDM 2025–27 · AGENTIC AI &amp; ADVANCED ANALYTICS IN FINANCE</a:t>
            </a:r>
          </a:p>
        </p:txBody>
      </p:sp>
      <p:sp>
        <p:nvSpPr>
          <p:cNvPr id="21" name="TextBox 20"/>
          <p:cNvSpPr txBox="1"/>
          <p:nvPr/>
        </p:nvSpPr>
        <p:spPr>
          <a:xfrm>
            <a:off x="9814255" y="6473952"/>
            <a:ext cx="1828800" cy="274320"/>
          </a:xfrm>
          <a:prstGeom prst="rect">
            <a:avLst/>
          </a:prstGeom>
          <a:noFill/>
        </p:spPr>
        <p:txBody>
          <a:bodyPr wrap="square" lIns="0" tIns="0" rIns="0" bIns="0" anchor="t">
            <a:spAutoFit/>
          </a:bodyPr>
          <a:lstStyle/>
          <a:p>
            <a:pPr algn="r"/>
            <a:r>
              <a:rPr sz="850" b="0" i="0" spc="120">
                <a:solidFill>
                  <a:srgbClr val="5D6B7E"/>
                </a:solidFill>
                <a:latin typeface="Calibri"/>
              </a:rPr>
              <a:t>MODULE 1  ·  09</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86384" y="310896"/>
            <a:ext cx="10820095" cy="292608"/>
          </a:xfrm>
          <a:prstGeom prst="rect">
            <a:avLst/>
          </a:prstGeom>
          <a:noFill/>
        </p:spPr>
        <p:txBody>
          <a:bodyPr wrap="square" lIns="0" tIns="0" rIns="0" bIns="0" anchor="t">
            <a:spAutoFit/>
          </a:bodyPr>
          <a:lstStyle/>
          <a:p>
            <a:pPr algn="l"/>
            <a:r>
              <a:rPr sz="1100" b="1" i="0" spc="250">
                <a:solidFill>
                  <a:srgbClr val="C9A227"/>
                </a:solidFill>
                <a:latin typeface="Calibri"/>
              </a:rPr>
              <a:t>HOUR 2 · AGENTS</a:t>
            </a:r>
          </a:p>
        </p:txBody>
      </p:sp>
      <p:sp>
        <p:nvSpPr>
          <p:cNvPr id="4" name="TextBox 3"/>
          <p:cNvSpPr txBox="1"/>
          <p:nvPr/>
        </p:nvSpPr>
        <p:spPr>
          <a:xfrm>
            <a:off x="548640" y="621792"/>
            <a:ext cx="11094415" cy="685800"/>
          </a:xfrm>
          <a:prstGeom prst="rect">
            <a:avLst/>
          </a:prstGeom>
          <a:noFill/>
        </p:spPr>
        <p:txBody>
          <a:bodyPr wrap="square" lIns="0" tIns="0" rIns="0" bIns="0" anchor="t">
            <a:spAutoFit/>
          </a:bodyPr>
          <a:lstStyle/>
          <a:p>
            <a:pPr algn="l"/>
            <a:r>
              <a:rPr sz="2900" b="1" i="0">
                <a:solidFill>
                  <a:srgbClr val="0F2145"/>
                </a:solidFill>
                <a:latin typeface="Georgia"/>
              </a:rPr>
              <a:t>Tool use — how an LLM presses buttons</a:t>
            </a:r>
          </a:p>
        </p:txBody>
      </p:sp>
      <p:sp>
        <p:nvSpPr>
          <p:cNvPr id="5" name="Oval 4"/>
          <p:cNvSpPr/>
          <p:nvPr/>
        </p:nvSpPr>
        <p:spPr>
          <a:xfrm>
            <a:off x="548640" y="1719072"/>
            <a:ext cx="475488" cy="475488"/>
          </a:xfrm>
          <a:prstGeom prst="ellipse">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1719072"/>
            <a:ext cx="475488" cy="475488"/>
          </a:xfrm>
          <a:prstGeom prst="rect">
            <a:avLst/>
          </a:prstGeom>
          <a:noFill/>
        </p:spPr>
        <p:txBody>
          <a:bodyPr wrap="square" lIns="0" tIns="0" rIns="0" bIns="0" anchor="ctr">
            <a:spAutoFit/>
          </a:bodyPr>
          <a:lstStyle/>
          <a:p>
            <a:pPr algn="ctr"/>
            <a:r>
              <a:rPr sz="1500" b="1" i="0">
                <a:solidFill>
                  <a:srgbClr val="0F2145"/>
                </a:solidFill>
                <a:latin typeface="Calibri"/>
              </a:rPr>
              <a:t>1</a:t>
            </a:r>
          </a:p>
        </p:txBody>
      </p:sp>
      <p:sp>
        <p:nvSpPr>
          <p:cNvPr id="7" name="Rounded Rectangle 6"/>
          <p:cNvSpPr/>
          <p:nvPr/>
        </p:nvSpPr>
        <p:spPr>
          <a:xfrm>
            <a:off x="1234440" y="1554480"/>
            <a:ext cx="10378440" cy="841248"/>
          </a:xfrm>
          <a:prstGeom prst="roundRect">
            <a:avLst>
              <a:gd name="adj" fmla="val 10000"/>
            </a:avLst>
          </a:prstGeom>
          <a:solidFill>
            <a:srgbClr val="F5EC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508760" y="1636776"/>
            <a:ext cx="9875520" cy="685800"/>
          </a:xfrm>
          <a:prstGeom prst="rect">
            <a:avLst/>
          </a:prstGeom>
          <a:noFill/>
        </p:spPr>
        <p:txBody>
          <a:bodyPr wrap="square" lIns="0" tIns="0" rIns="0" bIns="0" anchor="ctr">
            <a:spAutoFit/>
          </a:bodyPr>
          <a:lstStyle/>
          <a:p>
            <a:pPr algn="l"/>
            <a:r>
              <a:rPr sz="1250" b="1" i="0">
                <a:solidFill>
                  <a:srgbClr val="8F7113"/>
                </a:solidFill>
                <a:latin typeface="Calibri"/>
              </a:rPr>
              <a:t>You ask   </a:t>
            </a:r>
            <a:r>
              <a:rPr sz="1150" b="0" i="0">
                <a:solidFill>
                  <a:srgbClr val="5D6B7E"/>
                </a:solidFill>
                <a:latin typeface="Calibri"/>
              </a:rPr>
              <a:t>“What's HDFC Bank's price move today, and should I worry about my exposure?”</a:t>
            </a:r>
          </a:p>
        </p:txBody>
      </p:sp>
      <p:sp>
        <p:nvSpPr>
          <p:cNvPr id="9" name="Down Arrow 8"/>
          <p:cNvSpPr/>
          <p:nvPr/>
        </p:nvSpPr>
        <p:spPr>
          <a:xfrm>
            <a:off x="731520" y="2267712"/>
            <a:ext cx="128016" cy="274320"/>
          </a:xfrm>
          <a:prstGeom prst="downArrow">
            <a:avLst/>
          </a:prstGeom>
          <a:solidFill>
            <a:srgbClr val="D9DF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val 9"/>
          <p:cNvSpPr/>
          <p:nvPr/>
        </p:nvSpPr>
        <p:spPr>
          <a:xfrm>
            <a:off x="548640" y="2724912"/>
            <a:ext cx="475488" cy="475488"/>
          </a:xfrm>
          <a:prstGeom prst="ellipse">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48640" y="2724912"/>
            <a:ext cx="475488" cy="475488"/>
          </a:xfrm>
          <a:prstGeom prst="rect">
            <a:avLst/>
          </a:prstGeom>
          <a:noFill/>
        </p:spPr>
        <p:txBody>
          <a:bodyPr wrap="square" lIns="0" tIns="0" rIns="0" bIns="0" anchor="ctr">
            <a:spAutoFit/>
          </a:bodyPr>
          <a:lstStyle/>
          <a:p>
            <a:pPr algn="ctr"/>
            <a:r>
              <a:rPr sz="1500" b="1" i="0">
                <a:solidFill>
                  <a:srgbClr val="0F2145"/>
                </a:solidFill>
                <a:latin typeface="Calibri"/>
              </a:rPr>
              <a:t>2</a:t>
            </a:r>
          </a:p>
        </p:txBody>
      </p:sp>
      <p:sp>
        <p:nvSpPr>
          <p:cNvPr id="12" name="Rounded Rectangle 11"/>
          <p:cNvSpPr/>
          <p:nvPr/>
        </p:nvSpPr>
        <p:spPr>
          <a:xfrm>
            <a:off x="1234440" y="2560320"/>
            <a:ext cx="10378440" cy="841248"/>
          </a:xfrm>
          <a:prstGeom prst="roundRect">
            <a:avLst>
              <a:gd name="adj" fmla="val 10000"/>
            </a:avLst>
          </a:prstGeom>
          <a:solidFill>
            <a:srgbClr val="244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508760" y="2642615"/>
            <a:ext cx="9875520" cy="685800"/>
          </a:xfrm>
          <a:prstGeom prst="rect">
            <a:avLst/>
          </a:prstGeom>
          <a:noFill/>
        </p:spPr>
        <p:txBody>
          <a:bodyPr wrap="square" lIns="0" tIns="0" rIns="0" bIns="0" anchor="ctr">
            <a:spAutoFit/>
          </a:bodyPr>
          <a:lstStyle/>
          <a:p>
            <a:pPr algn="l"/>
            <a:r>
              <a:rPr sz="1250" b="1" i="0">
                <a:solidFill>
                  <a:srgbClr val="FFFFFF"/>
                </a:solidFill>
                <a:latin typeface="Calibri"/>
              </a:rPr>
              <a:t>Model chooses a tool   </a:t>
            </a:r>
            <a:r>
              <a:rPr sz="1150" b="0" i="0">
                <a:solidFill>
                  <a:srgbClr val="C9D6EE"/>
                </a:solidFill>
                <a:latin typeface="Calibri"/>
              </a:rPr>
              <a:t>It can't know live prices — so it emits a structured call:  get_price(“HDFCBANK”)</a:t>
            </a:r>
          </a:p>
        </p:txBody>
      </p:sp>
      <p:sp>
        <p:nvSpPr>
          <p:cNvPr id="14" name="Down Arrow 13"/>
          <p:cNvSpPr/>
          <p:nvPr/>
        </p:nvSpPr>
        <p:spPr>
          <a:xfrm>
            <a:off x="731520" y="3273552"/>
            <a:ext cx="128016" cy="274320"/>
          </a:xfrm>
          <a:prstGeom prst="downArrow">
            <a:avLst/>
          </a:prstGeom>
          <a:solidFill>
            <a:srgbClr val="D9DF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548640" y="3730752"/>
            <a:ext cx="475488" cy="475488"/>
          </a:xfrm>
          <a:prstGeom prst="ellipse">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48640" y="3730752"/>
            <a:ext cx="475488" cy="475488"/>
          </a:xfrm>
          <a:prstGeom prst="rect">
            <a:avLst/>
          </a:prstGeom>
          <a:noFill/>
        </p:spPr>
        <p:txBody>
          <a:bodyPr wrap="square" lIns="0" tIns="0" rIns="0" bIns="0" anchor="ctr">
            <a:spAutoFit/>
          </a:bodyPr>
          <a:lstStyle/>
          <a:p>
            <a:pPr algn="ctr"/>
            <a:r>
              <a:rPr sz="1500" b="1" i="0">
                <a:solidFill>
                  <a:srgbClr val="0F2145"/>
                </a:solidFill>
                <a:latin typeface="Calibri"/>
              </a:rPr>
              <a:t>3</a:t>
            </a:r>
          </a:p>
        </p:txBody>
      </p:sp>
      <p:sp>
        <p:nvSpPr>
          <p:cNvPr id="17" name="Rounded Rectangle 16"/>
          <p:cNvSpPr/>
          <p:nvPr/>
        </p:nvSpPr>
        <p:spPr>
          <a:xfrm>
            <a:off x="1234440" y="3566160"/>
            <a:ext cx="10378440" cy="841248"/>
          </a:xfrm>
          <a:prstGeom prst="roundRect">
            <a:avLst>
              <a:gd name="adj" fmla="val 10000"/>
            </a:avLst>
          </a:prstGeom>
          <a:solidFill>
            <a:srgbClr val="E9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1508760" y="3648456"/>
            <a:ext cx="9875520" cy="685800"/>
          </a:xfrm>
          <a:prstGeom prst="rect">
            <a:avLst/>
          </a:prstGeom>
          <a:noFill/>
        </p:spPr>
        <p:txBody>
          <a:bodyPr wrap="square" lIns="0" tIns="0" rIns="0" bIns="0" anchor="ctr">
            <a:spAutoFit/>
          </a:bodyPr>
          <a:lstStyle/>
          <a:p>
            <a:pPr algn="l"/>
            <a:r>
              <a:rPr sz="1250" b="1" i="0">
                <a:solidFill>
                  <a:srgbClr val="0F2145"/>
                </a:solidFill>
                <a:latin typeface="Calibri"/>
              </a:rPr>
              <a:t>Your system runs it   </a:t>
            </a:r>
            <a:r>
              <a:rPr sz="1150" b="0" i="0">
                <a:solidFill>
                  <a:srgbClr val="5D6B7E"/>
                </a:solidFill>
                <a:latin typeface="Calibri"/>
              </a:rPr>
              <a:t>The API executes and returns data: ₹1,642 · −3.1% today</a:t>
            </a:r>
          </a:p>
        </p:txBody>
      </p:sp>
      <p:sp>
        <p:nvSpPr>
          <p:cNvPr id="19" name="Down Arrow 18"/>
          <p:cNvSpPr/>
          <p:nvPr/>
        </p:nvSpPr>
        <p:spPr>
          <a:xfrm>
            <a:off x="731520" y="4279392"/>
            <a:ext cx="128016" cy="274320"/>
          </a:xfrm>
          <a:prstGeom prst="downArrow">
            <a:avLst/>
          </a:prstGeom>
          <a:solidFill>
            <a:srgbClr val="D9DF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548640" y="4736592"/>
            <a:ext cx="475488" cy="475488"/>
          </a:xfrm>
          <a:prstGeom prst="ellipse">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48640" y="4736592"/>
            <a:ext cx="475488" cy="475488"/>
          </a:xfrm>
          <a:prstGeom prst="rect">
            <a:avLst/>
          </a:prstGeom>
          <a:noFill/>
        </p:spPr>
        <p:txBody>
          <a:bodyPr wrap="square" lIns="0" tIns="0" rIns="0" bIns="0" anchor="ctr">
            <a:spAutoFit/>
          </a:bodyPr>
          <a:lstStyle/>
          <a:p>
            <a:pPr algn="ctr"/>
            <a:r>
              <a:rPr sz="1500" b="1" i="0">
                <a:solidFill>
                  <a:srgbClr val="0F2145"/>
                </a:solidFill>
                <a:latin typeface="Calibri"/>
              </a:rPr>
              <a:t>4</a:t>
            </a:r>
          </a:p>
        </p:txBody>
      </p:sp>
      <p:sp>
        <p:nvSpPr>
          <p:cNvPr id="22" name="Rounded Rectangle 21"/>
          <p:cNvSpPr/>
          <p:nvPr/>
        </p:nvSpPr>
        <p:spPr>
          <a:xfrm>
            <a:off x="1234440" y="4572000"/>
            <a:ext cx="10378440" cy="841248"/>
          </a:xfrm>
          <a:prstGeom prst="roundRect">
            <a:avLst>
              <a:gd name="adj" fmla="val 10000"/>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1508760" y="4654296"/>
            <a:ext cx="9875520" cy="685800"/>
          </a:xfrm>
          <a:prstGeom prst="rect">
            <a:avLst/>
          </a:prstGeom>
          <a:noFill/>
        </p:spPr>
        <p:txBody>
          <a:bodyPr wrap="square" lIns="0" tIns="0" rIns="0" bIns="0" anchor="ctr">
            <a:spAutoFit/>
          </a:bodyPr>
          <a:lstStyle/>
          <a:p>
            <a:pPr algn="l"/>
            <a:r>
              <a:rPr sz="1250" b="1" i="0">
                <a:solidFill>
                  <a:srgbClr val="FFFFFF"/>
                </a:solidFill>
                <a:latin typeface="Calibri"/>
              </a:rPr>
              <a:t>Model answers with real data   </a:t>
            </a:r>
            <a:r>
              <a:rPr sz="1150" b="0" i="0">
                <a:solidFill>
                  <a:srgbClr val="C9D6EE"/>
                </a:solidFill>
                <a:latin typeface="Calibri"/>
              </a:rPr>
              <a:t>“Down 3.1%. Your 18% position breaches the 15% concentration limit — consider trimming.”</a:t>
            </a:r>
          </a:p>
        </p:txBody>
      </p:sp>
      <p:sp>
        <p:nvSpPr>
          <p:cNvPr id="24" name="Rounded Rectangle 23"/>
          <p:cNvSpPr/>
          <p:nvPr/>
        </p:nvSpPr>
        <p:spPr>
          <a:xfrm>
            <a:off x="548640" y="5669280"/>
            <a:ext cx="11094415" cy="566928"/>
          </a:xfrm>
          <a:prstGeom prst="roundRect">
            <a:avLst>
              <a:gd name="adj" fmla="val 14000"/>
            </a:avLst>
          </a:prstGeom>
          <a:solidFill>
            <a:srgbClr val="F5EC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786384" y="5669280"/>
            <a:ext cx="10637215" cy="566928"/>
          </a:xfrm>
          <a:prstGeom prst="rect">
            <a:avLst/>
          </a:prstGeom>
          <a:noFill/>
        </p:spPr>
        <p:txBody>
          <a:bodyPr wrap="square" lIns="0" tIns="0" rIns="0" bIns="0" anchor="ctr">
            <a:spAutoFit/>
          </a:bodyPr>
          <a:lstStyle/>
          <a:p>
            <a:pPr algn="l"/>
            <a:r>
              <a:rPr sz="1150" b="1" i="0">
                <a:solidFill>
                  <a:srgbClr val="8F7113"/>
                </a:solidFill>
                <a:latin typeface="Calibri"/>
              </a:rPr>
              <a:t>The model never touches the market. </a:t>
            </a:r>
            <a:r>
              <a:rPr sz="1150" b="0" i="0">
                <a:solidFill>
                  <a:srgbClr val="1B2A41"/>
                </a:solidFill>
                <a:latin typeface="Calibri"/>
              </a:rPr>
              <a:t>It requests; your code executes under your permissions. This boundary is where all enterprise-AI governance lives.</a:t>
            </a:r>
          </a:p>
        </p:txBody>
      </p:sp>
      <p:sp>
        <p:nvSpPr>
          <p:cNvPr id="26" name="TextBox 25"/>
          <p:cNvSpPr txBox="1"/>
          <p:nvPr/>
        </p:nvSpPr>
        <p:spPr>
          <a:xfrm>
            <a:off x="548640" y="6473952"/>
            <a:ext cx="7315200" cy="274320"/>
          </a:xfrm>
          <a:prstGeom prst="rect">
            <a:avLst/>
          </a:prstGeom>
          <a:noFill/>
        </p:spPr>
        <p:txBody>
          <a:bodyPr wrap="square" lIns="0" tIns="0" rIns="0" bIns="0" anchor="t">
            <a:spAutoFit/>
          </a:bodyPr>
          <a:lstStyle/>
          <a:p>
            <a:pPr algn="l"/>
            <a:r>
              <a:rPr sz="850" b="0" i="0" spc="180">
                <a:solidFill>
                  <a:srgbClr val="5D6B7E"/>
                </a:solidFill>
                <a:latin typeface="Calibri"/>
              </a:rPr>
              <a:t>ISBMS · PGDM 2025–27 · AGENTIC AI &amp; ADVANCED ANALYTICS IN FINANCE</a:t>
            </a:r>
          </a:p>
        </p:txBody>
      </p:sp>
      <p:sp>
        <p:nvSpPr>
          <p:cNvPr id="27" name="TextBox 26"/>
          <p:cNvSpPr txBox="1"/>
          <p:nvPr/>
        </p:nvSpPr>
        <p:spPr>
          <a:xfrm>
            <a:off x="9814255" y="6473952"/>
            <a:ext cx="1828800" cy="274320"/>
          </a:xfrm>
          <a:prstGeom prst="rect">
            <a:avLst/>
          </a:prstGeom>
          <a:noFill/>
        </p:spPr>
        <p:txBody>
          <a:bodyPr wrap="square" lIns="0" tIns="0" rIns="0" bIns="0" anchor="t">
            <a:spAutoFit/>
          </a:bodyPr>
          <a:lstStyle/>
          <a:p>
            <a:pPr algn="r"/>
            <a:r>
              <a:rPr sz="850" b="0" i="0" spc="120">
                <a:solidFill>
                  <a:srgbClr val="5D6B7E"/>
                </a:solidFill>
                <a:latin typeface="Calibri"/>
              </a:rPr>
              <a:t>MODULE 1  ·  11</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0F2145"/>
        </a:solidFill>
        <a:effectLst/>
      </p:bgPr>
    </p:bg>
    <p:spTree>
      <p:nvGrpSpPr>
        <p:cNvPr id="1" name=""/>
        <p:cNvGrpSpPr/>
        <p:nvPr/>
      </p:nvGrpSpPr>
      <p:grpSpPr/>
      <p:sp>
        <p:nvSpPr>
          <p:cNvPr id="2" name="Rectangle 1"/>
          <p:cNvSpPr/>
          <p:nvPr/>
        </p:nvSpPr>
        <p:spPr>
          <a:xfrm>
            <a:off x="0" y="0"/>
            <a:ext cx="12188952" cy="685800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354312" y="0"/>
            <a:ext cx="2834640" cy="6858000"/>
          </a:xfrm>
          <a:prstGeom prst="rect">
            <a:avLst/>
          </a:prstGeom>
          <a:solidFill>
            <a:srgbClr val="0B19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354312" y="0"/>
            <a:ext cx="36576" cy="68580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932688"/>
            <a:ext cx="8229600" cy="365760"/>
          </a:xfrm>
          <a:prstGeom prst="rect">
            <a:avLst/>
          </a:prstGeom>
          <a:noFill/>
        </p:spPr>
        <p:txBody>
          <a:bodyPr wrap="square" lIns="0" rIns="0" tIns="0" bIns="0" anchor="t">
            <a:spAutoFit/>
          </a:bodyPr>
          <a:lstStyle/>
          <a:p>
            <a:pPr algn="l">
              <a:lnSpc>
                <a:spcPct val="105000"/>
              </a:lnSpc>
              <a:spcBef>
                <a:spcPts val="0"/>
              </a:spcBef>
            </a:pPr>
            <a:r>
              <a:rPr sz="1200" b="1">
                <a:solidFill>
                  <a:srgbClr val="C9A227"/>
                </a:solidFill>
                <a:latin typeface="Calibri"/>
              </a:rPr>
              <a:t>ISBMS · PGDM 2025–27 · SEMESTER III · SESSION 1 OF 10</a:t>
            </a:r>
          </a:p>
        </p:txBody>
      </p:sp>
      <p:sp>
        <p:nvSpPr>
          <p:cNvPr id="6" name="TextBox 5"/>
          <p:cNvSpPr txBox="1"/>
          <p:nvPr/>
        </p:nvSpPr>
        <p:spPr>
          <a:xfrm>
            <a:off x="548640" y="1371600"/>
            <a:ext cx="8595360" cy="2194560"/>
          </a:xfrm>
          <a:prstGeom prst="rect">
            <a:avLst/>
          </a:prstGeom>
          <a:noFill/>
        </p:spPr>
        <p:txBody>
          <a:bodyPr wrap="square" lIns="0" rIns="0" tIns="0" bIns="0" anchor="t">
            <a:spAutoFit/>
          </a:bodyPr>
          <a:lstStyle/>
          <a:p>
            <a:pPr algn="l">
              <a:lnSpc>
                <a:spcPct val="105000"/>
              </a:lnSpc>
              <a:spcBef>
                <a:spcPts val="0"/>
              </a:spcBef>
            </a:pPr>
            <a:r>
              <a:rPr sz="5800" b="1">
                <a:solidFill>
                  <a:srgbClr val="FFFFFF"/>
                </a:solidFill>
                <a:latin typeface="Georgia"/>
              </a:rPr>
              <a:t>Module 1</a:t>
            </a:r>
          </a:p>
          <a:p>
            <a:pPr algn="l">
              <a:lnSpc>
                <a:spcPct val="105000"/>
              </a:lnSpc>
              <a:spcBef>
                <a:spcPts val="1000"/>
              </a:spcBef>
            </a:pPr>
            <a:r>
              <a:rPr sz="2100" b="0">
                <a:solidFill>
                  <a:srgbClr val="C9D6EE"/>
                </a:solidFill>
                <a:latin typeface="Georgia"/>
              </a:rPr>
              <a:t>Foundations of Agentic AI in Financial Services</a:t>
            </a:r>
          </a:p>
        </p:txBody>
      </p:sp>
      <p:sp>
        <p:nvSpPr>
          <p:cNvPr id="7" name="Rectangle 6"/>
          <p:cNvSpPr/>
          <p:nvPr/>
        </p:nvSpPr>
        <p:spPr>
          <a:xfrm>
            <a:off x="548640" y="3913632"/>
            <a:ext cx="4023360" cy="18288"/>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4133087"/>
            <a:ext cx="8229600" cy="1280160"/>
          </a:xfrm>
          <a:prstGeom prst="rect">
            <a:avLst/>
          </a:prstGeom>
          <a:noFill/>
        </p:spPr>
        <p:txBody>
          <a:bodyPr wrap="square" lIns="0" rIns="0" tIns="0" bIns="0" anchor="t">
            <a:spAutoFit/>
          </a:bodyPr>
          <a:lstStyle/>
          <a:p>
            <a:pPr algn="l">
              <a:lnSpc>
                <a:spcPct val="105000"/>
              </a:lnSpc>
              <a:spcBef>
                <a:spcPts val="0"/>
              </a:spcBef>
            </a:pPr>
            <a:r>
              <a:rPr sz="1700" b="1">
                <a:solidFill>
                  <a:srgbClr val="FFFFFF"/>
                </a:solidFill>
                <a:latin typeface="Calibri"/>
              </a:rPr>
              <a:t>Tejas Jadhav, CFA, FRM</a:t>
            </a:r>
          </a:p>
          <a:p>
            <a:pPr algn="l">
              <a:lnSpc>
                <a:spcPct val="105000"/>
              </a:lnSpc>
              <a:spcBef>
                <a:spcPts val="600"/>
              </a:spcBef>
            </a:pPr>
            <a:r>
              <a:rPr sz="1200" b="0">
                <a:solidFill>
                  <a:srgbClr val="8FA1C4"/>
                </a:solidFill>
                <a:latin typeface="Calibri"/>
              </a:rPr>
              <a:t>Faculty · Agentic AI &amp; Advanced Analytics in Finance (PGDM-SEM3-SPEC-AIFINANCE)</a:t>
            </a:r>
          </a:p>
          <a:p>
            <a:pPr algn="l">
              <a:lnSpc>
                <a:spcPct val="105000"/>
              </a:lnSpc>
              <a:spcBef>
                <a:spcPts val="600"/>
              </a:spcBef>
            </a:pPr>
            <a:r>
              <a:rPr sz="1200" b="1">
                <a:solidFill>
                  <a:srgbClr val="C9A227"/>
                </a:solidFill>
                <a:latin typeface="Calibri"/>
              </a:rPr>
              <a:t>tejasgjadhav.github.io/AIFINANCE</a:t>
            </a:r>
          </a:p>
        </p:txBody>
      </p:sp>
      <p:sp>
        <p:nvSpPr>
          <p:cNvPr id="9" name="TextBox 8"/>
          <p:cNvSpPr txBox="1"/>
          <p:nvPr/>
        </p:nvSpPr>
        <p:spPr>
          <a:xfrm>
            <a:off x="9646920" y="850392"/>
            <a:ext cx="2194560" cy="274320"/>
          </a:xfrm>
          <a:prstGeom prst="rect">
            <a:avLst/>
          </a:prstGeom>
          <a:noFill/>
        </p:spPr>
        <p:txBody>
          <a:bodyPr wrap="square" lIns="0" rIns="0" tIns="0" bIns="0" anchor="t">
            <a:spAutoFit/>
          </a:bodyPr>
          <a:lstStyle/>
          <a:p>
            <a:pPr algn="l">
              <a:lnSpc>
                <a:spcPct val="105000"/>
              </a:lnSpc>
              <a:spcBef>
                <a:spcPts val="0"/>
              </a:spcBef>
            </a:pPr>
            <a:r>
              <a:rPr sz="1000" b="1">
                <a:solidFill>
                  <a:srgbClr val="C9A227"/>
                </a:solidFill>
                <a:latin typeface="Calibri"/>
              </a:rPr>
              <a:t>TODAY</a:t>
            </a:r>
          </a:p>
        </p:txBody>
      </p:sp>
      <p:sp>
        <p:nvSpPr>
          <p:cNvPr id="10" name="TextBox 9"/>
          <p:cNvSpPr txBox="1"/>
          <p:nvPr/>
        </p:nvSpPr>
        <p:spPr>
          <a:xfrm>
            <a:off x="9646920" y="1234440"/>
            <a:ext cx="2286000" cy="1371600"/>
          </a:xfrm>
          <a:prstGeom prst="rect">
            <a:avLst/>
          </a:prstGeom>
          <a:noFill/>
        </p:spPr>
        <p:txBody>
          <a:bodyPr wrap="square" lIns="0" rIns="0" tIns="0" bIns="0" anchor="t">
            <a:spAutoFit/>
          </a:bodyPr>
          <a:lstStyle/>
          <a:p>
            <a:pPr algn="l">
              <a:lnSpc>
                <a:spcPct val="105000"/>
              </a:lnSpc>
              <a:spcBef>
                <a:spcPts val="0"/>
              </a:spcBef>
            </a:pPr>
            <a:r>
              <a:rPr sz="1500" b="1">
                <a:solidFill>
                  <a:srgbClr val="FFFFFF"/>
                </a:solidFill>
                <a:latin typeface="Georgia"/>
              </a:rPr>
              <a:t>3 hours</a:t>
            </a:r>
          </a:p>
          <a:p>
            <a:pPr algn="l">
              <a:lnSpc>
                <a:spcPct val="105000"/>
              </a:lnSpc>
              <a:spcBef>
                <a:spcPts val="500"/>
              </a:spcBef>
            </a:pPr>
            <a:r>
              <a:rPr sz="1050" b="0">
                <a:solidFill>
                  <a:srgbClr val="8FA1C4"/>
                </a:solidFill>
                <a:latin typeface="Calibri"/>
              </a:rPr>
              <a:t>Hour 1 concepts · Hour 2
architecture · Hour 3 lab</a:t>
            </a:r>
          </a:p>
        </p:txBody>
      </p:sp>
      <p:sp>
        <p:nvSpPr>
          <p:cNvPr id="11" name="TextBox 10"/>
          <p:cNvSpPr txBox="1"/>
          <p:nvPr/>
        </p:nvSpPr>
        <p:spPr>
          <a:xfrm>
            <a:off x="9646920" y="2788920"/>
            <a:ext cx="2286000" cy="1371600"/>
          </a:xfrm>
          <a:prstGeom prst="rect">
            <a:avLst/>
          </a:prstGeom>
          <a:noFill/>
        </p:spPr>
        <p:txBody>
          <a:bodyPr wrap="square" lIns="0" rIns="0" tIns="0" bIns="0" anchor="t">
            <a:spAutoFit/>
          </a:bodyPr>
          <a:lstStyle/>
          <a:p>
            <a:pPr algn="l">
              <a:lnSpc>
                <a:spcPct val="105000"/>
              </a:lnSpc>
              <a:spcBef>
                <a:spcPts val="0"/>
              </a:spcBef>
            </a:pPr>
            <a:r>
              <a:rPr sz="1500" b="1">
                <a:solidFill>
                  <a:srgbClr val="FFFFFF"/>
                </a:solidFill>
                <a:latin typeface="Georgia"/>
              </a:rPr>
              <a:t>No maths</a:t>
            </a:r>
          </a:p>
          <a:p>
            <a:pPr algn="l">
              <a:lnSpc>
                <a:spcPct val="105000"/>
              </a:lnSpc>
              <a:spcBef>
                <a:spcPts val="500"/>
              </a:spcBef>
            </a:pPr>
            <a:r>
              <a:rPr sz="1050" b="0">
                <a:solidFill>
                  <a:srgbClr val="8FA1C4"/>
                </a:solidFill>
                <a:latin typeface="Calibri"/>
              </a:rPr>
              <a:t>Nothing today needs calculus
or a coding background</a:t>
            </a:r>
          </a:p>
        </p:txBody>
      </p:sp>
      <p:sp>
        <p:nvSpPr>
          <p:cNvPr id="12" name="TextBox 11"/>
          <p:cNvSpPr txBox="1"/>
          <p:nvPr/>
        </p:nvSpPr>
        <p:spPr>
          <a:xfrm>
            <a:off x="9646920" y="4343400"/>
            <a:ext cx="2286000" cy="1645920"/>
          </a:xfrm>
          <a:prstGeom prst="rect">
            <a:avLst/>
          </a:prstGeom>
          <a:noFill/>
        </p:spPr>
        <p:txBody>
          <a:bodyPr wrap="square" lIns="0" rIns="0" tIns="0" bIns="0" anchor="t">
            <a:spAutoFit/>
          </a:bodyPr>
          <a:lstStyle/>
          <a:p>
            <a:pPr algn="l">
              <a:lnSpc>
                <a:spcPct val="105000"/>
              </a:lnSpc>
              <a:spcBef>
                <a:spcPts val="0"/>
              </a:spcBef>
            </a:pPr>
            <a:r>
              <a:rPr sz="4400" b="1">
                <a:solidFill>
                  <a:srgbClr val="C9A227"/>
                </a:solidFill>
                <a:latin typeface="Georgia"/>
              </a:rPr>
              <a:t>1</a:t>
            </a:r>
          </a:p>
          <a:p>
            <a:pPr algn="l">
              <a:lnSpc>
                <a:spcPct val="105000"/>
              </a:lnSpc>
              <a:spcBef>
                <a:spcPts val="500"/>
              </a:spcBef>
            </a:pPr>
            <a:r>
              <a:rPr sz="950" b="0">
                <a:solidFill>
                  <a:srgbClr val="8FA1C4"/>
                </a:solidFill>
                <a:latin typeface="Calibri"/>
              </a:rPr>
              <a:t>WORKING EXTRACTION SCRIPT
BUILT BEFORE YOU LEAVE</a:t>
            </a:r>
          </a:p>
        </p:txBody>
      </p:sp>
      <p:sp>
        <p:nvSpPr>
          <p:cNvPr id="13" name="TextBox 12"/>
          <p:cNvSpPr txBox="1"/>
          <p:nvPr/>
        </p:nvSpPr>
        <p:spPr>
          <a:xfrm>
            <a:off x="548640" y="6473952"/>
            <a:ext cx="7315200" cy="274320"/>
          </a:xfrm>
          <a:prstGeom prst="rect">
            <a:avLst/>
          </a:prstGeom>
          <a:noFill/>
        </p:spPr>
        <p:txBody>
          <a:bodyPr wrap="square" lIns="0" rIns="0" tIns="0" bIns="0" anchor="t">
            <a:spAutoFit/>
          </a:bodyPr>
          <a:lstStyle/>
          <a:p>
            <a:pPr algn="l">
              <a:lnSpc>
                <a:spcPct val="105000"/>
              </a:lnSpc>
              <a:spcBef>
                <a:spcPts val="0"/>
              </a:spcBef>
            </a:pPr>
            <a:r>
              <a:rPr sz="850" b="0">
                <a:solidFill>
                  <a:srgbClr val="8FA1C4"/>
                </a:solidFill>
                <a:latin typeface="Calibri"/>
              </a:rPr>
              <a:t>ISBMS · PGDM 2025–27 · AGENTIC AI &amp; ADVANCED ANALYTICS IN FINANCE</a:t>
            </a:r>
          </a:p>
        </p:txBody>
      </p:sp>
      <p:sp>
        <p:nvSpPr>
          <p:cNvPr id="14" name="TextBox 13"/>
          <p:cNvSpPr txBox="1"/>
          <p:nvPr/>
        </p:nvSpPr>
        <p:spPr>
          <a:xfrm>
            <a:off x="9262872" y="6473952"/>
            <a:ext cx="2377440" cy="274320"/>
          </a:xfrm>
          <a:prstGeom prst="rect">
            <a:avLst/>
          </a:prstGeom>
          <a:noFill/>
        </p:spPr>
        <p:txBody>
          <a:bodyPr wrap="square" lIns="0" rIns="0" tIns="0" bIns="0" anchor="t">
            <a:spAutoFit/>
          </a:bodyPr>
          <a:lstStyle/>
          <a:p>
            <a:pPr algn="r">
              <a:lnSpc>
                <a:spcPct val="105000"/>
              </a:lnSpc>
              <a:spcBef>
                <a:spcPts val="0"/>
              </a:spcBef>
            </a:pPr>
            <a:r>
              <a:rPr sz="850" b="0">
                <a:solidFill>
                  <a:srgbClr val="8FA1C4"/>
                </a:solidFill>
                <a:latin typeface="Calibri"/>
              </a:rPr>
              <a:t>MODULE 1  ·  01</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310896"/>
            <a:ext cx="10817352" cy="292608"/>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THE PLAN</a:t>
            </a:r>
          </a:p>
        </p:txBody>
      </p:sp>
      <p:sp>
        <p:nvSpPr>
          <p:cNvPr id="4" name="TextBox 3"/>
          <p:cNvSpPr txBox="1"/>
          <p:nvPr/>
        </p:nvSpPr>
        <p:spPr>
          <a:xfrm>
            <a:off x="548640" y="621792"/>
            <a:ext cx="11091672" cy="685800"/>
          </a:xfrm>
          <a:prstGeom prst="rect">
            <a:avLst/>
          </a:prstGeom>
          <a:noFill/>
        </p:spPr>
        <p:txBody>
          <a:bodyPr wrap="square" lIns="0" rIns="0" tIns="0" bIns="0" anchor="t">
            <a:spAutoFit/>
          </a:bodyPr>
          <a:lstStyle/>
          <a:p>
            <a:pPr algn="l">
              <a:lnSpc>
                <a:spcPct val="105000"/>
              </a:lnSpc>
              <a:spcBef>
                <a:spcPts val="0"/>
              </a:spcBef>
            </a:pPr>
            <a:r>
              <a:rPr sz="2900" b="1">
                <a:solidFill>
                  <a:srgbClr val="0F2145"/>
                </a:solidFill>
                <a:latin typeface="Georgia"/>
              </a:rPr>
              <a:t>Three hours: understand it, then architect it, then build it</a:t>
            </a:r>
          </a:p>
        </p:txBody>
      </p:sp>
      <p:sp>
        <p:nvSpPr>
          <p:cNvPr id="5" name="Rectangle 4"/>
          <p:cNvSpPr/>
          <p:nvPr/>
        </p:nvSpPr>
        <p:spPr>
          <a:xfrm>
            <a:off x="548640" y="1572768"/>
            <a:ext cx="3611880" cy="3977639"/>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72768"/>
            <a:ext cx="3611880" cy="73152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8096" y="1572768"/>
            <a:ext cx="3200400" cy="731520"/>
          </a:xfrm>
          <a:prstGeom prst="rect">
            <a:avLst/>
          </a:prstGeom>
          <a:noFill/>
        </p:spPr>
        <p:txBody>
          <a:bodyPr wrap="square" lIns="0" rIns="0" tIns="0" bIns="0" anchor="ctr">
            <a:spAutoFit/>
          </a:bodyPr>
          <a:lstStyle/>
          <a:p>
            <a:pPr algn="l">
              <a:lnSpc>
                <a:spcPct val="105000"/>
              </a:lnSpc>
              <a:spcBef>
                <a:spcPts val="0"/>
              </a:spcBef>
            </a:pPr>
            <a:r>
              <a:rPr sz="1150" b="1">
                <a:solidFill>
                  <a:srgbClr val="C9A227"/>
                </a:solidFill>
                <a:latin typeface="Calibri"/>
              </a:rPr>
              <a:t>HOUR 1 · 60 MIN</a:t>
            </a:r>
          </a:p>
          <a:p>
            <a:pPr algn="l">
              <a:lnSpc>
                <a:spcPct val="105000"/>
              </a:lnSpc>
              <a:spcBef>
                <a:spcPts val="300"/>
              </a:spcBef>
            </a:pPr>
            <a:r>
              <a:rPr sz="1500" b="1">
                <a:solidFill>
                  <a:srgbClr val="FFFFFF"/>
                </a:solidFill>
                <a:latin typeface="Georgia"/>
              </a:rPr>
              <a:t>The machine</a:t>
            </a:r>
          </a:p>
        </p:txBody>
      </p:sp>
      <p:sp>
        <p:nvSpPr>
          <p:cNvPr id="8" name="TextBox 7"/>
          <p:cNvSpPr txBox="1"/>
          <p:nvPr/>
        </p:nvSpPr>
        <p:spPr>
          <a:xfrm>
            <a:off x="768096" y="2514600"/>
            <a:ext cx="3200400" cy="548640"/>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  </a:t>
            </a:r>
            <a:r>
              <a:rPr sz="1100" b="0">
                <a:solidFill>
                  <a:srgbClr val="1B2A41"/>
                </a:solidFill>
                <a:latin typeface="Calibri"/>
              </a:rPr>
              <a:t>AI, machine learning, deep learning, GenAI</a:t>
            </a:r>
          </a:p>
        </p:txBody>
      </p:sp>
      <p:sp>
        <p:nvSpPr>
          <p:cNvPr id="9" name="TextBox 8"/>
          <p:cNvSpPr txBox="1"/>
          <p:nvPr/>
        </p:nvSpPr>
        <p:spPr>
          <a:xfrm>
            <a:off x="768096" y="3099816"/>
            <a:ext cx="3200400" cy="548640"/>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  </a:t>
            </a:r>
            <a:r>
              <a:rPr sz="1100" b="0">
                <a:solidFill>
                  <a:srgbClr val="1B2A41"/>
                </a:solidFill>
                <a:latin typeface="Calibri"/>
              </a:rPr>
              <a:t>How an LLM works — tokens and attention</a:t>
            </a:r>
          </a:p>
        </p:txBody>
      </p:sp>
      <p:sp>
        <p:nvSpPr>
          <p:cNvPr id="10" name="TextBox 9"/>
          <p:cNvSpPr txBox="1"/>
          <p:nvPr/>
        </p:nvSpPr>
        <p:spPr>
          <a:xfrm>
            <a:off x="768096" y="3685032"/>
            <a:ext cx="3200400" cy="548640"/>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  </a:t>
            </a:r>
            <a:r>
              <a:rPr sz="1100" b="0">
                <a:solidFill>
                  <a:srgbClr val="1B2A41"/>
                </a:solidFill>
                <a:latin typeface="Calibri"/>
              </a:rPr>
              <a:t>Four eras of AI in finance</a:t>
            </a:r>
          </a:p>
        </p:txBody>
      </p:sp>
      <p:sp>
        <p:nvSpPr>
          <p:cNvPr id="11" name="TextBox 10"/>
          <p:cNvSpPr txBox="1"/>
          <p:nvPr/>
        </p:nvSpPr>
        <p:spPr>
          <a:xfrm>
            <a:off x="768096" y="4270248"/>
            <a:ext cx="3200400" cy="548640"/>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  </a:t>
            </a:r>
            <a:r>
              <a:rPr sz="1100" b="0">
                <a:solidFill>
                  <a:srgbClr val="1B2A41"/>
                </a:solidFill>
                <a:latin typeface="Calibri"/>
              </a:rPr>
              <a:t>Which model to use, and when</a:t>
            </a:r>
          </a:p>
        </p:txBody>
      </p:sp>
      <p:sp>
        <p:nvSpPr>
          <p:cNvPr id="12" name="TextBox 11"/>
          <p:cNvSpPr txBox="1"/>
          <p:nvPr/>
        </p:nvSpPr>
        <p:spPr>
          <a:xfrm>
            <a:off x="768096" y="4855464"/>
            <a:ext cx="3200400" cy="548640"/>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  </a:t>
            </a:r>
            <a:r>
              <a:rPr sz="1100" b="0">
                <a:solidFill>
                  <a:srgbClr val="1B2A41"/>
                </a:solidFill>
                <a:latin typeface="Calibri"/>
              </a:rPr>
              <a:t>The vocabulary you will hear all semester</a:t>
            </a:r>
          </a:p>
        </p:txBody>
      </p:sp>
      <p:sp>
        <p:nvSpPr>
          <p:cNvPr id="13" name="Rectangle 12"/>
          <p:cNvSpPr/>
          <p:nvPr/>
        </p:nvSpPr>
        <p:spPr>
          <a:xfrm>
            <a:off x="4315968" y="1572768"/>
            <a:ext cx="3611880" cy="3977639"/>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15968" y="1572768"/>
            <a:ext cx="3611880" cy="731520"/>
          </a:xfrm>
          <a:prstGeom prst="rect">
            <a:avLst/>
          </a:prstGeom>
          <a:solidFill>
            <a:srgbClr val="8F71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35424" y="1572768"/>
            <a:ext cx="3200400" cy="731520"/>
          </a:xfrm>
          <a:prstGeom prst="rect">
            <a:avLst/>
          </a:prstGeom>
          <a:noFill/>
        </p:spPr>
        <p:txBody>
          <a:bodyPr wrap="square" lIns="0" rIns="0" tIns="0" bIns="0" anchor="ctr">
            <a:spAutoFit/>
          </a:bodyPr>
          <a:lstStyle/>
          <a:p>
            <a:pPr algn="l">
              <a:lnSpc>
                <a:spcPct val="105000"/>
              </a:lnSpc>
              <a:spcBef>
                <a:spcPts val="0"/>
              </a:spcBef>
            </a:pPr>
            <a:r>
              <a:rPr sz="1150" b="1">
                <a:solidFill>
                  <a:srgbClr val="F5ECD3"/>
                </a:solidFill>
                <a:latin typeface="Calibri"/>
              </a:rPr>
              <a:t>HOUR 2 · 60 MIN</a:t>
            </a:r>
          </a:p>
          <a:p>
            <a:pPr algn="l">
              <a:lnSpc>
                <a:spcPct val="105000"/>
              </a:lnSpc>
              <a:spcBef>
                <a:spcPts val="300"/>
              </a:spcBef>
            </a:pPr>
            <a:r>
              <a:rPr sz="1500" b="1">
                <a:solidFill>
                  <a:srgbClr val="FFFFFF"/>
                </a:solidFill>
                <a:latin typeface="Georgia"/>
              </a:rPr>
              <a:t>The architecture</a:t>
            </a:r>
          </a:p>
        </p:txBody>
      </p:sp>
      <p:sp>
        <p:nvSpPr>
          <p:cNvPr id="16" name="TextBox 15"/>
          <p:cNvSpPr txBox="1"/>
          <p:nvPr/>
        </p:nvSpPr>
        <p:spPr>
          <a:xfrm>
            <a:off x="4535424" y="2514600"/>
            <a:ext cx="3200400" cy="548640"/>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  </a:t>
            </a:r>
            <a:r>
              <a:rPr sz="1100" b="0">
                <a:solidFill>
                  <a:srgbClr val="1B2A41"/>
                </a:solidFill>
                <a:latin typeface="Calibri"/>
              </a:rPr>
              <a:t>Chatbot vs agent — answering vs doing</a:t>
            </a:r>
          </a:p>
        </p:txBody>
      </p:sp>
      <p:sp>
        <p:nvSpPr>
          <p:cNvPr id="17" name="TextBox 16"/>
          <p:cNvSpPr txBox="1"/>
          <p:nvPr/>
        </p:nvSpPr>
        <p:spPr>
          <a:xfrm>
            <a:off x="4535424" y="3099816"/>
            <a:ext cx="3200400" cy="548640"/>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  </a:t>
            </a:r>
            <a:r>
              <a:rPr sz="1100" b="0">
                <a:solidFill>
                  <a:srgbClr val="1B2A41"/>
                </a:solidFill>
                <a:latin typeface="Calibri"/>
              </a:rPr>
              <a:t>The loop: Observe → Plan → Act → Reflect</a:t>
            </a:r>
          </a:p>
        </p:txBody>
      </p:sp>
      <p:sp>
        <p:nvSpPr>
          <p:cNvPr id="18" name="TextBox 17"/>
          <p:cNvSpPr txBox="1"/>
          <p:nvPr/>
        </p:nvSpPr>
        <p:spPr>
          <a:xfrm>
            <a:off x="4535424" y="3685032"/>
            <a:ext cx="3200400" cy="548640"/>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  </a:t>
            </a:r>
            <a:r>
              <a:rPr sz="1100" b="0">
                <a:solidFill>
                  <a:srgbClr val="1B2A41"/>
                </a:solidFill>
                <a:latin typeface="Calibri"/>
              </a:rPr>
              <a:t>Tool definitions and function calling</a:t>
            </a:r>
          </a:p>
        </p:txBody>
      </p:sp>
      <p:sp>
        <p:nvSpPr>
          <p:cNvPr id="19" name="TextBox 18"/>
          <p:cNvSpPr txBox="1"/>
          <p:nvPr/>
        </p:nvSpPr>
        <p:spPr>
          <a:xfrm>
            <a:off x="4535424" y="4270248"/>
            <a:ext cx="3200400" cy="548640"/>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  </a:t>
            </a:r>
            <a:r>
              <a:rPr sz="1100" b="0">
                <a:solidFill>
                  <a:srgbClr val="1B2A41"/>
                </a:solidFill>
                <a:latin typeface="Calibri"/>
              </a:rPr>
              <a:t>Agent memory: short-term, episodic, semantic</a:t>
            </a:r>
          </a:p>
        </p:txBody>
      </p:sp>
      <p:sp>
        <p:nvSpPr>
          <p:cNvPr id="20" name="TextBox 19"/>
          <p:cNvSpPr txBox="1"/>
          <p:nvPr/>
        </p:nvSpPr>
        <p:spPr>
          <a:xfrm>
            <a:off x="4535424" y="4855464"/>
            <a:ext cx="3200400" cy="548640"/>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  </a:t>
            </a:r>
            <a:r>
              <a:rPr sz="1100" b="0">
                <a:solidFill>
                  <a:srgbClr val="1B2A41"/>
                </a:solidFill>
                <a:latin typeface="Calibri"/>
              </a:rPr>
              <a:t>Data sources: NSE, BSE, Yahoo Finance, RBI DBIE</a:t>
            </a:r>
          </a:p>
        </p:txBody>
      </p:sp>
      <p:sp>
        <p:nvSpPr>
          <p:cNvPr id="21" name="Rectangle 20"/>
          <p:cNvSpPr/>
          <p:nvPr/>
        </p:nvSpPr>
        <p:spPr>
          <a:xfrm>
            <a:off x="8083296" y="1572768"/>
            <a:ext cx="3611880" cy="3977639"/>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083296" y="1572768"/>
            <a:ext cx="3611880" cy="731520"/>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302752" y="1572768"/>
            <a:ext cx="3200400" cy="731520"/>
          </a:xfrm>
          <a:prstGeom prst="rect">
            <a:avLst/>
          </a:prstGeom>
          <a:noFill/>
        </p:spPr>
        <p:txBody>
          <a:bodyPr wrap="square" lIns="0" rIns="0" tIns="0" bIns="0" anchor="ctr">
            <a:spAutoFit/>
          </a:bodyPr>
          <a:lstStyle/>
          <a:p>
            <a:pPr algn="l">
              <a:lnSpc>
                <a:spcPct val="105000"/>
              </a:lnSpc>
              <a:spcBef>
                <a:spcPts val="0"/>
              </a:spcBef>
            </a:pPr>
            <a:r>
              <a:rPr sz="1150" b="1">
                <a:solidFill>
                  <a:srgbClr val="F5ECD3"/>
                </a:solidFill>
                <a:latin typeface="Calibri"/>
              </a:rPr>
              <a:t>HOUR 3 · 60 MIN</a:t>
            </a:r>
          </a:p>
          <a:p>
            <a:pPr algn="l">
              <a:lnSpc>
                <a:spcPct val="105000"/>
              </a:lnSpc>
              <a:spcBef>
                <a:spcPts val="300"/>
              </a:spcBef>
            </a:pPr>
            <a:r>
              <a:rPr sz="1500" b="1">
                <a:solidFill>
                  <a:srgbClr val="FFFFFF"/>
                </a:solidFill>
                <a:latin typeface="Georgia"/>
              </a:rPr>
              <a:t>The lab</a:t>
            </a:r>
          </a:p>
        </p:txBody>
      </p:sp>
      <p:sp>
        <p:nvSpPr>
          <p:cNvPr id="24" name="TextBox 23"/>
          <p:cNvSpPr txBox="1"/>
          <p:nvPr/>
        </p:nvSpPr>
        <p:spPr>
          <a:xfrm>
            <a:off x="8302752" y="2514600"/>
            <a:ext cx="3200400" cy="548640"/>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  </a:t>
            </a:r>
            <a:r>
              <a:rPr sz="1100" b="0">
                <a:solidFill>
                  <a:srgbClr val="1B2A41"/>
                </a:solidFill>
                <a:latin typeface="Calibri"/>
              </a:rPr>
              <a:t>VS Code + Python + the Claude API</a:t>
            </a:r>
          </a:p>
        </p:txBody>
      </p:sp>
      <p:sp>
        <p:nvSpPr>
          <p:cNvPr id="25" name="TextBox 24"/>
          <p:cNvSpPr txBox="1"/>
          <p:nvPr/>
        </p:nvSpPr>
        <p:spPr>
          <a:xfrm>
            <a:off x="8302752" y="3099816"/>
            <a:ext cx="3200400" cy="548640"/>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  </a:t>
            </a:r>
            <a:r>
              <a:rPr sz="1100" b="0">
                <a:solidFill>
                  <a:srgbClr val="1B2A41"/>
                </a:solidFill>
                <a:latin typeface="Calibri"/>
              </a:rPr>
              <a:t>A prompt that returns JSON, not prose</a:t>
            </a:r>
          </a:p>
        </p:txBody>
      </p:sp>
      <p:sp>
        <p:nvSpPr>
          <p:cNvPr id="26" name="TextBox 25"/>
          <p:cNvSpPr txBox="1"/>
          <p:nvPr/>
        </p:nvSpPr>
        <p:spPr>
          <a:xfrm>
            <a:off x="8302752" y="3685032"/>
            <a:ext cx="3200400" cy="548640"/>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  </a:t>
            </a:r>
            <a:r>
              <a:rPr sz="1100" b="0">
                <a:solidFill>
                  <a:srgbClr val="1B2A41"/>
                </a:solidFill>
                <a:latin typeface="Calibri"/>
              </a:rPr>
              <a:t>Extract a P&amp;L from raw annual report text</a:t>
            </a:r>
          </a:p>
        </p:txBody>
      </p:sp>
      <p:sp>
        <p:nvSpPr>
          <p:cNvPr id="27" name="TextBox 26"/>
          <p:cNvSpPr txBox="1"/>
          <p:nvPr/>
        </p:nvSpPr>
        <p:spPr>
          <a:xfrm>
            <a:off x="8302752" y="4270248"/>
            <a:ext cx="3200400" cy="548640"/>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  </a:t>
            </a:r>
            <a:r>
              <a:rPr sz="1100" b="0">
                <a:solidFill>
                  <a:srgbClr val="1B2A41"/>
                </a:solidFill>
                <a:latin typeface="Calibri"/>
              </a:rPr>
              <a:t>Test it on three filings and count the errors</a:t>
            </a:r>
          </a:p>
        </p:txBody>
      </p:sp>
      <p:sp>
        <p:nvSpPr>
          <p:cNvPr id="28" name="TextBox 27"/>
          <p:cNvSpPr txBox="1"/>
          <p:nvPr/>
        </p:nvSpPr>
        <p:spPr>
          <a:xfrm>
            <a:off x="8302752" y="4855464"/>
            <a:ext cx="3200400" cy="548640"/>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  </a:t>
            </a:r>
            <a:r>
              <a:rPr sz="1100" b="0">
                <a:solidFill>
                  <a:srgbClr val="1B2A41"/>
                </a:solidFill>
                <a:latin typeface="Calibri"/>
              </a:rPr>
              <a:t>Push the artifact to your course portfolio</a:t>
            </a:r>
          </a:p>
        </p:txBody>
      </p:sp>
      <p:sp>
        <p:nvSpPr>
          <p:cNvPr id="29" name="Rectangle 28"/>
          <p:cNvSpPr/>
          <p:nvPr/>
        </p:nvSpPr>
        <p:spPr>
          <a:xfrm>
            <a:off x="548640" y="5760720"/>
            <a:ext cx="11091672" cy="603504"/>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2960" y="5760720"/>
            <a:ext cx="10543032" cy="603504"/>
          </a:xfrm>
          <a:prstGeom prst="rect">
            <a:avLst/>
          </a:prstGeom>
          <a:noFill/>
        </p:spPr>
        <p:txBody>
          <a:bodyPr wrap="square" lIns="0" rIns="0" tIns="0" bIns="0" anchor="ctr">
            <a:spAutoFit/>
          </a:bodyPr>
          <a:lstStyle/>
          <a:p>
            <a:pPr algn="l">
              <a:lnSpc>
                <a:spcPct val="105000"/>
              </a:lnSpc>
              <a:spcBef>
                <a:spcPts val="0"/>
              </a:spcBef>
            </a:pPr>
            <a:r>
              <a:rPr sz="1250" b="1">
                <a:solidFill>
                  <a:srgbClr val="C9A227"/>
                </a:solidFill>
                <a:latin typeface="Calibri"/>
              </a:rPr>
              <a:t>You leave with one thing that runs:  </a:t>
            </a:r>
            <a:r>
              <a:rPr sz="1250" b="0">
                <a:solidFill>
                  <a:srgbClr val="FFFFFF"/>
                </a:solidFill>
                <a:latin typeface="Calibri"/>
              </a:rPr>
              <a:t>a prompt and a Python script that read a filing and return clean, checkable numbers.</a:t>
            </a:r>
          </a:p>
        </p:txBody>
      </p:sp>
      <p:sp>
        <p:nvSpPr>
          <p:cNvPr id="31" name="TextBox 30"/>
          <p:cNvSpPr txBox="1"/>
          <p:nvPr/>
        </p:nvSpPr>
        <p:spPr>
          <a:xfrm>
            <a:off x="548640" y="6473952"/>
            <a:ext cx="7315200" cy="274320"/>
          </a:xfrm>
          <a:prstGeom prst="rect">
            <a:avLst/>
          </a:prstGeom>
          <a:noFill/>
        </p:spPr>
        <p:txBody>
          <a:bodyPr wrap="square" lIns="0" rIns="0" tIns="0" bIns="0" anchor="t">
            <a:spAutoFit/>
          </a:bodyPr>
          <a:lstStyle/>
          <a:p>
            <a:pPr algn="l">
              <a:lnSpc>
                <a:spcPct val="105000"/>
              </a:lnSpc>
              <a:spcBef>
                <a:spcPts val="0"/>
              </a:spcBef>
            </a:pPr>
            <a:r>
              <a:rPr sz="850" b="0">
                <a:solidFill>
                  <a:srgbClr val="5D6B7E"/>
                </a:solidFill>
                <a:latin typeface="Calibri"/>
              </a:rPr>
              <a:t>ISBMS · PGDM 2025–27 · AGENTIC AI &amp; ADVANCED ANALYTICS IN FINANCE</a:t>
            </a:r>
          </a:p>
        </p:txBody>
      </p:sp>
      <p:sp>
        <p:nvSpPr>
          <p:cNvPr id="32" name="TextBox 31"/>
          <p:cNvSpPr txBox="1"/>
          <p:nvPr/>
        </p:nvSpPr>
        <p:spPr>
          <a:xfrm>
            <a:off x="9262872" y="6473952"/>
            <a:ext cx="2377440" cy="274320"/>
          </a:xfrm>
          <a:prstGeom prst="rect">
            <a:avLst/>
          </a:prstGeom>
          <a:noFill/>
        </p:spPr>
        <p:txBody>
          <a:bodyPr wrap="square" lIns="0" rIns="0" tIns="0" bIns="0" anchor="t">
            <a:spAutoFit/>
          </a:bodyPr>
          <a:lstStyle/>
          <a:p>
            <a:pPr algn="r">
              <a:lnSpc>
                <a:spcPct val="105000"/>
              </a:lnSpc>
              <a:spcBef>
                <a:spcPts val="0"/>
              </a:spcBef>
            </a:pPr>
            <a:r>
              <a:rPr sz="850" b="0">
                <a:solidFill>
                  <a:srgbClr val="5D6B7E"/>
                </a:solidFill>
                <a:latin typeface="Calibri"/>
              </a:rPr>
              <a:t>MODULE 1  ·  02</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310896"/>
            <a:ext cx="10817352" cy="292608"/>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HOUR 1 · CONTEXT</a:t>
            </a:r>
          </a:p>
        </p:txBody>
      </p:sp>
      <p:sp>
        <p:nvSpPr>
          <p:cNvPr id="4" name="TextBox 3"/>
          <p:cNvSpPr txBox="1"/>
          <p:nvPr/>
        </p:nvSpPr>
        <p:spPr>
          <a:xfrm>
            <a:off x="548640" y="621792"/>
            <a:ext cx="11091672" cy="685800"/>
          </a:xfrm>
          <a:prstGeom prst="rect">
            <a:avLst/>
          </a:prstGeom>
          <a:noFill/>
        </p:spPr>
        <p:txBody>
          <a:bodyPr wrap="square" lIns="0" rIns="0" tIns="0" bIns="0" anchor="t">
            <a:spAutoFit/>
          </a:bodyPr>
          <a:lstStyle/>
          <a:p>
            <a:pPr algn="l">
              <a:lnSpc>
                <a:spcPct val="105000"/>
              </a:lnSpc>
              <a:spcBef>
                <a:spcPts val="0"/>
              </a:spcBef>
            </a:pPr>
            <a:r>
              <a:rPr sz="2900" b="1">
                <a:solidFill>
                  <a:srgbClr val="0F2145"/>
                </a:solidFill>
                <a:latin typeface="Georgia"/>
              </a:rPr>
              <a:t>Four eras of AI in finance — and banks run all four today</a:t>
            </a:r>
          </a:p>
        </p:txBody>
      </p:sp>
      <p:sp>
        <p:nvSpPr>
          <p:cNvPr id="5" name="Rectangle 4"/>
          <p:cNvSpPr/>
          <p:nvPr/>
        </p:nvSpPr>
        <p:spPr>
          <a:xfrm>
            <a:off x="548640" y="1572768"/>
            <a:ext cx="2670048" cy="3200400"/>
          </a:xfrm>
          <a:prstGeom prst="rect">
            <a:avLst/>
          </a:prstGeom>
          <a:solidFill>
            <a:srgbClr val="E9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8096" y="1737360"/>
            <a:ext cx="2286000" cy="256032"/>
          </a:xfrm>
          <a:prstGeom prst="rect">
            <a:avLst/>
          </a:prstGeom>
          <a:noFill/>
        </p:spPr>
        <p:txBody>
          <a:bodyPr wrap="square" lIns="0" rIns="0" tIns="0" bIns="0" anchor="t">
            <a:spAutoFit/>
          </a:bodyPr>
          <a:lstStyle/>
          <a:p>
            <a:pPr algn="l">
              <a:lnSpc>
                <a:spcPct val="105000"/>
              </a:lnSpc>
              <a:spcBef>
                <a:spcPts val="0"/>
              </a:spcBef>
            </a:pPr>
            <a:r>
              <a:rPr sz="950" b="1">
                <a:solidFill>
                  <a:srgbClr val="3A5C9E"/>
                </a:solidFill>
                <a:latin typeface="Calibri"/>
              </a:rPr>
              <a:t>1980s – 2000s</a:t>
            </a:r>
          </a:p>
        </p:txBody>
      </p:sp>
      <p:sp>
        <p:nvSpPr>
          <p:cNvPr id="7" name="TextBox 6"/>
          <p:cNvSpPr txBox="1"/>
          <p:nvPr/>
        </p:nvSpPr>
        <p:spPr>
          <a:xfrm>
            <a:off x="768096" y="2029968"/>
            <a:ext cx="2286000" cy="457200"/>
          </a:xfrm>
          <a:prstGeom prst="rect">
            <a:avLst/>
          </a:prstGeom>
          <a:noFill/>
        </p:spPr>
        <p:txBody>
          <a:bodyPr wrap="square" lIns="0" rIns="0" tIns="0" bIns="0" anchor="t">
            <a:spAutoFit/>
          </a:bodyPr>
          <a:lstStyle/>
          <a:p>
            <a:pPr algn="l">
              <a:lnSpc>
                <a:spcPct val="105000"/>
              </a:lnSpc>
              <a:spcBef>
                <a:spcPts val="0"/>
              </a:spcBef>
            </a:pPr>
            <a:r>
              <a:rPr sz="1350" b="1">
                <a:solidFill>
                  <a:srgbClr val="0F2145"/>
                </a:solidFill>
                <a:latin typeface="Georgia"/>
              </a:rPr>
              <a:t>RULE-BASED</a:t>
            </a:r>
          </a:p>
        </p:txBody>
      </p:sp>
      <p:sp>
        <p:nvSpPr>
          <p:cNvPr id="8" name="TextBox 7"/>
          <p:cNvSpPr txBox="1"/>
          <p:nvPr/>
        </p:nvSpPr>
        <p:spPr>
          <a:xfrm>
            <a:off x="768096" y="2697480"/>
            <a:ext cx="2286000" cy="1005840"/>
          </a:xfrm>
          <a:prstGeom prst="rect">
            <a:avLst/>
          </a:prstGeom>
          <a:noFill/>
        </p:spPr>
        <p:txBody>
          <a:bodyPr wrap="square" lIns="0" rIns="0" tIns="0" bIns="0" anchor="t">
            <a:spAutoFit/>
          </a:bodyPr>
          <a:lstStyle/>
          <a:p>
            <a:pPr algn="l">
              <a:lnSpc>
                <a:spcPct val="105000"/>
              </a:lnSpc>
              <a:spcBef>
                <a:spcPts val="0"/>
              </a:spcBef>
            </a:pPr>
            <a:r>
              <a:rPr sz="1050" b="0">
                <a:solidFill>
                  <a:srgbClr val="1B2A41"/>
                </a:solidFill>
                <a:latin typeface="Calibri"/>
              </a:rPr>
              <a:t>A human writes the rules. IF EMI-to-income &gt; 50%, THEN reject.</a:t>
            </a:r>
          </a:p>
        </p:txBody>
      </p:sp>
      <p:sp>
        <p:nvSpPr>
          <p:cNvPr id="9" name="TextBox 8"/>
          <p:cNvSpPr txBox="1"/>
          <p:nvPr/>
        </p:nvSpPr>
        <p:spPr>
          <a:xfrm>
            <a:off x="768096" y="3794760"/>
            <a:ext cx="2286000" cy="822960"/>
          </a:xfrm>
          <a:prstGeom prst="rect">
            <a:avLst/>
          </a:prstGeom>
          <a:noFill/>
        </p:spPr>
        <p:txBody>
          <a:bodyPr wrap="square" lIns="0" rIns="0" tIns="0" bIns="0" anchor="t">
            <a:spAutoFit/>
          </a:bodyPr>
          <a:lstStyle/>
          <a:p>
            <a:pPr algn="l">
              <a:lnSpc>
                <a:spcPct val="105000"/>
              </a:lnSpc>
              <a:spcBef>
                <a:spcPts val="0"/>
              </a:spcBef>
            </a:pPr>
            <a:r>
              <a:rPr sz="850" b="1">
                <a:solidFill>
                  <a:srgbClr val="5D6B7E"/>
                </a:solidFill>
                <a:latin typeface="Calibri"/>
              </a:rPr>
              <a:t>ON THE DESK</a:t>
            </a:r>
          </a:p>
          <a:p>
            <a:pPr algn="l">
              <a:lnSpc>
                <a:spcPct val="105000"/>
              </a:lnSpc>
              <a:spcBef>
                <a:spcPts val="400"/>
              </a:spcBef>
            </a:pPr>
            <a:r>
              <a:rPr sz="1000" b="0">
                <a:solidFill>
                  <a:srgbClr val="5D6B7E"/>
                </a:solidFill>
                <a:latin typeface="Calibri"/>
              </a:rPr>
              <a:t>Credit policy engines, limit checks, settlement matching.</a:t>
            </a:r>
          </a:p>
        </p:txBody>
      </p:sp>
      <p:sp>
        <p:nvSpPr>
          <p:cNvPr id="10" name="TextBox 9"/>
          <p:cNvSpPr txBox="1"/>
          <p:nvPr/>
        </p:nvSpPr>
        <p:spPr>
          <a:xfrm>
            <a:off x="3236976" y="2926080"/>
            <a:ext cx="182880" cy="365760"/>
          </a:xfrm>
          <a:prstGeom prst="rect">
            <a:avLst/>
          </a:prstGeom>
          <a:noFill/>
        </p:spPr>
        <p:txBody>
          <a:bodyPr wrap="square" lIns="0" rIns="0" tIns="0" bIns="0" anchor="t">
            <a:spAutoFit/>
          </a:bodyPr>
          <a:lstStyle/>
          <a:p>
            <a:pPr algn="l">
              <a:lnSpc>
                <a:spcPct val="105000"/>
              </a:lnSpc>
              <a:spcBef>
                <a:spcPts val="0"/>
              </a:spcBef>
            </a:pPr>
            <a:r>
              <a:rPr sz="2200" b="1">
                <a:solidFill>
                  <a:srgbClr val="C9A227"/>
                </a:solidFill>
                <a:latin typeface="Georgia"/>
              </a:rPr>
              <a:t>›</a:t>
            </a:r>
          </a:p>
        </p:txBody>
      </p:sp>
      <p:sp>
        <p:nvSpPr>
          <p:cNvPr id="11" name="Rectangle 10"/>
          <p:cNvSpPr/>
          <p:nvPr/>
        </p:nvSpPr>
        <p:spPr>
          <a:xfrm>
            <a:off x="3374136" y="1572768"/>
            <a:ext cx="2670048" cy="3200400"/>
          </a:xfrm>
          <a:prstGeom prst="rect">
            <a:avLst/>
          </a:prstGeom>
          <a:solidFill>
            <a:srgbClr val="D5E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93591" y="1737360"/>
            <a:ext cx="2286000" cy="256032"/>
          </a:xfrm>
          <a:prstGeom prst="rect">
            <a:avLst/>
          </a:prstGeom>
          <a:noFill/>
        </p:spPr>
        <p:txBody>
          <a:bodyPr wrap="square" lIns="0" rIns="0" tIns="0" bIns="0" anchor="t">
            <a:spAutoFit/>
          </a:bodyPr>
          <a:lstStyle/>
          <a:p>
            <a:pPr algn="l">
              <a:lnSpc>
                <a:spcPct val="105000"/>
              </a:lnSpc>
              <a:spcBef>
                <a:spcPts val="0"/>
              </a:spcBef>
            </a:pPr>
            <a:r>
              <a:rPr sz="950" b="1">
                <a:solidFill>
                  <a:srgbClr val="3A5C9E"/>
                </a:solidFill>
                <a:latin typeface="Calibri"/>
              </a:rPr>
              <a:t>2000s – 2015</a:t>
            </a:r>
          </a:p>
        </p:txBody>
      </p:sp>
      <p:sp>
        <p:nvSpPr>
          <p:cNvPr id="13" name="TextBox 12"/>
          <p:cNvSpPr txBox="1"/>
          <p:nvPr/>
        </p:nvSpPr>
        <p:spPr>
          <a:xfrm>
            <a:off x="3593591" y="2029968"/>
            <a:ext cx="2286000" cy="457200"/>
          </a:xfrm>
          <a:prstGeom prst="rect">
            <a:avLst/>
          </a:prstGeom>
          <a:noFill/>
        </p:spPr>
        <p:txBody>
          <a:bodyPr wrap="square" lIns="0" rIns="0" tIns="0" bIns="0" anchor="t">
            <a:spAutoFit/>
          </a:bodyPr>
          <a:lstStyle/>
          <a:p>
            <a:pPr algn="l">
              <a:lnSpc>
                <a:spcPct val="105000"/>
              </a:lnSpc>
              <a:spcBef>
                <a:spcPts val="0"/>
              </a:spcBef>
            </a:pPr>
            <a:r>
              <a:rPr sz="1350" b="1">
                <a:solidFill>
                  <a:srgbClr val="0F2145"/>
                </a:solidFill>
                <a:latin typeface="Georgia"/>
              </a:rPr>
              <a:t>MACHINE LEARNING</a:t>
            </a:r>
          </a:p>
        </p:txBody>
      </p:sp>
      <p:sp>
        <p:nvSpPr>
          <p:cNvPr id="14" name="TextBox 13"/>
          <p:cNvSpPr txBox="1"/>
          <p:nvPr/>
        </p:nvSpPr>
        <p:spPr>
          <a:xfrm>
            <a:off x="3593591" y="2697480"/>
            <a:ext cx="2286000" cy="1005840"/>
          </a:xfrm>
          <a:prstGeom prst="rect">
            <a:avLst/>
          </a:prstGeom>
          <a:noFill/>
        </p:spPr>
        <p:txBody>
          <a:bodyPr wrap="square" lIns="0" rIns="0" tIns="0" bIns="0" anchor="t">
            <a:spAutoFit/>
          </a:bodyPr>
          <a:lstStyle/>
          <a:p>
            <a:pPr algn="l">
              <a:lnSpc>
                <a:spcPct val="105000"/>
              </a:lnSpc>
              <a:spcBef>
                <a:spcPts val="0"/>
              </a:spcBef>
            </a:pPr>
            <a:r>
              <a:rPr sz="1050" b="0">
                <a:solidFill>
                  <a:srgbClr val="1B2A41"/>
                </a:solidFill>
                <a:latin typeface="Calibri"/>
              </a:rPr>
              <a:t>Show it a lakh past loans; it learns which patterns predict default.</a:t>
            </a:r>
          </a:p>
        </p:txBody>
      </p:sp>
      <p:sp>
        <p:nvSpPr>
          <p:cNvPr id="15" name="TextBox 14"/>
          <p:cNvSpPr txBox="1"/>
          <p:nvPr/>
        </p:nvSpPr>
        <p:spPr>
          <a:xfrm>
            <a:off x="3593591" y="3794760"/>
            <a:ext cx="2286000" cy="822960"/>
          </a:xfrm>
          <a:prstGeom prst="rect">
            <a:avLst/>
          </a:prstGeom>
          <a:noFill/>
        </p:spPr>
        <p:txBody>
          <a:bodyPr wrap="square" lIns="0" rIns="0" tIns="0" bIns="0" anchor="t">
            <a:spAutoFit/>
          </a:bodyPr>
          <a:lstStyle/>
          <a:p>
            <a:pPr algn="l">
              <a:lnSpc>
                <a:spcPct val="105000"/>
              </a:lnSpc>
              <a:spcBef>
                <a:spcPts val="0"/>
              </a:spcBef>
            </a:pPr>
            <a:r>
              <a:rPr sz="850" b="1">
                <a:solidFill>
                  <a:srgbClr val="5D6B7E"/>
                </a:solidFill>
                <a:latin typeface="Calibri"/>
              </a:rPr>
              <a:t>ON THE DESK</a:t>
            </a:r>
          </a:p>
          <a:p>
            <a:pPr algn="l">
              <a:lnSpc>
                <a:spcPct val="105000"/>
              </a:lnSpc>
              <a:spcBef>
                <a:spcPts val="400"/>
              </a:spcBef>
            </a:pPr>
            <a:r>
              <a:rPr sz="1000" b="0">
                <a:solidFill>
                  <a:srgbClr val="5D6B7E"/>
                </a:solidFill>
                <a:latin typeface="Calibri"/>
              </a:rPr>
              <a:t>PD scorecards, fraud scoring, churn models.</a:t>
            </a:r>
          </a:p>
        </p:txBody>
      </p:sp>
      <p:sp>
        <p:nvSpPr>
          <p:cNvPr id="16" name="TextBox 15"/>
          <p:cNvSpPr txBox="1"/>
          <p:nvPr/>
        </p:nvSpPr>
        <p:spPr>
          <a:xfrm>
            <a:off x="6062472" y="2926080"/>
            <a:ext cx="182880" cy="365760"/>
          </a:xfrm>
          <a:prstGeom prst="rect">
            <a:avLst/>
          </a:prstGeom>
          <a:noFill/>
        </p:spPr>
        <p:txBody>
          <a:bodyPr wrap="square" lIns="0" rIns="0" tIns="0" bIns="0" anchor="t">
            <a:spAutoFit/>
          </a:bodyPr>
          <a:lstStyle/>
          <a:p>
            <a:pPr algn="l">
              <a:lnSpc>
                <a:spcPct val="105000"/>
              </a:lnSpc>
              <a:spcBef>
                <a:spcPts val="0"/>
              </a:spcBef>
            </a:pPr>
            <a:r>
              <a:rPr sz="2200" b="1">
                <a:solidFill>
                  <a:srgbClr val="C9A227"/>
                </a:solidFill>
                <a:latin typeface="Georgia"/>
              </a:rPr>
              <a:t>›</a:t>
            </a:r>
          </a:p>
        </p:txBody>
      </p:sp>
      <p:sp>
        <p:nvSpPr>
          <p:cNvPr id="17" name="Rectangle 16"/>
          <p:cNvSpPr/>
          <p:nvPr/>
        </p:nvSpPr>
        <p:spPr>
          <a:xfrm>
            <a:off x="6199631" y="1572768"/>
            <a:ext cx="2670048" cy="3200400"/>
          </a:xfrm>
          <a:prstGeom prst="rect">
            <a:avLst/>
          </a:prstGeom>
          <a:solidFill>
            <a:srgbClr val="BFD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19088" y="1737360"/>
            <a:ext cx="2286000" cy="256032"/>
          </a:xfrm>
          <a:prstGeom prst="rect">
            <a:avLst/>
          </a:prstGeom>
          <a:noFill/>
        </p:spPr>
        <p:txBody>
          <a:bodyPr wrap="square" lIns="0" rIns="0" tIns="0" bIns="0" anchor="t">
            <a:spAutoFit/>
          </a:bodyPr>
          <a:lstStyle/>
          <a:p>
            <a:pPr algn="l">
              <a:lnSpc>
                <a:spcPct val="105000"/>
              </a:lnSpc>
              <a:spcBef>
                <a:spcPts val="0"/>
              </a:spcBef>
            </a:pPr>
            <a:r>
              <a:rPr sz="950" b="1">
                <a:solidFill>
                  <a:srgbClr val="3A5C9E"/>
                </a:solidFill>
                <a:latin typeface="Calibri"/>
              </a:rPr>
              <a:t>2015 – 2022</a:t>
            </a:r>
          </a:p>
        </p:txBody>
      </p:sp>
      <p:sp>
        <p:nvSpPr>
          <p:cNvPr id="19" name="TextBox 18"/>
          <p:cNvSpPr txBox="1"/>
          <p:nvPr/>
        </p:nvSpPr>
        <p:spPr>
          <a:xfrm>
            <a:off x="6419088" y="2029968"/>
            <a:ext cx="2286000" cy="457200"/>
          </a:xfrm>
          <a:prstGeom prst="rect">
            <a:avLst/>
          </a:prstGeom>
          <a:noFill/>
        </p:spPr>
        <p:txBody>
          <a:bodyPr wrap="square" lIns="0" rIns="0" tIns="0" bIns="0" anchor="t">
            <a:spAutoFit/>
          </a:bodyPr>
          <a:lstStyle/>
          <a:p>
            <a:pPr algn="l">
              <a:lnSpc>
                <a:spcPct val="105000"/>
              </a:lnSpc>
              <a:spcBef>
                <a:spcPts val="0"/>
              </a:spcBef>
            </a:pPr>
            <a:r>
              <a:rPr sz="1350" b="1">
                <a:solidFill>
                  <a:srgbClr val="0F2145"/>
                </a:solidFill>
                <a:latin typeface="Georgia"/>
              </a:rPr>
              <a:t>DEEP LEARNING</a:t>
            </a:r>
          </a:p>
        </p:txBody>
      </p:sp>
      <p:sp>
        <p:nvSpPr>
          <p:cNvPr id="20" name="TextBox 19"/>
          <p:cNvSpPr txBox="1"/>
          <p:nvPr/>
        </p:nvSpPr>
        <p:spPr>
          <a:xfrm>
            <a:off x="6419088" y="2697480"/>
            <a:ext cx="2286000" cy="1005840"/>
          </a:xfrm>
          <a:prstGeom prst="rect">
            <a:avLst/>
          </a:prstGeom>
          <a:noFill/>
        </p:spPr>
        <p:txBody>
          <a:bodyPr wrap="square" lIns="0" rIns="0" tIns="0" bIns="0" anchor="t">
            <a:spAutoFit/>
          </a:bodyPr>
          <a:lstStyle/>
          <a:p>
            <a:pPr algn="l">
              <a:lnSpc>
                <a:spcPct val="105000"/>
              </a:lnSpc>
              <a:spcBef>
                <a:spcPts val="0"/>
              </a:spcBef>
            </a:pPr>
            <a:r>
              <a:rPr sz="1050" b="0">
                <a:solidFill>
                  <a:srgbClr val="1B2A41"/>
                </a:solidFill>
                <a:latin typeface="Calibri"/>
              </a:rPr>
              <a:t>Neural networks read raw text and images without hand-made features.</a:t>
            </a:r>
          </a:p>
        </p:txBody>
      </p:sp>
      <p:sp>
        <p:nvSpPr>
          <p:cNvPr id="21" name="TextBox 20"/>
          <p:cNvSpPr txBox="1"/>
          <p:nvPr/>
        </p:nvSpPr>
        <p:spPr>
          <a:xfrm>
            <a:off x="6419088" y="3794760"/>
            <a:ext cx="2286000" cy="822960"/>
          </a:xfrm>
          <a:prstGeom prst="rect">
            <a:avLst/>
          </a:prstGeom>
          <a:noFill/>
        </p:spPr>
        <p:txBody>
          <a:bodyPr wrap="square" lIns="0" rIns="0" tIns="0" bIns="0" anchor="t">
            <a:spAutoFit/>
          </a:bodyPr>
          <a:lstStyle/>
          <a:p>
            <a:pPr algn="l">
              <a:lnSpc>
                <a:spcPct val="105000"/>
              </a:lnSpc>
              <a:spcBef>
                <a:spcPts val="0"/>
              </a:spcBef>
            </a:pPr>
            <a:r>
              <a:rPr sz="850" b="1">
                <a:solidFill>
                  <a:srgbClr val="5D6B7E"/>
                </a:solidFill>
                <a:latin typeface="Calibri"/>
              </a:rPr>
              <a:t>ON THE DESK</a:t>
            </a:r>
          </a:p>
          <a:p>
            <a:pPr algn="l">
              <a:lnSpc>
                <a:spcPct val="105000"/>
              </a:lnSpc>
              <a:spcBef>
                <a:spcPts val="400"/>
              </a:spcBef>
            </a:pPr>
            <a:r>
              <a:rPr sz="1000" b="0">
                <a:solidFill>
                  <a:srgbClr val="5D6B7E"/>
                </a:solidFill>
                <a:latin typeface="Calibri"/>
              </a:rPr>
              <a:t>Cheque OCR, KYC document reading, transaction fraud nets.</a:t>
            </a:r>
          </a:p>
        </p:txBody>
      </p:sp>
      <p:sp>
        <p:nvSpPr>
          <p:cNvPr id="22" name="TextBox 21"/>
          <p:cNvSpPr txBox="1"/>
          <p:nvPr/>
        </p:nvSpPr>
        <p:spPr>
          <a:xfrm>
            <a:off x="8887967" y="2926080"/>
            <a:ext cx="182880" cy="365760"/>
          </a:xfrm>
          <a:prstGeom prst="rect">
            <a:avLst/>
          </a:prstGeom>
          <a:noFill/>
        </p:spPr>
        <p:txBody>
          <a:bodyPr wrap="square" lIns="0" rIns="0" tIns="0" bIns="0" anchor="t">
            <a:spAutoFit/>
          </a:bodyPr>
          <a:lstStyle/>
          <a:p>
            <a:pPr algn="l">
              <a:lnSpc>
                <a:spcPct val="105000"/>
              </a:lnSpc>
              <a:spcBef>
                <a:spcPts val="0"/>
              </a:spcBef>
            </a:pPr>
            <a:r>
              <a:rPr sz="2200" b="1">
                <a:solidFill>
                  <a:srgbClr val="C9A227"/>
                </a:solidFill>
                <a:latin typeface="Georgia"/>
              </a:rPr>
              <a:t>›</a:t>
            </a:r>
          </a:p>
        </p:txBody>
      </p:sp>
      <p:sp>
        <p:nvSpPr>
          <p:cNvPr id="23" name="Rectangle 22"/>
          <p:cNvSpPr/>
          <p:nvPr/>
        </p:nvSpPr>
        <p:spPr>
          <a:xfrm>
            <a:off x="9025128" y="1572768"/>
            <a:ext cx="2670048" cy="320040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244584" y="1737360"/>
            <a:ext cx="2286000" cy="256032"/>
          </a:xfrm>
          <a:prstGeom prst="rect">
            <a:avLst/>
          </a:prstGeom>
          <a:noFill/>
        </p:spPr>
        <p:txBody>
          <a:bodyPr wrap="square" lIns="0" rIns="0" tIns="0" bIns="0" anchor="t">
            <a:spAutoFit/>
          </a:bodyPr>
          <a:lstStyle/>
          <a:p>
            <a:pPr algn="l">
              <a:lnSpc>
                <a:spcPct val="105000"/>
              </a:lnSpc>
              <a:spcBef>
                <a:spcPts val="0"/>
              </a:spcBef>
            </a:pPr>
            <a:r>
              <a:rPr sz="950" b="1">
                <a:solidFill>
                  <a:srgbClr val="C9A227"/>
                </a:solidFill>
                <a:latin typeface="Calibri"/>
              </a:rPr>
              <a:t>2022 – now</a:t>
            </a:r>
          </a:p>
        </p:txBody>
      </p:sp>
      <p:sp>
        <p:nvSpPr>
          <p:cNvPr id="25" name="TextBox 24"/>
          <p:cNvSpPr txBox="1"/>
          <p:nvPr/>
        </p:nvSpPr>
        <p:spPr>
          <a:xfrm>
            <a:off x="9244584" y="2029968"/>
            <a:ext cx="2286000" cy="457200"/>
          </a:xfrm>
          <a:prstGeom prst="rect">
            <a:avLst/>
          </a:prstGeom>
          <a:noFill/>
        </p:spPr>
        <p:txBody>
          <a:bodyPr wrap="square" lIns="0" rIns="0" tIns="0" bIns="0" anchor="t">
            <a:spAutoFit/>
          </a:bodyPr>
          <a:lstStyle/>
          <a:p>
            <a:pPr algn="l">
              <a:lnSpc>
                <a:spcPct val="105000"/>
              </a:lnSpc>
              <a:spcBef>
                <a:spcPts val="0"/>
              </a:spcBef>
            </a:pPr>
            <a:r>
              <a:rPr sz="1350" b="1">
                <a:solidFill>
                  <a:srgbClr val="FFFFFF"/>
                </a:solidFill>
                <a:latin typeface="Georgia"/>
              </a:rPr>
              <a:t>GENERATIVE &amp; AGENTIC</a:t>
            </a:r>
          </a:p>
        </p:txBody>
      </p:sp>
      <p:sp>
        <p:nvSpPr>
          <p:cNvPr id="26" name="TextBox 25"/>
          <p:cNvSpPr txBox="1"/>
          <p:nvPr/>
        </p:nvSpPr>
        <p:spPr>
          <a:xfrm>
            <a:off x="9244584" y="2697480"/>
            <a:ext cx="2286000" cy="1005840"/>
          </a:xfrm>
          <a:prstGeom prst="rect">
            <a:avLst/>
          </a:prstGeom>
          <a:noFill/>
        </p:spPr>
        <p:txBody>
          <a:bodyPr wrap="square" lIns="0" rIns="0" tIns="0" bIns="0" anchor="t">
            <a:spAutoFit/>
          </a:bodyPr>
          <a:lstStyle/>
          <a:p>
            <a:pPr algn="l">
              <a:lnSpc>
                <a:spcPct val="105000"/>
              </a:lnSpc>
              <a:spcBef>
                <a:spcPts val="0"/>
              </a:spcBef>
            </a:pPr>
            <a:r>
              <a:rPr sz="1050" b="0">
                <a:solidFill>
                  <a:srgbClr val="C9D6EE"/>
                </a:solidFill>
                <a:latin typeface="Calibri"/>
              </a:rPr>
              <a:t>It writes — and then it acts, calling tools to finish the task.</a:t>
            </a:r>
          </a:p>
        </p:txBody>
      </p:sp>
      <p:sp>
        <p:nvSpPr>
          <p:cNvPr id="27" name="TextBox 26"/>
          <p:cNvSpPr txBox="1"/>
          <p:nvPr/>
        </p:nvSpPr>
        <p:spPr>
          <a:xfrm>
            <a:off x="9244584" y="3794760"/>
            <a:ext cx="2286000" cy="822960"/>
          </a:xfrm>
          <a:prstGeom prst="rect">
            <a:avLst/>
          </a:prstGeom>
          <a:noFill/>
        </p:spPr>
        <p:txBody>
          <a:bodyPr wrap="square" lIns="0" rIns="0" tIns="0" bIns="0" anchor="t">
            <a:spAutoFit/>
          </a:bodyPr>
          <a:lstStyle/>
          <a:p>
            <a:pPr algn="l">
              <a:lnSpc>
                <a:spcPct val="105000"/>
              </a:lnSpc>
              <a:spcBef>
                <a:spcPts val="0"/>
              </a:spcBef>
            </a:pPr>
            <a:r>
              <a:rPr sz="850" b="1">
                <a:solidFill>
                  <a:srgbClr val="C9A227"/>
                </a:solidFill>
                <a:latin typeface="Calibri"/>
              </a:rPr>
              <a:t>ON THE DESK</a:t>
            </a:r>
          </a:p>
          <a:p>
            <a:pPr algn="l">
              <a:lnSpc>
                <a:spcPct val="105000"/>
              </a:lnSpc>
              <a:spcBef>
                <a:spcPts val="400"/>
              </a:spcBef>
            </a:pPr>
            <a:r>
              <a:rPr sz="1000" b="0">
                <a:solidFill>
                  <a:srgbClr val="C9D6EE"/>
                </a:solidFill>
                <a:latin typeface="Calibri"/>
              </a:rPr>
              <a:t>Filing extraction, research drafting, agents that reconcile.</a:t>
            </a:r>
          </a:p>
        </p:txBody>
      </p:sp>
      <p:sp>
        <p:nvSpPr>
          <p:cNvPr id="28" name="Rectangle 27"/>
          <p:cNvSpPr/>
          <p:nvPr/>
        </p:nvSpPr>
        <p:spPr>
          <a:xfrm>
            <a:off x="548640" y="4956048"/>
            <a:ext cx="11091672" cy="1051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48640" y="4956048"/>
            <a:ext cx="64008" cy="105156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2960" y="5102352"/>
            <a:ext cx="10515600" cy="868680"/>
          </a:xfrm>
          <a:prstGeom prst="rect">
            <a:avLst/>
          </a:prstGeom>
          <a:noFill/>
        </p:spPr>
        <p:txBody>
          <a:bodyPr wrap="square" lIns="0" rIns="0" tIns="0" bIns="0" anchor="t">
            <a:spAutoFit/>
          </a:bodyPr>
          <a:lstStyle/>
          <a:p>
            <a:pPr algn="l">
              <a:lnSpc>
                <a:spcPct val="105000"/>
              </a:lnSpc>
              <a:spcBef>
                <a:spcPts val="0"/>
              </a:spcBef>
            </a:pPr>
            <a:r>
              <a:rPr sz="1300" b="1">
                <a:solidFill>
                  <a:srgbClr val="0F2145"/>
                </a:solidFill>
                <a:latin typeface="Georgia"/>
              </a:rPr>
              <a:t>The point most people miss</a:t>
            </a:r>
          </a:p>
          <a:p>
            <a:pPr algn="l">
              <a:lnSpc>
                <a:spcPct val="105000"/>
              </a:lnSpc>
              <a:spcBef>
                <a:spcPts val="500"/>
              </a:spcBef>
            </a:pPr>
            <a:r>
              <a:rPr sz="1100" b="0">
                <a:solidFill>
                  <a:srgbClr val="1B2A41"/>
                </a:solidFill>
                <a:latin typeface="Calibri"/>
              </a:rPr>
              <a:t>No era replaced the one before it. Your bank still runs a hard-coded limit rule from era one, a logistic-regression scorecard from era two, an OCR model from era three and a pilot agent from era four — on the same customer, on the same day. Knowing which tool belongs to which job is half of this course.</a:t>
            </a:r>
          </a:p>
        </p:txBody>
      </p:sp>
      <p:sp>
        <p:nvSpPr>
          <p:cNvPr id="31" name="TextBox 30"/>
          <p:cNvSpPr txBox="1"/>
          <p:nvPr/>
        </p:nvSpPr>
        <p:spPr>
          <a:xfrm>
            <a:off x="548640" y="6473952"/>
            <a:ext cx="7315200" cy="274320"/>
          </a:xfrm>
          <a:prstGeom prst="rect">
            <a:avLst/>
          </a:prstGeom>
          <a:noFill/>
        </p:spPr>
        <p:txBody>
          <a:bodyPr wrap="square" lIns="0" rIns="0" tIns="0" bIns="0" anchor="t">
            <a:spAutoFit/>
          </a:bodyPr>
          <a:lstStyle/>
          <a:p>
            <a:pPr algn="l">
              <a:lnSpc>
                <a:spcPct val="105000"/>
              </a:lnSpc>
              <a:spcBef>
                <a:spcPts val="0"/>
              </a:spcBef>
            </a:pPr>
            <a:r>
              <a:rPr sz="850" b="0">
                <a:solidFill>
                  <a:srgbClr val="5D6B7E"/>
                </a:solidFill>
                <a:latin typeface="Calibri"/>
              </a:rPr>
              <a:t>ISBMS · PGDM 2025–27 · AGENTIC AI &amp; ADVANCED ANALYTICS IN FINANCE</a:t>
            </a:r>
          </a:p>
        </p:txBody>
      </p:sp>
      <p:sp>
        <p:nvSpPr>
          <p:cNvPr id="32" name="TextBox 31"/>
          <p:cNvSpPr txBox="1"/>
          <p:nvPr/>
        </p:nvSpPr>
        <p:spPr>
          <a:xfrm>
            <a:off x="9262872" y="6473952"/>
            <a:ext cx="2377440" cy="274320"/>
          </a:xfrm>
          <a:prstGeom prst="rect">
            <a:avLst/>
          </a:prstGeom>
          <a:noFill/>
        </p:spPr>
        <p:txBody>
          <a:bodyPr wrap="square" lIns="0" rIns="0" tIns="0" bIns="0" anchor="t">
            <a:spAutoFit/>
          </a:bodyPr>
          <a:lstStyle/>
          <a:p>
            <a:pPr algn="r">
              <a:lnSpc>
                <a:spcPct val="105000"/>
              </a:lnSpc>
              <a:spcBef>
                <a:spcPts val="0"/>
              </a:spcBef>
            </a:pPr>
            <a:r>
              <a:rPr sz="850" b="0">
                <a:solidFill>
                  <a:srgbClr val="5D6B7E"/>
                </a:solidFill>
                <a:latin typeface="Calibri"/>
              </a:rPr>
              <a:t>MODULE 1  ·  04</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310896"/>
            <a:ext cx="10817352" cy="292608"/>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HOUR 1 · HOW IT WORKS</a:t>
            </a:r>
          </a:p>
        </p:txBody>
      </p:sp>
      <p:sp>
        <p:nvSpPr>
          <p:cNvPr id="4" name="TextBox 3"/>
          <p:cNvSpPr txBox="1"/>
          <p:nvPr/>
        </p:nvSpPr>
        <p:spPr>
          <a:xfrm>
            <a:off x="548640" y="621792"/>
            <a:ext cx="11091672" cy="685800"/>
          </a:xfrm>
          <a:prstGeom prst="rect">
            <a:avLst/>
          </a:prstGeom>
          <a:noFill/>
        </p:spPr>
        <p:txBody>
          <a:bodyPr wrap="square" lIns="0" rIns="0" tIns="0" bIns="0" anchor="t">
            <a:spAutoFit/>
          </a:bodyPr>
          <a:lstStyle/>
          <a:p>
            <a:pPr algn="l">
              <a:lnSpc>
                <a:spcPct val="105000"/>
              </a:lnSpc>
              <a:spcBef>
                <a:spcPts val="0"/>
              </a:spcBef>
            </a:pPr>
            <a:r>
              <a:rPr sz="2900" b="1">
                <a:solidFill>
                  <a:srgbClr val="0F2145"/>
                </a:solidFill>
                <a:latin typeface="Georgia"/>
              </a:rPr>
              <a:t>Inside the model — tokens, attention, and what it costs</a:t>
            </a:r>
          </a:p>
        </p:txBody>
      </p:sp>
      <p:sp>
        <p:nvSpPr>
          <p:cNvPr id="5" name="Rectangle 4"/>
          <p:cNvSpPr/>
          <p:nvPr/>
        </p:nvSpPr>
        <p:spPr>
          <a:xfrm>
            <a:off x="548640" y="1572768"/>
            <a:ext cx="5577840" cy="1024128"/>
          </a:xfrm>
          <a:prstGeom prst="rect">
            <a:avLst/>
          </a:prstGeom>
          <a:solidFill>
            <a:srgbClr val="E9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86384" y="1700784"/>
            <a:ext cx="5120640" cy="822960"/>
          </a:xfrm>
          <a:prstGeom prst="rect">
            <a:avLst/>
          </a:prstGeom>
          <a:noFill/>
        </p:spPr>
        <p:txBody>
          <a:bodyPr wrap="square" lIns="0" rIns="0" tIns="0" bIns="0" anchor="t">
            <a:spAutoFit/>
          </a:bodyPr>
          <a:lstStyle/>
          <a:p>
            <a:pPr algn="l">
              <a:lnSpc>
                <a:spcPct val="105000"/>
              </a:lnSpc>
              <a:spcBef>
                <a:spcPts val="0"/>
              </a:spcBef>
            </a:pPr>
            <a:r>
              <a:rPr sz="1150" b="1">
                <a:solidFill>
                  <a:srgbClr val="0F2145"/>
                </a:solidFill>
                <a:latin typeface="Calibri"/>
              </a:rPr>
              <a:t>1 · TOKENS</a:t>
            </a:r>
          </a:p>
          <a:p>
            <a:pPr algn="l">
              <a:lnSpc>
                <a:spcPct val="105000"/>
              </a:lnSpc>
              <a:spcBef>
                <a:spcPts val="400"/>
              </a:spcBef>
            </a:pPr>
            <a:r>
              <a:rPr sz="1050" b="0">
                <a:solidFill>
                  <a:srgbClr val="1B2A41"/>
                </a:solidFill>
                <a:latin typeface="Calibri"/>
              </a:rPr>
              <a:t>It does not read words. It reads pieces of words called tokens, each turned into numbers. "Revenue" is one token; "₹1,48,320" becomes several.</a:t>
            </a:r>
          </a:p>
        </p:txBody>
      </p:sp>
      <p:sp>
        <p:nvSpPr>
          <p:cNvPr id="7" name="Rectangle 6"/>
          <p:cNvSpPr/>
          <p:nvPr/>
        </p:nvSpPr>
        <p:spPr>
          <a:xfrm>
            <a:off x="548640" y="2706624"/>
            <a:ext cx="5577840" cy="1024128"/>
          </a:xfrm>
          <a:prstGeom prst="rect">
            <a:avLst/>
          </a:prstGeom>
          <a:solidFill>
            <a:srgbClr val="D5E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2834640"/>
            <a:ext cx="5120640" cy="822960"/>
          </a:xfrm>
          <a:prstGeom prst="rect">
            <a:avLst/>
          </a:prstGeom>
          <a:noFill/>
        </p:spPr>
        <p:txBody>
          <a:bodyPr wrap="square" lIns="0" rIns="0" tIns="0" bIns="0" anchor="t">
            <a:spAutoFit/>
          </a:bodyPr>
          <a:lstStyle/>
          <a:p>
            <a:pPr algn="l">
              <a:lnSpc>
                <a:spcPct val="105000"/>
              </a:lnSpc>
              <a:spcBef>
                <a:spcPts val="0"/>
              </a:spcBef>
            </a:pPr>
            <a:r>
              <a:rPr sz="1150" b="1">
                <a:solidFill>
                  <a:srgbClr val="0F2145"/>
                </a:solidFill>
                <a:latin typeface="Calibri"/>
              </a:rPr>
              <a:t>2 · ATTENTION</a:t>
            </a:r>
          </a:p>
          <a:p>
            <a:pPr algn="l">
              <a:lnSpc>
                <a:spcPct val="105000"/>
              </a:lnSpc>
              <a:spcBef>
                <a:spcPts val="400"/>
              </a:spcBef>
            </a:pPr>
            <a:r>
              <a:rPr sz="1050" b="0">
                <a:solidFill>
                  <a:srgbClr val="1B2A41"/>
                </a:solidFill>
                <a:latin typeface="Calibri"/>
              </a:rPr>
              <a:t>For every token it weighs which earlier tokens matter. In "the fund cut its fee", attention is what links "its" to "the fund" and not to "fee".</a:t>
            </a:r>
          </a:p>
        </p:txBody>
      </p:sp>
      <p:sp>
        <p:nvSpPr>
          <p:cNvPr id="9" name="Rectangle 8"/>
          <p:cNvSpPr/>
          <p:nvPr/>
        </p:nvSpPr>
        <p:spPr>
          <a:xfrm>
            <a:off x="548640" y="3840480"/>
            <a:ext cx="5577840" cy="1024128"/>
          </a:xfrm>
          <a:prstGeom prst="rect">
            <a:avLst/>
          </a:prstGeom>
          <a:solidFill>
            <a:srgbClr val="BFD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3968496"/>
            <a:ext cx="5120640" cy="822960"/>
          </a:xfrm>
          <a:prstGeom prst="rect">
            <a:avLst/>
          </a:prstGeom>
          <a:noFill/>
        </p:spPr>
        <p:txBody>
          <a:bodyPr wrap="square" lIns="0" rIns="0" tIns="0" bIns="0" anchor="t">
            <a:spAutoFit/>
          </a:bodyPr>
          <a:lstStyle/>
          <a:p>
            <a:pPr algn="l">
              <a:lnSpc>
                <a:spcPct val="105000"/>
              </a:lnSpc>
              <a:spcBef>
                <a:spcPts val="0"/>
              </a:spcBef>
            </a:pPr>
            <a:r>
              <a:rPr sz="1150" b="1">
                <a:solidFill>
                  <a:srgbClr val="0F2145"/>
                </a:solidFill>
                <a:latin typeface="Calibri"/>
              </a:rPr>
              <a:t>3 · TRANSFORMER</a:t>
            </a:r>
          </a:p>
          <a:p>
            <a:pPr algn="l">
              <a:lnSpc>
                <a:spcPct val="105000"/>
              </a:lnSpc>
              <a:spcBef>
                <a:spcPts val="400"/>
              </a:spcBef>
            </a:pPr>
            <a:r>
              <a:rPr sz="1050" b="0">
                <a:solidFill>
                  <a:srgbClr val="1B2A41"/>
                </a:solidFill>
                <a:latin typeface="Calibri"/>
              </a:rPr>
              <a:t>The architecture that runs attention across the whole passage at once, layer after layer. That is why it can hold a 200-page filing in view.</a:t>
            </a:r>
          </a:p>
        </p:txBody>
      </p:sp>
      <p:sp>
        <p:nvSpPr>
          <p:cNvPr id="11" name="Rectangle 10"/>
          <p:cNvSpPr/>
          <p:nvPr/>
        </p:nvSpPr>
        <p:spPr>
          <a:xfrm>
            <a:off x="548640" y="5029200"/>
            <a:ext cx="1737360" cy="96012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3232" y="5175504"/>
            <a:ext cx="1463040" cy="731520"/>
          </a:xfrm>
          <a:prstGeom prst="rect">
            <a:avLst/>
          </a:prstGeom>
          <a:noFill/>
        </p:spPr>
        <p:txBody>
          <a:bodyPr wrap="square" lIns="0" rIns="0" tIns="0" bIns="0" anchor="t">
            <a:spAutoFit/>
          </a:bodyPr>
          <a:lstStyle/>
          <a:p>
            <a:pPr algn="l">
              <a:lnSpc>
                <a:spcPct val="105000"/>
              </a:lnSpc>
              <a:spcBef>
                <a:spcPts val="0"/>
              </a:spcBef>
            </a:pPr>
            <a:r>
              <a:rPr sz="1700" b="1">
                <a:solidFill>
                  <a:srgbClr val="C9A227"/>
                </a:solidFill>
                <a:latin typeface="Georgia"/>
              </a:rPr>
              <a:t>≈ 4</a:t>
            </a:r>
          </a:p>
          <a:p>
            <a:pPr algn="l">
              <a:lnSpc>
                <a:spcPct val="105000"/>
              </a:lnSpc>
              <a:spcBef>
                <a:spcPts val="400"/>
              </a:spcBef>
            </a:pPr>
            <a:r>
              <a:rPr sz="900" b="0">
                <a:solidFill>
                  <a:srgbClr val="C9D6EE"/>
                </a:solidFill>
                <a:latin typeface="Calibri"/>
              </a:rPr>
              <a:t>characters per token</a:t>
            </a:r>
          </a:p>
        </p:txBody>
      </p:sp>
      <p:sp>
        <p:nvSpPr>
          <p:cNvPr id="13" name="Rectangle 12"/>
          <p:cNvSpPr/>
          <p:nvPr/>
        </p:nvSpPr>
        <p:spPr>
          <a:xfrm>
            <a:off x="2432304" y="5029200"/>
            <a:ext cx="1737360" cy="96012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96896" y="5175504"/>
            <a:ext cx="1463040" cy="731520"/>
          </a:xfrm>
          <a:prstGeom prst="rect">
            <a:avLst/>
          </a:prstGeom>
          <a:noFill/>
        </p:spPr>
        <p:txBody>
          <a:bodyPr wrap="square" lIns="0" rIns="0" tIns="0" bIns="0" anchor="t">
            <a:spAutoFit/>
          </a:bodyPr>
          <a:lstStyle/>
          <a:p>
            <a:pPr algn="l">
              <a:lnSpc>
                <a:spcPct val="105000"/>
              </a:lnSpc>
              <a:spcBef>
                <a:spcPts val="0"/>
              </a:spcBef>
            </a:pPr>
            <a:r>
              <a:rPr sz="1700" b="1">
                <a:solidFill>
                  <a:srgbClr val="C9A227"/>
                </a:solidFill>
                <a:latin typeface="Georgia"/>
              </a:rPr>
              <a:t>≈ 1,300</a:t>
            </a:r>
          </a:p>
          <a:p>
            <a:pPr algn="l">
              <a:lnSpc>
                <a:spcPct val="105000"/>
              </a:lnSpc>
              <a:spcBef>
                <a:spcPts val="400"/>
              </a:spcBef>
            </a:pPr>
            <a:r>
              <a:rPr sz="900" b="0">
                <a:solidFill>
                  <a:srgbClr val="C9D6EE"/>
                </a:solidFill>
                <a:latin typeface="Calibri"/>
              </a:rPr>
              <a:t>tokens per 1,000 words</a:t>
            </a:r>
          </a:p>
        </p:txBody>
      </p:sp>
      <p:sp>
        <p:nvSpPr>
          <p:cNvPr id="15" name="Rectangle 14"/>
          <p:cNvSpPr/>
          <p:nvPr/>
        </p:nvSpPr>
        <p:spPr>
          <a:xfrm>
            <a:off x="4315968" y="5029200"/>
            <a:ext cx="1737360" cy="96012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80559" y="5175504"/>
            <a:ext cx="1463040" cy="731520"/>
          </a:xfrm>
          <a:prstGeom prst="rect">
            <a:avLst/>
          </a:prstGeom>
          <a:noFill/>
        </p:spPr>
        <p:txBody>
          <a:bodyPr wrap="square" lIns="0" rIns="0" tIns="0" bIns="0" anchor="t">
            <a:spAutoFit/>
          </a:bodyPr>
          <a:lstStyle/>
          <a:p>
            <a:pPr algn="l">
              <a:lnSpc>
                <a:spcPct val="105000"/>
              </a:lnSpc>
              <a:spcBef>
                <a:spcPts val="0"/>
              </a:spcBef>
            </a:pPr>
            <a:r>
              <a:rPr sz="1700" b="1">
                <a:solidFill>
                  <a:srgbClr val="C9A227"/>
                </a:solidFill>
                <a:latin typeface="Georgia"/>
              </a:rPr>
              <a:t>≈ 1 lakh</a:t>
            </a:r>
          </a:p>
          <a:p>
            <a:pPr algn="l">
              <a:lnSpc>
                <a:spcPct val="105000"/>
              </a:lnSpc>
              <a:spcBef>
                <a:spcPts val="400"/>
              </a:spcBef>
            </a:pPr>
            <a:r>
              <a:rPr sz="900" b="0">
                <a:solidFill>
                  <a:srgbClr val="C9D6EE"/>
                </a:solidFill>
                <a:latin typeface="Calibri"/>
              </a:rPr>
              <a:t>tokens in a 200-page report</a:t>
            </a:r>
          </a:p>
        </p:txBody>
      </p:sp>
      <p:sp>
        <p:nvSpPr>
          <p:cNvPr id="17" name="Rectangle 16"/>
          <p:cNvSpPr/>
          <p:nvPr/>
        </p:nvSpPr>
        <p:spPr>
          <a:xfrm>
            <a:off x="6492240" y="1572768"/>
            <a:ext cx="5148072" cy="44165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92240" y="1572768"/>
            <a:ext cx="64008" cy="44165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766560" y="1755648"/>
            <a:ext cx="4663440" cy="365760"/>
          </a:xfrm>
          <a:prstGeom prst="rect">
            <a:avLst/>
          </a:prstGeom>
          <a:noFill/>
        </p:spPr>
        <p:txBody>
          <a:bodyPr wrap="square" lIns="0" rIns="0" tIns="0" bIns="0" anchor="t">
            <a:spAutoFit/>
          </a:bodyPr>
          <a:lstStyle/>
          <a:p>
            <a:pPr algn="l">
              <a:lnSpc>
                <a:spcPct val="105000"/>
              </a:lnSpc>
              <a:spcBef>
                <a:spcPts val="0"/>
              </a:spcBef>
            </a:pPr>
            <a:r>
              <a:rPr sz="1500" b="1">
                <a:solidFill>
                  <a:srgbClr val="0F2145"/>
                </a:solidFill>
                <a:latin typeface="Georgia"/>
              </a:rPr>
              <a:t>What this means at your desk</a:t>
            </a:r>
          </a:p>
        </p:txBody>
      </p:sp>
      <p:sp>
        <p:nvSpPr>
          <p:cNvPr id="20" name="TextBox 19"/>
          <p:cNvSpPr txBox="1"/>
          <p:nvPr/>
        </p:nvSpPr>
        <p:spPr>
          <a:xfrm>
            <a:off x="6766560" y="2286000"/>
            <a:ext cx="4617720" cy="868680"/>
          </a:xfrm>
          <a:prstGeom prst="rect">
            <a:avLst/>
          </a:prstGeom>
          <a:noFill/>
        </p:spPr>
        <p:txBody>
          <a:bodyPr wrap="square" lIns="0" rIns="0" tIns="0" bIns="0" anchor="t">
            <a:spAutoFit/>
          </a:bodyPr>
          <a:lstStyle/>
          <a:p>
            <a:pPr algn="l">
              <a:lnSpc>
                <a:spcPct val="105000"/>
              </a:lnSpc>
              <a:spcBef>
                <a:spcPts val="0"/>
              </a:spcBef>
            </a:pPr>
            <a:r>
              <a:rPr sz="1150" b="1">
                <a:solidFill>
                  <a:srgbClr val="0F2145"/>
                </a:solidFill>
                <a:latin typeface="Calibri"/>
              </a:rPr>
              <a:t>▪  It predicts. It does not look up.</a:t>
            </a:r>
          </a:p>
          <a:p>
            <a:pPr algn="l">
              <a:lnSpc>
                <a:spcPct val="105000"/>
              </a:lnSpc>
              <a:spcBef>
                <a:spcPts val="400"/>
              </a:spcBef>
            </a:pPr>
            <a:r>
              <a:rPr sz="1050" b="0">
                <a:solidFill>
                  <a:srgbClr val="5D6B7E"/>
                </a:solidFill>
                <a:latin typeface="Calibri"/>
              </a:rPr>
              <a:t>There is no database inside the model. It generates the next token that fits the pattern, which is how it can be fluent and wrong at the same time.</a:t>
            </a:r>
          </a:p>
        </p:txBody>
      </p:sp>
      <p:sp>
        <p:nvSpPr>
          <p:cNvPr id="21" name="TextBox 20"/>
          <p:cNvSpPr txBox="1"/>
          <p:nvPr/>
        </p:nvSpPr>
        <p:spPr>
          <a:xfrm>
            <a:off x="6766560" y="3218688"/>
            <a:ext cx="4617720" cy="868680"/>
          </a:xfrm>
          <a:prstGeom prst="rect">
            <a:avLst/>
          </a:prstGeom>
          <a:noFill/>
        </p:spPr>
        <p:txBody>
          <a:bodyPr wrap="square" lIns="0" rIns="0" tIns="0" bIns="0" anchor="t">
            <a:spAutoFit/>
          </a:bodyPr>
          <a:lstStyle/>
          <a:p>
            <a:pPr algn="l">
              <a:lnSpc>
                <a:spcPct val="105000"/>
              </a:lnSpc>
              <a:spcBef>
                <a:spcPts val="0"/>
              </a:spcBef>
            </a:pPr>
            <a:r>
              <a:rPr sz="1150" b="1">
                <a:solidFill>
                  <a:srgbClr val="0F2145"/>
                </a:solidFill>
                <a:latin typeface="Calibri"/>
              </a:rPr>
              <a:t>▪  Wording changes the answer.</a:t>
            </a:r>
          </a:p>
          <a:p>
            <a:pPr algn="l">
              <a:lnSpc>
                <a:spcPct val="105000"/>
              </a:lnSpc>
              <a:spcBef>
                <a:spcPts val="400"/>
              </a:spcBef>
            </a:pPr>
            <a:r>
              <a:rPr sz="1050" b="0">
                <a:solidFill>
                  <a:srgbClr val="5D6B7E"/>
                </a:solidFill>
                <a:latin typeface="Calibri"/>
              </a:rPr>
              <a:t>The same question asked two ways gets two answers. That is why prompt design is a skill, not a formality.</a:t>
            </a:r>
          </a:p>
        </p:txBody>
      </p:sp>
      <p:sp>
        <p:nvSpPr>
          <p:cNvPr id="22" name="TextBox 21"/>
          <p:cNvSpPr txBox="1"/>
          <p:nvPr/>
        </p:nvSpPr>
        <p:spPr>
          <a:xfrm>
            <a:off x="6766560" y="4151376"/>
            <a:ext cx="4617720" cy="868680"/>
          </a:xfrm>
          <a:prstGeom prst="rect">
            <a:avLst/>
          </a:prstGeom>
          <a:noFill/>
        </p:spPr>
        <p:txBody>
          <a:bodyPr wrap="square" lIns="0" rIns="0" tIns="0" bIns="0" anchor="t">
            <a:spAutoFit/>
          </a:bodyPr>
          <a:lstStyle/>
          <a:p>
            <a:pPr algn="l">
              <a:lnSpc>
                <a:spcPct val="105000"/>
              </a:lnSpc>
              <a:spcBef>
                <a:spcPts val="0"/>
              </a:spcBef>
            </a:pPr>
            <a:r>
              <a:rPr sz="1150" b="1">
                <a:solidFill>
                  <a:srgbClr val="0F2145"/>
                </a:solidFill>
                <a:latin typeface="Calibri"/>
              </a:rPr>
              <a:t>▪  Long documents cost real money.</a:t>
            </a:r>
          </a:p>
          <a:p>
            <a:pPr algn="l">
              <a:lnSpc>
                <a:spcPct val="105000"/>
              </a:lnSpc>
              <a:spcBef>
                <a:spcPts val="400"/>
              </a:spcBef>
            </a:pPr>
            <a:r>
              <a:rPr sz="1050" b="0">
                <a:solidFill>
                  <a:srgbClr val="5D6B7E"/>
                </a:solidFill>
                <a:latin typeface="Calibri"/>
              </a:rPr>
              <a:t>Every token in and out is billed. A 200-page annual report is about a lakh tokens before the model writes a word of reply.</a:t>
            </a:r>
          </a:p>
        </p:txBody>
      </p:sp>
      <p:sp>
        <p:nvSpPr>
          <p:cNvPr id="23" name="TextBox 22"/>
          <p:cNvSpPr txBox="1"/>
          <p:nvPr/>
        </p:nvSpPr>
        <p:spPr>
          <a:xfrm>
            <a:off x="6766560" y="5084064"/>
            <a:ext cx="4617720" cy="868680"/>
          </a:xfrm>
          <a:prstGeom prst="rect">
            <a:avLst/>
          </a:prstGeom>
          <a:noFill/>
        </p:spPr>
        <p:txBody>
          <a:bodyPr wrap="square" lIns="0" rIns="0" tIns="0" bIns="0" anchor="t">
            <a:spAutoFit/>
          </a:bodyPr>
          <a:lstStyle/>
          <a:p>
            <a:pPr algn="l">
              <a:lnSpc>
                <a:spcPct val="105000"/>
              </a:lnSpc>
              <a:spcBef>
                <a:spcPts val="0"/>
              </a:spcBef>
            </a:pPr>
            <a:r>
              <a:rPr sz="1150" b="1">
                <a:solidFill>
                  <a:srgbClr val="0F2145"/>
                </a:solidFill>
                <a:latin typeface="Calibri"/>
              </a:rPr>
              <a:t>▪  Numbers are the weak spot.</a:t>
            </a:r>
          </a:p>
          <a:p>
            <a:pPr algn="l">
              <a:lnSpc>
                <a:spcPct val="105000"/>
              </a:lnSpc>
              <a:spcBef>
                <a:spcPts val="400"/>
              </a:spcBef>
            </a:pPr>
            <a:r>
              <a:rPr sz="1050" b="0">
                <a:solidFill>
                  <a:srgbClr val="5D6B7E"/>
                </a:solidFill>
                <a:latin typeface="Calibri"/>
              </a:rPr>
              <a:t>Digits split into odd pieces, so ₹1,48,320 crore can come back with a digit missing. Always make it return fields you can check.</a:t>
            </a:r>
          </a:p>
        </p:txBody>
      </p:sp>
      <p:sp>
        <p:nvSpPr>
          <p:cNvPr id="24" name="TextBox 23"/>
          <p:cNvSpPr txBox="1"/>
          <p:nvPr/>
        </p:nvSpPr>
        <p:spPr>
          <a:xfrm>
            <a:off x="548640" y="6473952"/>
            <a:ext cx="7315200" cy="274320"/>
          </a:xfrm>
          <a:prstGeom prst="rect">
            <a:avLst/>
          </a:prstGeom>
          <a:noFill/>
        </p:spPr>
        <p:txBody>
          <a:bodyPr wrap="square" lIns="0" rIns="0" tIns="0" bIns="0" anchor="t">
            <a:spAutoFit/>
          </a:bodyPr>
          <a:lstStyle/>
          <a:p>
            <a:pPr algn="l">
              <a:lnSpc>
                <a:spcPct val="105000"/>
              </a:lnSpc>
              <a:spcBef>
                <a:spcPts val="0"/>
              </a:spcBef>
            </a:pPr>
            <a:r>
              <a:rPr sz="850" b="0">
                <a:solidFill>
                  <a:srgbClr val="5D6B7E"/>
                </a:solidFill>
                <a:latin typeface="Calibri"/>
              </a:rPr>
              <a:t>ISBMS · PGDM 2025–27 · AGENTIC AI &amp; ADVANCED ANALYTICS IN FINANCE</a:t>
            </a:r>
          </a:p>
        </p:txBody>
      </p:sp>
      <p:sp>
        <p:nvSpPr>
          <p:cNvPr id="25" name="TextBox 24"/>
          <p:cNvSpPr txBox="1"/>
          <p:nvPr/>
        </p:nvSpPr>
        <p:spPr>
          <a:xfrm>
            <a:off x="9262872" y="6473952"/>
            <a:ext cx="2377440" cy="274320"/>
          </a:xfrm>
          <a:prstGeom prst="rect">
            <a:avLst/>
          </a:prstGeom>
          <a:noFill/>
        </p:spPr>
        <p:txBody>
          <a:bodyPr wrap="square" lIns="0" rIns="0" tIns="0" bIns="0" anchor="t">
            <a:spAutoFit/>
          </a:bodyPr>
          <a:lstStyle/>
          <a:p>
            <a:pPr algn="r">
              <a:lnSpc>
                <a:spcPct val="105000"/>
              </a:lnSpc>
              <a:spcBef>
                <a:spcPts val="0"/>
              </a:spcBef>
            </a:pPr>
            <a:r>
              <a:rPr sz="850" b="0">
                <a:solidFill>
                  <a:srgbClr val="5D6B7E"/>
                </a:solidFill>
                <a:latin typeface="Calibri"/>
              </a:rPr>
              <a:t>MODULE 1  ·  06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310896"/>
            <a:ext cx="10817352" cy="292608"/>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HOUR 2 · ARCHITECTURE</a:t>
            </a:r>
          </a:p>
        </p:txBody>
      </p:sp>
      <p:sp>
        <p:nvSpPr>
          <p:cNvPr id="4" name="TextBox 3"/>
          <p:cNvSpPr txBox="1"/>
          <p:nvPr/>
        </p:nvSpPr>
        <p:spPr>
          <a:xfrm>
            <a:off x="548640" y="621792"/>
            <a:ext cx="11091672" cy="685800"/>
          </a:xfrm>
          <a:prstGeom prst="rect">
            <a:avLst/>
          </a:prstGeom>
          <a:noFill/>
        </p:spPr>
        <p:txBody>
          <a:bodyPr wrap="square" lIns="0" rIns="0" tIns="0" bIns="0" anchor="t">
            <a:spAutoFit/>
          </a:bodyPr>
          <a:lstStyle/>
          <a:p>
            <a:pPr algn="l">
              <a:lnSpc>
                <a:spcPct val="105000"/>
              </a:lnSpc>
              <a:spcBef>
                <a:spcPts val="0"/>
              </a:spcBef>
            </a:pPr>
            <a:r>
              <a:rPr sz="2900" b="1">
                <a:solidFill>
                  <a:srgbClr val="0F2145"/>
                </a:solidFill>
                <a:latin typeface="Georgia"/>
              </a:rPr>
              <a:t>The agent loop — Observe, Plan, Act, Reflect</a:t>
            </a:r>
          </a:p>
        </p:txBody>
      </p:sp>
      <p:sp>
        <p:nvSpPr>
          <p:cNvPr id="5" name="Rectangle 4"/>
          <p:cNvSpPr/>
          <p:nvPr/>
        </p:nvSpPr>
        <p:spPr>
          <a:xfrm>
            <a:off x="548640" y="1572768"/>
            <a:ext cx="2670048" cy="2560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72768"/>
            <a:ext cx="2670048" cy="54864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8096" y="1572768"/>
            <a:ext cx="2286000" cy="548640"/>
          </a:xfrm>
          <a:prstGeom prst="rect">
            <a:avLst/>
          </a:prstGeom>
          <a:noFill/>
        </p:spPr>
        <p:txBody>
          <a:bodyPr wrap="square" lIns="0" rIns="0" tIns="0" bIns="0" anchor="ctr">
            <a:spAutoFit/>
          </a:bodyPr>
          <a:lstStyle/>
          <a:p>
            <a:pPr algn="l">
              <a:lnSpc>
                <a:spcPct val="105000"/>
              </a:lnSpc>
              <a:spcBef>
                <a:spcPts val="0"/>
              </a:spcBef>
            </a:pPr>
            <a:r>
              <a:rPr sz="1200" b="1">
                <a:solidFill>
                  <a:srgbClr val="C9A227"/>
                </a:solidFill>
                <a:latin typeface="Calibri"/>
              </a:rPr>
              <a:t>1 · OBSERVE</a:t>
            </a:r>
          </a:p>
        </p:txBody>
      </p:sp>
      <p:sp>
        <p:nvSpPr>
          <p:cNvPr id="8" name="TextBox 7"/>
          <p:cNvSpPr txBox="1"/>
          <p:nvPr/>
        </p:nvSpPr>
        <p:spPr>
          <a:xfrm>
            <a:off x="768096" y="2267712"/>
            <a:ext cx="2286000" cy="502920"/>
          </a:xfrm>
          <a:prstGeom prst="rect">
            <a:avLst/>
          </a:prstGeom>
          <a:noFill/>
        </p:spPr>
        <p:txBody>
          <a:bodyPr wrap="square" lIns="0" rIns="0" tIns="0" bIns="0" anchor="t">
            <a:spAutoFit/>
          </a:bodyPr>
          <a:lstStyle/>
          <a:p>
            <a:pPr algn="l">
              <a:lnSpc>
                <a:spcPct val="105000"/>
              </a:lnSpc>
              <a:spcBef>
                <a:spcPts val="0"/>
              </a:spcBef>
            </a:pPr>
            <a:r>
              <a:rPr sz="1050" b="1">
                <a:solidFill>
                  <a:srgbClr val="0F2145"/>
                </a:solidFill>
                <a:latin typeface="Calibri"/>
              </a:rPr>
              <a:t>It reads the state of the world.</a:t>
            </a:r>
          </a:p>
        </p:txBody>
      </p:sp>
      <p:sp>
        <p:nvSpPr>
          <p:cNvPr id="9" name="TextBox 8"/>
          <p:cNvSpPr txBox="1"/>
          <p:nvPr/>
        </p:nvSpPr>
        <p:spPr>
          <a:xfrm>
            <a:off x="768096" y="2834640"/>
            <a:ext cx="2286000" cy="1188720"/>
          </a:xfrm>
          <a:prstGeom prst="rect">
            <a:avLst/>
          </a:prstGeom>
          <a:noFill/>
        </p:spPr>
        <p:txBody>
          <a:bodyPr wrap="square" lIns="0" rIns="0" tIns="0" bIns="0" anchor="t">
            <a:spAutoFit/>
          </a:bodyPr>
          <a:lstStyle/>
          <a:p>
            <a:pPr algn="l">
              <a:lnSpc>
                <a:spcPct val="105000"/>
              </a:lnSpc>
              <a:spcBef>
                <a:spcPts val="0"/>
              </a:spcBef>
            </a:pPr>
            <a:r>
              <a:rPr sz="850" b="1">
                <a:solidFill>
                  <a:srgbClr val="3A5C9E"/>
                </a:solidFill>
                <a:latin typeface="Calibri"/>
              </a:rPr>
              <a:t>EXAMPLE · NAV BREAK</a:t>
            </a:r>
          </a:p>
          <a:p>
            <a:pPr algn="l">
              <a:lnSpc>
                <a:spcPct val="105000"/>
              </a:lnSpc>
              <a:spcBef>
                <a:spcPts val="400"/>
              </a:spcBef>
            </a:pPr>
            <a:r>
              <a:rPr sz="1000" b="0">
                <a:solidFill>
                  <a:srgbClr val="5D6B7E"/>
                </a:solidFill>
                <a:latin typeface="Calibri"/>
              </a:rPr>
              <a:t>Opens today's NAV file. Fund NAV ₹104.82, custodian says ₹104.40 — a 0.4% break.</a:t>
            </a:r>
          </a:p>
        </p:txBody>
      </p:sp>
      <p:sp>
        <p:nvSpPr>
          <p:cNvPr id="10" name="TextBox 9"/>
          <p:cNvSpPr txBox="1"/>
          <p:nvPr/>
        </p:nvSpPr>
        <p:spPr>
          <a:xfrm>
            <a:off x="3236976" y="2651760"/>
            <a:ext cx="182880" cy="365760"/>
          </a:xfrm>
          <a:prstGeom prst="rect">
            <a:avLst/>
          </a:prstGeom>
          <a:noFill/>
        </p:spPr>
        <p:txBody>
          <a:bodyPr wrap="square" lIns="0" rIns="0" tIns="0" bIns="0" anchor="t">
            <a:spAutoFit/>
          </a:bodyPr>
          <a:lstStyle/>
          <a:p>
            <a:pPr algn="l">
              <a:lnSpc>
                <a:spcPct val="105000"/>
              </a:lnSpc>
              <a:spcBef>
                <a:spcPts val="0"/>
              </a:spcBef>
            </a:pPr>
            <a:r>
              <a:rPr sz="2200" b="1">
                <a:solidFill>
                  <a:srgbClr val="C9A227"/>
                </a:solidFill>
                <a:latin typeface="Georgia"/>
              </a:rPr>
              <a:t>›</a:t>
            </a:r>
          </a:p>
        </p:txBody>
      </p:sp>
      <p:sp>
        <p:nvSpPr>
          <p:cNvPr id="11" name="Rectangle 10"/>
          <p:cNvSpPr/>
          <p:nvPr/>
        </p:nvSpPr>
        <p:spPr>
          <a:xfrm>
            <a:off x="3374136" y="1572768"/>
            <a:ext cx="2670048" cy="2560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374136" y="1572768"/>
            <a:ext cx="2670048" cy="54864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93591" y="1572768"/>
            <a:ext cx="2286000" cy="548640"/>
          </a:xfrm>
          <a:prstGeom prst="rect">
            <a:avLst/>
          </a:prstGeom>
          <a:noFill/>
        </p:spPr>
        <p:txBody>
          <a:bodyPr wrap="square" lIns="0" rIns="0" tIns="0" bIns="0" anchor="ctr">
            <a:spAutoFit/>
          </a:bodyPr>
          <a:lstStyle/>
          <a:p>
            <a:pPr algn="l">
              <a:lnSpc>
                <a:spcPct val="105000"/>
              </a:lnSpc>
              <a:spcBef>
                <a:spcPts val="0"/>
              </a:spcBef>
            </a:pPr>
            <a:r>
              <a:rPr sz="1200" b="1">
                <a:solidFill>
                  <a:srgbClr val="C9A227"/>
                </a:solidFill>
                <a:latin typeface="Calibri"/>
              </a:rPr>
              <a:t>2 · PLAN</a:t>
            </a:r>
          </a:p>
        </p:txBody>
      </p:sp>
      <p:sp>
        <p:nvSpPr>
          <p:cNvPr id="14" name="TextBox 13"/>
          <p:cNvSpPr txBox="1"/>
          <p:nvPr/>
        </p:nvSpPr>
        <p:spPr>
          <a:xfrm>
            <a:off x="3593591" y="2267712"/>
            <a:ext cx="2286000" cy="502920"/>
          </a:xfrm>
          <a:prstGeom prst="rect">
            <a:avLst/>
          </a:prstGeom>
          <a:noFill/>
        </p:spPr>
        <p:txBody>
          <a:bodyPr wrap="square" lIns="0" rIns="0" tIns="0" bIns="0" anchor="t">
            <a:spAutoFit/>
          </a:bodyPr>
          <a:lstStyle/>
          <a:p>
            <a:pPr algn="l">
              <a:lnSpc>
                <a:spcPct val="105000"/>
              </a:lnSpc>
              <a:spcBef>
                <a:spcPts val="0"/>
              </a:spcBef>
            </a:pPr>
            <a:r>
              <a:rPr sz="1050" b="1">
                <a:solidFill>
                  <a:srgbClr val="0F2145"/>
                </a:solidFill>
                <a:latin typeface="Calibri"/>
              </a:rPr>
              <a:t>It writes its own to-do list first.</a:t>
            </a:r>
          </a:p>
        </p:txBody>
      </p:sp>
      <p:sp>
        <p:nvSpPr>
          <p:cNvPr id="15" name="TextBox 14"/>
          <p:cNvSpPr txBox="1"/>
          <p:nvPr/>
        </p:nvSpPr>
        <p:spPr>
          <a:xfrm>
            <a:off x="3593591" y="2834640"/>
            <a:ext cx="2286000" cy="1188720"/>
          </a:xfrm>
          <a:prstGeom prst="rect">
            <a:avLst/>
          </a:prstGeom>
          <a:noFill/>
        </p:spPr>
        <p:txBody>
          <a:bodyPr wrap="square" lIns="0" rIns="0" tIns="0" bIns="0" anchor="t">
            <a:spAutoFit/>
          </a:bodyPr>
          <a:lstStyle/>
          <a:p>
            <a:pPr algn="l">
              <a:lnSpc>
                <a:spcPct val="105000"/>
              </a:lnSpc>
              <a:spcBef>
                <a:spcPts val="0"/>
              </a:spcBef>
            </a:pPr>
            <a:r>
              <a:rPr sz="850" b="1">
                <a:solidFill>
                  <a:srgbClr val="3A5C9E"/>
                </a:solidFill>
                <a:latin typeface="Calibri"/>
              </a:rPr>
              <a:t>EXAMPLE · NAV BREAK</a:t>
            </a:r>
          </a:p>
          <a:p>
            <a:pPr algn="l">
              <a:lnSpc>
                <a:spcPct val="105000"/>
              </a:lnSpc>
              <a:spcBef>
                <a:spcPts val="400"/>
              </a:spcBef>
            </a:pPr>
            <a:r>
              <a:rPr sz="1000" b="0">
                <a:solidFill>
                  <a:srgbClr val="5D6B7E"/>
                </a:solidFill>
                <a:latin typeface="Calibri"/>
              </a:rPr>
              <a:t>1. Pull today's trades. 2. Check corporate actions. 3. Check the FX rate. 4. Compare line by line.</a:t>
            </a:r>
          </a:p>
        </p:txBody>
      </p:sp>
      <p:sp>
        <p:nvSpPr>
          <p:cNvPr id="16" name="TextBox 15"/>
          <p:cNvSpPr txBox="1"/>
          <p:nvPr/>
        </p:nvSpPr>
        <p:spPr>
          <a:xfrm>
            <a:off x="6062472" y="2651760"/>
            <a:ext cx="182880" cy="365760"/>
          </a:xfrm>
          <a:prstGeom prst="rect">
            <a:avLst/>
          </a:prstGeom>
          <a:noFill/>
        </p:spPr>
        <p:txBody>
          <a:bodyPr wrap="square" lIns="0" rIns="0" tIns="0" bIns="0" anchor="t">
            <a:spAutoFit/>
          </a:bodyPr>
          <a:lstStyle/>
          <a:p>
            <a:pPr algn="l">
              <a:lnSpc>
                <a:spcPct val="105000"/>
              </a:lnSpc>
              <a:spcBef>
                <a:spcPts val="0"/>
              </a:spcBef>
            </a:pPr>
            <a:r>
              <a:rPr sz="2200" b="1">
                <a:solidFill>
                  <a:srgbClr val="C9A227"/>
                </a:solidFill>
                <a:latin typeface="Georgia"/>
              </a:rPr>
              <a:t>›</a:t>
            </a:r>
          </a:p>
        </p:txBody>
      </p:sp>
      <p:sp>
        <p:nvSpPr>
          <p:cNvPr id="17" name="Rectangle 16"/>
          <p:cNvSpPr/>
          <p:nvPr/>
        </p:nvSpPr>
        <p:spPr>
          <a:xfrm>
            <a:off x="6199631" y="1572768"/>
            <a:ext cx="2670048" cy="2560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99631" y="1572768"/>
            <a:ext cx="2670048" cy="54864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19088" y="1572768"/>
            <a:ext cx="2286000" cy="548640"/>
          </a:xfrm>
          <a:prstGeom prst="rect">
            <a:avLst/>
          </a:prstGeom>
          <a:noFill/>
        </p:spPr>
        <p:txBody>
          <a:bodyPr wrap="square" lIns="0" rIns="0" tIns="0" bIns="0" anchor="ctr">
            <a:spAutoFit/>
          </a:bodyPr>
          <a:lstStyle/>
          <a:p>
            <a:pPr algn="l">
              <a:lnSpc>
                <a:spcPct val="105000"/>
              </a:lnSpc>
              <a:spcBef>
                <a:spcPts val="0"/>
              </a:spcBef>
            </a:pPr>
            <a:r>
              <a:rPr sz="1200" b="1">
                <a:solidFill>
                  <a:srgbClr val="C9A227"/>
                </a:solidFill>
                <a:latin typeface="Calibri"/>
              </a:rPr>
              <a:t>3 · ACT</a:t>
            </a:r>
          </a:p>
        </p:txBody>
      </p:sp>
      <p:sp>
        <p:nvSpPr>
          <p:cNvPr id="20" name="TextBox 19"/>
          <p:cNvSpPr txBox="1"/>
          <p:nvPr/>
        </p:nvSpPr>
        <p:spPr>
          <a:xfrm>
            <a:off x="6419088" y="2267712"/>
            <a:ext cx="2286000" cy="502920"/>
          </a:xfrm>
          <a:prstGeom prst="rect">
            <a:avLst/>
          </a:prstGeom>
          <a:noFill/>
        </p:spPr>
        <p:txBody>
          <a:bodyPr wrap="square" lIns="0" rIns="0" tIns="0" bIns="0" anchor="t">
            <a:spAutoFit/>
          </a:bodyPr>
          <a:lstStyle/>
          <a:p>
            <a:pPr algn="l">
              <a:lnSpc>
                <a:spcPct val="105000"/>
              </a:lnSpc>
              <a:spcBef>
                <a:spcPts val="0"/>
              </a:spcBef>
            </a:pPr>
            <a:r>
              <a:rPr sz="1050" b="1">
                <a:solidFill>
                  <a:srgbClr val="0F2145"/>
                </a:solidFill>
                <a:latin typeface="Calibri"/>
              </a:rPr>
              <a:t>It calls a tool — only the ones you gave it.</a:t>
            </a:r>
          </a:p>
        </p:txBody>
      </p:sp>
      <p:sp>
        <p:nvSpPr>
          <p:cNvPr id="21" name="TextBox 20"/>
          <p:cNvSpPr txBox="1"/>
          <p:nvPr/>
        </p:nvSpPr>
        <p:spPr>
          <a:xfrm>
            <a:off x="6419088" y="2834640"/>
            <a:ext cx="2286000" cy="1188720"/>
          </a:xfrm>
          <a:prstGeom prst="rect">
            <a:avLst/>
          </a:prstGeom>
          <a:noFill/>
        </p:spPr>
        <p:txBody>
          <a:bodyPr wrap="square" lIns="0" rIns="0" tIns="0" bIns="0" anchor="t">
            <a:spAutoFit/>
          </a:bodyPr>
          <a:lstStyle/>
          <a:p>
            <a:pPr algn="l">
              <a:lnSpc>
                <a:spcPct val="105000"/>
              </a:lnSpc>
              <a:spcBef>
                <a:spcPts val="0"/>
              </a:spcBef>
            </a:pPr>
            <a:r>
              <a:rPr sz="850" b="1">
                <a:solidFill>
                  <a:srgbClr val="3A5C9E"/>
                </a:solidFill>
                <a:latin typeface="Calibri"/>
              </a:rPr>
              <a:t>EXAMPLE · NAV BREAK</a:t>
            </a:r>
          </a:p>
          <a:p>
            <a:pPr algn="l">
              <a:lnSpc>
                <a:spcPct val="105000"/>
              </a:lnSpc>
              <a:spcBef>
                <a:spcPts val="400"/>
              </a:spcBef>
            </a:pPr>
            <a:r>
              <a:rPr sz="1000" b="0">
                <a:solidFill>
                  <a:srgbClr val="5D6B7E"/>
                </a:solidFill>
                <a:latin typeface="Calibri"/>
              </a:rPr>
              <a:t>Runs the SQL query, calls the price API, finds an unprocessed 1:1 bonus on one holding.</a:t>
            </a:r>
          </a:p>
        </p:txBody>
      </p:sp>
      <p:sp>
        <p:nvSpPr>
          <p:cNvPr id="22" name="TextBox 21"/>
          <p:cNvSpPr txBox="1"/>
          <p:nvPr/>
        </p:nvSpPr>
        <p:spPr>
          <a:xfrm>
            <a:off x="8887967" y="2651760"/>
            <a:ext cx="182880" cy="365760"/>
          </a:xfrm>
          <a:prstGeom prst="rect">
            <a:avLst/>
          </a:prstGeom>
          <a:noFill/>
        </p:spPr>
        <p:txBody>
          <a:bodyPr wrap="square" lIns="0" rIns="0" tIns="0" bIns="0" anchor="t">
            <a:spAutoFit/>
          </a:bodyPr>
          <a:lstStyle/>
          <a:p>
            <a:pPr algn="l">
              <a:lnSpc>
                <a:spcPct val="105000"/>
              </a:lnSpc>
              <a:spcBef>
                <a:spcPts val="0"/>
              </a:spcBef>
            </a:pPr>
            <a:r>
              <a:rPr sz="2200" b="1">
                <a:solidFill>
                  <a:srgbClr val="C9A227"/>
                </a:solidFill>
                <a:latin typeface="Georgia"/>
              </a:rPr>
              <a:t>›</a:t>
            </a:r>
          </a:p>
        </p:txBody>
      </p:sp>
      <p:sp>
        <p:nvSpPr>
          <p:cNvPr id="23" name="Rectangle 22"/>
          <p:cNvSpPr/>
          <p:nvPr/>
        </p:nvSpPr>
        <p:spPr>
          <a:xfrm>
            <a:off x="9025128" y="1572768"/>
            <a:ext cx="2670048" cy="2560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025128" y="1572768"/>
            <a:ext cx="2670048" cy="54864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244584" y="1572768"/>
            <a:ext cx="2286000" cy="548640"/>
          </a:xfrm>
          <a:prstGeom prst="rect">
            <a:avLst/>
          </a:prstGeom>
          <a:noFill/>
        </p:spPr>
        <p:txBody>
          <a:bodyPr wrap="square" lIns="0" rIns="0" tIns="0" bIns="0" anchor="ctr">
            <a:spAutoFit/>
          </a:bodyPr>
          <a:lstStyle/>
          <a:p>
            <a:pPr algn="l">
              <a:lnSpc>
                <a:spcPct val="105000"/>
              </a:lnSpc>
              <a:spcBef>
                <a:spcPts val="0"/>
              </a:spcBef>
            </a:pPr>
            <a:r>
              <a:rPr sz="1200" b="1">
                <a:solidFill>
                  <a:srgbClr val="C9A227"/>
                </a:solidFill>
                <a:latin typeface="Calibri"/>
              </a:rPr>
              <a:t>4 · REFLECT</a:t>
            </a:r>
          </a:p>
        </p:txBody>
      </p:sp>
      <p:sp>
        <p:nvSpPr>
          <p:cNvPr id="26" name="TextBox 25"/>
          <p:cNvSpPr txBox="1"/>
          <p:nvPr/>
        </p:nvSpPr>
        <p:spPr>
          <a:xfrm>
            <a:off x="9244584" y="2267712"/>
            <a:ext cx="2286000" cy="502920"/>
          </a:xfrm>
          <a:prstGeom prst="rect">
            <a:avLst/>
          </a:prstGeom>
          <a:noFill/>
        </p:spPr>
        <p:txBody>
          <a:bodyPr wrap="square" lIns="0" rIns="0" tIns="0" bIns="0" anchor="t">
            <a:spAutoFit/>
          </a:bodyPr>
          <a:lstStyle/>
          <a:p>
            <a:pPr algn="l">
              <a:lnSpc>
                <a:spcPct val="105000"/>
              </a:lnSpc>
              <a:spcBef>
                <a:spcPts val="0"/>
              </a:spcBef>
            </a:pPr>
            <a:r>
              <a:rPr sz="1050" b="1">
                <a:solidFill>
                  <a:srgbClr val="0F2145"/>
                </a:solidFill>
                <a:latin typeface="Calibri"/>
              </a:rPr>
              <a:t>It checks its own work against the goal.</a:t>
            </a:r>
          </a:p>
        </p:txBody>
      </p:sp>
      <p:sp>
        <p:nvSpPr>
          <p:cNvPr id="27" name="TextBox 26"/>
          <p:cNvSpPr txBox="1"/>
          <p:nvPr/>
        </p:nvSpPr>
        <p:spPr>
          <a:xfrm>
            <a:off x="9244584" y="2834640"/>
            <a:ext cx="2286000" cy="1188720"/>
          </a:xfrm>
          <a:prstGeom prst="rect">
            <a:avLst/>
          </a:prstGeom>
          <a:noFill/>
        </p:spPr>
        <p:txBody>
          <a:bodyPr wrap="square" lIns="0" rIns="0" tIns="0" bIns="0" anchor="t">
            <a:spAutoFit/>
          </a:bodyPr>
          <a:lstStyle/>
          <a:p>
            <a:pPr algn="l">
              <a:lnSpc>
                <a:spcPct val="105000"/>
              </a:lnSpc>
              <a:spcBef>
                <a:spcPts val="0"/>
              </a:spcBef>
            </a:pPr>
            <a:r>
              <a:rPr sz="850" b="1">
                <a:solidFill>
                  <a:srgbClr val="3A5C9E"/>
                </a:solidFill>
                <a:latin typeface="Calibri"/>
              </a:rPr>
              <a:t>EXAMPLE · NAV BREAK</a:t>
            </a:r>
          </a:p>
          <a:p>
            <a:pPr algn="l">
              <a:lnSpc>
                <a:spcPct val="105000"/>
              </a:lnSpc>
              <a:spcBef>
                <a:spcPts val="400"/>
              </a:spcBef>
            </a:pPr>
            <a:r>
              <a:rPr sz="1000" b="0">
                <a:solidFill>
                  <a:srgbClr val="5D6B7E"/>
                </a:solidFill>
                <a:latin typeface="Calibri"/>
              </a:rPr>
              <a:t>Does the bonus explain the full 0.4%? Yes. Drafts the break note for a human to sign.</a:t>
            </a:r>
          </a:p>
        </p:txBody>
      </p:sp>
      <p:sp>
        <p:nvSpPr>
          <p:cNvPr id="28" name="TextBox 27"/>
          <p:cNvSpPr txBox="1"/>
          <p:nvPr/>
        </p:nvSpPr>
        <p:spPr>
          <a:xfrm>
            <a:off x="548640" y="4224528"/>
            <a:ext cx="11091672" cy="274320"/>
          </a:xfrm>
          <a:prstGeom prst="rect">
            <a:avLst/>
          </a:prstGeom>
          <a:noFill/>
        </p:spPr>
        <p:txBody>
          <a:bodyPr wrap="square" lIns="0" rIns="0" tIns="0" bIns="0" anchor="t">
            <a:spAutoFit/>
          </a:bodyPr>
          <a:lstStyle/>
          <a:p>
            <a:pPr algn="l">
              <a:lnSpc>
                <a:spcPct val="105000"/>
              </a:lnSpc>
              <a:spcBef>
                <a:spcPts val="0"/>
              </a:spcBef>
            </a:pPr>
            <a:r>
              <a:rPr sz="1200" b="1">
                <a:solidFill>
                  <a:srgbClr val="0F2145"/>
                </a:solidFill>
                <a:latin typeface="Calibri"/>
              </a:rPr>
              <a:t>↺  The loop restarts at OBSERVE until the goal is met — or until a limit you set stops it.</a:t>
            </a:r>
          </a:p>
        </p:txBody>
      </p:sp>
      <p:sp>
        <p:nvSpPr>
          <p:cNvPr id="29" name="Rectangle 28"/>
          <p:cNvSpPr/>
          <p:nvPr/>
        </p:nvSpPr>
        <p:spPr>
          <a:xfrm>
            <a:off x="548640" y="4617720"/>
            <a:ext cx="2670048" cy="1188720"/>
          </a:xfrm>
          <a:prstGeom prst="rect">
            <a:avLst/>
          </a:prstGeom>
          <a:solidFill>
            <a:srgbClr val="E9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49808" y="4754880"/>
            <a:ext cx="2286000" cy="914400"/>
          </a:xfrm>
          <a:prstGeom prst="rect">
            <a:avLst/>
          </a:prstGeom>
          <a:noFill/>
        </p:spPr>
        <p:txBody>
          <a:bodyPr wrap="square" lIns="0" rIns="0" tIns="0" bIns="0" anchor="t">
            <a:spAutoFit/>
          </a:bodyPr>
          <a:lstStyle/>
          <a:p>
            <a:pPr algn="l">
              <a:lnSpc>
                <a:spcPct val="105000"/>
              </a:lnSpc>
              <a:spcBef>
                <a:spcPts val="0"/>
              </a:spcBef>
            </a:pPr>
            <a:r>
              <a:rPr sz="1100" b="1">
                <a:solidFill>
                  <a:srgbClr val="0F2145"/>
                </a:solidFill>
                <a:latin typeface="Calibri"/>
              </a:rPr>
              <a:t>Step budget</a:t>
            </a:r>
          </a:p>
          <a:p>
            <a:pPr algn="l">
              <a:lnSpc>
                <a:spcPct val="105000"/>
              </a:lnSpc>
              <a:spcBef>
                <a:spcPts val="400"/>
              </a:spcBef>
            </a:pPr>
            <a:r>
              <a:rPr sz="1000" b="0">
                <a:solidFill>
                  <a:srgbClr val="1B2A41"/>
                </a:solidFill>
                <a:latin typeface="Calibri"/>
              </a:rPr>
              <a:t>Stop after N loops. Without it, a confused agent runs all night.</a:t>
            </a:r>
          </a:p>
        </p:txBody>
      </p:sp>
      <p:sp>
        <p:nvSpPr>
          <p:cNvPr id="31" name="Rectangle 30"/>
          <p:cNvSpPr/>
          <p:nvPr/>
        </p:nvSpPr>
        <p:spPr>
          <a:xfrm>
            <a:off x="3374136" y="4617720"/>
            <a:ext cx="2670048" cy="1188720"/>
          </a:xfrm>
          <a:prstGeom prst="rect">
            <a:avLst/>
          </a:prstGeom>
          <a:solidFill>
            <a:srgbClr val="E9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575304" y="4754880"/>
            <a:ext cx="2286000" cy="914400"/>
          </a:xfrm>
          <a:prstGeom prst="rect">
            <a:avLst/>
          </a:prstGeom>
          <a:noFill/>
        </p:spPr>
        <p:txBody>
          <a:bodyPr wrap="square" lIns="0" rIns="0" tIns="0" bIns="0" anchor="t">
            <a:spAutoFit/>
          </a:bodyPr>
          <a:lstStyle/>
          <a:p>
            <a:pPr algn="l">
              <a:lnSpc>
                <a:spcPct val="105000"/>
              </a:lnSpc>
              <a:spcBef>
                <a:spcPts val="0"/>
              </a:spcBef>
            </a:pPr>
            <a:r>
              <a:rPr sz="1100" b="1">
                <a:solidFill>
                  <a:srgbClr val="0F2145"/>
                </a:solidFill>
                <a:latin typeface="Calibri"/>
              </a:rPr>
              <a:t>Token budget</a:t>
            </a:r>
          </a:p>
          <a:p>
            <a:pPr algn="l">
              <a:lnSpc>
                <a:spcPct val="105000"/>
              </a:lnSpc>
              <a:spcBef>
                <a:spcPts val="400"/>
              </a:spcBef>
            </a:pPr>
            <a:r>
              <a:rPr sz="1000" b="0">
                <a:solidFill>
                  <a:srgbClr val="1B2A41"/>
                </a:solidFill>
                <a:latin typeface="Calibri"/>
              </a:rPr>
              <a:t>A rupee ceiling per task. Cost is what surprises new teams first.</a:t>
            </a:r>
          </a:p>
        </p:txBody>
      </p:sp>
      <p:sp>
        <p:nvSpPr>
          <p:cNvPr id="33" name="Rectangle 32"/>
          <p:cNvSpPr/>
          <p:nvPr/>
        </p:nvSpPr>
        <p:spPr>
          <a:xfrm>
            <a:off x="6199631" y="4617720"/>
            <a:ext cx="2670048" cy="1188720"/>
          </a:xfrm>
          <a:prstGeom prst="rect">
            <a:avLst/>
          </a:prstGeom>
          <a:solidFill>
            <a:srgbClr val="E9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00799" y="4754880"/>
            <a:ext cx="2286000" cy="914400"/>
          </a:xfrm>
          <a:prstGeom prst="rect">
            <a:avLst/>
          </a:prstGeom>
          <a:noFill/>
        </p:spPr>
        <p:txBody>
          <a:bodyPr wrap="square" lIns="0" rIns="0" tIns="0" bIns="0" anchor="t">
            <a:spAutoFit/>
          </a:bodyPr>
          <a:lstStyle/>
          <a:p>
            <a:pPr algn="l">
              <a:lnSpc>
                <a:spcPct val="105000"/>
              </a:lnSpc>
              <a:spcBef>
                <a:spcPts val="0"/>
              </a:spcBef>
            </a:pPr>
            <a:r>
              <a:rPr sz="1100" b="1">
                <a:solidFill>
                  <a:srgbClr val="0F2145"/>
                </a:solidFill>
                <a:latin typeface="Calibri"/>
              </a:rPr>
              <a:t>Approval gate</a:t>
            </a:r>
          </a:p>
          <a:p>
            <a:pPr algn="l">
              <a:lnSpc>
                <a:spcPct val="105000"/>
              </a:lnSpc>
              <a:spcBef>
                <a:spcPts val="400"/>
              </a:spcBef>
            </a:pPr>
            <a:r>
              <a:rPr sz="1000" b="0">
                <a:solidFill>
                  <a:srgbClr val="1B2A41"/>
                </a:solidFill>
                <a:latin typeface="Calibri"/>
              </a:rPr>
              <a:t>Anything that moves money or writes to a book of record waits for a human.</a:t>
            </a:r>
          </a:p>
        </p:txBody>
      </p:sp>
      <p:sp>
        <p:nvSpPr>
          <p:cNvPr id="35" name="Rectangle 34"/>
          <p:cNvSpPr/>
          <p:nvPr/>
        </p:nvSpPr>
        <p:spPr>
          <a:xfrm>
            <a:off x="9025128" y="4617720"/>
            <a:ext cx="2670048" cy="1188720"/>
          </a:xfrm>
          <a:prstGeom prst="rect">
            <a:avLst/>
          </a:prstGeom>
          <a:solidFill>
            <a:srgbClr val="E9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226296" y="4754880"/>
            <a:ext cx="2286000" cy="914400"/>
          </a:xfrm>
          <a:prstGeom prst="rect">
            <a:avLst/>
          </a:prstGeom>
          <a:noFill/>
        </p:spPr>
        <p:txBody>
          <a:bodyPr wrap="square" lIns="0" rIns="0" tIns="0" bIns="0" anchor="t">
            <a:spAutoFit/>
          </a:bodyPr>
          <a:lstStyle/>
          <a:p>
            <a:pPr algn="l">
              <a:lnSpc>
                <a:spcPct val="105000"/>
              </a:lnSpc>
              <a:spcBef>
                <a:spcPts val="0"/>
              </a:spcBef>
            </a:pPr>
            <a:r>
              <a:rPr sz="1100" b="1">
                <a:solidFill>
                  <a:srgbClr val="0F2145"/>
                </a:solidFill>
                <a:latin typeface="Calibri"/>
              </a:rPr>
              <a:t>Audit log</a:t>
            </a:r>
          </a:p>
          <a:p>
            <a:pPr algn="l">
              <a:lnSpc>
                <a:spcPct val="105000"/>
              </a:lnSpc>
              <a:spcBef>
                <a:spcPts val="400"/>
              </a:spcBef>
            </a:pPr>
            <a:r>
              <a:rPr sz="1000" b="0">
                <a:solidFill>
                  <a:srgbClr val="1B2A41"/>
                </a:solidFill>
                <a:latin typeface="Calibri"/>
              </a:rPr>
              <a:t>Every plan, call and result stored. If you cannot replay it, you cannot defend it.</a:t>
            </a:r>
          </a:p>
        </p:txBody>
      </p:sp>
      <p:sp>
        <p:nvSpPr>
          <p:cNvPr id="37" name="TextBox 36"/>
          <p:cNvSpPr txBox="1"/>
          <p:nvPr/>
        </p:nvSpPr>
        <p:spPr>
          <a:xfrm>
            <a:off x="548640" y="5943600"/>
            <a:ext cx="11091672" cy="274320"/>
          </a:xfrm>
          <a:prstGeom prst="rect">
            <a:avLst/>
          </a:prstGeom>
          <a:noFill/>
        </p:spPr>
        <p:txBody>
          <a:bodyPr wrap="square" lIns="0" rIns="0" tIns="0" bIns="0" anchor="t">
            <a:spAutoFit/>
          </a:bodyPr>
          <a:lstStyle/>
          <a:p>
            <a:pPr algn="l">
              <a:lnSpc>
                <a:spcPct val="105000"/>
              </a:lnSpc>
              <a:spcBef>
                <a:spcPts val="0"/>
              </a:spcBef>
            </a:pPr>
            <a:r>
              <a:rPr sz="1100" b="0">
                <a:solidFill>
                  <a:srgbClr val="5D6B7E"/>
                </a:solidFill>
                <a:latin typeface="Calibri"/>
              </a:rPr>
              <a:t>Those four boxes are not extras. In a regulated firm they are the difference between a pilot and a production system.</a:t>
            </a:r>
          </a:p>
        </p:txBody>
      </p:sp>
      <p:sp>
        <p:nvSpPr>
          <p:cNvPr id="38" name="TextBox 37"/>
          <p:cNvSpPr txBox="1"/>
          <p:nvPr/>
        </p:nvSpPr>
        <p:spPr>
          <a:xfrm>
            <a:off x="548640" y="6473952"/>
            <a:ext cx="7315200" cy="274320"/>
          </a:xfrm>
          <a:prstGeom prst="rect">
            <a:avLst/>
          </a:prstGeom>
          <a:noFill/>
        </p:spPr>
        <p:txBody>
          <a:bodyPr wrap="square" lIns="0" rIns="0" tIns="0" bIns="0" anchor="t">
            <a:spAutoFit/>
          </a:bodyPr>
          <a:lstStyle/>
          <a:p>
            <a:pPr algn="l">
              <a:lnSpc>
                <a:spcPct val="105000"/>
              </a:lnSpc>
              <a:spcBef>
                <a:spcPts val="0"/>
              </a:spcBef>
            </a:pPr>
            <a:r>
              <a:rPr sz="850" b="0">
                <a:solidFill>
                  <a:srgbClr val="5D6B7E"/>
                </a:solidFill>
                <a:latin typeface="Calibri"/>
              </a:rPr>
              <a:t>ISBMS · PGDM 2025–27 · AGENTIC AI &amp; ADVANCED ANALYTICS IN FINANCE</a:t>
            </a:r>
          </a:p>
        </p:txBody>
      </p:sp>
      <p:sp>
        <p:nvSpPr>
          <p:cNvPr id="39" name="TextBox 38"/>
          <p:cNvSpPr txBox="1"/>
          <p:nvPr/>
        </p:nvSpPr>
        <p:spPr>
          <a:xfrm>
            <a:off x="9262872" y="6473952"/>
            <a:ext cx="2377440" cy="274320"/>
          </a:xfrm>
          <a:prstGeom prst="rect">
            <a:avLst/>
          </a:prstGeom>
          <a:noFill/>
        </p:spPr>
        <p:txBody>
          <a:bodyPr wrap="square" lIns="0" rIns="0" tIns="0" bIns="0" anchor="t">
            <a:spAutoFit/>
          </a:bodyPr>
          <a:lstStyle/>
          <a:p>
            <a:pPr algn="r">
              <a:lnSpc>
                <a:spcPct val="105000"/>
              </a:lnSpc>
              <a:spcBef>
                <a:spcPts val="0"/>
              </a:spcBef>
            </a:pPr>
            <a:r>
              <a:rPr sz="850" b="0">
                <a:solidFill>
                  <a:srgbClr val="5D6B7E"/>
                </a:solidFill>
                <a:latin typeface="Calibri"/>
              </a:rPr>
              <a:t>MODULE 1  ·  10</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310896"/>
            <a:ext cx="10817352" cy="292608"/>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HOUR 2 · ARCHITECTURE</a:t>
            </a:r>
          </a:p>
        </p:txBody>
      </p:sp>
      <p:sp>
        <p:nvSpPr>
          <p:cNvPr id="4" name="TextBox 3"/>
          <p:cNvSpPr txBox="1"/>
          <p:nvPr/>
        </p:nvSpPr>
        <p:spPr>
          <a:xfrm>
            <a:off x="548640" y="621792"/>
            <a:ext cx="11091672" cy="685800"/>
          </a:xfrm>
          <a:prstGeom prst="rect">
            <a:avLst/>
          </a:prstGeom>
          <a:noFill/>
        </p:spPr>
        <p:txBody>
          <a:bodyPr wrap="square" lIns="0" rIns="0" tIns="0" bIns="0" anchor="t">
            <a:spAutoFit/>
          </a:bodyPr>
          <a:lstStyle/>
          <a:p>
            <a:pPr algn="l">
              <a:lnSpc>
                <a:spcPct val="105000"/>
              </a:lnSpc>
              <a:spcBef>
                <a:spcPts val="0"/>
              </a:spcBef>
            </a:pPr>
            <a:r>
              <a:rPr sz="2900" b="1">
                <a:solidFill>
                  <a:srgbClr val="0F2145"/>
                </a:solidFill>
                <a:latin typeface="Georgia"/>
              </a:rPr>
              <a:t>What you hand the model: a tool definition, and a memory</a:t>
            </a:r>
          </a:p>
        </p:txBody>
      </p:sp>
      <p:sp>
        <p:nvSpPr>
          <p:cNvPr id="5" name="Rectangle 4"/>
          <p:cNvSpPr/>
          <p:nvPr/>
        </p:nvSpPr>
        <p:spPr>
          <a:xfrm>
            <a:off x="548640" y="1572768"/>
            <a:ext cx="5120640" cy="288036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1719072"/>
            <a:ext cx="4663440" cy="256032"/>
          </a:xfrm>
          <a:prstGeom prst="rect">
            <a:avLst/>
          </a:prstGeom>
          <a:noFill/>
        </p:spPr>
        <p:txBody>
          <a:bodyPr wrap="square" lIns="0" rIns="0" tIns="0" bIns="0" anchor="t">
            <a:spAutoFit/>
          </a:bodyPr>
          <a:lstStyle/>
          <a:p>
            <a:pPr algn="l">
              <a:lnSpc>
                <a:spcPct val="105000"/>
              </a:lnSpc>
              <a:spcBef>
                <a:spcPts val="0"/>
              </a:spcBef>
            </a:pPr>
            <a:r>
              <a:rPr sz="1000" b="1">
                <a:solidFill>
                  <a:srgbClr val="C9A227"/>
                </a:solidFill>
                <a:latin typeface="Calibri"/>
              </a:rPr>
              <a:t>A TOOL DEFINITION</a:t>
            </a:r>
          </a:p>
        </p:txBody>
      </p:sp>
      <p:sp>
        <p:nvSpPr>
          <p:cNvPr id="7" name="TextBox 6"/>
          <p:cNvSpPr txBox="1"/>
          <p:nvPr/>
        </p:nvSpPr>
        <p:spPr>
          <a:xfrm>
            <a:off x="804672" y="2066543"/>
            <a:ext cx="4663440" cy="2221992"/>
          </a:xfrm>
          <a:prstGeom prst="rect">
            <a:avLst/>
          </a:prstGeom>
          <a:noFill/>
        </p:spPr>
        <p:txBody>
          <a:bodyPr wrap="square" lIns="0" rIns="0" tIns="0" bIns="0" anchor="t">
            <a:spAutoFit/>
          </a:bodyPr>
          <a:lstStyle/>
          <a:p>
            <a:pPr algn="l">
              <a:lnSpc>
                <a:spcPct val="105000"/>
              </a:lnSpc>
              <a:spcBef>
                <a:spcPts val="0"/>
              </a:spcBef>
            </a:pPr>
            <a:r>
              <a:rPr sz="1050" b="0">
                <a:solidFill>
                  <a:srgbClr val="FFFFFF"/>
                </a:solidFill>
                <a:latin typeface="Consolas"/>
              </a:rPr>
              <a:t>{</a:t>
            </a:r>
          </a:p>
          <a:p>
            <a:pPr algn="l">
              <a:lnSpc>
                <a:spcPct val="105000"/>
              </a:lnSpc>
              <a:spcBef>
                <a:spcPts val="250"/>
              </a:spcBef>
            </a:pPr>
            <a:r>
              <a:rPr sz="1050" b="0">
                <a:solidFill>
                  <a:srgbClr val="C9D6EE"/>
                </a:solidFill>
                <a:latin typeface="Consolas"/>
              </a:rPr>
              <a:t>  "name": "get_close_price",</a:t>
            </a:r>
          </a:p>
          <a:p>
            <a:pPr algn="l">
              <a:lnSpc>
                <a:spcPct val="105000"/>
              </a:lnSpc>
              <a:spcBef>
                <a:spcPts val="250"/>
              </a:spcBef>
            </a:pPr>
            <a:r>
              <a:rPr sz="1050" b="0">
                <a:solidFill>
                  <a:srgbClr val="C9D6EE"/>
                </a:solidFill>
                <a:latin typeface="Consolas"/>
              </a:rPr>
              <a:t>  "description": "Latest NSE closing</a:t>
            </a:r>
          </a:p>
          <a:p>
            <a:pPr algn="l">
              <a:lnSpc>
                <a:spcPct val="105000"/>
              </a:lnSpc>
              <a:spcBef>
                <a:spcPts val="250"/>
              </a:spcBef>
            </a:pPr>
            <a:r>
              <a:rPr sz="1050" b="0">
                <a:solidFill>
                  <a:srgbClr val="C9D6EE"/>
                </a:solidFill>
                <a:latin typeface="Consolas"/>
              </a:rPr>
              <a:t>                  price for one symbol.",</a:t>
            </a:r>
          </a:p>
          <a:p>
            <a:pPr algn="l">
              <a:lnSpc>
                <a:spcPct val="105000"/>
              </a:lnSpc>
              <a:spcBef>
                <a:spcPts val="250"/>
              </a:spcBef>
            </a:pPr>
            <a:r>
              <a:rPr sz="1050" b="0">
                <a:solidFill>
                  <a:srgbClr val="C9D6EE"/>
                </a:solidFill>
                <a:latin typeface="Consolas"/>
              </a:rPr>
              <a:t>  "input_schema": {</a:t>
            </a:r>
          </a:p>
          <a:p>
            <a:pPr algn="l">
              <a:lnSpc>
                <a:spcPct val="105000"/>
              </a:lnSpc>
              <a:spcBef>
                <a:spcPts val="250"/>
              </a:spcBef>
            </a:pPr>
            <a:r>
              <a:rPr sz="1050" b="0">
                <a:solidFill>
                  <a:srgbClr val="C9D6EE"/>
                </a:solidFill>
                <a:latin typeface="Consolas"/>
              </a:rPr>
              <a:t>    "type": "object",</a:t>
            </a:r>
          </a:p>
          <a:p>
            <a:pPr algn="l">
              <a:lnSpc>
                <a:spcPct val="105000"/>
              </a:lnSpc>
              <a:spcBef>
                <a:spcPts val="250"/>
              </a:spcBef>
            </a:pPr>
            <a:r>
              <a:rPr sz="1050" b="0">
                <a:solidFill>
                  <a:srgbClr val="C9D6EE"/>
                </a:solidFill>
                <a:latin typeface="Consolas"/>
              </a:rPr>
              <a:t>    "properties": {</a:t>
            </a:r>
          </a:p>
          <a:p>
            <a:pPr algn="l">
              <a:lnSpc>
                <a:spcPct val="105000"/>
              </a:lnSpc>
              <a:spcBef>
                <a:spcPts val="250"/>
              </a:spcBef>
            </a:pPr>
            <a:r>
              <a:rPr sz="1050" b="0">
                <a:solidFill>
                  <a:srgbClr val="C9A227"/>
                </a:solidFill>
                <a:latin typeface="Consolas"/>
              </a:rPr>
              <a:t>      "symbol": {"type": "string"},</a:t>
            </a:r>
          </a:p>
          <a:p>
            <a:pPr algn="l">
              <a:lnSpc>
                <a:spcPct val="105000"/>
              </a:lnSpc>
              <a:spcBef>
                <a:spcPts val="250"/>
              </a:spcBef>
            </a:pPr>
            <a:r>
              <a:rPr sz="1050" b="0">
                <a:solidFill>
                  <a:srgbClr val="C9A227"/>
                </a:solidFill>
                <a:latin typeface="Consolas"/>
              </a:rPr>
              <a:t>      "date":   {"type": "string"}},</a:t>
            </a:r>
          </a:p>
          <a:p>
            <a:pPr algn="l">
              <a:lnSpc>
                <a:spcPct val="105000"/>
              </a:lnSpc>
              <a:spcBef>
                <a:spcPts val="250"/>
              </a:spcBef>
            </a:pPr>
            <a:r>
              <a:rPr sz="1050" b="0">
                <a:solidFill>
                  <a:srgbClr val="C9D6EE"/>
                </a:solidFill>
                <a:latin typeface="Consolas"/>
              </a:rPr>
              <a:t>    "required": ["symbol"]}</a:t>
            </a:r>
          </a:p>
          <a:p>
            <a:pPr algn="l">
              <a:lnSpc>
                <a:spcPct val="105000"/>
              </a:lnSpc>
              <a:spcBef>
                <a:spcPts val="250"/>
              </a:spcBef>
            </a:pPr>
            <a:r>
              <a:rPr sz="1050" b="0">
                <a:solidFill>
                  <a:srgbClr val="FFFFFF"/>
                </a:solidFill>
                <a:latin typeface="Consolas"/>
              </a:rPr>
              <a:t>}</a:t>
            </a:r>
          </a:p>
        </p:txBody>
      </p:sp>
      <p:sp>
        <p:nvSpPr>
          <p:cNvPr id="8" name="TextBox 7"/>
          <p:cNvSpPr txBox="1"/>
          <p:nvPr/>
        </p:nvSpPr>
        <p:spPr>
          <a:xfrm>
            <a:off x="548640" y="4617720"/>
            <a:ext cx="5120640" cy="1371600"/>
          </a:xfrm>
          <a:prstGeom prst="rect">
            <a:avLst/>
          </a:prstGeom>
          <a:noFill/>
        </p:spPr>
        <p:txBody>
          <a:bodyPr wrap="square" lIns="0" rIns="0" tIns="0" bIns="0" anchor="t">
            <a:spAutoFit/>
          </a:bodyPr>
          <a:lstStyle/>
          <a:p>
            <a:pPr algn="l">
              <a:lnSpc>
                <a:spcPct val="105000"/>
              </a:lnSpc>
              <a:spcBef>
                <a:spcPts val="0"/>
              </a:spcBef>
            </a:pPr>
            <a:r>
              <a:rPr sz="1150" b="1">
                <a:solidFill>
                  <a:srgbClr val="0F2145"/>
                </a:solidFill>
                <a:latin typeface="Calibri"/>
              </a:rPr>
              <a:t>You describe the button. The model decides when to press it.</a:t>
            </a:r>
          </a:p>
          <a:p>
            <a:pPr algn="l">
              <a:lnSpc>
                <a:spcPct val="105000"/>
              </a:lnSpc>
              <a:spcBef>
                <a:spcPts val="500"/>
              </a:spcBef>
            </a:pPr>
            <a:r>
              <a:rPr sz="1050" b="0">
                <a:solidFill>
                  <a:srgbClr val="5D6B7E"/>
                </a:solidFill>
                <a:latin typeface="Calibri"/>
              </a:rPr>
              <a:t>That description is the only manual it gets, so a vague one produces a wrongly-called tool. Your code executes the call, under your credentials and your logging — which is exactly where every governance question a bank asks gets answered.</a:t>
            </a:r>
          </a:p>
        </p:txBody>
      </p:sp>
      <p:sp>
        <p:nvSpPr>
          <p:cNvPr id="9" name="Rectangle 8"/>
          <p:cNvSpPr/>
          <p:nvPr/>
        </p:nvSpPr>
        <p:spPr>
          <a:xfrm>
            <a:off x="5943600" y="1572768"/>
            <a:ext cx="5696712" cy="1371600"/>
          </a:xfrm>
          <a:prstGeom prst="rect">
            <a:avLst/>
          </a:prstGeom>
          <a:solidFill>
            <a:srgbClr val="E9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99632" y="1700784"/>
            <a:ext cx="5212080" cy="1097280"/>
          </a:xfrm>
          <a:prstGeom prst="rect">
            <a:avLst/>
          </a:prstGeom>
          <a:noFill/>
        </p:spPr>
        <p:txBody>
          <a:bodyPr wrap="square" lIns="0" rIns="0" tIns="0" bIns="0" anchor="t">
            <a:spAutoFit/>
          </a:bodyPr>
          <a:lstStyle/>
          <a:p>
            <a:pPr algn="l">
              <a:lnSpc>
                <a:spcPct val="105000"/>
              </a:lnSpc>
              <a:spcBef>
                <a:spcPts val="0"/>
              </a:spcBef>
            </a:pPr>
            <a:r>
              <a:rPr sz="1000" b="1">
                <a:solidFill>
                  <a:srgbClr val="3A5C9E"/>
                </a:solidFill>
                <a:latin typeface="Calibri"/>
              </a:rPr>
              <a:t>SHORT-TERM MEMORY</a:t>
            </a:r>
          </a:p>
          <a:p>
            <a:pPr algn="l">
              <a:lnSpc>
                <a:spcPct val="105000"/>
              </a:lnSpc>
              <a:spcBef>
                <a:spcPts val="400"/>
              </a:spcBef>
            </a:pPr>
            <a:r>
              <a:rPr sz="1050" b="0">
                <a:solidFill>
                  <a:srgbClr val="1B2A41"/>
                </a:solidFill>
                <a:latin typeface="Calibri"/>
              </a:rPr>
              <a:t>Everything in the context window right now — this chat, the file you pasted, the last tool result. Gone when the session ends.</a:t>
            </a:r>
          </a:p>
          <a:p>
            <a:pPr algn="l">
              <a:lnSpc>
                <a:spcPct val="105000"/>
              </a:lnSpc>
              <a:spcBef>
                <a:spcPts val="400"/>
              </a:spcBef>
            </a:pPr>
            <a:r>
              <a:rPr sz="1000" b="1">
                <a:solidFill>
                  <a:srgbClr val="0F2145"/>
                </a:solidFill>
                <a:latin typeface="Calibri"/>
              </a:rPr>
              <a:t>e.g.  The holdings table you pasted two minutes ago.</a:t>
            </a:r>
          </a:p>
        </p:txBody>
      </p:sp>
      <p:sp>
        <p:nvSpPr>
          <p:cNvPr id="11" name="Rectangle 10"/>
          <p:cNvSpPr/>
          <p:nvPr/>
        </p:nvSpPr>
        <p:spPr>
          <a:xfrm>
            <a:off x="5943600" y="3035808"/>
            <a:ext cx="5696712" cy="1371600"/>
          </a:xfrm>
          <a:prstGeom prst="rect">
            <a:avLst/>
          </a:prstGeom>
          <a:solidFill>
            <a:srgbClr val="D5E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99632" y="3163824"/>
            <a:ext cx="5212080" cy="1097280"/>
          </a:xfrm>
          <a:prstGeom prst="rect">
            <a:avLst/>
          </a:prstGeom>
          <a:noFill/>
        </p:spPr>
        <p:txBody>
          <a:bodyPr wrap="square" lIns="0" rIns="0" tIns="0" bIns="0" anchor="t">
            <a:spAutoFit/>
          </a:bodyPr>
          <a:lstStyle/>
          <a:p>
            <a:pPr algn="l">
              <a:lnSpc>
                <a:spcPct val="105000"/>
              </a:lnSpc>
              <a:spcBef>
                <a:spcPts val="0"/>
              </a:spcBef>
            </a:pPr>
            <a:r>
              <a:rPr sz="1000" b="1">
                <a:solidFill>
                  <a:srgbClr val="3A5C9E"/>
                </a:solidFill>
                <a:latin typeface="Calibri"/>
              </a:rPr>
              <a:t>EPISODIC MEMORY</a:t>
            </a:r>
          </a:p>
          <a:p>
            <a:pPr algn="l">
              <a:lnSpc>
                <a:spcPct val="105000"/>
              </a:lnSpc>
              <a:spcBef>
                <a:spcPts val="400"/>
              </a:spcBef>
            </a:pPr>
            <a:r>
              <a:rPr sz="1050" b="0">
                <a:solidFill>
                  <a:srgbClr val="1B2A41"/>
                </a:solidFill>
                <a:latin typeface="Calibri"/>
              </a:rPr>
              <a:t>A stored log of past runs and conversations, searched when relevant. You build this; it is not automatic.</a:t>
            </a:r>
          </a:p>
          <a:p>
            <a:pPr algn="l">
              <a:lnSpc>
                <a:spcPct val="105000"/>
              </a:lnSpc>
              <a:spcBef>
                <a:spcPts val="400"/>
              </a:spcBef>
            </a:pPr>
            <a:r>
              <a:rPr sz="1000" b="1">
                <a:solidFill>
                  <a:srgbClr val="0F2145"/>
                </a:solidFill>
                <a:latin typeface="Calibri"/>
              </a:rPr>
              <a:t>e.g.  “Last quarter this client asked to avoid tobacco stocks.”</a:t>
            </a:r>
          </a:p>
        </p:txBody>
      </p:sp>
      <p:sp>
        <p:nvSpPr>
          <p:cNvPr id="13" name="Rectangle 12"/>
          <p:cNvSpPr/>
          <p:nvPr/>
        </p:nvSpPr>
        <p:spPr>
          <a:xfrm>
            <a:off x="5943600" y="4498848"/>
            <a:ext cx="5696712" cy="1371600"/>
          </a:xfrm>
          <a:prstGeom prst="rect">
            <a:avLst/>
          </a:prstGeom>
          <a:solidFill>
            <a:srgbClr val="BFD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99632" y="4626864"/>
            <a:ext cx="5212080" cy="1097280"/>
          </a:xfrm>
          <a:prstGeom prst="rect">
            <a:avLst/>
          </a:prstGeom>
          <a:noFill/>
        </p:spPr>
        <p:txBody>
          <a:bodyPr wrap="square" lIns="0" rIns="0" tIns="0" bIns="0" anchor="t">
            <a:spAutoFit/>
          </a:bodyPr>
          <a:lstStyle/>
          <a:p>
            <a:pPr algn="l">
              <a:lnSpc>
                <a:spcPct val="105000"/>
              </a:lnSpc>
              <a:spcBef>
                <a:spcPts val="0"/>
              </a:spcBef>
            </a:pPr>
            <a:r>
              <a:rPr sz="1000" b="1">
                <a:solidFill>
                  <a:srgbClr val="3A5C9E"/>
                </a:solidFill>
                <a:latin typeface="Calibri"/>
              </a:rPr>
              <a:t>SEMANTIC MEMORY</a:t>
            </a:r>
          </a:p>
          <a:p>
            <a:pPr algn="l">
              <a:lnSpc>
                <a:spcPct val="105000"/>
              </a:lnSpc>
              <a:spcBef>
                <a:spcPts val="400"/>
              </a:spcBef>
            </a:pPr>
            <a:r>
              <a:rPr sz="1050" b="0">
                <a:solidFill>
                  <a:srgbClr val="1B2A41"/>
                </a:solidFill>
                <a:latin typeface="Calibri"/>
              </a:rPr>
              <a:t>Durable facts and policy kept in a database or vector store and pulled in when needed.</a:t>
            </a:r>
          </a:p>
          <a:p>
            <a:pPr algn="l">
              <a:lnSpc>
                <a:spcPct val="105000"/>
              </a:lnSpc>
              <a:spcBef>
                <a:spcPts val="400"/>
              </a:spcBef>
            </a:pPr>
            <a:r>
              <a:rPr sz="1000" b="1">
                <a:solidFill>
                  <a:srgbClr val="0F2145"/>
                </a:solidFill>
                <a:latin typeface="Calibri"/>
              </a:rPr>
              <a:t>e.g.  “House limit: no single stock above 8% of a portfolio.”</a:t>
            </a:r>
          </a:p>
        </p:txBody>
      </p:sp>
      <p:sp>
        <p:nvSpPr>
          <p:cNvPr id="15" name="Rectangle 14"/>
          <p:cNvSpPr/>
          <p:nvPr/>
        </p:nvSpPr>
        <p:spPr>
          <a:xfrm>
            <a:off x="5943600" y="5961888"/>
            <a:ext cx="5696712" cy="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0" y="5943600"/>
            <a:ext cx="5696712" cy="365760"/>
          </a:xfrm>
          <a:prstGeom prst="rect">
            <a:avLst/>
          </a:prstGeom>
          <a:noFill/>
        </p:spPr>
        <p:txBody>
          <a:bodyPr wrap="square" lIns="0" rIns="0" tIns="0" bIns="0" anchor="t">
            <a:spAutoFit/>
          </a:bodyPr>
          <a:lstStyle/>
          <a:p>
            <a:pPr algn="l">
              <a:lnSpc>
                <a:spcPct val="105000"/>
              </a:lnSpc>
              <a:spcBef>
                <a:spcPts val="0"/>
              </a:spcBef>
            </a:pPr>
            <a:r>
              <a:rPr sz="1050" b="0">
                <a:solidFill>
                  <a:srgbClr val="5D6B7E"/>
                </a:solidFill>
                <a:latin typeface="Calibri"/>
              </a:rPr>
              <a:t>A model remembers nothing between calls. All three are plumbing you design — and in a regulated firm, plumbing you must be able to audit.</a:t>
            </a:r>
          </a:p>
        </p:txBody>
      </p:sp>
      <p:sp>
        <p:nvSpPr>
          <p:cNvPr id="17" name="TextBox 16"/>
          <p:cNvSpPr txBox="1"/>
          <p:nvPr/>
        </p:nvSpPr>
        <p:spPr>
          <a:xfrm>
            <a:off x="548640" y="6473952"/>
            <a:ext cx="7315200" cy="274320"/>
          </a:xfrm>
          <a:prstGeom prst="rect">
            <a:avLst/>
          </a:prstGeom>
          <a:noFill/>
        </p:spPr>
        <p:txBody>
          <a:bodyPr wrap="square" lIns="0" rIns="0" tIns="0" bIns="0" anchor="t">
            <a:spAutoFit/>
          </a:bodyPr>
          <a:lstStyle/>
          <a:p>
            <a:pPr algn="l">
              <a:lnSpc>
                <a:spcPct val="105000"/>
              </a:lnSpc>
              <a:spcBef>
                <a:spcPts val="0"/>
              </a:spcBef>
            </a:pPr>
            <a:r>
              <a:rPr sz="850" b="0">
                <a:solidFill>
                  <a:srgbClr val="5D6B7E"/>
                </a:solidFill>
                <a:latin typeface="Calibri"/>
              </a:rPr>
              <a:t>ISBMS · PGDM 2025–27 · AGENTIC AI &amp; ADVANCED ANALYTICS IN FINANCE</a:t>
            </a:r>
          </a:p>
        </p:txBody>
      </p:sp>
      <p:sp>
        <p:nvSpPr>
          <p:cNvPr id="18" name="TextBox 17"/>
          <p:cNvSpPr txBox="1"/>
          <p:nvPr/>
        </p:nvSpPr>
        <p:spPr>
          <a:xfrm>
            <a:off x="9262872" y="6473952"/>
            <a:ext cx="2377440" cy="274320"/>
          </a:xfrm>
          <a:prstGeom prst="rect">
            <a:avLst/>
          </a:prstGeom>
          <a:noFill/>
        </p:spPr>
        <p:txBody>
          <a:bodyPr wrap="square" lIns="0" rIns="0" tIns="0" bIns="0" anchor="t">
            <a:spAutoFit/>
          </a:bodyPr>
          <a:lstStyle/>
          <a:p>
            <a:pPr algn="r">
              <a:lnSpc>
                <a:spcPct val="105000"/>
              </a:lnSpc>
              <a:spcBef>
                <a:spcPts val="0"/>
              </a:spcBef>
            </a:pPr>
            <a:r>
              <a:rPr sz="850" b="0">
                <a:solidFill>
                  <a:srgbClr val="5D6B7E"/>
                </a:solidFill>
                <a:latin typeface="Calibri"/>
              </a:rPr>
              <a:t>MODULE 1  ·  12</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310896"/>
            <a:ext cx="10817352" cy="292608"/>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HOUR 2 · DATA</a:t>
            </a:r>
          </a:p>
        </p:txBody>
      </p:sp>
      <p:sp>
        <p:nvSpPr>
          <p:cNvPr id="4" name="TextBox 3"/>
          <p:cNvSpPr txBox="1"/>
          <p:nvPr/>
        </p:nvSpPr>
        <p:spPr>
          <a:xfrm>
            <a:off x="548640" y="621792"/>
            <a:ext cx="11091672" cy="685800"/>
          </a:xfrm>
          <a:prstGeom prst="rect">
            <a:avLst/>
          </a:prstGeom>
          <a:noFill/>
        </p:spPr>
        <p:txBody>
          <a:bodyPr wrap="square" lIns="0" rIns="0" tIns="0" bIns="0" anchor="t">
            <a:spAutoFit/>
          </a:bodyPr>
          <a:lstStyle/>
          <a:p>
            <a:pPr algn="l">
              <a:lnSpc>
                <a:spcPct val="105000"/>
              </a:lnSpc>
              <a:spcBef>
                <a:spcPts val="0"/>
              </a:spcBef>
            </a:pPr>
            <a:r>
              <a:rPr sz="2900" b="1">
                <a:solidFill>
                  <a:srgbClr val="0F2145"/>
                </a:solidFill>
                <a:latin typeface="Georgia"/>
              </a:rPr>
              <a:t>Where the numbers come from — the sources an Indian desk uses</a:t>
            </a:r>
          </a:p>
        </p:txBody>
      </p:sp>
      <p:sp>
        <p:nvSpPr>
          <p:cNvPr id="5" name="Rectangle 4"/>
          <p:cNvSpPr/>
          <p:nvPr/>
        </p:nvSpPr>
        <p:spPr>
          <a:xfrm>
            <a:off x="548640" y="1572768"/>
            <a:ext cx="2670048" cy="3063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72768"/>
            <a:ext cx="2670048" cy="603504"/>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8096" y="1572768"/>
            <a:ext cx="2286000" cy="603504"/>
          </a:xfrm>
          <a:prstGeom prst="rect">
            <a:avLst/>
          </a:prstGeom>
          <a:noFill/>
        </p:spPr>
        <p:txBody>
          <a:bodyPr wrap="square" lIns="0" rIns="0" tIns="0" bIns="0" anchor="ctr">
            <a:spAutoFit/>
          </a:bodyPr>
          <a:lstStyle/>
          <a:p>
            <a:pPr algn="l">
              <a:lnSpc>
                <a:spcPct val="105000"/>
              </a:lnSpc>
              <a:spcBef>
                <a:spcPts val="0"/>
              </a:spcBef>
            </a:pPr>
            <a:r>
              <a:rPr sz="1200" b="1">
                <a:solidFill>
                  <a:srgbClr val="FFFFFF"/>
                </a:solidFill>
                <a:latin typeface="Calibri"/>
              </a:rPr>
              <a:t>NSE / BSE</a:t>
            </a:r>
          </a:p>
          <a:p>
            <a:pPr algn="l">
              <a:lnSpc>
                <a:spcPct val="105000"/>
              </a:lnSpc>
              <a:spcBef>
                <a:spcPts val="200"/>
              </a:spcBef>
            </a:pPr>
            <a:r>
              <a:rPr sz="900" b="0">
                <a:solidFill>
                  <a:srgbClr val="C9A227"/>
                </a:solidFill>
                <a:latin typeface="Calibri"/>
              </a:rPr>
              <a:t>Exchange data</a:t>
            </a:r>
          </a:p>
        </p:txBody>
      </p:sp>
      <p:sp>
        <p:nvSpPr>
          <p:cNvPr id="8" name="TextBox 7"/>
          <p:cNvSpPr txBox="1"/>
          <p:nvPr/>
        </p:nvSpPr>
        <p:spPr>
          <a:xfrm>
            <a:off x="768096" y="2331720"/>
            <a:ext cx="2286000" cy="1097280"/>
          </a:xfrm>
          <a:prstGeom prst="rect">
            <a:avLst/>
          </a:prstGeom>
          <a:noFill/>
        </p:spPr>
        <p:txBody>
          <a:bodyPr wrap="square" lIns="0" rIns="0" tIns="0" bIns="0" anchor="t">
            <a:spAutoFit/>
          </a:bodyPr>
          <a:lstStyle/>
          <a:p>
            <a:pPr algn="l">
              <a:lnSpc>
                <a:spcPct val="105000"/>
              </a:lnSpc>
              <a:spcBef>
                <a:spcPts val="0"/>
              </a:spcBef>
            </a:pPr>
            <a:r>
              <a:rPr sz="1050" b="0">
                <a:solidFill>
                  <a:srgbClr val="1B2A41"/>
                </a:solidFill>
                <a:latin typeface="Calibri"/>
              </a:rPr>
              <a:t>Quotes, indices, end-of-day bhavcopy files, corporate announcements, F&amp;O data.</a:t>
            </a:r>
          </a:p>
        </p:txBody>
      </p:sp>
      <p:sp>
        <p:nvSpPr>
          <p:cNvPr id="9" name="TextBox 8"/>
          <p:cNvSpPr txBox="1"/>
          <p:nvPr/>
        </p:nvSpPr>
        <p:spPr>
          <a:xfrm>
            <a:off x="768096" y="3474720"/>
            <a:ext cx="2286000" cy="1005840"/>
          </a:xfrm>
          <a:prstGeom prst="rect">
            <a:avLst/>
          </a:prstGeom>
          <a:noFill/>
        </p:spPr>
        <p:txBody>
          <a:bodyPr wrap="square" lIns="0" rIns="0" tIns="0" bIns="0" anchor="t">
            <a:spAutoFit/>
          </a:bodyPr>
          <a:lstStyle/>
          <a:p>
            <a:pPr algn="l">
              <a:lnSpc>
                <a:spcPct val="105000"/>
              </a:lnSpc>
              <a:spcBef>
                <a:spcPts val="0"/>
              </a:spcBef>
            </a:pPr>
            <a:r>
              <a:rPr sz="850" b="1">
                <a:solidFill>
                  <a:srgbClr val="3A5C9E"/>
                </a:solidFill>
                <a:latin typeface="Calibri"/>
              </a:rPr>
              <a:t>WATCH OUT</a:t>
            </a:r>
          </a:p>
          <a:p>
            <a:pPr algn="l">
              <a:lnSpc>
                <a:spcPct val="105000"/>
              </a:lnSpc>
              <a:spcBef>
                <a:spcPts val="400"/>
              </a:spcBef>
            </a:pPr>
            <a:r>
              <a:rPr sz="1000" b="0">
                <a:solidFill>
                  <a:srgbClr val="5D6B7E"/>
                </a:solidFill>
                <a:latin typeface="Calibri"/>
              </a:rPr>
              <a:t>Public website endpoints are unofficial and rate-limited. Fetch politely, cache locally, never build production on them.</a:t>
            </a:r>
          </a:p>
        </p:txBody>
      </p:sp>
      <p:sp>
        <p:nvSpPr>
          <p:cNvPr id="10" name="Rectangle 9"/>
          <p:cNvSpPr/>
          <p:nvPr/>
        </p:nvSpPr>
        <p:spPr>
          <a:xfrm>
            <a:off x="3374136" y="1572768"/>
            <a:ext cx="2670048" cy="3063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374136" y="1572768"/>
            <a:ext cx="2670048" cy="603504"/>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93591" y="1572768"/>
            <a:ext cx="2286000" cy="603504"/>
          </a:xfrm>
          <a:prstGeom prst="rect">
            <a:avLst/>
          </a:prstGeom>
          <a:noFill/>
        </p:spPr>
        <p:txBody>
          <a:bodyPr wrap="square" lIns="0" rIns="0" tIns="0" bIns="0" anchor="ctr">
            <a:spAutoFit/>
          </a:bodyPr>
          <a:lstStyle/>
          <a:p>
            <a:pPr algn="l">
              <a:lnSpc>
                <a:spcPct val="105000"/>
              </a:lnSpc>
              <a:spcBef>
                <a:spcPts val="0"/>
              </a:spcBef>
            </a:pPr>
            <a:r>
              <a:rPr sz="1200" b="1">
                <a:solidFill>
                  <a:srgbClr val="FFFFFF"/>
                </a:solidFill>
                <a:latin typeface="Calibri"/>
              </a:rPr>
              <a:t>Yahoo Finance</a:t>
            </a:r>
          </a:p>
          <a:p>
            <a:pPr algn="l">
              <a:lnSpc>
                <a:spcPct val="105000"/>
              </a:lnSpc>
              <a:spcBef>
                <a:spcPts val="200"/>
              </a:spcBef>
            </a:pPr>
            <a:r>
              <a:rPr sz="900" b="0">
                <a:solidFill>
                  <a:srgbClr val="C9A227"/>
                </a:solidFill>
                <a:latin typeface="Calibri"/>
              </a:rPr>
              <a:t>yfinance, Python</a:t>
            </a:r>
          </a:p>
        </p:txBody>
      </p:sp>
      <p:sp>
        <p:nvSpPr>
          <p:cNvPr id="13" name="TextBox 12"/>
          <p:cNvSpPr txBox="1"/>
          <p:nvPr/>
        </p:nvSpPr>
        <p:spPr>
          <a:xfrm>
            <a:off x="3593591" y="2331720"/>
            <a:ext cx="2286000" cy="1097280"/>
          </a:xfrm>
          <a:prstGeom prst="rect">
            <a:avLst/>
          </a:prstGeom>
          <a:noFill/>
        </p:spPr>
        <p:txBody>
          <a:bodyPr wrap="square" lIns="0" rIns="0" tIns="0" bIns="0" anchor="t">
            <a:spAutoFit/>
          </a:bodyPr>
          <a:lstStyle/>
          <a:p>
            <a:pPr algn="l">
              <a:lnSpc>
                <a:spcPct val="105000"/>
              </a:lnSpc>
              <a:spcBef>
                <a:spcPts val="0"/>
              </a:spcBef>
            </a:pPr>
            <a:r>
              <a:rPr sz="1050" b="0">
                <a:solidFill>
                  <a:srgbClr val="1B2A41"/>
                </a:solidFill>
                <a:latin typeface="Calibri"/>
              </a:rPr>
              <a:t>Free historical prices for global and Indian tickers — RELIANCE.NS, ^NSEI.</a:t>
            </a:r>
          </a:p>
        </p:txBody>
      </p:sp>
      <p:sp>
        <p:nvSpPr>
          <p:cNvPr id="14" name="TextBox 13"/>
          <p:cNvSpPr txBox="1"/>
          <p:nvPr/>
        </p:nvSpPr>
        <p:spPr>
          <a:xfrm>
            <a:off x="3593591" y="3474720"/>
            <a:ext cx="2286000" cy="1005840"/>
          </a:xfrm>
          <a:prstGeom prst="rect">
            <a:avLst/>
          </a:prstGeom>
          <a:noFill/>
        </p:spPr>
        <p:txBody>
          <a:bodyPr wrap="square" lIns="0" rIns="0" tIns="0" bIns="0" anchor="t">
            <a:spAutoFit/>
          </a:bodyPr>
          <a:lstStyle/>
          <a:p>
            <a:pPr algn="l">
              <a:lnSpc>
                <a:spcPct val="105000"/>
              </a:lnSpc>
              <a:spcBef>
                <a:spcPts val="0"/>
              </a:spcBef>
            </a:pPr>
            <a:r>
              <a:rPr sz="850" b="1">
                <a:solidFill>
                  <a:srgbClr val="3A5C9E"/>
                </a:solidFill>
                <a:latin typeface="Calibri"/>
              </a:rPr>
              <a:t>WATCH OUT</a:t>
            </a:r>
          </a:p>
          <a:p>
            <a:pPr algn="l">
              <a:lnSpc>
                <a:spcPct val="105000"/>
              </a:lnSpc>
              <a:spcBef>
                <a:spcPts val="400"/>
              </a:spcBef>
            </a:pPr>
            <a:r>
              <a:rPr sz="1000" b="0">
                <a:solidFill>
                  <a:srgbClr val="5D6B7E"/>
                </a:solidFill>
                <a:latin typeface="Calibri"/>
              </a:rPr>
              <a:t>Fine for teaching, prototypes and backtests. Adjustments are imperfect; do not price a book off it.</a:t>
            </a:r>
          </a:p>
        </p:txBody>
      </p:sp>
      <p:sp>
        <p:nvSpPr>
          <p:cNvPr id="15" name="Rectangle 14"/>
          <p:cNvSpPr/>
          <p:nvPr/>
        </p:nvSpPr>
        <p:spPr>
          <a:xfrm>
            <a:off x="6199631" y="1572768"/>
            <a:ext cx="2670048" cy="3063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99631" y="1572768"/>
            <a:ext cx="2670048" cy="603504"/>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19088" y="1572768"/>
            <a:ext cx="2286000" cy="603504"/>
          </a:xfrm>
          <a:prstGeom prst="rect">
            <a:avLst/>
          </a:prstGeom>
          <a:noFill/>
        </p:spPr>
        <p:txBody>
          <a:bodyPr wrap="square" lIns="0" rIns="0" tIns="0" bIns="0" anchor="ctr">
            <a:spAutoFit/>
          </a:bodyPr>
          <a:lstStyle/>
          <a:p>
            <a:pPr algn="l">
              <a:lnSpc>
                <a:spcPct val="105000"/>
              </a:lnSpc>
              <a:spcBef>
                <a:spcPts val="0"/>
              </a:spcBef>
            </a:pPr>
            <a:r>
              <a:rPr sz="1200" b="1">
                <a:solidFill>
                  <a:srgbClr val="FFFFFF"/>
                </a:solidFill>
                <a:latin typeface="Calibri"/>
              </a:rPr>
              <a:t>RBI DBIE</a:t>
            </a:r>
          </a:p>
          <a:p>
            <a:pPr algn="l">
              <a:lnSpc>
                <a:spcPct val="105000"/>
              </a:lnSpc>
              <a:spcBef>
                <a:spcPts val="200"/>
              </a:spcBef>
            </a:pPr>
            <a:r>
              <a:rPr sz="900" b="0">
                <a:solidFill>
                  <a:srgbClr val="C9A227"/>
                </a:solidFill>
                <a:latin typeface="Calibri"/>
              </a:rPr>
              <a:t>data.rbi.org.in</a:t>
            </a:r>
          </a:p>
        </p:txBody>
      </p:sp>
      <p:sp>
        <p:nvSpPr>
          <p:cNvPr id="18" name="TextBox 17"/>
          <p:cNvSpPr txBox="1"/>
          <p:nvPr/>
        </p:nvSpPr>
        <p:spPr>
          <a:xfrm>
            <a:off x="6419088" y="2331720"/>
            <a:ext cx="2286000" cy="1097280"/>
          </a:xfrm>
          <a:prstGeom prst="rect">
            <a:avLst/>
          </a:prstGeom>
          <a:noFill/>
        </p:spPr>
        <p:txBody>
          <a:bodyPr wrap="square" lIns="0" rIns="0" tIns="0" bIns="0" anchor="t">
            <a:spAutoFit/>
          </a:bodyPr>
          <a:lstStyle/>
          <a:p>
            <a:pPr algn="l">
              <a:lnSpc>
                <a:spcPct val="105000"/>
              </a:lnSpc>
              <a:spcBef>
                <a:spcPts val="0"/>
              </a:spcBef>
            </a:pPr>
            <a:r>
              <a:rPr sz="1050" b="0">
                <a:solidFill>
                  <a:srgbClr val="1B2A41"/>
                </a:solidFill>
                <a:latin typeface="Calibri"/>
              </a:rPr>
              <a:t>Official Indian macro and banking time series: policy rate, CPI, deposits, credit growth.</a:t>
            </a:r>
          </a:p>
        </p:txBody>
      </p:sp>
      <p:sp>
        <p:nvSpPr>
          <p:cNvPr id="19" name="TextBox 18"/>
          <p:cNvSpPr txBox="1"/>
          <p:nvPr/>
        </p:nvSpPr>
        <p:spPr>
          <a:xfrm>
            <a:off x="6419088" y="3474720"/>
            <a:ext cx="2286000" cy="1005840"/>
          </a:xfrm>
          <a:prstGeom prst="rect">
            <a:avLst/>
          </a:prstGeom>
          <a:noFill/>
        </p:spPr>
        <p:txBody>
          <a:bodyPr wrap="square" lIns="0" rIns="0" tIns="0" bIns="0" anchor="t">
            <a:spAutoFit/>
          </a:bodyPr>
          <a:lstStyle/>
          <a:p>
            <a:pPr algn="l">
              <a:lnSpc>
                <a:spcPct val="105000"/>
              </a:lnSpc>
              <a:spcBef>
                <a:spcPts val="0"/>
              </a:spcBef>
            </a:pPr>
            <a:r>
              <a:rPr sz="850" b="1">
                <a:solidFill>
                  <a:srgbClr val="3A5C9E"/>
                </a:solidFill>
                <a:latin typeface="Calibri"/>
              </a:rPr>
              <a:t>WATCH OUT</a:t>
            </a:r>
          </a:p>
          <a:p>
            <a:pPr algn="l">
              <a:lnSpc>
                <a:spcPct val="105000"/>
              </a:lnSpc>
              <a:spcBef>
                <a:spcPts val="400"/>
              </a:spcBef>
            </a:pPr>
            <a:r>
              <a:rPr sz="1000" b="0">
                <a:solidFill>
                  <a:srgbClr val="5D6B7E"/>
                </a:solidFill>
                <a:latin typeface="Calibri"/>
              </a:rPr>
              <a:t>Excel and CSV downloads. Slow, awkward and authoritative — the source you cite in a report.</a:t>
            </a:r>
          </a:p>
        </p:txBody>
      </p:sp>
      <p:sp>
        <p:nvSpPr>
          <p:cNvPr id="20" name="Rectangle 19"/>
          <p:cNvSpPr/>
          <p:nvPr/>
        </p:nvSpPr>
        <p:spPr>
          <a:xfrm>
            <a:off x="9025128" y="1572768"/>
            <a:ext cx="2670048" cy="3063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025128" y="1572768"/>
            <a:ext cx="2670048" cy="603504"/>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244584" y="1572768"/>
            <a:ext cx="2286000" cy="603504"/>
          </a:xfrm>
          <a:prstGeom prst="rect">
            <a:avLst/>
          </a:prstGeom>
          <a:noFill/>
        </p:spPr>
        <p:txBody>
          <a:bodyPr wrap="square" lIns="0" rIns="0" tIns="0" bIns="0" anchor="ctr">
            <a:spAutoFit/>
          </a:bodyPr>
          <a:lstStyle/>
          <a:p>
            <a:pPr algn="l">
              <a:lnSpc>
                <a:spcPct val="105000"/>
              </a:lnSpc>
              <a:spcBef>
                <a:spcPts val="0"/>
              </a:spcBef>
            </a:pPr>
            <a:r>
              <a:rPr sz="1200" b="1">
                <a:solidFill>
                  <a:srgbClr val="FFFFFF"/>
                </a:solidFill>
                <a:latin typeface="Calibri"/>
              </a:rPr>
              <a:t>Licensed vendors</a:t>
            </a:r>
          </a:p>
          <a:p>
            <a:pPr algn="l">
              <a:lnSpc>
                <a:spcPct val="105000"/>
              </a:lnSpc>
              <a:spcBef>
                <a:spcPts val="200"/>
              </a:spcBef>
            </a:pPr>
            <a:r>
              <a:rPr sz="900" b="0">
                <a:solidFill>
                  <a:srgbClr val="C9A227"/>
                </a:solidFill>
                <a:latin typeface="Calibri"/>
              </a:rPr>
              <a:t>FactSet · LSEG · Bloomberg</a:t>
            </a:r>
          </a:p>
        </p:txBody>
      </p:sp>
      <p:sp>
        <p:nvSpPr>
          <p:cNvPr id="23" name="TextBox 22"/>
          <p:cNvSpPr txBox="1"/>
          <p:nvPr/>
        </p:nvSpPr>
        <p:spPr>
          <a:xfrm>
            <a:off x="9244584" y="2331720"/>
            <a:ext cx="2286000" cy="1097280"/>
          </a:xfrm>
          <a:prstGeom prst="rect">
            <a:avLst/>
          </a:prstGeom>
          <a:noFill/>
        </p:spPr>
        <p:txBody>
          <a:bodyPr wrap="square" lIns="0" rIns="0" tIns="0" bIns="0" anchor="t">
            <a:spAutoFit/>
          </a:bodyPr>
          <a:lstStyle/>
          <a:p>
            <a:pPr algn="l">
              <a:lnSpc>
                <a:spcPct val="105000"/>
              </a:lnSpc>
              <a:spcBef>
                <a:spcPts val="0"/>
              </a:spcBef>
            </a:pPr>
            <a:r>
              <a:rPr sz="1050" b="0">
                <a:solidFill>
                  <a:srgbClr val="1B2A41"/>
                </a:solidFill>
                <a:latin typeface="Calibri"/>
              </a:rPr>
              <a:t>Cleaned, point-in-time, entitlement-controlled data, with support and an SLA.</a:t>
            </a:r>
          </a:p>
        </p:txBody>
      </p:sp>
      <p:sp>
        <p:nvSpPr>
          <p:cNvPr id="24" name="TextBox 23"/>
          <p:cNvSpPr txBox="1"/>
          <p:nvPr/>
        </p:nvSpPr>
        <p:spPr>
          <a:xfrm>
            <a:off x="9244584" y="3474720"/>
            <a:ext cx="2286000" cy="1005840"/>
          </a:xfrm>
          <a:prstGeom prst="rect">
            <a:avLst/>
          </a:prstGeom>
          <a:noFill/>
        </p:spPr>
        <p:txBody>
          <a:bodyPr wrap="square" lIns="0" rIns="0" tIns="0" bIns="0" anchor="t">
            <a:spAutoFit/>
          </a:bodyPr>
          <a:lstStyle/>
          <a:p>
            <a:pPr algn="l">
              <a:lnSpc>
                <a:spcPct val="105000"/>
              </a:lnSpc>
              <a:spcBef>
                <a:spcPts val="0"/>
              </a:spcBef>
            </a:pPr>
            <a:r>
              <a:rPr sz="850" b="1">
                <a:solidFill>
                  <a:srgbClr val="3A5C9E"/>
                </a:solidFill>
                <a:latin typeface="Calibri"/>
              </a:rPr>
              <a:t>WATCH OUT</a:t>
            </a:r>
          </a:p>
          <a:p>
            <a:pPr algn="l">
              <a:lnSpc>
                <a:spcPct val="105000"/>
              </a:lnSpc>
              <a:spcBef>
                <a:spcPts val="400"/>
              </a:spcBef>
            </a:pPr>
            <a:r>
              <a:rPr sz="1000" b="0">
                <a:solidFill>
                  <a:srgbClr val="5D6B7E"/>
                </a:solidFill>
                <a:latin typeface="Calibri"/>
              </a:rPr>
              <a:t>What a real desk pays for. Know the difference between free data and data you can defend.</a:t>
            </a:r>
          </a:p>
        </p:txBody>
      </p:sp>
      <p:sp>
        <p:nvSpPr>
          <p:cNvPr id="25" name="Rectangle 24"/>
          <p:cNvSpPr/>
          <p:nvPr/>
        </p:nvSpPr>
        <p:spPr>
          <a:xfrm>
            <a:off x="548640" y="4846320"/>
            <a:ext cx="3611880" cy="1097280"/>
          </a:xfrm>
          <a:prstGeom prst="rect">
            <a:avLst/>
          </a:prstGeom>
          <a:solidFill>
            <a:srgbClr val="E9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68096" y="4992624"/>
            <a:ext cx="3154680" cy="868680"/>
          </a:xfrm>
          <a:prstGeom prst="rect">
            <a:avLst/>
          </a:prstGeom>
          <a:noFill/>
        </p:spPr>
        <p:txBody>
          <a:bodyPr wrap="square" lIns="0" rIns="0" tIns="0" bIns="0" anchor="t">
            <a:spAutoFit/>
          </a:bodyPr>
          <a:lstStyle/>
          <a:p>
            <a:pPr algn="l">
              <a:lnSpc>
                <a:spcPct val="105000"/>
              </a:lnSpc>
              <a:spcBef>
                <a:spcPts val="0"/>
              </a:spcBef>
            </a:pPr>
            <a:r>
              <a:rPr sz="1100" b="1">
                <a:solidFill>
                  <a:srgbClr val="0F2145"/>
                </a:solidFill>
                <a:latin typeface="Calibri"/>
              </a:rPr>
              <a:t>Never hardcode a key</a:t>
            </a:r>
          </a:p>
          <a:p>
            <a:pPr algn="l">
              <a:lnSpc>
                <a:spcPct val="105000"/>
              </a:lnSpc>
              <a:spcBef>
                <a:spcPts val="400"/>
              </a:spcBef>
            </a:pPr>
            <a:r>
              <a:rPr sz="1000" b="0">
                <a:solidFill>
                  <a:srgbClr val="1B2A41"/>
                </a:solidFill>
                <a:latin typeface="Calibri"/>
              </a:rPr>
              <a:t>Keys live in a .env file that git never sees. This is how people get fired.</a:t>
            </a:r>
          </a:p>
        </p:txBody>
      </p:sp>
      <p:sp>
        <p:nvSpPr>
          <p:cNvPr id="27" name="Rectangle 26"/>
          <p:cNvSpPr/>
          <p:nvPr/>
        </p:nvSpPr>
        <p:spPr>
          <a:xfrm>
            <a:off x="4315968" y="4846320"/>
            <a:ext cx="3611880" cy="1097280"/>
          </a:xfrm>
          <a:prstGeom prst="rect">
            <a:avLst/>
          </a:prstGeom>
          <a:solidFill>
            <a:srgbClr val="E9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35424" y="4992624"/>
            <a:ext cx="3154680" cy="868680"/>
          </a:xfrm>
          <a:prstGeom prst="rect">
            <a:avLst/>
          </a:prstGeom>
          <a:noFill/>
        </p:spPr>
        <p:txBody>
          <a:bodyPr wrap="square" lIns="0" rIns="0" tIns="0" bIns="0" anchor="t">
            <a:spAutoFit/>
          </a:bodyPr>
          <a:lstStyle/>
          <a:p>
            <a:pPr algn="l">
              <a:lnSpc>
                <a:spcPct val="105000"/>
              </a:lnSpc>
              <a:spcBef>
                <a:spcPts val="0"/>
              </a:spcBef>
            </a:pPr>
            <a:r>
              <a:rPr sz="1100" b="1">
                <a:solidFill>
                  <a:srgbClr val="0F2145"/>
                </a:solidFill>
                <a:latin typeface="Calibri"/>
              </a:rPr>
              <a:t>Cache the raw pull</a:t>
            </a:r>
          </a:p>
          <a:p>
            <a:pPr algn="l">
              <a:lnSpc>
                <a:spcPct val="105000"/>
              </a:lnSpc>
              <a:spcBef>
                <a:spcPts val="400"/>
              </a:spcBef>
            </a:pPr>
            <a:r>
              <a:rPr sz="1000" b="0">
                <a:solidFill>
                  <a:srgbClr val="1B2A41"/>
                </a:solidFill>
                <a:latin typeface="Calibri"/>
              </a:rPr>
              <a:t>Save the untouched response with its timestamp. You will need it when a number is challenged.</a:t>
            </a:r>
          </a:p>
        </p:txBody>
      </p:sp>
      <p:sp>
        <p:nvSpPr>
          <p:cNvPr id="29" name="Rectangle 28"/>
          <p:cNvSpPr/>
          <p:nvPr/>
        </p:nvSpPr>
        <p:spPr>
          <a:xfrm>
            <a:off x="8083296" y="4846320"/>
            <a:ext cx="3611880" cy="1097280"/>
          </a:xfrm>
          <a:prstGeom prst="rect">
            <a:avLst/>
          </a:prstGeom>
          <a:solidFill>
            <a:srgbClr val="E9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302752" y="4992624"/>
            <a:ext cx="3154680" cy="868680"/>
          </a:xfrm>
          <a:prstGeom prst="rect">
            <a:avLst/>
          </a:prstGeom>
          <a:noFill/>
        </p:spPr>
        <p:txBody>
          <a:bodyPr wrap="square" lIns="0" rIns="0" tIns="0" bIns="0" anchor="t">
            <a:spAutoFit/>
          </a:bodyPr>
          <a:lstStyle/>
          <a:p>
            <a:pPr algn="l">
              <a:lnSpc>
                <a:spcPct val="105000"/>
              </a:lnSpc>
              <a:spcBef>
                <a:spcPts val="0"/>
              </a:spcBef>
            </a:pPr>
            <a:r>
              <a:rPr sz="1100" b="1">
                <a:solidFill>
                  <a:srgbClr val="0F2145"/>
                </a:solidFill>
                <a:latin typeface="Calibri"/>
              </a:rPr>
              <a:t>Log the as-of time</a:t>
            </a:r>
          </a:p>
          <a:p>
            <a:pPr algn="l">
              <a:lnSpc>
                <a:spcPct val="105000"/>
              </a:lnSpc>
              <a:spcBef>
                <a:spcPts val="400"/>
              </a:spcBef>
            </a:pPr>
            <a:r>
              <a:rPr sz="1000" b="0">
                <a:solidFill>
                  <a:srgbClr val="1B2A41"/>
                </a:solidFill>
                <a:latin typeface="Calibri"/>
              </a:rPr>
              <a:t>“Price at 15:30 IST, 6 Aug 2026” is data. “Price” is an argument waiting to happen.</a:t>
            </a:r>
          </a:p>
        </p:txBody>
      </p:sp>
      <p:sp>
        <p:nvSpPr>
          <p:cNvPr id="31" name="TextBox 30"/>
          <p:cNvSpPr txBox="1"/>
          <p:nvPr/>
        </p:nvSpPr>
        <p:spPr>
          <a:xfrm>
            <a:off x="548640" y="6473952"/>
            <a:ext cx="7315200" cy="274320"/>
          </a:xfrm>
          <a:prstGeom prst="rect">
            <a:avLst/>
          </a:prstGeom>
          <a:noFill/>
        </p:spPr>
        <p:txBody>
          <a:bodyPr wrap="square" lIns="0" rIns="0" tIns="0" bIns="0" anchor="t">
            <a:spAutoFit/>
          </a:bodyPr>
          <a:lstStyle/>
          <a:p>
            <a:pPr algn="l">
              <a:lnSpc>
                <a:spcPct val="105000"/>
              </a:lnSpc>
              <a:spcBef>
                <a:spcPts val="0"/>
              </a:spcBef>
            </a:pPr>
            <a:r>
              <a:rPr sz="850" b="0">
                <a:solidFill>
                  <a:srgbClr val="5D6B7E"/>
                </a:solidFill>
                <a:latin typeface="Calibri"/>
              </a:rPr>
              <a:t>ISBMS · PGDM 2025–27 · AGENTIC AI &amp; ADVANCED ANALYTICS IN FINANCE</a:t>
            </a:r>
          </a:p>
        </p:txBody>
      </p:sp>
      <p:sp>
        <p:nvSpPr>
          <p:cNvPr id="32" name="TextBox 31"/>
          <p:cNvSpPr txBox="1"/>
          <p:nvPr/>
        </p:nvSpPr>
        <p:spPr>
          <a:xfrm>
            <a:off x="9262872" y="6473952"/>
            <a:ext cx="2377440" cy="274320"/>
          </a:xfrm>
          <a:prstGeom prst="rect">
            <a:avLst/>
          </a:prstGeom>
          <a:noFill/>
        </p:spPr>
        <p:txBody>
          <a:bodyPr wrap="square" lIns="0" rIns="0" tIns="0" bIns="0" anchor="t">
            <a:spAutoFit/>
          </a:bodyPr>
          <a:lstStyle/>
          <a:p>
            <a:pPr algn="r">
              <a:lnSpc>
                <a:spcPct val="105000"/>
              </a:lnSpc>
              <a:spcBef>
                <a:spcPts val="0"/>
              </a:spcBef>
            </a:pPr>
            <a:r>
              <a:rPr sz="850" b="0">
                <a:solidFill>
                  <a:srgbClr val="5D6B7E"/>
                </a:solidFill>
                <a:latin typeface="Calibri"/>
              </a:rPr>
              <a:t>MODULE 1  ·  13</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310896"/>
            <a:ext cx="10817352" cy="292608"/>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CASE STUDY</a:t>
            </a:r>
          </a:p>
        </p:txBody>
      </p:sp>
      <p:sp>
        <p:nvSpPr>
          <p:cNvPr id="4" name="TextBox 3"/>
          <p:cNvSpPr txBox="1"/>
          <p:nvPr/>
        </p:nvSpPr>
        <p:spPr>
          <a:xfrm>
            <a:off x="548640" y="621792"/>
            <a:ext cx="11091672" cy="685800"/>
          </a:xfrm>
          <a:prstGeom prst="rect">
            <a:avLst/>
          </a:prstGeom>
          <a:noFill/>
        </p:spPr>
        <p:txBody>
          <a:bodyPr wrap="square" lIns="0" rIns="0" tIns="0" bIns="0" anchor="t">
            <a:spAutoFit/>
          </a:bodyPr>
          <a:lstStyle/>
          <a:p>
            <a:pPr algn="l">
              <a:lnSpc>
                <a:spcPct val="105000"/>
              </a:lnSpc>
              <a:spcBef>
                <a:spcPts val="0"/>
              </a:spcBef>
            </a:pPr>
            <a:r>
              <a:rPr sz="2900" b="1">
                <a:solidFill>
                  <a:srgbClr val="0F2145"/>
                </a:solidFill>
                <a:latin typeface="Georgia"/>
              </a:rPr>
              <a:t>Morgan Stanley — a GPT-4 assistant on the wealth advisor's desk</a:t>
            </a:r>
          </a:p>
        </p:txBody>
      </p:sp>
      <p:sp>
        <p:nvSpPr>
          <p:cNvPr id="5" name="Rectangle 4"/>
          <p:cNvSpPr/>
          <p:nvPr/>
        </p:nvSpPr>
        <p:spPr>
          <a:xfrm>
            <a:off x="548640" y="1572768"/>
            <a:ext cx="67665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72768"/>
            <a:ext cx="64008" cy="132588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719072"/>
            <a:ext cx="6309360" cy="1051560"/>
          </a:xfrm>
          <a:prstGeom prst="rect">
            <a:avLst/>
          </a:prstGeom>
          <a:noFill/>
        </p:spPr>
        <p:txBody>
          <a:bodyPr wrap="square" lIns="0" rIns="0" tIns="0" bIns="0" anchor="t">
            <a:spAutoFit/>
          </a:bodyPr>
          <a:lstStyle/>
          <a:p>
            <a:pPr algn="l">
              <a:lnSpc>
                <a:spcPct val="105000"/>
              </a:lnSpc>
              <a:spcBef>
                <a:spcPts val="0"/>
              </a:spcBef>
            </a:pPr>
            <a:r>
              <a:rPr sz="1000" b="1">
                <a:solidFill>
                  <a:srgbClr val="3A5C9E"/>
                </a:solidFill>
                <a:latin typeface="Calibri"/>
              </a:rPr>
              <a:t>THE PROBLEM</a:t>
            </a:r>
          </a:p>
          <a:p>
            <a:pPr algn="l">
              <a:lnSpc>
                <a:spcPct val="105000"/>
              </a:lnSpc>
              <a:spcBef>
                <a:spcPts val="500"/>
              </a:spcBef>
            </a:pPr>
            <a:r>
              <a:rPr sz="1100" b="0">
                <a:solidFill>
                  <a:srgbClr val="1B2A41"/>
                </a:solidFill>
                <a:latin typeface="Calibri"/>
              </a:rPr>
              <a:t>Morgan Stanley Wealth Management holds a research library of hundreds of thousands of documents. Advisors could not find the right page fast enough during a client call, so the firm's best thinking went unread.</a:t>
            </a:r>
          </a:p>
        </p:txBody>
      </p:sp>
      <p:sp>
        <p:nvSpPr>
          <p:cNvPr id="8" name="Rectangle 7"/>
          <p:cNvSpPr/>
          <p:nvPr/>
        </p:nvSpPr>
        <p:spPr>
          <a:xfrm>
            <a:off x="548640" y="3008376"/>
            <a:ext cx="67665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3008376"/>
            <a:ext cx="64008" cy="132588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154680"/>
            <a:ext cx="6309360" cy="1051560"/>
          </a:xfrm>
          <a:prstGeom prst="rect">
            <a:avLst/>
          </a:prstGeom>
          <a:noFill/>
        </p:spPr>
        <p:txBody>
          <a:bodyPr wrap="square" lIns="0" rIns="0" tIns="0" bIns="0" anchor="t">
            <a:spAutoFit/>
          </a:bodyPr>
          <a:lstStyle/>
          <a:p>
            <a:pPr algn="l">
              <a:lnSpc>
                <a:spcPct val="105000"/>
              </a:lnSpc>
              <a:spcBef>
                <a:spcPts val="0"/>
              </a:spcBef>
            </a:pPr>
            <a:r>
              <a:rPr sz="1000" b="1">
                <a:solidFill>
                  <a:srgbClr val="3A5C9E"/>
                </a:solidFill>
                <a:latin typeface="Calibri"/>
              </a:rPr>
              <a:t>WHAT THEY BUILT</a:t>
            </a:r>
          </a:p>
          <a:p>
            <a:pPr algn="l">
              <a:lnSpc>
                <a:spcPct val="105000"/>
              </a:lnSpc>
              <a:spcBef>
                <a:spcPts val="500"/>
              </a:spcBef>
            </a:pPr>
            <a:r>
              <a:rPr sz="1100" b="0">
                <a:solidFill>
                  <a:srgbClr val="1B2A41"/>
                </a:solidFill>
                <a:latin typeface="Calibri"/>
              </a:rPr>
              <a:t>“AI @ Morgan Stanley Assistant”, launched September 2023 on OpenAI's GPT-4. It answers advisor questions from the firm's own research library, with citations — retrieval first, generation second. A second tool, Debrief, drafts the notes and follow-up email after a client meeting.</a:t>
            </a:r>
          </a:p>
        </p:txBody>
      </p:sp>
      <p:sp>
        <p:nvSpPr>
          <p:cNvPr id="11" name="Rectangle 10"/>
          <p:cNvSpPr/>
          <p:nvPr/>
        </p:nvSpPr>
        <p:spPr>
          <a:xfrm>
            <a:off x="548640" y="4443984"/>
            <a:ext cx="67665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4443984"/>
            <a:ext cx="64008" cy="132588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4590288"/>
            <a:ext cx="6309360" cy="1051560"/>
          </a:xfrm>
          <a:prstGeom prst="rect">
            <a:avLst/>
          </a:prstGeom>
          <a:noFill/>
        </p:spPr>
        <p:txBody>
          <a:bodyPr wrap="square" lIns="0" rIns="0" tIns="0" bIns="0" anchor="t">
            <a:spAutoFit/>
          </a:bodyPr>
          <a:lstStyle/>
          <a:p>
            <a:pPr algn="l">
              <a:lnSpc>
                <a:spcPct val="105000"/>
              </a:lnSpc>
              <a:spcBef>
                <a:spcPts val="0"/>
              </a:spcBef>
            </a:pPr>
            <a:r>
              <a:rPr sz="1000" b="1">
                <a:solidFill>
                  <a:srgbClr val="3A5C9E"/>
                </a:solidFill>
                <a:latin typeface="Calibri"/>
              </a:rPr>
              <a:t>WHAT WAS REPORTED</a:t>
            </a:r>
          </a:p>
          <a:p>
            <a:pPr algn="l">
              <a:lnSpc>
                <a:spcPct val="105000"/>
              </a:lnSpc>
              <a:spcBef>
                <a:spcPts val="500"/>
              </a:spcBef>
            </a:pPr>
            <a:r>
              <a:rPr sz="1100" b="0">
                <a:solidFill>
                  <a:srgbClr val="1B2A41"/>
                </a:solidFill>
                <a:latin typeface="Calibri"/>
              </a:rPr>
              <a:t>Adoption by over 98% of advisor teams. Advisor access to documents reported to have risen from roughly 20% to 80%. Leadership has publicly estimated savings of 10–15 hours a week per advisor.</a:t>
            </a:r>
          </a:p>
        </p:txBody>
      </p:sp>
      <p:sp>
        <p:nvSpPr>
          <p:cNvPr id="14" name="Rectangle 13"/>
          <p:cNvSpPr/>
          <p:nvPr/>
        </p:nvSpPr>
        <p:spPr>
          <a:xfrm>
            <a:off x="7680960" y="1572768"/>
            <a:ext cx="3959352" cy="3922776"/>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955279" y="1755648"/>
            <a:ext cx="3474720" cy="365760"/>
          </a:xfrm>
          <a:prstGeom prst="rect">
            <a:avLst/>
          </a:prstGeom>
          <a:noFill/>
        </p:spPr>
        <p:txBody>
          <a:bodyPr wrap="square" lIns="0" rIns="0" tIns="0" bIns="0" anchor="t">
            <a:spAutoFit/>
          </a:bodyPr>
          <a:lstStyle/>
          <a:p>
            <a:pPr algn="l">
              <a:lnSpc>
                <a:spcPct val="105000"/>
              </a:lnSpc>
              <a:spcBef>
                <a:spcPts val="0"/>
              </a:spcBef>
            </a:pPr>
            <a:r>
              <a:rPr sz="1400" b="1">
                <a:solidFill>
                  <a:srgbClr val="C9A227"/>
                </a:solidFill>
                <a:latin typeface="Georgia"/>
              </a:rPr>
              <a:t>What to take from it</a:t>
            </a:r>
          </a:p>
        </p:txBody>
      </p:sp>
      <p:sp>
        <p:nvSpPr>
          <p:cNvPr id="16" name="TextBox 15"/>
          <p:cNvSpPr txBox="1"/>
          <p:nvPr/>
        </p:nvSpPr>
        <p:spPr>
          <a:xfrm>
            <a:off x="7955279" y="2286000"/>
            <a:ext cx="3474720" cy="749808"/>
          </a:xfrm>
          <a:prstGeom prst="rect">
            <a:avLst/>
          </a:prstGeom>
          <a:noFill/>
        </p:spPr>
        <p:txBody>
          <a:bodyPr wrap="square" lIns="0" rIns="0" tIns="0" bIns="0" anchor="t">
            <a:spAutoFit/>
          </a:bodyPr>
          <a:lstStyle/>
          <a:p>
            <a:pPr algn="l">
              <a:lnSpc>
                <a:spcPct val="105000"/>
              </a:lnSpc>
              <a:spcBef>
                <a:spcPts val="0"/>
              </a:spcBef>
            </a:pPr>
            <a:r>
              <a:rPr sz="1050" b="1">
                <a:solidFill>
                  <a:srgbClr val="C9A227"/>
                </a:solidFill>
                <a:latin typeface="Calibri"/>
              </a:rPr>
              <a:t>▪  </a:t>
            </a:r>
            <a:r>
              <a:rPr sz="1050" b="0">
                <a:solidFill>
                  <a:srgbClr val="C9D6EE"/>
                </a:solidFill>
                <a:latin typeface="Calibri"/>
              </a:rPr>
              <a:t>It is grounded, not clever. The model answers from the firm's own documents.</a:t>
            </a:r>
          </a:p>
        </p:txBody>
      </p:sp>
      <p:sp>
        <p:nvSpPr>
          <p:cNvPr id="17" name="TextBox 16"/>
          <p:cNvSpPr txBox="1"/>
          <p:nvPr/>
        </p:nvSpPr>
        <p:spPr>
          <a:xfrm>
            <a:off x="7955279" y="3072384"/>
            <a:ext cx="3474720" cy="749808"/>
          </a:xfrm>
          <a:prstGeom prst="rect">
            <a:avLst/>
          </a:prstGeom>
          <a:noFill/>
        </p:spPr>
        <p:txBody>
          <a:bodyPr wrap="square" lIns="0" rIns="0" tIns="0" bIns="0" anchor="t">
            <a:spAutoFit/>
          </a:bodyPr>
          <a:lstStyle/>
          <a:p>
            <a:pPr algn="l">
              <a:lnSpc>
                <a:spcPct val="105000"/>
              </a:lnSpc>
              <a:spcBef>
                <a:spcPts val="0"/>
              </a:spcBef>
            </a:pPr>
            <a:r>
              <a:rPr sz="1050" b="1">
                <a:solidFill>
                  <a:srgbClr val="C9A227"/>
                </a:solidFill>
                <a:latin typeface="Calibri"/>
              </a:rPr>
              <a:t>▪  </a:t>
            </a:r>
            <a:r>
              <a:rPr sz="1050" b="0">
                <a:solidFill>
                  <a:srgbClr val="C9D6EE"/>
                </a:solidFill>
                <a:latin typeface="Calibri"/>
              </a:rPr>
              <a:t>It was pointed at the most repeated, most boring task on the desk — finding things. Not at giving advice.</a:t>
            </a:r>
          </a:p>
        </p:txBody>
      </p:sp>
      <p:sp>
        <p:nvSpPr>
          <p:cNvPr id="18" name="TextBox 17"/>
          <p:cNvSpPr txBox="1"/>
          <p:nvPr/>
        </p:nvSpPr>
        <p:spPr>
          <a:xfrm>
            <a:off x="7955279" y="3858768"/>
            <a:ext cx="3474720" cy="749808"/>
          </a:xfrm>
          <a:prstGeom prst="rect">
            <a:avLst/>
          </a:prstGeom>
          <a:noFill/>
        </p:spPr>
        <p:txBody>
          <a:bodyPr wrap="square" lIns="0" rIns="0" tIns="0" bIns="0" anchor="t">
            <a:spAutoFit/>
          </a:bodyPr>
          <a:lstStyle/>
          <a:p>
            <a:pPr algn="l">
              <a:lnSpc>
                <a:spcPct val="105000"/>
              </a:lnSpc>
              <a:spcBef>
                <a:spcPts val="0"/>
              </a:spcBef>
            </a:pPr>
            <a:r>
              <a:rPr sz="1050" b="1">
                <a:solidFill>
                  <a:srgbClr val="C9A227"/>
                </a:solidFill>
                <a:latin typeface="Calibri"/>
              </a:rPr>
              <a:t>▪  </a:t>
            </a:r>
            <a:r>
              <a:rPr sz="1050" b="0">
                <a:solidFill>
                  <a:srgbClr val="C9D6EE"/>
                </a:solidFill>
                <a:latin typeface="Calibri"/>
              </a:rPr>
              <a:t>A human still faces the client. The assistant drafts; the advisor signs.</a:t>
            </a:r>
          </a:p>
        </p:txBody>
      </p:sp>
      <p:sp>
        <p:nvSpPr>
          <p:cNvPr id="19" name="TextBox 18"/>
          <p:cNvSpPr txBox="1"/>
          <p:nvPr/>
        </p:nvSpPr>
        <p:spPr>
          <a:xfrm>
            <a:off x="7955279" y="4645152"/>
            <a:ext cx="3474720" cy="749808"/>
          </a:xfrm>
          <a:prstGeom prst="rect">
            <a:avLst/>
          </a:prstGeom>
          <a:noFill/>
        </p:spPr>
        <p:txBody>
          <a:bodyPr wrap="square" lIns="0" rIns="0" tIns="0" bIns="0" anchor="t">
            <a:spAutoFit/>
          </a:bodyPr>
          <a:lstStyle/>
          <a:p>
            <a:pPr algn="l">
              <a:lnSpc>
                <a:spcPct val="105000"/>
              </a:lnSpc>
              <a:spcBef>
                <a:spcPts val="0"/>
              </a:spcBef>
            </a:pPr>
            <a:r>
              <a:rPr sz="1050" b="1">
                <a:solidFill>
                  <a:srgbClr val="C9A227"/>
                </a:solidFill>
                <a:latin typeface="Calibri"/>
              </a:rPr>
              <a:t>▪  </a:t>
            </a:r>
            <a:r>
              <a:rPr sz="1050" b="0">
                <a:solidFill>
                  <a:srgbClr val="C9D6EE"/>
                </a:solidFill>
                <a:latin typeface="Calibri"/>
              </a:rPr>
              <a:t>Adoption followed evaluation: answers were tested against expert-written ones first.</a:t>
            </a:r>
          </a:p>
        </p:txBody>
      </p:sp>
      <p:sp>
        <p:nvSpPr>
          <p:cNvPr id="20" name="TextBox 19"/>
          <p:cNvSpPr txBox="1"/>
          <p:nvPr/>
        </p:nvSpPr>
        <p:spPr>
          <a:xfrm>
            <a:off x="548640" y="5943600"/>
            <a:ext cx="11091672" cy="310896"/>
          </a:xfrm>
          <a:prstGeom prst="rect">
            <a:avLst/>
          </a:prstGeom>
          <a:noFill/>
        </p:spPr>
        <p:txBody>
          <a:bodyPr wrap="square" lIns="0" rIns="0" tIns="0" bIns="0" anchor="t">
            <a:spAutoFit/>
          </a:bodyPr>
          <a:lstStyle/>
          <a:p>
            <a:pPr algn="l">
              <a:lnSpc>
                <a:spcPct val="105000"/>
              </a:lnSpc>
              <a:spcBef>
                <a:spcPts val="0"/>
              </a:spcBef>
            </a:pPr>
            <a:r>
              <a:rPr sz="1100" b="1">
                <a:solidFill>
                  <a:srgbClr val="0F2145"/>
                </a:solidFill>
                <a:latin typeface="Calibri"/>
              </a:rPr>
              <a:t>Discuss:  </a:t>
            </a:r>
            <a:r>
              <a:rPr sz="1100" b="0">
                <a:solidFill>
                  <a:srgbClr val="5D6B7E"/>
                </a:solidFill>
                <a:latin typeface="Calibri"/>
              </a:rPr>
              <a:t>which single workflow at an Indian bank or GCC would you point this at first — and what would you have to prove before compliance switched it on?    </a:t>
            </a:r>
            <a:r>
              <a:rPr sz="900" b="0">
                <a:solidFill>
                  <a:srgbClr val="8FA1C4"/>
                </a:solidFill>
                <a:latin typeface="Calibri"/>
              </a:rPr>
              <a:t>Figures as reported by Morgan Stanley and OpenAI.</a:t>
            </a:r>
          </a:p>
        </p:txBody>
      </p:sp>
      <p:sp>
        <p:nvSpPr>
          <p:cNvPr id="21" name="TextBox 20"/>
          <p:cNvSpPr txBox="1"/>
          <p:nvPr/>
        </p:nvSpPr>
        <p:spPr>
          <a:xfrm>
            <a:off x="548640" y="6473952"/>
            <a:ext cx="7315200" cy="274320"/>
          </a:xfrm>
          <a:prstGeom prst="rect">
            <a:avLst/>
          </a:prstGeom>
          <a:noFill/>
        </p:spPr>
        <p:txBody>
          <a:bodyPr wrap="square" lIns="0" rIns="0" tIns="0" bIns="0" anchor="t">
            <a:spAutoFit/>
          </a:bodyPr>
          <a:lstStyle/>
          <a:p>
            <a:pPr algn="l">
              <a:lnSpc>
                <a:spcPct val="105000"/>
              </a:lnSpc>
              <a:spcBef>
                <a:spcPts val="0"/>
              </a:spcBef>
            </a:pPr>
            <a:r>
              <a:rPr sz="850" b="0">
                <a:solidFill>
                  <a:srgbClr val="5D6B7E"/>
                </a:solidFill>
                <a:latin typeface="Calibri"/>
              </a:rPr>
              <a:t>ISBMS · PGDM 2025–27 · AGENTIC AI &amp; ADVANCED ANALYTICS IN FINANCE</a:t>
            </a:r>
          </a:p>
        </p:txBody>
      </p:sp>
      <p:sp>
        <p:nvSpPr>
          <p:cNvPr id="22" name="TextBox 21"/>
          <p:cNvSpPr txBox="1"/>
          <p:nvPr/>
        </p:nvSpPr>
        <p:spPr>
          <a:xfrm>
            <a:off x="9262872" y="6473952"/>
            <a:ext cx="2377440" cy="274320"/>
          </a:xfrm>
          <a:prstGeom prst="rect">
            <a:avLst/>
          </a:prstGeom>
          <a:noFill/>
        </p:spPr>
        <p:txBody>
          <a:bodyPr wrap="square" lIns="0" rIns="0" tIns="0" bIns="0" anchor="t">
            <a:spAutoFit/>
          </a:bodyPr>
          <a:lstStyle/>
          <a:p>
            <a:pPr algn="r">
              <a:lnSpc>
                <a:spcPct val="105000"/>
              </a:lnSpc>
              <a:spcBef>
                <a:spcPts val="0"/>
              </a:spcBef>
            </a:pPr>
            <a:r>
              <a:rPr sz="850" b="0">
                <a:solidFill>
                  <a:srgbClr val="5D6B7E"/>
                </a:solidFill>
                <a:latin typeface="Calibri"/>
              </a:rPr>
              <a:t>MODULE 1  ·  14</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310896"/>
            <a:ext cx="10817352" cy="292608"/>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HOUR 3 · THE LAB</a:t>
            </a:r>
          </a:p>
        </p:txBody>
      </p:sp>
      <p:sp>
        <p:nvSpPr>
          <p:cNvPr id="4" name="TextBox 3"/>
          <p:cNvSpPr txBox="1"/>
          <p:nvPr/>
        </p:nvSpPr>
        <p:spPr>
          <a:xfrm>
            <a:off x="548640" y="621792"/>
            <a:ext cx="11091672" cy="685800"/>
          </a:xfrm>
          <a:prstGeom prst="rect">
            <a:avLst/>
          </a:prstGeom>
          <a:noFill/>
        </p:spPr>
        <p:txBody>
          <a:bodyPr wrap="square" lIns="0" rIns="0" tIns="0" bIns="0" anchor="t">
            <a:spAutoFit/>
          </a:bodyPr>
          <a:lstStyle/>
          <a:p>
            <a:pPr algn="l">
              <a:lnSpc>
                <a:spcPct val="105000"/>
              </a:lnSpc>
              <a:spcBef>
                <a:spcPts val="0"/>
              </a:spcBef>
            </a:pPr>
            <a:r>
              <a:rPr sz="2900" b="1">
                <a:solidFill>
                  <a:srgbClr val="0F2145"/>
                </a:solidFill>
                <a:latin typeface="Georgia"/>
              </a:rPr>
              <a:t>Turn raw filing text into numbers you can trust</a:t>
            </a:r>
          </a:p>
        </p:txBody>
      </p:sp>
      <p:sp>
        <p:nvSpPr>
          <p:cNvPr id="5" name="Rectangle 4"/>
          <p:cNvSpPr/>
          <p:nvPr/>
        </p:nvSpPr>
        <p:spPr>
          <a:xfrm>
            <a:off x="548640" y="1572768"/>
            <a:ext cx="3611880" cy="1417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72768"/>
            <a:ext cx="64008" cy="1417320"/>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1719072"/>
            <a:ext cx="3154680" cy="1188720"/>
          </a:xfrm>
          <a:prstGeom prst="rect">
            <a:avLst/>
          </a:prstGeom>
          <a:noFill/>
        </p:spPr>
        <p:txBody>
          <a:bodyPr wrap="square" lIns="0" rIns="0" tIns="0" bIns="0" anchor="t">
            <a:spAutoFit/>
          </a:bodyPr>
          <a:lstStyle/>
          <a:p>
            <a:pPr algn="l">
              <a:lnSpc>
                <a:spcPct val="105000"/>
              </a:lnSpc>
              <a:spcBef>
                <a:spcPts val="0"/>
              </a:spcBef>
            </a:pPr>
            <a:r>
              <a:rPr sz="1000" b="1">
                <a:solidFill>
                  <a:srgbClr val="3A5C9E"/>
                </a:solidFill>
                <a:latin typeface="Calibri"/>
              </a:rPr>
              <a:t>INPUT</a:t>
            </a:r>
          </a:p>
          <a:p>
            <a:pPr algn="l">
              <a:lnSpc>
                <a:spcPct val="105000"/>
              </a:lnSpc>
              <a:spcBef>
                <a:spcPts val="500"/>
              </a:spcBef>
            </a:pPr>
            <a:r>
              <a:rPr sz="1100" b="0">
                <a:solidFill>
                  <a:srgbClr val="1B2A41"/>
                </a:solidFill>
                <a:latin typeface="Calibri"/>
              </a:rPr>
              <a:t>Three raw excerpts from Indian annual reports, copied straight out of the PDF — line breaks, footnote marks and messy spacing left in.</a:t>
            </a:r>
          </a:p>
        </p:txBody>
      </p:sp>
      <p:sp>
        <p:nvSpPr>
          <p:cNvPr id="8" name="Rectangle 7"/>
          <p:cNvSpPr/>
          <p:nvPr/>
        </p:nvSpPr>
        <p:spPr>
          <a:xfrm>
            <a:off x="4315968" y="1572768"/>
            <a:ext cx="3611880" cy="141732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315968" y="1572768"/>
            <a:ext cx="64008" cy="141732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0" y="1719072"/>
            <a:ext cx="3154680" cy="1188720"/>
          </a:xfrm>
          <a:prstGeom prst="rect">
            <a:avLst/>
          </a:prstGeom>
          <a:noFill/>
        </p:spPr>
        <p:txBody>
          <a:bodyPr wrap="square" lIns="0" rIns="0" tIns="0" bIns="0" anchor="t">
            <a:spAutoFit/>
          </a:bodyPr>
          <a:lstStyle/>
          <a:p>
            <a:pPr algn="l">
              <a:lnSpc>
                <a:spcPct val="105000"/>
              </a:lnSpc>
              <a:spcBef>
                <a:spcPts val="0"/>
              </a:spcBef>
            </a:pPr>
            <a:r>
              <a:rPr sz="1000" b="1">
                <a:solidFill>
                  <a:srgbClr val="C9A227"/>
                </a:solidFill>
                <a:latin typeface="Calibri"/>
              </a:rPr>
              <a:t>WHAT YOU BUILD</a:t>
            </a:r>
          </a:p>
          <a:p>
            <a:pPr algn="l">
              <a:lnSpc>
                <a:spcPct val="105000"/>
              </a:lnSpc>
              <a:spcBef>
                <a:spcPts val="500"/>
              </a:spcBef>
            </a:pPr>
            <a:r>
              <a:rPr sz="1100" b="0">
                <a:solidFill>
                  <a:srgbClr val="C9D6EE"/>
                </a:solidFill>
                <a:latin typeface="Calibri"/>
              </a:rPr>
              <a:t>One prompt plus about twenty lines of Python that send an excerpt to the Claude API and return the same fixed JSON object every time.</a:t>
            </a:r>
          </a:p>
        </p:txBody>
      </p:sp>
      <p:sp>
        <p:nvSpPr>
          <p:cNvPr id="11" name="Rectangle 10"/>
          <p:cNvSpPr/>
          <p:nvPr/>
        </p:nvSpPr>
        <p:spPr>
          <a:xfrm>
            <a:off x="8083296" y="1572768"/>
            <a:ext cx="3557016" cy="1417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083296" y="1572768"/>
            <a:ext cx="64008" cy="1417320"/>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1719072"/>
            <a:ext cx="3099816" cy="1188720"/>
          </a:xfrm>
          <a:prstGeom prst="rect">
            <a:avLst/>
          </a:prstGeom>
          <a:noFill/>
        </p:spPr>
        <p:txBody>
          <a:bodyPr wrap="square" lIns="0" rIns="0" tIns="0" bIns="0" anchor="t">
            <a:spAutoFit/>
          </a:bodyPr>
          <a:lstStyle/>
          <a:p>
            <a:pPr algn="l">
              <a:lnSpc>
                <a:spcPct val="105000"/>
              </a:lnSpc>
              <a:spcBef>
                <a:spcPts val="0"/>
              </a:spcBef>
            </a:pPr>
            <a:r>
              <a:rPr sz="1000" b="1">
                <a:solidFill>
                  <a:srgbClr val="3A5C9E"/>
                </a:solidFill>
                <a:latin typeface="Calibri"/>
              </a:rPr>
              <a:t>OUTPUT</a:t>
            </a:r>
          </a:p>
          <a:p>
            <a:pPr algn="l">
              <a:lnSpc>
                <a:spcPct val="105000"/>
              </a:lnSpc>
              <a:spcBef>
                <a:spcPts val="500"/>
              </a:spcBef>
            </a:pPr>
            <a:r>
              <a:rPr sz="1100" b="0">
                <a:solidFill>
                  <a:srgbClr val="1B2A41"/>
                </a:solidFill>
                <a:latin typeface="Calibri"/>
              </a:rPr>
              <a:t>Six income statement fields — revenue, other income, total expenses, PBT, tax, PAT — as plain numbers, with the unit and period.</a:t>
            </a:r>
          </a:p>
        </p:txBody>
      </p:sp>
      <p:sp>
        <p:nvSpPr>
          <p:cNvPr id="14" name="Rectangle 13"/>
          <p:cNvSpPr/>
          <p:nvPr/>
        </p:nvSpPr>
        <p:spPr>
          <a:xfrm>
            <a:off x="548640" y="3200400"/>
            <a:ext cx="2121408" cy="14630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200400"/>
            <a:ext cx="2121408" cy="4572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9808" y="3364992"/>
            <a:ext cx="1783080" cy="1188720"/>
          </a:xfrm>
          <a:prstGeom prst="rect">
            <a:avLst/>
          </a:prstGeom>
          <a:noFill/>
        </p:spPr>
        <p:txBody>
          <a:bodyPr wrap="square" lIns="0" rIns="0" tIns="0" bIns="0" anchor="t">
            <a:spAutoFit/>
          </a:bodyPr>
          <a:lstStyle/>
          <a:p>
            <a:pPr algn="l">
              <a:lnSpc>
                <a:spcPct val="105000"/>
              </a:lnSpc>
              <a:spcBef>
                <a:spcPts val="0"/>
              </a:spcBef>
            </a:pPr>
            <a:r>
              <a:rPr sz="1100" b="1">
                <a:solidFill>
                  <a:srgbClr val="0F2145"/>
                </a:solidFill>
                <a:latin typeface="Calibri"/>
              </a:rPr>
              <a:t>1 · Install</a:t>
            </a:r>
          </a:p>
          <a:p>
            <a:pPr algn="l">
              <a:lnSpc>
                <a:spcPct val="105000"/>
              </a:lnSpc>
              <a:spcBef>
                <a:spcPts val="400"/>
              </a:spcBef>
            </a:pPr>
            <a:r>
              <a:rPr sz="950" b="0">
                <a:solidFill>
                  <a:srgbClr val="5D6B7E"/>
                </a:solidFill>
                <a:latin typeface="Calibri"/>
              </a:rPr>
              <a:t>Python 3.11+ and VS Code, plus the Python extension.</a:t>
            </a:r>
          </a:p>
        </p:txBody>
      </p:sp>
      <p:sp>
        <p:nvSpPr>
          <p:cNvPr id="17" name="Rectangle 16"/>
          <p:cNvSpPr/>
          <p:nvPr/>
        </p:nvSpPr>
        <p:spPr>
          <a:xfrm>
            <a:off x="2807208" y="3200400"/>
            <a:ext cx="2121408" cy="14630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807208" y="3200400"/>
            <a:ext cx="2121408" cy="4572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008376" y="3364992"/>
            <a:ext cx="1783080" cy="1188720"/>
          </a:xfrm>
          <a:prstGeom prst="rect">
            <a:avLst/>
          </a:prstGeom>
          <a:noFill/>
        </p:spPr>
        <p:txBody>
          <a:bodyPr wrap="square" lIns="0" rIns="0" tIns="0" bIns="0" anchor="t">
            <a:spAutoFit/>
          </a:bodyPr>
          <a:lstStyle/>
          <a:p>
            <a:pPr algn="l">
              <a:lnSpc>
                <a:spcPct val="105000"/>
              </a:lnSpc>
              <a:spcBef>
                <a:spcPts val="0"/>
              </a:spcBef>
            </a:pPr>
            <a:r>
              <a:rPr sz="1100" b="1">
                <a:solidFill>
                  <a:srgbClr val="0F2145"/>
                </a:solidFill>
                <a:latin typeface="Calibri"/>
              </a:rPr>
              <a:t>2 · SDK</a:t>
            </a:r>
          </a:p>
          <a:p>
            <a:pPr algn="l">
              <a:lnSpc>
                <a:spcPct val="105000"/>
              </a:lnSpc>
              <a:spcBef>
                <a:spcPts val="400"/>
              </a:spcBef>
            </a:pPr>
            <a:r>
              <a:rPr sz="950" b="0">
                <a:solidFill>
                  <a:srgbClr val="5D6B7E"/>
                </a:solidFill>
                <a:latin typeface="Calibri"/>
              </a:rPr>
              <a:t>In the terminal: pip install anthropic python-dotenv</a:t>
            </a:r>
          </a:p>
        </p:txBody>
      </p:sp>
      <p:sp>
        <p:nvSpPr>
          <p:cNvPr id="20" name="Rectangle 19"/>
          <p:cNvSpPr/>
          <p:nvPr/>
        </p:nvSpPr>
        <p:spPr>
          <a:xfrm>
            <a:off x="5065776" y="3200400"/>
            <a:ext cx="2121408" cy="14630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065776" y="3200400"/>
            <a:ext cx="2121408" cy="4572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266944" y="3364992"/>
            <a:ext cx="1783080" cy="1188720"/>
          </a:xfrm>
          <a:prstGeom prst="rect">
            <a:avLst/>
          </a:prstGeom>
          <a:noFill/>
        </p:spPr>
        <p:txBody>
          <a:bodyPr wrap="square" lIns="0" rIns="0" tIns="0" bIns="0" anchor="t">
            <a:spAutoFit/>
          </a:bodyPr>
          <a:lstStyle/>
          <a:p>
            <a:pPr algn="l">
              <a:lnSpc>
                <a:spcPct val="105000"/>
              </a:lnSpc>
              <a:spcBef>
                <a:spcPts val="0"/>
              </a:spcBef>
            </a:pPr>
            <a:r>
              <a:rPr sz="1100" b="1">
                <a:solidFill>
                  <a:srgbClr val="0F2145"/>
                </a:solidFill>
                <a:latin typeface="Calibri"/>
              </a:rPr>
              <a:t>3 · Key</a:t>
            </a:r>
          </a:p>
          <a:p>
            <a:pPr algn="l">
              <a:lnSpc>
                <a:spcPct val="105000"/>
              </a:lnSpc>
              <a:spcBef>
                <a:spcPts val="400"/>
              </a:spcBef>
            </a:pPr>
            <a:r>
              <a:rPr sz="950" b="0">
                <a:solidFill>
                  <a:srgbClr val="5D6B7E"/>
                </a:solidFill>
                <a:latin typeface="Calibri"/>
              </a:rPr>
              <a:t>Put ANTHROPIC_API_KEY in a .env file. Add .env to .gitignore first.</a:t>
            </a:r>
          </a:p>
        </p:txBody>
      </p:sp>
      <p:sp>
        <p:nvSpPr>
          <p:cNvPr id="23" name="Rectangle 22"/>
          <p:cNvSpPr/>
          <p:nvPr/>
        </p:nvSpPr>
        <p:spPr>
          <a:xfrm>
            <a:off x="7324344" y="3200400"/>
            <a:ext cx="2121408" cy="14630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324344" y="3200400"/>
            <a:ext cx="2121408" cy="4572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525512" y="3364992"/>
            <a:ext cx="1783080" cy="1188720"/>
          </a:xfrm>
          <a:prstGeom prst="rect">
            <a:avLst/>
          </a:prstGeom>
          <a:noFill/>
        </p:spPr>
        <p:txBody>
          <a:bodyPr wrap="square" lIns="0" rIns="0" tIns="0" bIns="0" anchor="t">
            <a:spAutoFit/>
          </a:bodyPr>
          <a:lstStyle/>
          <a:p>
            <a:pPr algn="l">
              <a:lnSpc>
                <a:spcPct val="105000"/>
              </a:lnSpc>
              <a:spcBef>
                <a:spcPts val="0"/>
              </a:spcBef>
            </a:pPr>
            <a:r>
              <a:rPr sz="1100" b="1">
                <a:solidFill>
                  <a:srgbClr val="0F2145"/>
                </a:solidFill>
                <a:latin typeface="Calibri"/>
              </a:rPr>
              <a:t>4 · Folder</a:t>
            </a:r>
          </a:p>
          <a:p>
            <a:pPr algn="l">
              <a:lnSpc>
                <a:spcPct val="105000"/>
              </a:lnSpc>
              <a:spcBef>
                <a:spcPts val="400"/>
              </a:spcBef>
            </a:pPr>
            <a:r>
              <a:rPr sz="950" b="0">
                <a:solidFill>
                  <a:srgbClr val="5D6B7E"/>
                </a:solidFill>
                <a:latin typeface="Calibri"/>
              </a:rPr>
              <a:t>module1-extraction/ with prompt.txt, extract.py, excerpts/, output/</a:t>
            </a:r>
          </a:p>
        </p:txBody>
      </p:sp>
      <p:sp>
        <p:nvSpPr>
          <p:cNvPr id="26" name="Rectangle 25"/>
          <p:cNvSpPr/>
          <p:nvPr/>
        </p:nvSpPr>
        <p:spPr>
          <a:xfrm>
            <a:off x="9582912" y="3200400"/>
            <a:ext cx="2121408" cy="14630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582912" y="3200400"/>
            <a:ext cx="2121408" cy="4572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784080" y="3364992"/>
            <a:ext cx="1783080" cy="1188720"/>
          </a:xfrm>
          <a:prstGeom prst="rect">
            <a:avLst/>
          </a:prstGeom>
          <a:noFill/>
        </p:spPr>
        <p:txBody>
          <a:bodyPr wrap="square" lIns="0" rIns="0" tIns="0" bIns="0" anchor="t">
            <a:spAutoFit/>
          </a:bodyPr>
          <a:lstStyle/>
          <a:p>
            <a:pPr algn="l">
              <a:lnSpc>
                <a:spcPct val="105000"/>
              </a:lnSpc>
              <a:spcBef>
                <a:spcPts val="0"/>
              </a:spcBef>
            </a:pPr>
            <a:r>
              <a:rPr sz="1100" b="1">
                <a:solidFill>
                  <a:srgbClr val="0F2145"/>
                </a:solidFill>
                <a:latin typeface="Calibri"/>
              </a:rPr>
              <a:t>5 · Excerpts</a:t>
            </a:r>
          </a:p>
          <a:p>
            <a:pPr algn="l">
              <a:lnSpc>
                <a:spcPct val="105000"/>
              </a:lnSpc>
              <a:spcBef>
                <a:spcPts val="400"/>
              </a:spcBef>
            </a:pPr>
            <a:r>
              <a:rPr sz="950" b="0">
                <a:solidFill>
                  <a:srgbClr val="5D6B7E"/>
                </a:solidFill>
                <a:latin typeface="Calibri"/>
              </a:rPr>
              <a:t>Save three P&amp;L pages as .txt. Do not tidy them up — the mess is the test.</a:t>
            </a:r>
          </a:p>
        </p:txBody>
      </p:sp>
      <p:sp>
        <p:nvSpPr>
          <p:cNvPr id="29" name="Rectangle 28"/>
          <p:cNvSpPr/>
          <p:nvPr/>
        </p:nvSpPr>
        <p:spPr>
          <a:xfrm>
            <a:off x="548640" y="4846320"/>
            <a:ext cx="11091672" cy="1005840"/>
          </a:xfrm>
          <a:prstGeom prst="rect">
            <a:avLst/>
          </a:prstGeom>
          <a:solidFill>
            <a:srgbClr val="E9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2960" y="4983480"/>
            <a:ext cx="10515600" cy="822960"/>
          </a:xfrm>
          <a:prstGeom prst="rect">
            <a:avLst/>
          </a:prstGeom>
          <a:noFill/>
        </p:spPr>
        <p:txBody>
          <a:bodyPr wrap="square" lIns="0" rIns="0" tIns="0" bIns="0" anchor="t">
            <a:spAutoFit/>
          </a:bodyPr>
          <a:lstStyle/>
          <a:p>
            <a:pPr algn="l">
              <a:lnSpc>
                <a:spcPct val="105000"/>
              </a:lnSpc>
              <a:spcBef>
                <a:spcPts val="0"/>
              </a:spcBef>
            </a:pPr>
            <a:r>
              <a:rPr sz="1150" b="1">
                <a:solidFill>
                  <a:srgbClr val="0F2145"/>
                </a:solidFill>
                <a:latin typeface="Calibri"/>
              </a:rPr>
              <a:t>The one rule that makes this hard</a:t>
            </a:r>
          </a:p>
          <a:p>
            <a:pPr algn="l">
              <a:lnSpc>
                <a:spcPct val="105000"/>
              </a:lnSpc>
              <a:spcBef>
                <a:spcPts val="500"/>
              </a:spcBef>
            </a:pPr>
            <a:r>
              <a:rPr sz="1100" b="0">
                <a:solidFill>
                  <a:srgbClr val="1B2A41"/>
                </a:solidFill>
                <a:latin typeface="Calibri"/>
              </a:rPr>
              <a:t>The model must never produce a number that is not printed in the text. If a field is missing it returns null. A tool that quietly guesses is worse than no tool, because a guess that looks like data travels into a report and out to a client before anyone checks it.</a:t>
            </a:r>
          </a:p>
        </p:txBody>
      </p:sp>
      <p:sp>
        <p:nvSpPr>
          <p:cNvPr id="31" name="Rectangle 30"/>
          <p:cNvSpPr/>
          <p:nvPr/>
        </p:nvSpPr>
        <p:spPr>
          <a:xfrm>
            <a:off x="548640" y="5989320"/>
            <a:ext cx="11091672" cy="41148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2960" y="5989320"/>
            <a:ext cx="10543032" cy="411480"/>
          </a:xfrm>
          <a:prstGeom prst="rect">
            <a:avLst/>
          </a:prstGeom>
          <a:noFill/>
        </p:spPr>
        <p:txBody>
          <a:bodyPr wrap="square" lIns="0" rIns="0" tIns="0" bIns="0" anchor="ctr">
            <a:spAutoFit/>
          </a:bodyPr>
          <a:lstStyle/>
          <a:p>
            <a:pPr algn="l">
              <a:lnSpc>
                <a:spcPct val="105000"/>
              </a:lnSpc>
              <a:spcBef>
                <a:spcPts val="0"/>
              </a:spcBef>
            </a:pPr>
            <a:r>
              <a:rPr sz="1250" b="1">
                <a:solidFill>
                  <a:srgbClr val="C9A227"/>
                </a:solidFill>
                <a:latin typeface="Calibri"/>
              </a:rPr>
              <a:t>Success:  </a:t>
            </a:r>
            <a:r>
              <a:rPr sz="1250" b="0">
                <a:solidFill>
                  <a:srgbClr val="FFFFFF"/>
                </a:solidFill>
                <a:latin typeface="Calibri"/>
              </a:rPr>
              <a:t>three excerpts, three valid JSON objects, every number traceable to a printed line, and a written note of what broke.</a:t>
            </a:r>
          </a:p>
        </p:txBody>
      </p:sp>
      <p:sp>
        <p:nvSpPr>
          <p:cNvPr id="33" name="TextBox 32"/>
          <p:cNvSpPr txBox="1"/>
          <p:nvPr/>
        </p:nvSpPr>
        <p:spPr>
          <a:xfrm>
            <a:off x="548640" y="6473952"/>
            <a:ext cx="7315200" cy="274320"/>
          </a:xfrm>
          <a:prstGeom prst="rect">
            <a:avLst/>
          </a:prstGeom>
          <a:noFill/>
        </p:spPr>
        <p:txBody>
          <a:bodyPr wrap="square" lIns="0" rIns="0" tIns="0" bIns="0" anchor="t">
            <a:spAutoFit/>
          </a:bodyPr>
          <a:lstStyle/>
          <a:p>
            <a:pPr algn="l">
              <a:lnSpc>
                <a:spcPct val="105000"/>
              </a:lnSpc>
              <a:spcBef>
                <a:spcPts val="0"/>
              </a:spcBef>
            </a:pPr>
            <a:r>
              <a:rPr sz="850" b="0">
                <a:solidFill>
                  <a:srgbClr val="5D6B7E"/>
                </a:solidFill>
                <a:latin typeface="Calibri"/>
              </a:rPr>
              <a:t>ISBMS · PGDM 2025–27 · AGENTIC AI &amp; ADVANCED ANALYTICS IN FINANCE</a:t>
            </a:r>
          </a:p>
        </p:txBody>
      </p:sp>
      <p:sp>
        <p:nvSpPr>
          <p:cNvPr id="34" name="TextBox 33"/>
          <p:cNvSpPr txBox="1"/>
          <p:nvPr/>
        </p:nvSpPr>
        <p:spPr>
          <a:xfrm>
            <a:off x="9262872" y="6473952"/>
            <a:ext cx="2377440" cy="274320"/>
          </a:xfrm>
          <a:prstGeom prst="rect">
            <a:avLst/>
          </a:prstGeom>
          <a:noFill/>
        </p:spPr>
        <p:txBody>
          <a:bodyPr wrap="square" lIns="0" rIns="0" tIns="0" bIns="0" anchor="t">
            <a:spAutoFit/>
          </a:bodyPr>
          <a:lstStyle/>
          <a:p>
            <a:pPr algn="r">
              <a:lnSpc>
                <a:spcPct val="105000"/>
              </a:lnSpc>
              <a:spcBef>
                <a:spcPts val="0"/>
              </a:spcBef>
            </a:pPr>
            <a:r>
              <a:rPr sz="850" b="0">
                <a:solidFill>
                  <a:srgbClr val="5D6B7E"/>
                </a:solidFill>
                <a:latin typeface="Calibri"/>
              </a:rPr>
              <a:t>MODULE 1  ·  15</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310896"/>
            <a:ext cx="10817352" cy="292608"/>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LAB · STEP 1</a:t>
            </a:r>
          </a:p>
        </p:txBody>
      </p:sp>
      <p:sp>
        <p:nvSpPr>
          <p:cNvPr id="4" name="TextBox 3"/>
          <p:cNvSpPr txBox="1"/>
          <p:nvPr/>
        </p:nvSpPr>
        <p:spPr>
          <a:xfrm>
            <a:off x="548640" y="621792"/>
            <a:ext cx="11091672" cy="685800"/>
          </a:xfrm>
          <a:prstGeom prst="rect">
            <a:avLst/>
          </a:prstGeom>
          <a:noFill/>
        </p:spPr>
        <p:txBody>
          <a:bodyPr wrap="square" lIns="0" rIns="0" tIns="0" bIns="0" anchor="t">
            <a:spAutoFit/>
          </a:bodyPr>
          <a:lstStyle/>
          <a:p>
            <a:pPr algn="l">
              <a:lnSpc>
                <a:spcPct val="105000"/>
              </a:lnSpc>
              <a:spcBef>
                <a:spcPts val="0"/>
              </a:spcBef>
            </a:pPr>
            <a:r>
              <a:rPr sz="2900" b="1">
                <a:solidFill>
                  <a:srgbClr val="0F2145"/>
                </a:solidFill>
                <a:latin typeface="Georgia"/>
              </a:rPr>
              <a:t>prompt.txt — role, task, schema, rules, then the text</a:t>
            </a:r>
          </a:p>
        </p:txBody>
      </p:sp>
      <p:sp>
        <p:nvSpPr>
          <p:cNvPr id="5" name="Rectangle 4"/>
          <p:cNvSpPr/>
          <p:nvPr/>
        </p:nvSpPr>
        <p:spPr>
          <a:xfrm>
            <a:off x="548640" y="1572768"/>
            <a:ext cx="7040880" cy="443484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1719072"/>
            <a:ext cx="6583680" cy="256032"/>
          </a:xfrm>
          <a:prstGeom prst="rect">
            <a:avLst/>
          </a:prstGeom>
          <a:noFill/>
        </p:spPr>
        <p:txBody>
          <a:bodyPr wrap="square" lIns="0" rIns="0" tIns="0" bIns="0" anchor="t">
            <a:spAutoFit/>
          </a:bodyPr>
          <a:lstStyle/>
          <a:p>
            <a:pPr algn="l">
              <a:lnSpc>
                <a:spcPct val="105000"/>
              </a:lnSpc>
              <a:spcBef>
                <a:spcPts val="0"/>
              </a:spcBef>
            </a:pPr>
            <a:r>
              <a:rPr sz="1000" b="1">
                <a:solidFill>
                  <a:srgbClr val="C9A227"/>
                </a:solidFill>
                <a:latin typeface="Calibri"/>
              </a:rPr>
              <a:t>prompt.txt</a:t>
            </a:r>
          </a:p>
        </p:txBody>
      </p:sp>
      <p:sp>
        <p:nvSpPr>
          <p:cNvPr id="7" name="TextBox 6"/>
          <p:cNvSpPr txBox="1"/>
          <p:nvPr/>
        </p:nvSpPr>
        <p:spPr>
          <a:xfrm>
            <a:off x="804672" y="2066543"/>
            <a:ext cx="6583680" cy="3776472"/>
          </a:xfrm>
          <a:prstGeom prst="rect">
            <a:avLst/>
          </a:prstGeom>
          <a:noFill/>
        </p:spPr>
        <p:txBody>
          <a:bodyPr wrap="square" lIns="0" rIns="0" tIns="0" bIns="0" anchor="t">
            <a:spAutoFit/>
          </a:bodyPr>
          <a:lstStyle/>
          <a:p>
            <a:pPr algn="l">
              <a:lnSpc>
                <a:spcPct val="105000"/>
              </a:lnSpc>
              <a:spcBef>
                <a:spcPts val="0"/>
              </a:spcBef>
            </a:pPr>
            <a:r>
              <a:rPr sz="1050" b="0">
                <a:solidFill>
                  <a:srgbClr val="C9D6EE"/>
                </a:solidFill>
                <a:latin typeface="Consolas"/>
              </a:rPr>
              <a:t>You are a financial data extraction engine for an equity</a:t>
            </a:r>
          </a:p>
          <a:p>
            <a:pPr algn="l">
              <a:lnSpc>
                <a:spcPct val="105000"/>
              </a:lnSpc>
              <a:spcBef>
                <a:spcPts val="250"/>
              </a:spcBef>
            </a:pPr>
            <a:r>
              <a:rPr sz="1050" b="0">
                <a:solidFill>
                  <a:srgbClr val="C9D6EE"/>
                </a:solidFill>
                <a:latin typeface="Consolas"/>
              </a:rPr>
              <a:t>research desk. You do not analyse. You only extract.</a:t>
            </a:r>
          </a:p>
          <a:p>
            <a:pPr algn="l">
              <a:lnSpc>
                <a:spcPct val="105000"/>
              </a:lnSpc>
              <a:spcBef>
                <a:spcPts val="250"/>
              </a:spcBef>
            </a:pPr>
            <a:r>
              <a:rPr sz="1050" b="0">
                <a:solidFill>
                  <a:srgbClr val="C9D6EE"/>
                </a:solidFill>
                <a:latin typeface="Consolas"/>
              </a:rPr>
              <a:t> </a:t>
            </a:r>
          </a:p>
          <a:p>
            <a:pPr algn="l">
              <a:lnSpc>
                <a:spcPct val="105000"/>
              </a:lnSpc>
              <a:spcBef>
                <a:spcPts val="250"/>
              </a:spcBef>
            </a:pPr>
            <a:r>
              <a:rPr sz="1050" b="0">
                <a:solidFill>
                  <a:srgbClr val="C9A227"/>
                </a:solidFill>
                <a:latin typeface="Consolas"/>
              </a:rPr>
              <a:t>TASK</a:t>
            </a:r>
          </a:p>
          <a:p>
            <a:pPr algn="l">
              <a:lnSpc>
                <a:spcPct val="105000"/>
              </a:lnSpc>
              <a:spcBef>
                <a:spcPts val="250"/>
              </a:spcBef>
            </a:pPr>
            <a:r>
              <a:rPr sz="1050" b="0">
                <a:solidFill>
                  <a:srgbClr val="C9D6EE"/>
                </a:solidFill>
                <a:latin typeface="Consolas"/>
              </a:rPr>
              <a:t>From the ANNUAL REPORT TEXT below, extract the income</a:t>
            </a:r>
          </a:p>
          <a:p>
            <a:pPr algn="l">
              <a:lnSpc>
                <a:spcPct val="105000"/>
              </a:lnSpc>
              <a:spcBef>
                <a:spcPts val="250"/>
              </a:spcBef>
            </a:pPr>
            <a:r>
              <a:rPr sz="1050" b="0">
                <a:solidFill>
                  <a:srgbClr val="C9D6EE"/>
                </a:solidFill>
                <a:latin typeface="Consolas"/>
              </a:rPr>
              <a:t>statement line items for the period stated in the text.</a:t>
            </a:r>
          </a:p>
          <a:p>
            <a:pPr algn="l">
              <a:lnSpc>
                <a:spcPct val="105000"/>
              </a:lnSpc>
              <a:spcBef>
                <a:spcPts val="250"/>
              </a:spcBef>
            </a:pPr>
            <a:r>
              <a:rPr sz="1050" b="0">
                <a:solidFill>
                  <a:srgbClr val="C9D6EE"/>
                </a:solidFill>
                <a:latin typeface="Consolas"/>
              </a:rPr>
              <a:t> </a:t>
            </a:r>
          </a:p>
          <a:p>
            <a:pPr algn="l">
              <a:lnSpc>
                <a:spcPct val="105000"/>
              </a:lnSpc>
              <a:spcBef>
                <a:spcPts val="250"/>
              </a:spcBef>
            </a:pPr>
            <a:r>
              <a:rPr sz="1050" b="0">
                <a:solidFill>
                  <a:srgbClr val="C9A227"/>
                </a:solidFill>
                <a:latin typeface="Consolas"/>
              </a:rPr>
              <a:t>OUTPUT — return this JSON object and nothing else:</a:t>
            </a:r>
          </a:p>
          <a:p>
            <a:pPr algn="l">
              <a:lnSpc>
                <a:spcPct val="105000"/>
              </a:lnSpc>
              <a:spcBef>
                <a:spcPts val="250"/>
              </a:spcBef>
            </a:pPr>
            <a:r>
              <a:rPr sz="1050" b="0">
                <a:solidFill>
                  <a:srgbClr val="FFFFFF"/>
                </a:solidFill>
                <a:latin typeface="Consolas"/>
              </a:rPr>
              <a:t>{"company": str, "period": str, "unit": str,</a:t>
            </a:r>
          </a:p>
          <a:p>
            <a:pPr algn="l">
              <a:lnSpc>
                <a:spcPct val="105000"/>
              </a:lnSpc>
              <a:spcBef>
                <a:spcPts val="250"/>
              </a:spcBef>
            </a:pPr>
            <a:r>
              <a:rPr sz="1050" b="0">
                <a:solidFill>
                  <a:srgbClr val="FFFFFF"/>
                </a:solidFill>
                <a:latin typeface="Consolas"/>
              </a:rPr>
              <a:t> "items": {"revenue_from_operations": num|null,</a:t>
            </a:r>
          </a:p>
          <a:p>
            <a:pPr algn="l">
              <a:lnSpc>
                <a:spcPct val="105000"/>
              </a:lnSpc>
              <a:spcBef>
                <a:spcPts val="250"/>
              </a:spcBef>
            </a:pPr>
            <a:r>
              <a:rPr sz="1050" b="0">
                <a:solidFill>
                  <a:srgbClr val="FFFFFF"/>
                </a:solidFill>
                <a:latin typeface="Consolas"/>
              </a:rPr>
              <a:t>           "other_income": num|null,</a:t>
            </a:r>
          </a:p>
          <a:p>
            <a:pPr algn="l">
              <a:lnSpc>
                <a:spcPct val="105000"/>
              </a:lnSpc>
              <a:spcBef>
                <a:spcPts val="250"/>
              </a:spcBef>
            </a:pPr>
            <a:r>
              <a:rPr sz="1050" b="0">
                <a:solidFill>
                  <a:srgbClr val="FFFFFF"/>
                </a:solidFill>
                <a:latin typeface="Consolas"/>
              </a:rPr>
              <a:t>           "total_expenses": num|null,</a:t>
            </a:r>
          </a:p>
          <a:p>
            <a:pPr algn="l">
              <a:lnSpc>
                <a:spcPct val="105000"/>
              </a:lnSpc>
              <a:spcBef>
                <a:spcPts val="250"/>
              </a:spcBef>
            </a:pPr>
            <a:r>
              <a:rPr sz="1050" b="0">
                <a:solidFill>
                  <a:srgbClr val="FFFFFF"/>
                </a:solidFill>
                <a:latin typeface="Consolas"/>
              </a:rPr>
              <a:t>           "profit_before_tax": num|null,</a:t>
            </a:r>
          </a:p>
          <a:p>
            <a:pPr algn="l">
              <a:lnSpc>
                <a:spcPct val="105000"/>
              </a:lnSpc>
              <a:spcBef>
                <a:spcPts val="250"/>
              </a:spcBef>
            </a:pPr>
            <a:r>
              <a:rPr sz="1050" b="0">
                <a:solidFill>
                  <a:srgbClr val="FFFFFF"/>
                </a:solidFill>
                <a:latin typeface="Consolas"/>
              </a:rPr>
              <a:t>           "tax_expense": num|null,</a:t>
            </a:r>
          </a:p>
          <a:p>
            <a:pPr algn="l">
              <a:lnSpc>
                <a:spcPct val="105000"/>
              </a:lnSpc>
              <a:spcBef>
                <a:spcPts val="250"/>
              </a:spcBef>
            </a:pPr>
            <a:r>
              <a:rPr sz="1050" b="0">
                <a:solidFill>
                  <a:srgbClr val="FFFFFF"/>
                </a:solidFill>
                <a:latin typeface="Consolas"/>
              </a:rPr>
              <a:t>           "profit_after_tax": num|null}}</a:t>
            </a:r>
          </a:p>
          <a:p>
            <a:pPr algn="l">
              <a:lnSpc>
                <a:spcPct val="105000"/>
              </a:lnSpc>
              <a:spcBef>
                <a:spcPts val="250"/>
              </a:spcBef>
            </a:pPr>
            <a:r>
              <a:rPr sz="1050" b="0">
                <a:solidFill>
                  <a:srgbClr val="C9D6EE"/>
                </a:solidFill>
                <a:latin typeface="Consolas"/>
              </a:rPr>
              <a:t> </a:t>
            </a:r>
          </a:p>
          <a:p>
            <a:pPr algn="l">
              <a:lnSpc>
                <a:spcPct val="105000"/>
              </a:lnSpc>
              <a:spcBef>
                <a:spcPts val="250"/>
              </a:spcBef>
            </a:pPr>
            <a:r>
              <a:rPr sz="1050" b="0">
                <a:solidFill>
                  <a:srgbClr val="C9A227"/>
                </a:solidFill>
                <a:latin typeface="Consolas"/>
              </a:rPr>
              <a:t>RULES</a:t>
            </a:r>
          </a:p>
          <a:p>
            <a:pPr algn="l">
              <a:lnSpc>
                <a:spcPct val="105000"/>
              </a:lnSpc>
              <a:spcBef>
                <a:spcPts val="250"/>
              </a:spcBef>
            </a:pPr>
            <a:r>
              <a:rPr sz="1050" b="0">
                <a:solidFill>
                  <a:srgbClr val="C9D6EE"/>
                </a:solidFill>
                <a:latin typeface="Consolas"/>
              </a:rPr>
              <a:t>1. Copy numbers exactly as printed. Do not compute,</a:t>
            </a:r>
          </a:p>
          <a:p>
            <a:pPr algn="l">
              <a:lnSpc>
                <a:spcPct val="105000"/>
              </a:lnSpc>
              <a:spcBef>
                <a:spcPts val="250"/>
              </a:spcBef>
            </a:pPr>
            <a:r>
              <a:rPr sz="1050" b="0">
                <a:solidFill>
                  <a:srgbClr val="C9D6EE"/>
                </a:solidFill>
                <a:latin typeface="Consolas"/>
              </a:rPr>
              <a:t>   round, convert or infer anything.</a:t>
            </a:r>
          </a:p>
          <a:p>
            <a:pPr algn="l">
              <a:lnSpc>
                <a:spcPct val="105000"/>
              </a:lnSpc>
              <a:spcBef>
                <a:spcPts val="250"/>
              </a:spcBef>
            </a:pPr>
            <a:r>
              <a:rPr sz="1050" b="0">
                <a:solidFill>
                  <a:srgbClr val="C9D6EE"/>
                </a:solidFill>
                <a:latin typeface="Consolas"/>
              </a:rPr>
              <a:t>2. If a line item is absent, return null. Never guess.</a:t>
            </a:r>
          </a:p>
          <a:p>
            <a:pPr algn="l">
              <a:lnSpc>
                <a:spcPct val="105000"/>
              </a:lnSpc>
              <a:spcBef>
                <a:spcPts val="250"/>
              </a:spcBef>
            </a:pPr>
            <a:r>
              <a:rPr sz="1050" b="0">
                <a:solidFill>
                  <a:srgbClr val="C9D6EE"/>
                </a:solidFill>
                <a:latin typeface="Consolas"/>
              </a:rPr>
              <a:t>3. Write numbers as plain digits: 148320, not 1,48,320.</a:t>
            </a:r>
          </a:p>
          <a:p>
            <a:pPr algn="l">
              <a:lnSpc>
                <a:spcPct val="105000"/>
              </a:lnSpc>
              <a:spcBef>
                <a:spcPts val="250"/>
              </a:spcBef>
            </a:pPr>
            <a:r>
              <a:rPr sz="1050" b="0">
                <a:solidFill>
                  <a:srgbClr val="C9D6EE"/>
                </a:solidFill>
                <a:latin typeface="Consolas"/>
              </a:rPr>
              <a:t>4. Put the printed unit in "unit" — e.g. "INR crore".</a:t>
            </a:r>
          </a:p>
          <a:p>
            <a:pPr algn="l">
              <a:lnSpc>
                <a:spcPct val="105000"/>
              </a:lnSpc>
              <a:spcBef>
                <a:spcPts val="250"/>
              </a:spcBef>
            </a:pPr>
            <a:r>
              <a:rPr sz="1050" b="0">
                <a:solidFill>
                  <a:srgbClr val="C9D6EE"/>
                </a:solidFill>
                <a:latin typeface="Consolas"/>
              </a:rPr>
              <a:t>5. No text before or after the JSON.</a:t>
            </a:r>
          </a:p>
          <a:p>
            <a:pPr algn="l">
              <a:lnSpc>
                <a:spcPct val="105000"/>
              </a:lnSpc>
              <a:spcBef>
                <a:spcPts val="250"/>
              </a:spcBef>
            </a:pPr>
            <a:r>
              <a:rPr sz="1050" b="0">
                <a:solidFill>
                  <a:srgbClr val="C9D6EE"/>
                </a:solidFill>
                <a:latin typeface="Consolas"/>
              </a:rPr>
              <a:t> </a:t>
            </a:r>
          </a:p>
          <a:p>
            <a:pPr algn="l">
              <a:lnSpc>
                <a:spcPct val="105000"/>
              </a:lnSpc>
              <a:spcBef>
                <a:spcPts val="250"/>
              </a:spcBef>
            </a:pPr>
            <a:r>
              <a:rPr sz="1050" b="0">
                <a:solidFill>
                  <a:srgbClr val="C9A227"/>
                </a:solidFill>
                <a:latin typeface="Consolas"/>
              </a:rPr>
              <a:t>ANNUAL REPORT TEXT</a:t>
            </a:r>
          </a:p>
          <a:p>
            <a:pPr algn="l">
              <a:lnSpc>
                <a:spcPct val="105000"/>
              </a:lnSpc>
              <a:spcBef>
                <a:spcPts val="250"/>
              </a:spcBef>
            </a:pPr>
            <a:r>
              <a:rPr sz="1050" b="0">
                <a:solidFill>
                  <a:srgbClr val="8FA1C4"/>
                </a:solidFill>
                <a:latin typeface="Consolas"/>
              </a:rPr>
              <a:t>"""&lt;excerpt goes here&gt;"""</a:t>
            </a:r>
          </a:p>
        </p:txBody>
      </p:sp>
      <p:sp>
        <p:nvSpPr>
          <p:cNvPr id="8" name="Rectangle 7"/>
          <p:cNvSpPr/>
          <p:nvPr/>
        </p:nvSpPr>
        <p:spPr>
          <a:xfrm>
            <a:off x="7955279" y="1572768"/>
            <a:ext cx="3685032" cy="8412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955279" y="1572768"/>
            <a:ext cx="64008" cy="841248"/>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11312" y="1691640"/>
            <a:ext cx="3291840" cy="658368"/>
          </a:xfrm>
          <a:prstGeom prst="rect">
            <a:avLst/>
          </a:prstGeom>
          <a:noFill/>
        </p:spPr>
        <p:txBody>
          <a:bodyPr wrap="square" lIns="0" rIns="0" tIns="0" bIns="0" anchor="t">
            <a:spAutoFit/>
          </a:bodyPr>
          <a:lstStyle/>
          <a:p>
            <a:pPr algn="l">
              <a:lnSpc>
                <a:spcPct val="105000"/>
              </a:lnSpc>
              <a:spcBef>
                <a:spcPts val="0"/>
              </a:spcBef>
            </a:pPr>
            <a:r>
              <a:rPr sz="1100" b="1">
                <a:solidFill>
                  <a:srgbClr val="0F2145"/>
                </a:solidFill>
                <a:latin typeface="Calibri"/>
              </a:rPr>
              <a:t>Role first</a:t>
            </a:r>
          </a:p>
          <a:p>
            <a:pPr algn="l">
              <a:lnSpc>
                <a:spcPct val="105000"/>
              </a:lnSpc>
              <a:spcBef>
                <a:spcPts val="300"/>
              </a:spcBef>
            </a:pPr>
            <a:r>
              <a:rPr sz="950" b="0">
                <a:solidFill>
                  <a:srgbClr val="5D6B7E"/>
                </a:solidFill>
                <a:latin typeface="Calibri"/>
              </a:rPr>
              <a:t>Naming the job narrows behaviour more than any adjective. “Extraction engine” rules out commentary.</a:t>
            </a:r>
          </a:p>
        </p:txBody>
      </p:sp>
      <p:sp>
        <p:nvSpPr>
          <p:cNvPr id="11" name="Rectangle 10"/>
          <p:cNvSpPr/>
          <p:nvPr/>
        </p:nvSpPr>
        <p:spPr>
          <a:xfrm>
            <a:off x="7955279" y="2487168"/>
            <a:ext cx="3685032" cy="8412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955279" y="2487168"/>
            <a:ext cx="64008" cy="841248"/>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11312" y="2606039"/>
            <a:ext cx="3291840" cy="658368"/>
          </a:xfrm>
          <a:prstGeom prst="rect">
            <a:avLst/>
          </a:prstGeom>
          <a:noFill/>
        </p:spPr>
        <p:txBody>
          <a:bodyPr wrap="square" lIns="0" rIns="0" tIns="0" bIns="0" anchor="t">
            <a:spAutoFit/>
          </a:bodyPr>
          <a:lstStyle/>
          <a:p>
            <a:pPr algn="l">
              <a:lnSpc>
                <a:spcPct val="105000"/>
              </a:lnSpc>
              <a:spcBef>
                <a:spcPts val="0"/>
              </a:spcBef>
            </a:pPr>
            <a:r>
              <a:rPr sz="1100" b="1">
                <a:solidFill>
                  <a:srgbClr val="0F2145"/>
                </a:solidFill>
                <a:latin typeface="Calibri"/>
              </a:rPr>
              <a:t>Schema, not description</a:t>
            </a:r>
          </a:p>
          <a:p>
            <a:pPr algn="l">
              <a:lnSpc>
                <a:spcPct val="105000"/>
              </a:lnSpc>
              <a:spcBef>
                <a:spcPts val="300"/>
              </a:spcBef>
            </a:pPr>
            <a:r>
              <a:rPr sz="950" b="0">
                <a:solidFill>
                  <a:srgbClr val="5D6B7E"/>
                </a:solidFill>
                <a:latin typeface="Calibri"/>
              </a:rPr>
              <a:t>Give the exact JSON shape. A described output is a suggestion; a schema is a contract you can test.</a:t>
            </a:r>
          </a:p>
        </p:txBody>
      </p:sp>
      <p:sp>
        <p:nvSpPr>
          <p:cNvPr id="14" name="Rectangle 13"/>
          <p:cNvSpPr/>
          <p:nvPr/>
        </p:nvSpPr>
        <p:spPr>
          <a:xfrm>
            <a:off x="7955279" y="3401568"/>
            <a:ext cx="3685032" cy="8412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955279" y="3401568"/>
            <a:ext cx="64008" cy="841248"/>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11312" y="3520439"/>
            <a:ext cx="3291840" cy="658368"/>
          </a:xfrm>
          <a:prstGeom prst="rect">
            <a:avLst/>
          </a:prstGeom>
          <a:noFill/>
        </p:spPr>
        <p:txBody>
          <a:bodyPr wrap="square" lIns="0" rIns="0" tIns="0" bIns="0" anchor="t">
            <a:spAutoFit/>
          </a:bodyPr>
          <a:lstStyle/>
          <a:p>
            <a:pPr algn="l">
              <a:lnSpc>
                <a:spcPct val="105000"/>
              </a:lnSpc>
              <a:spcBef>
                <a:spcPts val="0"/>
              </a:spcBef>
            </a:pPr>
            <a:r>
              <a:rPr sz="1100" b="1">
                <a:solidFill>
                  <a:srgbClr val="0F2145"/>
                </a:solidFill>
                <a:latin typeface="Calibri"/>
              </a:rPr>
              <a:t>null is a real answer</a:t>
            </a:r>
          </a:p>
          <a:p>
            <a:pPr algn="l">
              <a:lnSpc>
                <a:spcPct val="105000"/>
              </a:lnSpc>
              <a:spcBef>
                <a:spcPts val="300"/>
              </a:spcBef>
            </a:pPr>
            <a:r>
              <a:rPr sz="950" b="0">
                <a:solidFill>
                  <a:srgbClr val="5D6B7E"/>
                </a:solidFill>
                <a:latin typeface="Calibri"/>
              </a:rPr>
              <a:t>Rule 2 is the most important line here. It turns a hallucination into a visible gap.</a:t>
            </a:r>
          </a:p>
        </p:txBody>
      </p:sp>
      <p:sp>
        <p:nvSpPr>
          <p:cNvPr id="17" name="Rectangle 16"/>
          <p:cNvSpPr/>
          <p:nvPr/>
        </p:nvSpPr>
        <p:spPr>
          <a:xfrm>
            <a:off x="7955279" y="4315968"/>
            <a:ext cx="3685032" cy="8412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955279" y="4315968"/>
            <a:ext cx="64008" cy="841248"/>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11312" y="4434840"/>
            <a:ext cx="3291840" cy="658368"/>
          </a:xfrm>
          <a:prstGeom prst="rect">
            <a:avLst/>
          </a:prstGeom>
          <a:noFill/>
        </p:spPr>
        <p:txBody>
          <a:bodyPr wrap="square" lIns="0" rIns="0" tIns="0" bIns="0" anchor="t">
            <a:spAutoFit/>
          </a:bodyPr>
          <a:lstStyle/>
          <a:p>
            <a:pPr algn="l">
              <a:lnSpc>
                <a:spcPct val="105000"/>
              </a:lnSpc>
              <a:spcBef>
                <a:spcPts val="0"/>
              </a:spcBef>
            </a:pPr>
            <a:r>
              <a:rPr sz="1100" b="1">
                <a:solidFill>
                  <a:srgbClr val="0F2145"/>
                </a:solidFill>
                <a:latin typeface="Calibri"/>
              </a:rPr>
              <a:t>Plain digits</a:t>
            </a:r>
          </a:p>
          <a:p>
            <a:pPr algn="l">
              <a:lnSpc>
                <a:spcPct val="105000"/>
              </a:lnSpc>
              <a:spcBef>
                <a:spcPts val="300"/>
              </a:spcBef>
            </a:pPr>
            <a:r>
              <a:rPr sz="950" b="0">
                <a:solidFill>
                  <a:srgbClr val="5D6B7E"/>
                </a:solidFill>
                <a:latin typeface="Calibri"/>
              </a:rPr>
              <a:t>Rule 3 removes the grouping that tokenises badly, and the output parses without cleaning.</a:t>
            </a:r>
          </a:p>
        </p:txBody>
      </p:sp>
      <p:sp>
        <p:nvSpPr>
          <p:cNvPr id="20" name="Rectangle 19"/>
          <p:cNvSpPr/>
          <p:nvPr/>
        </p:nvSpPr>
        <p:spPr>
          <a:xfrm>
            <a:off x="7955279" y="5230368"/>
            <a:ext cx="3685032" cy="8412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955279" y="5230368"/>
            <a:ext cx="64008" cy="841248"/>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11312" y="5349240"/>
            <a:ext cx="3291840" cy="658368"/>
          </a:xfrm>
          <a:prstGeom prst="rect">
            <a:avLst/>
          </a:prstGeom>
          <a:noFill/>
        </p:spPr>
        <p:txBody>
          <a:bodyPr wrap="square" lIns="0" rIns="0" tIns="0" bIns="0" anchor="t">
            <a:spAutoFit/>
          </a:bodyPr>
          <a:lstStyle/>
          <a:p>
            <a:pPr algn="l">
              <a:lnSpc>
                <a:spcPct val="105000"/>
              </a:lnSpc>
              <a:spcBef>
                <a:spcPts val="0"/>
              </a:spcBef>
            </a:pPr>
            <a:r>
              <a:rPr sz="1100" b="1">
                <a:solidFill>
                  <a:srgbClr val="0F2145"/>
                </a:solidFill>
                <a:latin typeface="Calibri"/>
              </a:rPr>
              <a:t>Unit carried, not converted</a:t>
            </a:r>
          </a:p>
          <a:p>
            <a:pPr algn="l">
              <a:lnSpc>
                <a:spcPct val="105000"/>
              </a:lnSpc>
              <a:spcBef>
                <a:spcPts val="300"/>
              </a:spcBef>
            </a:pPr>
            <a:r>
              <a:rPr sz="950" b="0">
                <a:solidFill>
                  <a:srgbClr val="5D6B7E"/>
                </a:solidFill>
                <a:latin typeface="Calibri"/>
              </a:rPr>
              <a:t>Rule 4 keeps the model out of arithmetic. Convert lakh to crore in Python, where it is auditable.</a:t>
            </a:r>
          </a:p>
        </p:txBody>
      </p:sp>
      <p:sp>
        <p:nvSpPr>
          <p:cNvPr id="23" name="TextBox 22"/>
          <p:cNvSpPr txBox="1"/>
          <p:nvPr/>
        </p:nvSpPr>
        <p:spPr>
          <a:xfrm>
            <a:off x="548640" y="6473952"/>
            <a:ext cx="7315200" cy="274320"/>
          </a:xfrm>
          <a:prstGeom prst="rect">
            <a:avLst/>
          </a:prstGeom>
          <a:noFill/>
        </p:spPr>
        <p:txBody>
          <a:bodyPr wrap="square" lIns="0" rIns="0" tIns="0" bIns="0" anchor="t">
            <a:spAutoFit/>
          </a:bodyPr>
          <a:lstStyle/>
          <a:p>
            <a:pPr algn="l">
              <a:lnSpc>
                <a:spcPct val="105000"/>
              </a:lnSpc>
              <a:spcBef>
                <a:spcPts val="0"/>
              </a:spcBef>
            </a:pPr>
            <a:r>
              <a:rPr sz="850" b="0">
                <a:solidFill>
                  <a:srgbClr val="5D6B7E"/>
                </a:solidFill>
                <a:latin typeface="Calibri"/>
              </a:rPr>
              <a:t>ISBMS · PGDM 2025–27 · AGENTIC AI &amp; ADVANCED ANALYTICS IN FINANCE</a:t>
            </a:r>
          </a:p>
        </p:txBody>
      </p:sp>
      <p:sp>
        <p:nvSpPr>
          <p:cNvPr id="24" name="TextBox 23"/>
          <p:cNvSpPr txBox="1"/>
          <p:nvPr/>
        </p:nvSpPr>
        <p:spPr>
          <a:xfrm>
            <a:off x="9262872" y="6473952"/>
            <a:ext cx="2377440" cy="274320"/>
          </a:xfrm>
          <a:prstGeom prst="rect">
            <a:avLst/>
          </a:prstGeom>
          <a:noFill/>
        </p:spPr>
        <p:txBody>
          <a:bodyPr wrap="square" lIns="0" rIns="0" tIns="0" bIns="0" anchor="t">
            <a:spAutoFit/>
          </a:bodyPr>
          <a:lstStyle/>
          <a:p>
            <a:pPr algn="r">
              <a:lnSpc>
                <a:spcPct val="105000"/>
              </a:lnSpc>
              <a:spcBef>
                <a:spcPts val="0"/>
              </a:spcBef>
            </a:pPr>
            <a:r>
              <a:rPr sz="850" b="0">
                <a:solidFill>
                  <a:srgbClr val="5D6B7E"/>
                </a:solidFill>
                <a:latin typeface="Calibri"/>
              </a:rPr>
              <a:t>MODULE 1  ·  16</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310896"/>
            <a:ext cx="10817352" cy="292608"/>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LAB · STEP 2</a:t>
            </a:r>
          </a:p>
        </p:txBody>
      </p:sp>
      <p:sp>
        <p:nvSpPr>
          <p:cNvPr id="4" name="TextBox 3"/>
          <p:cNvSpPr txBox="1"/>
          <p:nvPr/>
        </p:nvSpPr>
        <p:spPr>
          <a:xfrm>
            <a:off x="548640" y="621792"/>
            <a:ext cx="11091672" cy="685800"/>
          </a:xfrm>
          <a:prstGeom prst="rect">
            <a:avLst/>
          </a:prstGeom>
          <a:noFill/>
        </p:spPr>
        <p:txBody>
          <a:bodyPr wrap="square" lIns="0" rIns="0" tIns="0" bIns="0" anchor="t">
            <a:spAutoFit/>
          </a:bodyPr>
          <a:lstStyle/>
          <a:p>
            <a:pPr algn="l">
              <a:lnSpc>
                <a:spcPct val="105000"/>
              </a:lnSpc>
              <a:spcBef>
                <a:spcPts val="0"/>
              </a:spcBef>
            </a:pPr>
            <a:r>
              <a:rPr sz="2900" b="1">
                <a:solidFill>
                  <a:srgbClr val="0F2145"/>
                </a:solidFill>
                <a:latin typeface="Georgia"/>
              </a:rPr>
              <a:t>extract.py — twenty lines, and one JSON file per filing</a:t>
            </a:r>
          </a:p>
        </p:txBody>
      </p:sp>
      <p:sp>
        <p:nvSpPr>
          <p:cNvPr id="5" name="Rectangle 4"/>
          <p:cNvSpPr/>
          <p:nvPr/>
        </p:nvSpPr>
        <p:spPr>
          <a:xfrm>
            <a:off x="548640" y="1572768"/>
            <a:ext cx="6400800" cy="443484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1719072"/>
            <a:ext cx="5943600" cy="256032"/>
          </a:xfrm>
          <a:prstGeom prst="rect">
            <a:avLst/>
          </a:prstGeom>
          <a:noFill/>
        </p:spPr>
        <p:txBody>
          <a:bodyPr wrap="square" lIns="0" rIns="0" tIns="0" bIns="0" anchor="t">
            <a:spAutoFit/>
          </a:bodyPr>
          <a:lstStyle/>
          <a:p>
            <a:pPr algn="l">
              <a:lnSpc>
                <a:spcPct val="105000"/>
              </a:lnSpc>
              <a:spcBef>
                <a:spcPts val="0"/>
              </a:spcBef>
            </a:pPr>
            <a:r>
              <a:rPr sz="1000" b="1">
                <a:solidFill>
                  <a:srgbClr val="C9A227"/>
                </a:solidFill>
                <a:latin typeface="Calibri"/>
              </a:rPr>
              <a:t>extract.py</a:t>
            </a:r>
          </a:p>
        </p:txBody>
      </p:sp>
      <p:sp>
        <p:nvSpPr>
          <p:cNvPr id="7" name="TextBox 6"/>
          <p:cNvSpPr txBox="1"/>
          <p:nvPr/>
        </p:nvSpPr>
        <p:spPr>
          <a:xfrm>
            <a:off x="804672" y="2066543"/>
            <a:ext cx="5943600" cy="3776472"/>
          </a:xfrm>
          <a:prstGeom prst="rect">
            <a:avLst/>
          </a:prstGeom>
          <a:noFill/>
        </p:spPr>
        <p:txBody>
          <a:bodyPr wrap="square" lIns="0" rIns="0" tIns="0" bIns="0" anchor="t">
            <a:spAutoFit/>
          </a:bodyPr>
          <a:lstStyle/>
          <a:p>
            <a:pPr algn="l">
              <a:lnSpc>
                <a:spcPct val="105000"/>
              </a:lnSpc>
              <a:spcBef>
                <a:spcPts val="0"/>
              </a:spcBef>
            </a:pPr>
            <a:r>
              <a:rPr sz="1050" b="0">
                <a:solidFill>
                  <a:srgbClr val="C9D6EE"/>
                </a:solidFill>
                <a:latin typeface="Consolas"/>
              </a:rPr>
              <a:t>import json, pathlib</a:t>
            </a:r>
          </a:p>
          <a:p>
            <a:pPr algn="l">
              <a:lnSpc>
                <a:spcPct val="105000"/>
              </a:lnSpc>
              <a:spcBef>
                <a:spcPts val="250"/>
              </a:spcBef>
            </a:pPr>
            <a:r>
              <a:rPr sz="1050" b="0">
                <a:solidFill>
                  <a:srgbClr val="C9D6EE"/>
                </a:solidFill>
                <a:latin typeface="Consolas"/>
              </a:rPr>
              <a:t>import anthropic</a:t>
            </a:r>
          </a:p>
          <a:p>
            <a:pPr algn="l">
              <a:lnSpc>
                <a:spcPct val="105000"/>
              </a:lnSpc>
              <a:spcBef>
                <a:spcPts val="250"/>
              </a:spcBef>
            </a:pPr>
            <a:r>
              <a:rPr sz="1050" b="0">
                <a:solidFill>
                  <a:srgbClr val="C9D6EE"/>
                </a:solidFill>
                <a:latin typeface="Consolas"/>
              </a:rPr>
              <a:t>from dotenv import load_dotenv</a:t>
            </a:r>
          </a:p>
          <a:p>
            <a:pPr algn="l">
              <a:lnSpc>
                <a:spcPct val="105000"/>
              </a:lnSpc>
              <a:spcBef>
                <a:spcPts val="250"/>
              </a:spcBef>
            </a:pPr>
            <a:r>
              <a:rPr sz="1050" b="0">
                <a:solidFill>
                  <a:srgbClr val="C9D6EE"/>
                </a:solidFill>
                <a:latin typeface="Consolas"/>
              </a:rPr>
              <a:t> </a:t>
            </a:r>
          </a:p>
          <a:p>
            <a:pPr algn="l">
              <a:lnSpc>
                <a:spcPct val="105000"/>
              </a:lnSpc>
              <a:spcBef>
                <a:spcPts val="250"/>
              </a:spcBef>
            </a:pPr>
            <a:r>
              <a:rPr sz="1050" b="0">
                <a:solidFill>
                  <a:srgbClr val="8FA1C4"/>
                </a:solidFill>
                <a:latin typeface="Consolas"/>
              </a:rPr>
              <a:t>load_dotenv()                    # reads .env</a:t>
            </a:r>
          </a:p>
          <a:p>
            <a:pPr algn="l">
              <a:lnSpc>
                <a:spcPct val="105000"/>
              </a:lnSpc>
              <a:spcBef>
                <a:spcPts val="250"/>
              </a:spcBef>
            </a:pPr>
            <a:r>
              <a:rPr sz="1050" b="0">
                <a:solidFill>
                  <a:srgbClr val="8FA1C4"/>
                </a:solidFill>
                <a:latin typeface="Consolas"/>
              </a:rPr>
              <a:t>client = anthropic.Anthropic()   # picks up the key</a:t>
            </a:r>
          </a:p>
          <a:p>
            <a:pPr algn="l">
              <a:lnSpc>
                <a:spcPct val="105000"/>
              </a:lnSpc>
              <a:spcBef>
                <a:spcPts val="250"/>
              </a:spcBef>
            </a:pPr>
            <a:r>
              <a:rPr sz="1050" b="0">
                <a:solidFill>
                  <a:srgbClr val="FFFFFF"/>
                </a:solidFill>
                <a:latin typeface="Consolas"/>
              </a:rPr>
              <a:t>PROMPT = pathlib.Path("prompt.txt").read_text()</a:t>
            </a:r>
          </a:p>
          <a:p>
            <a:pPr algn="l">
              <a:lnSpc>
                <a:spcPct val="105000"/>
              </a:lnSpc>
              <a:spcBef>
                <a:spcPts val="250"/>
              </a:spcBef>
            </a:pPr>
            <a:r>
              <a:rPr sz="1050" b="0">
                <a:solidFill>
                  <a:srgbClr val="C9D6EE"/>
                </a:solidFill>
                <a:latin typeface="Consolas"/>
              </a:rPr>
              <a:t> </a:t>
            </a:r>
          </a:p>
          <a:p>
            <a:pPr algn="l">
              <a:lnSpc>
                <a:spcPct val="105000"/>
              </a:lnSpc>
              <a:spcBef>
                <a:spcPts val="250"/>
              </a:spcBef>
            </a:pPr>
            <a:r>
              <a:rPr sz="1050" b="0">
                <a:solidFill>
                  <a:srgbClr val="FFFFFF"/>
                </a:solidFill>
                <a:latin typeface="Consolas"/>
              </a:rPr>
              <a:t>for f in sorted(pathlib.Path("excerpts").glob("*.txt")):</a:t>
            </a:r>
          </a:p>
          <a:p>
            <a:pPr algn="l">
              <a:lnSpc>
                <a:spcPct val="105000"/>
              </a:lnSpc>
              <a:spcBef>
                <a:spcPts val="250"/>
              </a:spcBef>
            </a:pPr>
            <a:r>
              <a:rPr sz="1050" b="0">
                <a:solidFill>
                  <a:srgbClr val="FFFFFF"/>
                </a:solidFill>
                <a:latin typeface="Consolas"/>
              </a:rPr>
              <a:t>    msg = client.messages.create(</a:t>
            </a:r>
          </a:p>
          <a:p>
            <a:pPr algn="l">
              <a:lnSpc>
                <a:spcPct val="105000"/>
              </a:lnSpc>
              <a:spcBef>
                <a:spcPts val="250"/>
              </a:spcBef>
            </a:pPr>
            <a:r>
              <a:rPr sz="1050" b="0">
                <a:solidFill>
                  <a:srgbClr val="C9A227"/>
                </a:solidFill>
                <a:latin typeface="Consolas"/>
              </a:rPr>
              <a:t>        model="claude-sonnet-5",</a:t>
            </a:r>
          </a:p>
          <a:p>
            <a:pPr algn="l">
              <a:lnSpc>
                <a:spcPct val="105000"/>
              </a:lnSpc>
              <a:spcBef>
                <a:spcPts val="250"/>
              </a:spcBef>
            </a:pPr>
            <a:r>
              <a:rPr sz="1050" b="0">
                <a:solidFill>
                  <a:srgbClr val="FFFFFF"/>
                </a:solidFill>
                <a:latin typeface="Consolas"/>
              </a:rPr>
              <a:t>        max_tokens=1000,</a:t>
            </a:r>
          </a:p>
          <a:p>
            <a:pPr algn="l">
              <a:lnSpc>
                <a:spcPct val="105000"/>
              </a:lnSpc>
              <a:spcBef>
                <a:spcPts val="250"/>
              </a:spcBef>
            </a:pPr>
            <a:r>
              <a:rPr sz="1050" b="0">
                <a:solidFill>
                  <a:srgbClr val="8FA1C4"/>
                </a:solidFill>
                <a:latin typeface="Consolas"/>
              </a:rPr>
              <a:t>        temperature=0,           # same input, same output</a:t>
            </a:r>
          </a:p>
          <a:p>
            <a:pPr algn="l">
              <a:lnSpc>
                <a:spcPct val="105000"/>
              </a:lnSpc>
              <a:spcBef>
                <a:spcPts val="250"/>
              </a:spcBef>
            </a:pPr>
            <a:r>
              <a:rPr sz="1050" b="0">
                <a:solidFill>
                  <a:srgbClr val="FFFFFF"/>
                </a:solidFill>
                <a:latin typeface="Consolas"/>
              </a:rPr>
              <a:t>        messages=[{"role": "user",</a:t>
            </a:r>
          </a:p>
          <a:p>
            <a:pPr algn="l">
              <a:lnSpc>
                <a:spcPct val="105000"/>
              </a:lnSpc>
              <a:spcBef>
                <a:spcPts val="250"/>
              </a:spcBef>
            </a:pPr>
            <a:r>
              <a:rPr sz="1050" b="0">
                <a:solidFill>
                  <a:srgbClr val="FFFFFF"/>
                </a:solidFill>
                <a:latin typeface="Consolas"/>
              </a:rPr>
              <a:t>                   "content": PROMPT.replace(</a:t>
            </a:r>
          </a:p>
          <a:p>
            <a:pPr algn="l">
              <a:lnSpc>
                <a:spcPct val="105000"/>
              </a:lnSpc>
              <a:spcBef>
                <a:spcPts val="250"/>
              </a:spcBef>
            </a:pPr>
            <a:r>
              <a:rPr sz="1050" b="0">
                <a:solidFill>
                  <a:srgbClr val="FFFFFF"/>
                </a:solidFill>
                <a:latin typeface="Consolas"/>
              </a:rPr>
              <a:t>                       "&lt;excerpt goes here&gt;",</a:t>
            </a:r>
          </a:p>
          <a:p>
            <a:pPr algn="l">
              <a:lnSpc>
                <a:spcPct val="105000"/>
              </a:lnSpc>
              <a:spcBef>
                <a:spcPts val="250"/>
              </a:spcBef>
            </a:pPr>
            <a:r>
              <a:rPr sz="1050" b="0">
                <a:solidFill>
                  <a:srgbClr val="FFFFFF"/>
                </a:solidFill>
                <a:latin typeface="Consolas"/>
              </a:rPr>
              <a:t>                       f.read_text())}])</a:t>
            </a:r>
          </a:p>
          <a:p>
            <a:pPr algn="l">
              <a:lnSpc>
                <a:spcPct val="105000"/>
              </a:lnSpc>
              <a:spcBef>
                <a:spcPts val="250"/>
              </a:spcBef>
            </a:pPr>
            <a:r>
              <a:rPr sz="1050" b="0">
                <a:solidFill>
                  <a:srgbClr val="FFFFFF"/>
                </a:solidFill>
                <a:latin typeface="Consolas"/>
              </a:rPr>
              <a:t>    data = json.loads(msg.content[0].text)</a:t>
            </a:r>
          </a:p>
          <a:p>
            <a:pPr algn="l">
              <a:lnSpc>
                <a:spcPct val="105000"/>
              </a:lnSpc>
              <a:spcBef>
                <a:spcPts val="250"/>
              </a:spcBef>
            </a:pPr>
            <a:r>
              <a:rPr sz="1050" b="0">
                <a:solidFill>
                  <a:srgbClr val="FFFFFF"/>
                </a:solidFill>
                <a:latin typeface="Consolas"/>
              </a:rPr>
              <a:t>    (pathlib.Path("output") / (f.stem + ".json")).write_text(</a:t>
            </a:r>
          </a:p>
          <a:p>
            <a:pPr algn="l">
              <a:lnSpc>
                <a:spcPct val="105000"/>
              </a:lnSpc>
              <a:spcBef>
                <a:spcPts val="250"/>
              </a:spcBef>
            </a:pPr>
            <a:r>
              <a:rPr sz="1050" b="0">
                <a:solidFill>
                  <a:srgbClr val="FFFFFF"/>
                </a:solidFill>
                <a:latin typeface="Consolas"/>
              </a:rPr>
              <a:t>        json.dumps(data, indent=2))</a:t>
            </a:r>
          </a:p>
          <a:p>
            <a:pPr algn="l">
              <a:lnSpc>
                <a:spcPct val="105000"/>
              </a:lnSpc>
              <a:spcBef>
                <a:spcPts val="250"/>
              </a:spcBef>
            </a:pPr>
            <a:r>
              <a:rPr sz="1050" b="0">
                <a:solidFill>
                  <a:srgbClr val="FFFFFF"/>
                </a:solidFill>
                <a:latin typeface="Consolas"/>
              </a:rPr>
              <a:t>    print(f.stem, data["items"]["profit_after_tax"])</a:t>
            </a:r>
          </a:p>
        </p:txBody>
      </p:sp>
      <p:sp>
        <p:nvSpPr>
          <p:cNvPr id="8" name="Rectangle 7"/>
          <p:cNvSpPr/>
          <p:nvPr/>
        </p:nvSpPr>
        <p:spPr>
          <a:xfrm>
            <a:off x="7223760" y="1572768"/>
            <a:ext cx="4416552" cy="278892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79792" y="1719072"/>
            <a:ext cx="3959352" cy="256032"/>
          </a:xfrm>
          <a:prstGeom prst="rect">
            <a:avLst/>
          </a:prstGeom>
          <a:noFill/>
        </p:spPr>
        <p:txBody>
          <a:bodyPr wrap="square" lIns="0" rIns="0" tIns="0" bIns="0" anchor="t">
            <a:spAutoFit/>
          </a:bodyPr>
          <a:lstStyle/>
          <a:p>
            <a:pPr algn="l">
              <a:lnSpc>
                <a:spcPct val="105000"/>
              </a:lnSpc>
              <a:spcBef>
                <a:spcPts val="0"/>
              </a:spcBef>
            </a:pPr>
            <a:r>
              <a:rPr sz="1000" b="1">
                <a:solidFill>
                  <a:srgbClr val="C9A227"/>
                </a:solidFill>
                <a:latin typeface="Calibri"/>
              </a:rPr>
              <a:t>output/company_a.json — what good looks like</a:t>
            </a:r>
          </a:p>
        </p:txBody>
      </p:sp>
      <p:sp>
        <p:nvSpPr>
          <p:cNvPr id="10" name="TextBox 9"/>
          <p:cNvSpPr txBox="1"/>
          <p:nvPr/>
        </p:nvSpPr>
        <p:spPr>
          <a:xfrm>
            <a:off x="7479792" y="2066543"/>
            <a:ext cx="3959352" cy="2130551"/>
          </a:xfrm>
          <a:prstGeom prst="rect">
            <a:avLst/>
          </a:prstGeom>
          <a:noFill/>
        </p:spPr>
        <p:txBody>
          <a:bodyPr wrap="square" lIns="0" rIns="0" tIns="0" bIns="0" anchor="t">
            <a:spAutoFit/>
          </a:bodyPr>
          <a:lstStyle/>
          <a:p>
            <a:pPr algn="l">
              <a:lnSpc>
                <a:spcPct val="105000"/>
              </a:lnSpc>
              <a:spcBef>
                <a:spcPts val="0"/>
              </a:spcBef>
            </a:pPr>
            <a:r>
              <a:rPr sz="1000" b="0">
                <a:solidFill>
                  <a:srgbClr val="FFFFFF"/>
                </a:solidFill>
                <a:latin typeface="Consolas"/>
              </a:rPr>
              <a:t>{</a:t>
            </a:r>
          </a:p>
          <a:p>
            <a:pPr algn="l">
              <a:lnSpc>
                <a:spcPct val="105000"/>
              </a:lnSpc>
              <a:spcBef>
                <a:spcPts val="250"/>
              </a:spcBef>
            </a:pPr>
            <a:r>
              <a:rPr sz="1000" b="0">
                <a:solidFill>
                  <a:srgbClr val="C9D6EE"/>
                </a:solidFill>
                <a:latin typeface="Consolas"/>
              </a:rPr>
              <a:t>  "company": "Sample Industries Ltd",</a:t>
            </a:r>
          </a:p>
          <a:p>
            <a:pPr algn="l">
              <a:lnSpc>
                <a:spcPct val="105000"/>
              </a:lnSpc>
              <a:spcBef>
                <a:spcPts val="250"/>
              </a:spcBef>
            </a:pPr>
            <a:r>
              <a:rPr sz="1000" b="0">
                <a:solidFill>
                  <a:srgbClr val="C9D6EE"/>
                </a:solidFill>
                <a:latin typeface="Consolas"/>
              </a:rPr>
              <a:t>  "period": "FY2025",</a:t>
            </a:r>
          </a:p>
          <a:p>
            <a:pPr algn="l">
              <a:lnSpc>
                <a:spcPct val="105000"/>
              </a:lnSpc>
              <a:spcBef>
                <a:spcPts val="250"/>
              </a:spcBef>
            </a:pPr>
            <a:r>
              <a:rPr sz="1000" b="0">
                <a:solidFill>
                  <a:srgbClr val="C9D6EE"/>
                </a:solidFill>
                <a:latin typeface="Consolas"/>
              </a:rPr>
              <a:t>  "unit": "INR crore",</a:t>
            </a:r>
          </a:p>
          <a:p>
            <a:pPr algn="l">
              <a:lnSpc>
                <a:spcPct val="105000"/>
              </a:lnSpc>
              <a:spcBef>
                <a:spcPts val="250"/>
              </a:spcBef>
            </a:pPr>
            <a:r>
              <a:rPr sz="1000" b="0">
                <a:solidFill>
                  <a:srgbClr val="C9D6EE"/>
                </a:solidFill>
                <a:latin typeface="Consolas"/>
              </a:rPr>
              <a:t>  "items": {</a:t>
            </a:r>
          </a:p>
          <a:p>
            <a:pPr algn="l">
              <a:lnSpc>
                <a:spcPct val="105000"/>
              </a:lnSpc>
              <a:spcBef>
                <a:spcPts val="250"/>
              </a:spcBef>
            </a:pPr>
            <a:r>
              <a:rPr sz="1000" b="0">
                <a:solidFill>
                  <a:srgbClr val="C9A227"/>
                </a:solidFill>
                <a:latin typeface="Consolas"/>
              </a:rPr>
              <a:t>    "revenue_from_operations": 148320,</a:t>
            </a:r>
          </a:p>
          <a:p>
            <a:pPr algn="l">
              <a:lnSpc>
                <a:spcPct val="105000"/>
              </a:lnSpc>
              <a:spcBef>
                <a:spcPts val="250"/>
              </a:spcBef>
            </a:pPr>
            <a:r>
              <a:rPr sz="1000" b="0">
                <a:solidFill>
                  <a:srgbClr val="C9A227"/>
                </a:solidFill>
                <a:latin typeface="Consolas"/>
              </a:rPr>
              <a:t>    "other_income": 3120,</a:t>
            </a:r>
          </a:p>
          <a:p>
            <a:pPr algn="l">
              <a:lnSpc>
                <a:spcPct val="105000"/>
              </a:lnSpc>
              <a:spcBef>
                <a:spcPts val="250"/>
              </a:spcBef>
            </a:pPr>
            <a:r>
              <a:rPr sz="1000" b="0">
                <a:solidFill>
                  <a:srgbClr val="C9A227"/>
                </a:solidFill>
                <a:latin typeface="Consolas"/>
              </a:rPr>
              <a:t>    "total_expenses": 121455,</a:t>
            </a:r>
          </a:p>
          <a:p>
            <a:pPr algn="l">
              <a:lnSpc>
                <a:spcPct val="105000"/>
              </a:lnSpc>
              <a:spcBef>
                <a:spcPts val="250"/>
              </a:spcBef>
            </a:pPr>
            <a:r>
              <a:rPr sz="1000" b="0">
                <a:solidFill>
                  <a:srgbClr val="C9A227"/>
                </a:solidFill>
                <a:latin typeface="Consolas"/>
              </a:rPr>
              <a:t>    "profit_before_tax": 29985,</a:t>
            </a:r>
          </a:p>
          <a:p>
            <a:pPr algn="l">
              <a:lnSpc>
                <a:spcPct val="105000"/>
              </a:lnSpc>
              <a:spcBef>
                <a:spcPts val="250"/>
              </a:spcBef>
            </a:pPr>
            <a:r>
              <a:rPr sz="1000" b="0">
                <a:solidFill>
                  <a:srgbClr val="C9A227"/>
                </a:solidFill>
                <a:latin typeface="Consolas"/>
              </a:rPr>
              <a:t>    "tax_expense": 7480,</a:t>
            </a:r>
          </a:p>
          <a:p>
            <a:pPr algn="l">
              <a:lnSpc>
                <a:spcPct val="105000"/>
              </a:lnSpc>
              <a:spcBef>
                <a:spcPts val="250"/>
              </a:spcBef>
            </a:pPr>
            <a:r>
              <a:rPr sz="1000" b="0">
                <a:solidFill>
                  <a:srgbClr val="C9A227"/>
                </a:solidFill>
                <a:latin typeface="Consolas"/>
              </a:rPr>
              <a:t>    "profit_after_tax": 22505}</a:t>
            </a:r>
          </a:p>
          <a:p>
            <a:pPr algn="l">
              <a:lnSpc>
                <a:spcPct val="105000"/>
              </a:lnSpc>
              <a:spcBef>
                <a:spcPts val="250"/>
              </a:spcBef>
            </a:pPr>
            <a:r>
              <a:rPr sz="1000" b="0">
                <a:solidFill>
                  <a:srgbClr val="FFFFFF"/>
                </a:solidFill>
                <a:latin typeface="Consolas"/>
              </a:rPr>
              <a:t>}</a:t>
            </a:r>
          </a:p>
        </p:txBody>
      </p:sp>
      <p:sp>
        <p:nvSpPr>
          <p:cNvPr id="11" name="Rectangle 10"/>
          <p:cNvSpPr/>
          <p:nvPr/>
        </p:nvSpPr>
        <p:spPr>
          <a:xfrm>
            <a:off x="7223760" y="4498848"/>
            <a:ext cx="4416552" cy="5486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223760" y="4498848"/>
            <a:ext cx="64008" cy="54864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79792" y="4572000"/>
            <a:ext cx="4023360" cy="457200"/>
          </a:xfrm>
          <a:prstGeom prst="rect">
            <a:avLst/>
          </a:prstGeom>
          <a:noFill/>
        </p:spPr>
        <p:txBody>
          <a:bodyPr wrap="square" lIns="0" rIns="0" tIns="0" bIns="0" anchor="t">
            <a:spAutoFit/>
          </a:bodyPr>
          <a:lstStyle/>
          <a:p>
            <a:pPr algn="l">
              <a:lnSpc>
                <a:spcPct val="105000"/>
              </a:lnSpc>
              <a:spcBef>
                <a:spcPts val="0"/>
              </a:spcBef>
            </a:pPr>
            <a:r>
              <a:rPr sz="1050" b="1">
                <a:solidFill>
                  <a:srgbClr val="0F2145"/>
                </a:solidFill>
                <a:latin typeface="Calibri"/>
              </a:rPr>
              <a:t>temperature=0</a:t>
            </a:r>
          </a:p>
          <a:p>
            <a:pPr algn="l">
              <a:lnSpc>
                <a:spcPct val="105000"/>
              </a:lnSpc>
              <a:spcBef>
                <a:spcPts val="200"/>
              </a:spcBef>
            </a:pPr>
            <a:r>
              <a:rPr sz="900" b="0">
                <a:solidFill>
                  <a:srgbClr val="5D6B7E"/>
                </a:solidFill>
                <a:latin typeface="Calibri"/>
              </a:rPr>
              <a:t>The same filing must give the same answer every run. Creativity is a defect in extraction.</a:t>
            </a:r>
          </a:p>
        </p:txBody>
      </p:sp>
      <p:sp>
        <p:nvSpPr>
          <p:cNvPr id="14" name="Rectangle 13"/>
          <p:cNvSpPr/>
          <p:nvPr/>
        </p:nvSpPr>
        <p:spPr>
          <a:xfrm>
            <a:off x="7223760" y="5093208"/>
            <a:ext cx="4416552" cy="5486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223760" y="5093208"/>
            <a:ext cx="64008" cy="54864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79792" y="5166360"/>
            <a:ext cx="4023360" cy="457200"/>
          </a:xfrm>
          <a:prstGeom prst="rect">
            <a:avLst/>
          </a:prstGeom>
          <a:noFill/>
        </p:spPr>
        <p:txBody>
          <a:bodyPr wrap="square" lIns="0" rIns="0" tIns="0" bIns="0" anchor="t">
            <a:spAutoFit/>
          </a:bodyPr>
          <a:lstStyle/>
          <a:p>
            <a:pPr algn="l">
              <a:lnSpc>
                <a:spcPct val="105000"/>
              </a:lnSpc>
              <a:spcBef>
                <a:spcPts val="0"/>
              </a:spcBef>
            </a:pPr>
            <a:r>
              <a:rPr sz="1050" b="1">
                <a:solidFill>
                  <a:srgbClr val="0F2145"/>
                </a:solidFill>
                <a:latin typeface="Calibri"/>
              </a:rPr>
              <a:t>The key never enters the file</a:t>
            </a:r>
          </a:p>
          <a:p>
            <a:pPr algn="l">
              <a:lnSpc>
                <a:spcPct val="105000"/>
              </a:lnSpc>
              <a:spcBef>
                <a:spcPts val="200"/>
              </a:spcBef>
            </a:pPr>
            <a:r>
              <a:rPr sz="900" b="0">
                <a:solidFill>
                  <a:srgbClr val="5D6B7E"/>
                </a:solidFill>
                <a:latin typeface="Calibri"/>
              </a:rPr>
              <a:t>load_dotenv() reads .env, so extract.py is safe to push, screenshot and email.</a:t>
            </a:r>
          </a:p>
        </p:txBody>
      </p:sp>
      <p:sp>
        <p:nvSpPr>
          <p:cNvPr id="17" name="Rectangle 16"/>
          <p:cNvSpPr/>
          <p:nvPr/>
        </p:nvSpPr>
        <p:spPr>
          <a:xfrm>
            <a:off x="7223760" y="5687568"/>
            <a:ext cx="4416552" cy="5486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223760" y="5687568"/>
            <a:ext cx="64008" cy="54864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79792" y="5760720"/>
            <a:ext cx="4023360" cy="457200"/>
          </a:xfrm>
          <a:prstGeom prst="rect">
            <a:avLst/>
          </a:prstGeom>
          <a:noFill/>
        </p:spPr>
        <p:txBody>
          <a:bodyPr wrap="square" lIns="0" rIns="0" tIns="0" bIns="0" anchor="t">
            <a:spAutoFit/>
          </a:bodyPr>
          <a:lstStyle/>
          <a:p>
            <a:pPr algn="l">
              <a:lnSpc>
                <a:spcPct val="105000"/>
              </a:lnSpc>
              <a:spcBef>
                <a:spcPts val="0"/>
              </a:spcBef>
            </a:pPr>
            <a:r>
              <a:rPr sz="1050" b="1">
                <a:solidFill>
                  <a:srgbClr val="0F2145"/>
                </a:solidFill>
                <a:latin typeface="Calibri"/>
              </a:rPr>
              <a:t>One prompt, three inputs</a:t>
            </a:r>
          </a:p>
          <a:p>
            <a:pPr algn="l">
              <a:lnSpc>
                <a:spcPct val="105000"/>
              </a:lnSpc>
              <a:spcBef>
                <a:spcPts val="200"/>
              </a:spcBef>
            </a:pPr>
            <a:r>
              <a:rPr sz="900" b="0">
                <a:solidFill>
                  <a:srgbClr val="5D6B7E"/>
                </a:solidFill>
                <a:latin typeface="Calibri"/>
              </a:rPr>
              <a:t>The loop is the test. A prompt tried on one document has been tested on nothing.</a:t>
            </a:r>
          </a:p>
        </p:txBody>
      </p:sp>
      <p:sp>
        <p:nvSpPr>
          <p:cNvPr id="20" name="TextBox 19"/>
          <p:cNvSpPr txBox="1"/>
          <p:nvPr/>
        </p:nvSpPr>
        <p:spPr>
          <a:xfrm>
            <a:off x="548640" y="6473952"/>
            <a:ext cx="7315200" cy="274320"/>
          </a:xfrm>
          <a:prstGeom prst="rect">
            <a:avLst/>
          </a:prstGeom>
          <a:noFill/>
        </p:spPr>
        <p:txBody>
          <a:bodyPr wrap="square" lIns="0" rIns="0" tIns="0" bIns="0" anchor="t">
            <a:spAutoFit/>
          </a:bodyPr>
          <a:lstStyle/>
          <a:p>
            <a:pPr algn="l">
              <a:lnSpc>
                <a:spcPct val="105000"/>
              </a:lnSpc>
              <a:spcBef>
                <a:spcPts val="0"/>
              </a:spcBef>
            </a:pPr>
            <a:r>
              <a:rPr sz="850" b="0">
                <a:solidFill>
                  <a:srgbClr val="5D6B7E"/>
                </a:solidFill>
                <a:latin typeface="Calibri"/>
              </a:rPr>
              <a:t>ISBMS · PGDM 2025–27 · AGENTIC AI &amp; ADVANCED ANALYTICS IN FINANCE</a:t>
            </a:r>
          </a:p>
        </p:txBody>
      </p:sp>
      <p:sp>
        <p:nvSpPr>
          <p:cNvPr id="21" name="TextBox 20"/>
          <p:cNvSpPr txBox="1"/>
          <p:nvPr/>
        </p:nvSpPr>
        <p:spPr>
          <a:xfrm>
            <a:off x="9262872" y="6473952"/>
            <a:ext cx="2377440" cy="274320"/>
          </a:xfrm>
          <a:prstGeom prst="rect">
            <a:avLst/>
          </a:prstGeom>
          <a:noFill/>
        </p:spPr>
        <p:txBody>
          <a:bodyPr wrap="square" lIns="0" rIns="0" tIns="0" bIns="0" anchor="t">
            <a:spAutoFit/>
          </a:bodyPr>
          <a:lstStyle/>
          <a:p>
            <a:pPr algn="r">
              <a:lnSpc>
                <a:spcPct val="105000"/>
              </a:lnSpc>
              <a:spcBef>
                <a:spcPts val="0"/>
              </a:spcBef>
            </a:pPr>
            <a:r>
              <a:rPr sz="850" b="0">
                <a:solidFill>
                  <a:srgbClr val="5D6B7E"/>
                </a:solidFill>
                <a:latin typeface="Calibri"/>
              </a:rPr>
              <a:t>MODULE 1  ·  17</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310896"/>
            <a:ext cx="10817352" cy="292608"/>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LAB · STEP 3</a:t>
            </a:r>
          </a:p>
        </p:txBody>
      </p:sp>
      <p:sp>
        <p:nvSpPr>
          <p:cNvPr id="4" name="TextBox 3"/>
          <p:cNvSpPr txBox="1"/>
          <p:nvPr/>
        </p:nvSpPr>
        <p:spPr>
          <a:xfrm>
            <a:off x="548640" y="621792"/>
            <a:ext cx="11091672" cy="685800"/>
          </a:xfrm>
          <a:prstGeom prst="rect">
            <a:avLst/>
          </a:prstGeom>
          <a:noFill/>
        </p:spPr>
        <p:txBody>
          <a:bodyPr wrap="square" lIns="0" rIns="0" tIns="0" bIns="0" anchor="t">
            <a:spAutoFit/>
          </a:bodyPr>
          <a:lstStyle/>
          <a:p>
            <a:pPr algn="l">
              <a:lnSpc>
                <a:spcPct val="105000"/>
              </a:lnSpc>
              <a:spcBef>
                <a:spcPts val="0"/>
              </a:spcBef>
            </a:pPr>
            <a:r>
              <a:rPr sz="2900" b="1">
                <a:solidFill>
                  <a:srgbClr val="0F2145"/>
                </a:solidFill>
                <a:latin typeface="Georgia"/>
              </a:rPr>
              <a:t>Prove it worked — and fix what breaks</a:t>
            </a:r>
          </a:p>
        </p:txBody>
      </p:sp>
      <p:sp>
        <p:nvSpPr>
          <p:cNvPr id="5" name="Rectangle 4"/>
          <p:cNvSpPr/>
          <p:nvPr/>
        </p:nvSpPr>
        <p:spPr>
          <a:xfrm>
            <a:off x="548640" y="1572768"/>
            <a:ext cx="5577840" cy="8686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72768"/>
            <a:ext cx="64008" cy="868680"/>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91640"/>
            <a:ext cx="5120640" cy="685800"/>
          </a:xfrm>
          <a:prstGeom prst="rect">
            <a:avLst/>
          </a:prstGeom>
          <a:noFill/>
        </p:spPr>
        <p:txBody>
          <a:bodyPr wrap="square" lIns="0" rIns="0" tIns="0" bIns="0" anchor="t">
            <a:spAutoFit/>
          </a:bodyPr>
          <a:lstStyle/>
          <a:p>
            <a:pPr algn="l">
              <a:lnSpc>
                <a:spcPct val="105000"/>
              </a:lnSpc>
              <a:spcBef>
                <a:spcPts val="0"/>
              </a:spcBef>
            </a:pPr>
            <a:r>
              <a:rPr sz="1150" b="1">
                <a:solidFill>
                  <a:srgbClr val="0F2145"/>
                </a:solidFill>
                <a:latin typeface="Calibri"/>
              </a:rPr>
              <a:t>1 · Does it parse?</a:t>
            </a:r>
          </a:p>
          <a:p>
            <a:pPr algn="l">
              <a:lnSpc>
                <a:spcPct val="105000"/>
              </a:lnSpc>
              <a:spcBef>
                <a:spcPts val="300"/>
              </a:spcBef>
            </a:pPr>
            <a:r>
              <a:rPr sz="1000" b="0">
                <a:solidFill>
                  <a:srgbClr val="5D6B7E"/>
                </a:solidFill>
                <a:latin typeface="Calibri"/>
              </a:rPr>
              <a:t>json.loads() runs clean. No prose, no markdown fence, no apology.</a:t>
            </a:r>
          </a:p>
        </p:txBody>
      </p:sp>
      <p:sp>
        <p:nvSpPr>
          <p:cNvPr id="8" name="Rectangle 7"/>
          <p:cNvSpPr/>
          <p:nvPr/>
        </p:nvSpPr>
        <p:spPr>
          <a:xfrm>
            <a:off x="548640" y="2514600"/>
            <a:ext cx="5577840" cy="8686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514600"/>
            <a:ext cx="64008" cy="868680"/>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633472"/>
            <a:ext cx="5120640" cy="685800"/>
          </a:xfrm>
          <a:prstGeom prst="rect">
            <a:avLst/>
          </a:prstGeom>
          <a:noFill/>
        </p:spPr>
        <p:txBody>
          <a:bodyPr wrap="square" lIns="0" rIns="0" tIns="0" bIns="0" anchor="t">
            <a:spAutoFit/>
          </a:bodyPr>
          <a:lstStyle/>
          <a:p>
            <a:pPr algn="l">
              <a:lnSpc>
                <a:spcPct val="105000"/>
              </a:lnSpc>
              <a:spcBef>
                <a:spcPts val="0"/>
              </a:spcBef>
            </a:pPr>
            <a:r>
              <a:rPr sz="1150" b="1">
                <a:solidFill>
                  <a:srgbClr val="0F2145"/>
                </a:solidFill>
                <a:latin typeface="Calibri"/>
              </a:rPr>
              <a:t>2 · Does it add up?</a:t>
            </a:r>
          </a:p>
          <a:p>
            <a:pPr algn="l">
              <a:lnSpc>
                <a:spcPct val="105000"/>
              </a:lnSpc>
              <a:spcBef>
                <a:spcPts val="300"/>
              </a:spcBef>
            </a:pPr>
            <a:r>
              <a:rPr sz="1000" b="0">
                <a:solidFill>
                  <a:srgbClr val="5D6B7E"/>
                </a:solidFill>
                <a:latin typeface="Calibri"/>
              </a:rPr>
              <a:t>Revenue + other income − total expenses = PBT. PBT − tax = PAT. Two lines of Python, run every time.</a:t>
            </a:r>
          </a:p>
        </p:txBody>
      </p:sp>
      <p:sp>
        <p:nvSpPr>
          <p:cNvPr id="11" name="Rectangle 10"/>
          <p:cNvSpPr/>
          <p:nvPr/>
        </p:nvSpPr>
        <p:spPr>
          <a:xfrm>
            <a:off x="548640" y="3456432"/>
            <a:ext cx="5577840" cy="8686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3456432"/>
            <a:ext cx="64008" cy="868680"/>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3575304"/>
            <a:ext cx="5120640" cy="685800"/>
          </a:xfrm>
          <a:prstGeom prst="rect">
            <a:avLst/>
          </a:prstGeom>
          <a:noFill/>
        </p:spPr>
        <p:txBody>
          <a:bodyPr wrap="square" lIns="0" rIns="0" tIns="0" bIns="0" anchor="t">
            <a:spAutoFit/>
          </a:bodyPr>
          <a:lstStyle/>
          <a:p>
            <a:pPr algn="l">
              <a:lnSpc>
                <a:spcPct val="105000"/>
              </a:lnSpc>
              <a:spcBef>
                <a:spcPts val="0"/>
              </a:spcBef>
            </a:pPr>
            <a:r>
              <a:rPr sz="1150" b="1">
                <a:solidFill>
                  <a:srgbClr val="0F2145"/>
                </a:solidFill>
                <a:latin typeface="Calibri"/>
              </a:rPr>
              <a:t>3 · Is every number in the source?</a:t>
            </a:r>
          </a:p>
          <a:p>
            <a:pPr algn="l">
              <a:lnSpc>
                <a:spcPct val="105000"/>
              </a:lnSpc>
              <a:spcBef>
                <a:spcPts val="300"/>
              </a:spcBef>
            </a:pPr>
            <a:r>
              <a:rPr sz="1000" b="0">
                <a:solidFill>
                  <a:srgbClr val="5D6B7E"/>
                </a:solidFill>
                <a:latin typeface="Calibri"/>
              </a:rPr>
              <a:t>Search the excerpt for each figure. If it is not printed there, the model invented it.</a:t>
            </a:r>
          </a:p>
        </p:txBody>
      </p:sp>
      <p:sp>
        <p:nvSpPr>
          <p:cNvPr id="14" name="Rectangle 13"/>
          <p:cNvSpPr/>
          <p:nvPr/>
        </p:nvSpPr>
        <p:spPr>
          <a:xfrm>
            <a:off x="548640" y="4398264"/>
            <a:ext cx="5577840" cy="8686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4398264"/>
            <a:ext cx="64008" cy="868680"/>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4517136"/>
            <a:ext cx="5120640" cy="685800"/>
          </a:xfrm>
          <a:prstGeom prst="rect">
            <a:avLst/>
          </a:prstGeom>
          <a:noFill/>
        </p:spPr>
        <p:txBody>
          <a:bodyPr wrap="square" lIns="0" rIns="0" tIns="0" bIns="0" anchor="t">
            <a:spAutoFit/>
          </a:bodyPr>
          <a:lstStyle/>
          <a:p>
            <a:pPr algn="l">
              <a:lnSpc>
                <a:spcPct val="105000"/>
              </a:lnSpc>
              <a:spcBef>
                <a:spcPts val="0"/>
              </a:spcBef>
            </a:pPr>
            <a:r>
              <a:rPr sz="1150" b="1">
                <a:solidFill>
                  <a:srgbClr val="0F2145"/>
                </a:solidFill>
                <a:latin typeface="Calibri"/>
              </a:rPr>
              <a:t>4 · Is the unit right?</a:t>
            </a:r>
          </a:p>
          <a:p>
            <a:pPr algn="l">
              <a:lnSpc>
                <a:spcPct val="105000"/>
              </a:lnSpc>
              <a:spcBef>
                <a:spcPts val="300"/>
              </a:spcBef>
            </a:pPr>
            <a:r>
              <a:rPr sz="1000" b="0">
                <a:solidFill>
                  <a:srgbClr val="5D6B7E"/>
                </a:solidFill>
                <a:latin typeface="Calibri"/>
              </a:rPr>
              <a:t>Crore, lakh or million. Get this wrong and it is a factor-of-100 error that survives every later check.</a:t>
            </a:r>
          </a:p>
        </p:txBody>
      </p:sp>
      <p:sp>
        <p:nvSpPr>
          <p:cNvPr id="17" name="Rectangle 16"/>
          <p:cNvSpPr/>
          <p:nvPr/>
        </p:nvSpPr>
        <p:spPr>
          <a:xfrm>
            <a:off x="548640" y="5349240"/>
            <a:ext cx="5577840" cy="685800"/>
          </a:xfrm>
          <a:prstGeom prst="rect">
            <a:avLst/>
          </a:prstGeom>
          <a:solidFill>
            <a:srgbClr val="E9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5468112"/>
            <a:ext cx="5120640" cy="548640"/>
          </a:xfrm>
          <a:prstGeom prst="rect">
            <a:avLst/>
          </a:prstGeom>
          <a:noFill/>
        </p:spPr>
        <p:txBody>
          <a:bodyPr wrap="square" lIns="0" rIns="0" tIns="0" bIns="0" anchor="t">
            <a:spAutoFit/>
          </a:bodyPr>
          <a:lstStyle/>
          <a:p>
            <a:pPr algn="l">
              <a:lnSpc>
                <a:spcPct val="105000"/>
              </a:lnSpc>
              <a:spcBef>
                <a:spcPts val="0"/>
              </a:spcBef>
            </a:pPr>
            <a:r>
              <a:rPr sz="1100" b="1">
                <a:solidFill>
                  <a:srgbClr val="0F2145"/>
                </a:solidFill>
                <a:latin typeface="Calibri"/>
              </a:rPr>
              <a:t>Check 2 is the real one. </a:t>
            </a:r>
            <a:r>
              <a:rPr sz="1050" b="0">
                <a:solidFill>
                  <a:srgbClr val="1B2A41"/>
                </a:solidFill>
                <a:latin typeface="Calibri"/>
              </a:rPr>
              <a:t>An arithmetic identity the model was told not to compute is the cheapest lie detector you will write.</a:t>
            </a:r>
          </a:p>
        </p:txBody>
      </p:sp>
      <p:sp>
        <p:nvSpPr>
          <p:cNvPr id="19" name="Rectangle 18"/>
          <p:cNvSpPr/>
          <p:nvPr/>
        </p:nvSpPr>
        <p:spPr>
          <a:xfrm>
            <a:off x="6492240" y="1572768"/>
            <a:ext cx="5148072" cy="8229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92240" y="1572768"/>
            <a:ext cx="64008" cy="82296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48272" y="1664208"/>
            <a:ext cx="1600200" cy="640080"/>
          </a:xfrm>
          <a:prstGeom prst="rect">
            <a:avLst/>
          </a:prstGeom>
          <a:noFill/>
        </p:spPr>
        <p:txBody>
          <a:bodyPr wrap="square" lIns="0" rIns="0" tIns="0" bIns="0" anchor="t">
            <a:spAutoFit/>
          </a:bodyPr>
          <a:lstStyle/>
          <a:p>
            <a:pPr algn="l">
              <a:lnSpc>
                <a:spcPct val="105000"/>
              </a:lnSpc>
              <a:spcBef>
                <a:spcPts val="0"/>
              </a:spcBef>
            </a:pPr>
            <a:r>
              <a:rPr sz="1100" b="1">
                <a:solidFill>
                  <a:srgbClr val="0F2145"/>
                </a:solidFill>
                <a:latin typeface="Georgia"/>
              </a:rPr>
              <a:t>Invented number</a:t>
            </a:r>
          </a:p>
        </p:txBody>
      </p:sp>
      <p:sp>
        <p:nvSpPr>
          <p:cNvPr id="22" name="TextBox 21"/>
          <p:cNvSpPr txBox="1"/>
          <p:nvPr/>
        </p:nvSpPr>
        <p:spPr>
          <a:xfrm>
            <a:off x="8458200" y="1655064"/>
            <a:ext cx="3063240" cy="685800"/>
          </a:xfrm>
          <a:prstGeom prst="rect">
            <a:avLst/>
          </a:prstGeom>
          <a:noFill/>
        </p:spPr>
        <p:txBody>
          <a:bodyPr wrap="square" lIns="0" rIns="0" tIns="0" bIns="0" anchor="t">
            <a:spAutoFit/>
          </a:bodyPr>
          <a:lstStyle/>
          <a:p>
            <a:pPr algn="l">
              <a:lnSpc>
                <a:spcPct val="105000"/>
              </a:lnSpc>
              <a:spcBef>
                <a:spcPts val="0"/>
              </a:spcBef>
            </a:pPr>
            <a:r>
              <a:rPr sz="950" b="0">
                <a:solidFill>
                  <a:srgbClr val="5D6B7E"/>
                </a:solidFill>
                <a:latin typeface="Calibri"/>
              </a:rPr>
              <a:t>A field is missing and the model fills it with something plausible.</a:t>
            </a:r>
          </a:p>
          <a:p>
            <a:pPr algn="l">
              <a:lnSpc>
                <a:spcPct val="105000"/>
              </a:lnSpc>
              <a:spcBef>
                <a:spcPts val="200"/>
              </a:spcBef>
            </a:pPr>
            <a:r>
              <a:rPr sz="950" b="1">
                <a:solidFill>
                  <a:srgbClr val="3A5C9E"/>
                </a:solidFill>
                <a:latin typeface="Calibri"/>
              </a:rPr>
              <a:t>FIX  Repeat the null rule; add a source_line field quoting the text each number came from.</a:t>
            </a:r>
          </a:p>
        </p:txBody>
      </p:sp>
      <p:sp>
        <p:nvSpPr>
          <p:cNvPr id="23" name="Rectangle 22"/>
          <p:cNvSpPr/>
          <p:nvPr/>
        </p:nvSpPr>
        <p:spPr>
          <a:xfrm>
            <a:off x="6492240" y="2468880"/>
            <a:ext cx="5148072" cy="8229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92240" y="2468880"/>
            <a:ext cx="64008" cy="82296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748272" y="2560320"/>
            <a:ext cx="1600200" cy="640080"/>
          </a:xfrm>
          <a:prstGeom prst="rect">
            <a:avLst/>
          </a:prstGeom>
          <a:noFill/>
        </p:spPr>
        <p:txBody>
          <a:bodyPr wrap="square" lIns="0" rIns="0" tIns="0" bIns="0" anchor="t">
            <a:spAutoFit/>
          </a:bodyPr>
          <a:lstStyle/>
          <a:p>
            <a:pPr algn="l">
              <a:lnSpc>
                <a:spcPct val="105000"/>
              </a:lnSpc>
              <a:spcBef>
                <a:spcPts val="0"/>
              </a:spcBef>
            </a:pPr>
            <a:r>
              <a:rPr sz="1100" b="1">
                <a:solidFill>
                  <a:srgbClr val="0F2145"/>
                </a:solidFill>
                <a:latin typeface="Georgia"/>
              </a:rPr>
              <a:t>Lakh vs crore</a:t>
            </a:r>
          </a:p>
        </p:txBody>
      </p:sp>
      <p:sp>
        <p:nvSpPr>
          <p:cNvPr id="26" name="TextBox 25"/>
          <p:cNvSpPr txBox="1"/>
          <p:nvPr/>
        </p:nvSpPr>
        <p:spPr>
          <a:xfrm>
            <a:off x="8458200" y="2551176"/>
            <a:ext cx="3063240" cy="685800"/>
          </a:xfrm>
          <a:prstGeom prst="rect">
            <a:avLst/>
          </a:prstGeom>
          <a:noFill/>
        </p:spPr>
        <p:txBody>
          <a:bodyPr wrap="square" lIns="0" rIns="0" tIns="0" bIns="0" anchor="t">
            <a:spAutoFit/>
          </a:bodyPr>
          <a:lstStyle/>
          <a:p>
            <a:pPr algn="l">
              <a:lnSpc>
                <a:spcPct val="105000"/>
              </a:lnSpc>
              <a:spcBef>
                <a:spcPts val="0"/>
              </a:spcBef>
            </a:pPr>
            <a:r>
              <a:rPr sz="950" b="0">
                <a:solidFill>
                  <a:srgbClr val="5D6B7E"/>
                </a:solidFill>
                <a:latin typeface="Calibri"/>
              </a:rPr>
              <a:t>Excerpt says “₹ in lakhs”, output says crore. Off by a hundred.</a:t>
            </a:r>
          </a:p>
          <a:p>
            <a:pPr algn="l">
              <a:lnSpc>
                <a:spcPct val="105000"/>
              </a:lnSpc>
              <a:spcBef>
                <a:spcPts val="200"/>
              </a:spcBef>
            </a:pPr>
            <a:r>
              <a:rPr sz="950" b="1">
                <a:solidFill>
                  <a:srgbClr val="3A5C9E"/>
                </a:solidFill>
                <a:latin typeface="Calibri"/>
              </a:rPr>
              <a:t>FIX  Never let it convert. Carry the printed unit; convert in Python.</a:t>
            </a:r>
          </a:p>
        </p:txBody>
      </p:sp>
      <p:sp>
        <p:nvSpPr>
          <p:cNvPr id="27" name="Rectangle 26"/>
          <p:cNvSpPr/>
          <p:nvPr/>
        </p:nvSpPr>
        <p:spPr>
          <a:xfrm>
            <a:off x="6492240" y="3364992"/>
            <a:ext cx="5148072" cy="8229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492240" y="3364992"/>
            <a:ext cx="64008" cy="82296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748272" y="3456432"/>
            <a:ext cx="1600200" cy="640080"/>
          </a:xfrm>
          <a:prstGeom prst="rect">
            <a:avLst/>
          </a:prstGeom>
          <a:noFill/>
        </p:spPr>
        <p:txBody>
          <a:bodyPr wrap="square" lIns="0" rIns="0" tIns="0" bIns="0" anchor="t">
            <a:spAutoFit/>
          </a:bodyPr>
          <a:lstStyle/>
          <a:p>
            <a:pPr algn="l">
              <a:lnSpc>
                <a:spcPct val="105000"/>
              </a:lnSpc>
              <a:spcBef>
                <a:spcPts val="0"/>
              </a:spcBef>
            </a:pPr>
            <a:r>
              <a:rPr sz="1100" b="1">
                <a:solidFill>
                  <a:srgbClr val="0F2145"/>
                </a:solidFill>
                <a:latin typeface="Georgia"/>
              </a:rPr>
              <a:t>Mangled figure</a:t>
            </a:r>
          </a:p>
        </p:txBody>
      </p:sp>
      <p:sp>
        <p:nvSpPr>
          <p:cNvPr id="30" name="TextBox 29"/>
          <p:cNvSpPr txBox="1"/>
          <p:nvPr/>
        </p:nvSpPr>
        <p:spPr>
          <a:xfrm>
            <a:off x="8458200" y="3447288"/>
            <a:ext cx="3063240" cy="685800"/>
          </a:xfrm>
          <a:prstGeom prst="rect">
            <a:avLst/>
          </a:prstGeom>
          <a:noFill/>
        </p:spPr>
        <p:txBody>
          <a:bodyPr wrap="square" lIns="0" rIns="0" tIns="0" bIns="0" anchor="t">
            <a:spAutoFit/>
          </a:bodyPr>
          <a:lstStyle/>
          <a:p>
            <a:pPr algn="l">
              <a:lnSpc>
                <a:spcPct val="105000"/>
              </a:lnSpc>
              <a:spcBef>
                <a:spcPts val="0"/>
              </a:spcBef>
            </a:pPr>
            <a:r>
              <a:rPr sz="950" b="0">
                <a:solidFill>
                  <a:srgbClr val="5D6B7E"/>
                </a:solidFill>
                <a:latin typeface="Calibri"/>
              </a:rPr>
              <a:t>₹1,48,320 returns as 14832 or 148,32.</a:t>
            </a:r>
          </a:p>
          <a:p>
            <a:pPr algn="l">
              <a:lnSpc>
                <a:spcPct val="105000"/>
              </a:lnSpc>
              <a:spcBef>
                <a:spcPts val="200"/>
              </a:spcBef>
            </a:pPr>
            <a:r>
              <a:rPr sz="950" b="1">
                <a:solidFill>
                  <a:srgbClr val="3A5C9E"/>
                </a:solidFill>
                <a:latin typeface="Calibri"/>
              </a:rPr>
              <a:t>FIX  Plain digits, no separators — then assert the value is an integer before saving.</a:t>
            </a:r>
          </a:p>
        </p:txBody>
      </p:sp>
      <p:sp>
        <p:nvSpPr>
          <p:cNvPr id="31" name="Rectangle 30"/>
          <p:cNvSpPr/>
          <p:nvPr/>
        </p:nvSpPr>
        <p:spPr>
          <a:xfrm>
            <a:off x="6492240" y="4261104"/>
            <a:ext cx="5148072" cy="8229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492240" y="4261104"/>
            <a:ext cx="64008" cy="82296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748272" y="4352544"/>
            <a:ext cx="1600200" cy="640080"/>
          </a:xfrm>
          <a:prstGeom prst="rect">
            <a:avLst/>
          </a:prstGeom>
          <a:noFill/>
        </p:spPr>
        <p:txBody>
          <a:bodyPr wrap="square" lIns="0" rIns="0" tIns="0" bIns="0" anchor="t">
            <a:spAutoFit/>
          </a:bodyPr>
          <a:lstStyle/>
          <a:p>
            <a:pPr algn="l">
              <a:lnSpc>
                <a:spcPct val="105000"/>
              </a:lnSpc>
              <a:spcBef>
                <a:spcPts val="0"/>
              </a:spcBef>
            </a:pPr>
            <a:r>
              <a:rPr sz="1100" b="1">
                <a:solidFill>
                  <a:srgbClr val="0F2145"/>
                </a:solidFill>
                <a:latin typeface="Georgia"/>
              </a:rPr>
              <a:t>Two periods, one table</a:t>
            </a:r>
          </a:p>
        </p:txBody>
      </p:sp>
      <p:sp>
        <p:nvSpPr>
          <p:cNvPr id="34" name="TextBox 33"/>
          <p:cNvSpPr txBox="1"/>
          <p:nvPr/>
        </p:nvSpPr>
        <p:spPr>
          <a:xfrm>
            <a:off x="8458200" y="4343400"/>
            <a:ext cx="3063240" cy="685800"/>
          </a:xfrm>
          <a:prstGeom prst="rect">
            <a:avLst/>
          </a:prstGeom>
          <a:noFill/>
        </p:spPr>
        <p:txBody>
          <a:bodyPr wrap="square" lIns="0" rIns="0" tIns="0" bIns="0" anchor="t">
            <a:spAutoFit/>
          </a:bodyPr>
          <a:lstStyle/>
          <a:p>
            <a:pPr algn="l">
              <a:lnSpc>
                <a:spcPct val="105000"/>
              </a:lnSpc>
              <a:spcBef>
                <a:spcPts val="0"/>
              </a:spcBef>
            </a:pPr>
            <a:r>
              <a:rPr sz="950" b="0">
                <a:solidFill>
                  <a:srgbClr val="5D6B7E"/>
                </a:solidFill>
                <a:latin typeface="Calibri"/>
              </a:rPr>
              <a:t>FY25 and FY24 both present; the schema has room for one, so it improvises.</a:t>
            </a:r>
          </a:p>
          <a:p>
            <a:pPr algn="l">
              <a:lnSpc>
                <a:spcPct val="105000"/>
              </a:lnSpc>
              <a:spcBef>
                <a:spcPts val="200"/>
              </a:spcBef>
            </a:pPr>
            <a:r>
              <a:rPr sz="950" b="1">
                <a:solidFill>
                  <a:srgbClr val="3A5C9E"/>
                </a:solidFill>
                <a:latin typeface="Calibri"/>
              </a:rPr>
              <a:t>FIX  Fix the schema, not the prose: make items a list keyed by period.</a:t>
            </a:r>
          </a:p>
        </p:txBody>
      </p:sp>
      <p:sp>
        <p:nvSpPr>
          <p:cNvPr id="35" name="Rectangle 34"/>
          <p:cNvSpPr/>
          <p:nvPr/>
        </p:nvSpPr>
        <p:spPr>
          <a:xfrm>
            <a:off x="6492240" y="5157216"/>
            <a:ext cx="5148072" cy="8229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492240" y="5157216"/>
            <a:ext cx="64008" cy="82296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748272" y="5248656"/>
            <a:ext cx="1600200" cy="640080"/>
          </a:xfrm>
          <a:prstGeom prst="rect">
            <a:avLst/>
          </a:prstGeom>
          <a:noFill/>
        </p:spPr>
        <p:txBody>
          <a:bodyPr wrap="square" lIns="0" rIns="0" tIns="0" bIns="0" anchor="t">
            <a:spAutoFit/>
          </a:bodyPr>
          <a:lstStyle/>
          <a:p>
            <a:pPr algn="l">
              <a:lnSpc>
                <a:spcPct val="105000"/>
              </a:lnSpc>
              <a:spcBef>
                <a:spcPts val="0"/>
              </a:spcBef>
            </a:pPr>
            <a:r>
              <a:rPr sz="1100" b="1">
                <a:solidFill>
                  <a:srgbClr val="0F2145"/>
                </a:solidFill>
                <a:latin typeface="Georgia"/>
              </a:rPr>
              <a:t>JSON wrapped in chat</a:t>
            </a:r>
          </a:p>
        </p:txBody>
      </p:sp>
      <p:sp>
        <p:nvSpPr>
          <p:cNvPr id="38" name="TextBox 37"/>
          <p:cNvSpPr txBox="1"/>
          <p:nvPr/>
        </p:nvSpPr>
        <p:spPr>
          <a:xfrm>
            <a:off x="8458200" y="5239512"/>
            <a:ext cx="3063240" cy="685800"/>
          </a:xfrm>
          <a:prstGeom prst="rect">
            <a:avLst/>
          </a:prstGeom>
          <a:noFill/>
        </p:spPr>
        <p:txBody>
          <a:bodyPr wrap="square" lIns="0" rIns="0" tIns="0" bIns="0" anchor="t">
            <a:spAutoFit/>
          </a:bodyPr>
          <a:lstStyle/>
          <a:p>
            <a:pPr algn="l">
              <a:lnSpc>
                <a:spcPct val="105000"/>
              </a:lnSpc>
              <a:spcBef>
                <a:spcPts val="0"/>
              </a:spcBef>
            </a:pPr>
            <a:r>
              <a:rPr sz="950" b="0">
                <a:solidFill>
                  <a:srgbClr val="5D6B7E"/>
                </a:solidFill>
                <a:latin typeface="Calibri"/>
              </a:rPr>
              <a:t>“Here is the extracted data:” then a markdown fence. json.loads throws.</a:t>
            </a:r>
          </a:p>
          <a:p>
            <a:pPr algn="l">
              <a:lnSpc>
                <a:spcPct val="105000"/>
              </a:lnSpc>
              <a:spcBef>
                <a:spcPts val="200"/>
              </a:spcBef>
            </a:pPr>
            <a:r>
              <a:rPr sz="950" b="1">
                <a:solidFill>
                  <a:srgbClr val="3A5C9E"/>
                </a:solidFill>
                <a:latin typeface="Calibri"/>
              </a:rPr>
              <a:t>FIX  Say no text before or after, and prefill the reply with an opening brace.</a:t>
            </a:r>
          </a:p>
        </p:txBody>
      </p:sp>
      <p:sp>
        <p:nvSpPr>
          <p:cNvPr id="39" name="TextBox 38"/>
          <p:cNvSpPr txBox="1"/>
          <p:nvPr/>
        </p:nvSpPr>
        <p:spPr>
          <a:xfrm>
            <a:off x="548640" y="6089904"/>
            <a:ext cx="11091672" cy="310896"/>
          </a:xfrm>
          <a:prstGeom prst="rect">
            <a:avLst/>
          </a:prstGeom>
          <a:noFill/>
        </p:spPr>
        <p:txBody>
          <a:bodyPr wrap="square" lIns="0" rIns="0" tIns="0" bIns="0" anchor="t">
            <a:spAutoFit/>
          </a:bodyPr>
          <a:lstStyle/>
          <a:p>
            <a:pPr algn="l">
              <a:lnSpc>
                <a:spcPct val="105000"/>
              </a:lnSpc>
              <a:spcBef>
                <a:spcPts val="0"/>
              </a:spcBef>
            </a:pPr>
            <a:r>
              <a:rPr sz="1050" b="0">
                <a:solidFill>
                  <a:srgbClr val="5D6B7E"/>
                </a:solidFill>
                <a:latin typeface="Calibri"/>
              </a:rPr>
              <a:t>Four of those five fixes change the prompt or the schema, not the model. That ratio holds in production too.</a:t>
            </a:r>
          </a:p>
        </p:txBody>
      </p:sp>
      <p:sp>
        <p:nvSpPr>
          <p:cNvPr id="40" name="TextBox 39"/>
          <p:cNvSpPr txBox="1"/>
          <p:nvPr/>
        </p:nvSpPr>
        <p:spPr>
          <a:xfrm>
            <a:off x="548640" y="6473952"/>
            <a:ext cx="7315200" cy="274320"/>
          </a:xfrm>
          <a:prstGeom prst="rect">
            <a:avLst/>
          </a:prstGeom>
          <a:noFill/>
        </p:spPr>
        <p:txBody>
          <a:bodyPr wrap="square" lIns="0" rIns="0" tIns="0" bIns="0" anchor="t">
            <a:spAutoFit/>
          </a:bodyPr>
          <a:lstStyle/>
          <a:p>
            <a:pPr algn="l">
              <a:lnSpc>
                <a:spcPct val="105000"/>
              </a:lnSpc>
              <a:spcBef>
                <a:spcPts val="0"/>
              </a:spcBef>
            </a:pPr>
            <a:r>
              <a:rPr sz="850" b="0">
                <a:solidFill>
                  <a:srgbClr val="5D6B7E"/>
                </a:solidFill>
                <a:latin typeface="Calibri"/>
              </a:rPr>
              <a:t>ISBMS · PGDM 2025–27 · AGENTIC AI &amp; ADVANCED ANALYTICS IN FINANCE</a:t>
            </a:r>
          </a:p>
        </p:txBody>
      </p:sp>
      <p:sp>
        <p:nvSpPr>
          <p:cNvPr id="41" name="TextBox 40"/>
          <p:cNvSpPr txBox="1"/>
          <p:nvPr/>
        </p:nvSpPr>
        <p:spPr>
          <a:xfrm>
            <a:off x="9262872" y="6473952"/>
            <a:ext cx="2377440" cy="274320"/>
          </a:xfrm>
          <a:prstGeom prst="rect">
            <a:avLst/>
          </a:prstGeom>
          <a:noFill/>
        </p:spPr>
        <p:txBody>
          <a:bodyPr wrap="square" lIns="0" rIns="0" tIns="0" bIns="0" anchor="t">
            <a:spAutoFit/>
          </a:bodyPr>
          <a:lstStyle/>
          <a:p>
            <a:pPr algn="r">
              <a:lnSpc>
                <a:spcPct val="105000"/>
              </a:lnSpc>
              <a:spcBef>
                <a:spcPts val="0"/>
              </a:spcBef>
            </a:pPr>
            <a:r>
              <a:rPr sz="850" b="0">
                <a:solidFill>
                  <a:srgbClr val="5D6B7E"/>
                </a:solidFill>
                <a:latin typeface="Calibri"/>
              </a:rPr>
              <a:t>MODULE 1  ·  18</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310896"/>
            <a:ext cx="10817352" cy="292608"/>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PRACTICE QUESTIONS · PART A</a:t>
            </a:r>
          </a:p>
        </p:txBody>
      </p:sp>
      <p:sp>
        <p:nvSpPr>
          <p:cNvPr id="4" name="TextBox 3"/>
          <p:cNvSpPr txBox="1"/>
          <p:nvPr/>
        </p:nvSpPr>
        <p:spPr>
          <a:xfrm>
            <a:off x="548640" y="621792"/>
            <a:ext cx="11091672" cy="685800"/>
          </a:xfrm>
          <a:prstGeom prst="rect">
            <a:avLst/>
          </a:prstGeom>
          <a:noFill/>
        </p:spPr>
        <p:txBody>
          <a:bodyPr wrap="square" lIns="0" rIns="0" tIns="0" bIns="0" anchor="t">
            <a:spAutoFit/>
          </a:bodyPr>
          <a:lstStyle/>
          <a:p>
            <a:pPr algn="l">
              <a:lnSpc>
                <a:spcPct val="105000"/>
              </a:lnSpc>
              <a:spcBef>
                <a:spcPts val="0"/>
              </a:spcBef>
            </a:pPr>
            <a:r>
              <a:rPr sz="2900" b="1">
                <a:solidFill>
                  <a:srgbClr val="0F2145"/>
                </a:solidFill>
                <a:latin typeface="Georgia"/>
              </a:rPr>
              <a:t>Concepts, asked the way an exam asks them</a:t>
            </a:r>
          </a:p>
        </p:txBody>
      </p:sp>
      <p:sp>
        <p:nvSpPr>
          <p:cNvPr id="5" name="Rectangle 4"/>
          <p:cNvSpPr/>
          <p:nvPr/>
        </p:nvSpPr>
        <p:spPr>
          <a:xfrm>
            <a:off x="548640" y="1572768"/>
            <a:ext cx="11091672" cy="8229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72768"/>
            <a:ext cx="64008" cy="82296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700784"/>
            <a:ext cx="640080" cy="457200"/>
          </a:xfrm>
          <a:prstGeom prst="rect">
            <a:avLst/>
          </a:prstGeom>
          <a:noFill/>
        </p:spPr>
        <p:txBody>
          <a:bodyPr wrap="square" lIns="0" rIns="0" tIns="0" bIns="0" anchor="t">
            <a:spAutoFit/>
          </a:bodyPr>
          <a:lstStyle/>
          <a:p>
            <a:pPr algn="l">
              <a:lnSpc>
                <a:spcPct val="105000"/>
              </a:lnSpc>
              <a:spcBef>
                <a:spcPts val="0"/>
              </a:spcBef>
            </a:pPr>
            <a:r>
              <a:rPr sz="1500" b="1">
                <a:solidFill>
                  <a:srgbClr val="3A5C9E"/>
                </a:solidFill>
                <a:latin typeface="Georgia"/>
              </a:rPr>
              <a:t>Q1</a:t>
            </a:r>
          </a:p>
        </p:txBody>
      </p:sp>
      <p:sp>
        <p:nvSpPr>
          <p:cNvPr id="8" name="TextBox 7"/>
          <p:cNvSpPr txBox="1"/>
          <p:nvPr/>
        </p:nvSpPr>
        <p:spPr>
          <a:xfrm>
            <a:off x="1600200" y="1691640"/>
            <a:ext cx="9784080" cy="658368"/>
          </a:xfrm>
          <a:prstGeom prst="rect">
            <a:avLst/>
          </a:prstGeom>
          <a:noFill/>
        </p:spPr>
        <p:txBody>
          <a:bodyPr wrap="square" lIns="0" rIns="0" tIns="0" bIns="0" anchor="t">
            <a:spAutoFit/>
          </a:bodyPr>
          <a:lstStyle/>
          <a:p>
            <a:pPr algn="l">
              <a:lnSpc>
                <a:spcPct val="105000"/>
              </a:lnSpc>
              <a:spcBef>
                <a:spcPts val="0"/>
              </a:spcBef>
            </a:pPr>
            <a:r>
              <a:rPr sz="1150" b="0">
                <a:solidFill>
                  <a:srgbClr val="1B2A41"/>
                </a:solidFill>
                <a:latin typeface="Calibri"/>
              </a:rPr>
              <a:t>A colleague pastes a 200-page annual report into a chat window, asks for profit after tax, and gets a confident but wrong figure. Give two reasons, both rooted in how an LLM actually works.</a:t>
            </a:r>
          </a:p>
        </p:txBody>
      </p:sp>
      <p:sp>
        <p:nvSpPr>
          <p:cNvPr id="9" name="Rectangle 8"/>
          <p:cNvSpPr/>
          <p:nvPr/>
        </p:nvSpPr>
        <p:spPr>
          <a:xfrm>
            <a:off x="548640" y="2468880"/>
            <a:ext cx="11091672" cy="8229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468880"/>
            <a:ext cx="64008" cy="82296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2596896"/>
            <a:ext cx="640080" cy="457200"/>
          </a:xfrm>
          <a:prstGeom prst="rect">
            <a:avLst/>
          </a:prstGeom>
          <a:noFill/>
        </p:spPr>
        <p:txBody>
          <a:bodyPr wrap="square" lIns="0" rIns="0" tIns="0" bIns="0" anchor="t">
            <a:spAutoFit/>
          </a:bodyPr>
          <a:lstStyle/>
          <a:p>
            <a:pPr algn="l">
              <a:lnSpc>
                <a:spcPct val="105000"/>
              </a:lnSpc>
              <a:spcBef>
                <a:spcPts val="0"/>
              </a:spcBef>
            </a:pPr>
            <a:r>
              <a:rPr sz="1500" b="1">
                <a:solidFill>
                  <a:srgbClr val="3A5C9E"/>
                </a:solidFill>
                <a:latin typeface="Georgia"/>
              </a:rPr>
              <a:t>Q2</a:t>
            </a:r>
          </a:p>
        </p:txBody>
      </p:sp>
      <p:sp>
        <p:nvSpPr>
          <p:cNvPr id="12" name="TextBox 11"/>
          <p:cNvSpPr txBox="1"/>
          <p:nvPr/>
        </p:nvSpPr>
        <p:spPr>
          <a:xfrm>
            <a:off x="1600200" y="2587752"/>
            <a:ext cx="9784080" cy="658368"/>
          </a:xfrm>
          <a:prstGeom prst="rect">
            <a:avLst/>
          </a:prstGeom>
          <a:noFill/>
        </p:spPr>
        <p:txBody>
          <a:bodyPr wrap="square" lIns="0" rIns="0" tIns="0" bIns="0" anchor="t">
            <a:spAutoFit/>
          </a:bodyPr>
          <a:lstStyle/>
          <a:p>
            <a:pPr algn="l">
              <a:lnSpc>
                <a:spcPct val="105000"/>
              </a:lnSpc>
              <a:spcBef>
                <a:spcPts val="0"/>
              </a:spcBef>
            </a:pPr>
            <a:r>
              <a:rPr sz="1150" b="0">
                <a:solidFill>
                  <a:srgbClr val="1B2A41"/>
                </a:solidFill>
                <a:latin typeface="Calibri"/>
              </a:rPr>
              <a:t>A bank runs four things: (a) a rule rejecting loans above 50% EMI-to-income, (b) a logistic-regression PD scorecard, (c) FinBERT scoring news headlines, (d) an agent that reconciles NAV breaks. Label each with its era of AI in finance.</a:t>
            </a:r>
          </a:p>
        </p:txBody>
      </p:sp>
      <p:sp>
        <p:nvSpPr>
          <p:cNvPr id="13" name="Rectangle 12"/>
          <p:cNvSpPr/>
          <p:nvPr/>
        </p:nvSpPr>
        <p:spPr>
          <a:xfrm>
            <a:off x="548640" y="3364992"/>
            <a:ext cx="11091672" cy="8229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48640" y="3364992"/>
            <a:ext cx="64008" cy="82296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 y="3493008"/>
            <a:ext cx="640080" cy="457200"/>
          </a:xfrm>
          <a:prstGeom prst="rect">
            <a:avLst/>
          </a:prstGeom>
          <a:noFill/>
        </p:spPr>
        <p:txBody>
          <a:bodyPr wrap="square" lIns="0" rIns="0" tIns="0" bIns="0" anchor="t">
            <a:spAutoFit/>
          </a:bodyPr>
          <a:lstStyle/>
          <a:p>
            <a:pPr algn="l">
              <a:lnSpc>
                <a:spcPct val="105000"/>
              </a:lnSpc>
              <a:spcBef>
                <a:spcPts val="0"/>
              </a:spcBef>
            </a:pPr>
            <a:r>
              <a:rPr sz="1500" b="1">
                <a:solidFill>
                  <a:srgbClr val="3A5C9E"/>
                </a:solidFill>
                <a:latin typeface="Georgia"/>
              </a:rPr>
              <a:t>Q3</a:t>
            </a:r>
          </a:p>
        </p:txBody>
      </p:sp>
      <p:sp>
        <p:nvSpPr>
          <p:cNvPr id="16" name="TextBox 15"/>
          <p:cNvSpPr txBox="1"/>
          <p:nvPr/>
        </p:nvSpPr>
        <p:spPr>
          <a:xfrm>
            <a:off x="1600200" y="3483864"/>
            <a:ext cx="9784080" cy="658368"/>
          </a:xfrm>
          <a:prstGeom prst="rect">
            <a:avLst/>
          </a:prstGeom>
          <a:noFill/>
        </p:spPr>
        <p:txBody>
          <a:bodyPr wrap="square" lIns="0" rIns="0" tIns="0" bIns="0" anchor="t">
            <a:spAutoFit/>
          </a:bodyPr>
          <a:lstStyle/>
          <a:p>
            <a:pPr algn="l">
              <a:lnSpc>
                <a:spcPct val="105000"/>
              </a:lnSpc>
              <a:spcBef>
                <a:spcPts val="0"/>
              </a:spcBef>
            </a:pPr>
            <a:r>
              <a:rPr sz="1150" b="0">
                <a:solidFill>
                  <a:srgbClr val="1B2A41"/>
                </a:solidFill>
                <a:latin typeface="Calibri"/>
              </a:rPr>
              <a:t>Your team must score 50,000 headlines for sentiment every night, on the bank's own servers. Would you use FinBERT or a frontier model like Claude? Justify on cost, accuracy and where the data sits.</a:t>
            </a:r>
          </a:p>
        </p:txBody>
      </p:sp>
      <p:sp>
        <p:nvSpPr>
          <p:cNvPr id="17" name="Rectangle 16"/>
          <p:cNvSpPr/>
          <p:nvPr/>
        </p:nvSpPr>
        <p:spPr>
          <a:xfrm>
            <a:off x="548640" y="4261104"/>
            <a:ext cx="11091672" cy="8229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8640" y="4261104"/>
            <a:ext cx="64008" cy="82296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4389120"/>
            <a:ext cx="640080" cy="457200"/>
          </a:xfrm>
          <a:prstGeom prst="rect">
            <a:avLst/>
          </a:prstGeom>
          <a:noFill/>
        </p:spPr>
        <p:txBody>
          <a:bodyPr wrap="square" lIns="0" rIns="0" tIns="0" bIns="0" anchor="t">
            <a:spAutoFit/>
          </a:bodyPr>
          <a:lstStyle/>
          <a:p>
            <a:pPr algn="l">
              <a:lnSpc>
                <a:spcPct val="105000"/>
              </a:lnSpc>
              <a:spcBef>
                <a:spcPts val="0"/>
              </a:spcBef>
            </a:pPr>
            <a:r>
              <a:rPr sz="1500" b="1">
                <a:solidFill>
                  <a:srgbClr val="3A5C9E"/>
                </a:solidFill>
                <a:latin typeface="Georgia"/>
              </a:rPr>
              <a:t>Q4</a:t>
            </a:r>
          </a:p>
        </p:txBody>
      </p:sp>
      <p:sp>
        <p:nvSpPr>
          <p:cNvPr id="20" name="TextBox 19"/>
          <p:cNvSpPr txBox="1"/>
          <p:nvPr/>
        </p:nvSpPr>
        <p:spPr>
          <a:xfrm>
            <a:off x="1600200" y="4379976"/>
            <a:ext cx="9784080" cy="658368"/>
          </a:xfrm>
          <a:prstGeom prst="rect">
            <a:avLst/>
          </a:prstGeom>
          <a:noFill/>
        </p:spPr>
        <p:txBody>
          <a:bodyPr wrap="square" lIns="0" rIns="0" tIns="0" bIns="0" anchor="t">
            <a:spAutoFit/>
          </a:bodyPr>
          <a:lstStyle/>
          <a:p>
            <a:pPr algn="l">
              <a:lnSpc>
                <a:spcPct val="105000"/>
              </a:lnSpc>
              <a:spcBef>
                <a:spcPts val="0"/>
              </a:spcBef>
            </a:pPr>
            <a:r>
              <a:rPr sz="1150" b="0">
                <a:solidFill>
                  <a:srgbClr val="1B2A41"/>
                </a:solidFill>
                <a:latin typeface="Calibri"/>
              </a:rPr>
              <a:t>An extraction output says "unit": "INR crore" but the filing prints “₹ in lakhs”. What has gone wrong, and which single prompt rule would have prevented it?</a:t>
            </a:r>
          </a:p>
        </p:txBody>
      </p:sp>
      <p:sp>
        <p:nvSpPr>
          <p:cNvPr id="21" name="Rectangle 20"/>
          <p:cNvSpPr/>
          <p:nvPr/>
        </p:nvSpPr>
        <p:spPr>
          <a:xfrm>
            <a:off x="548640" y="5157216"/>
            <a:ext cx="11091672" cy="8229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48640" y="5157216"/>
            <a:ext cx="64008" cy="82296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2960" y="5285232"/>
            <a:ext cx="640080" cy="457200"/>
          </a:xfrm>
          <a:prstGeom prst="rect">
            <a:avLst/>
          </a:prstGeom>
          <a:noFill/>
        </p:spPr>
        <p:txBody>
          <a:bodyPr wrap="square" lIns="0" rIns="0" tIns="0" bIns="0" anchor="t">
            <a:spAutoFit/>
          </a:bodyPr>
          <a:lstStyle/>
          <a:p>
            <a:pPr algn="l">
              <a:lnSpc>
                <a:spcPct val="105000"/>
              </a:lnSpc>
              <a:spcBef>
                <a:spcPts val="0"/>
              </a:spcBef>
            </a:pPr>
            <a:r>
              <a:rPr sz="1500" b="1">
                <a:solidFill>
                  <a:srgbClr val="3A5C9E"/>
                </a:solidFill>
                <a:latin typeface="Georgia"/>
              </a:rPr>
              <a:t>Q5</a:t>
            </a:r>
          </a:p>
        </p:txBody>
      </p:sp>
      <p:sp>
        <p:nvSpPr>
          <p:cNvPr id="24" name="TextBox 23"/>
          <p:cNvSpPr txBox="1"/>
          <p:nvPr/>
        </p:nvSpPr>
        <p:spPr>
          <a:xfrm>
            <a:off x="1600200" y="5276088"/>
            <a:ext cx="9784080" cy="658368"/>
          </a:xfrm>
          <a:prstGeom prst="rect">
            <a:avLst/>
          </a:prstGeom>
          <a:noFill/>
        </p:spPr>
        <p:txBody>
          <a:bodyPr wrap="square" lIns="0" rIns="0" tIns="0" bIns="0" anchor="t">
            <a:spAutoFit/>
          </a:bodyPr>
          <a:lstStyle/>
          <a:p>
            <a:pPr algn="l">
              <a:lnSpc>
                <a:spcPct val="105000"/>
              </a:lnSpc>
              <a:spcBef>
                <a:spcPts val="0"/>
              </a:spcBef>
            </a:pPr>
            <a:r>
              <a:rPr sz="1150" b="0">
                <a:solidFill>
                  <a:srgbClr val="1B2A41"/>
                </a:solidFill>
                <a:latin typeface="Calibri"/>
              </a:rPr>
              <a:t>Define a token in one line. Then estimate the tokens in a 1,000-word research note, and say why that estimate matters to your project budget.</a:t>
            </a:r>
          </a:p>
        </p:txBody>
      </p:sp>
      <p:sp>
        <p:nvSpPr>
          <p:cNvPr id="25" name="Rectangle 24"/>
          <p:cNvSpPr/>
          <p:nvPr/>
        </p:nvSpPr>
        <p:spPr>
          <a:xfrm>
            <a:off x="548640" y="6035040"/>
            <a:ext cx="11091672" cy="36576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2960" y="6035040"/>
            <a:ext cx="10543032" cy="365760"/>
          </a:xfrm>
          <a:prstGeom prst="rect">
            <a:avLst/>
          </a:prstGeom>
          <a:noFill/>
        </p:spPr>
        <p:txBody>
          <a:bodyPr wrap="square" lIns="0" rIns="0" tIns="0" bIns="0" anchor="ctr">
            <a:spAutoFit/>
          </a:bodyPr>
          <a:lstStyle/>
          <a:p>
            <a:pPr algn="l">
              <a:lnSpc>
                <a:spcPct val="105000"/>
              </a:lnSpc>
              <a:spcBef>
                <a:spcPts val="0"/>
              </a:spcBef>
            </a:pPr>
            <a:r>
              <a:rPr sz="1250" b="1">
                <a:solidFill>
                  <a:srgbClr val="C9A227"/>
                </a:solidFill>
                <a:latin typeface="Calibri"/>
              </a:rPr>
              <a:t>Answer in four sentences or fewer. </a:t>
            </a:r>
            <a:r>
              <a:rPr sz="1250" b="0">
                <a:solidFill>
                  <a:srgbClr val="FFFFFF"/>
                </a:solidFill>
                <a:latin typeface="Calibri"/>
              </a:rPr>
              <a:t>Marks come from naming the mechanism, not from length.</a:t>
            </a:r>
          </a:p>
        </p:txBody>
      </p:sp>
      <p:sp>
        <p:nvSpPr>
          <p:cNvPr id="27" name="TextBox 26"/>
          <p:cNvSpPr txBox="1"/>
          <p:nvPr/>
        </p:nvSpPr>
        <p:spPr>
          <a:xfrm>
            <a:off x="548640" y="6473952"/>
            <a:ext cx="7315200" cy="274320"/>
          </a:xfrm>
          <a:prstGeom prst="rect">
            <a:avLst/>
          </a:prstGeom>
          <a:noFill/>
        </p:spPr>
        <p:txBody>
          <a:bodyPr wrap="square" lIns="0" rIns="0" tIns="0" bIns="0" anchor="t">
            <a:spAutoFit/>
          </a:bodyPr>
          <a:lstStyle/>
          <a:p>
            <a:pPr algn="l">
              <a:lnSpc>
                <a:spcPct val="105000"/>
              </a:lnSpc>
              <a:spcBef>
                <a:spcPts val="0"/>
              </a:spcBef>
            </a:pPr>
            <a:r>
              <a:rPr sz="850" b="0">
                <a:solidFill>
                  <a:srgbClr val="5D6B7E"/>
                </a:solidFill>
                <a:latin typeface="Calibri"/>
              </a:rPr>
              <a:t>ISBMS · PGDM 2025–27 · AGENTIC AI &amp; ADVANCED ANALYTICS IN FINANCE</a:t>
            </a:r>
          </a:p>
        </p:txBody>
      </p:sp>
      <p:sp>
        <p:nvSpPr>
          <p:cNvPr id="28" name="TextBox 27"/>
          <p:cNvSpPr txBox="1"/>
          <p:nvPr/>
        </p:nvSpPr>
        <p:spPr>
          <a:xfrm>
            <a:off x="9262872" y="6473952"/>
            <a:ext cx="2377440" cy="274320"/>
          </a:xfrm>
          <a:prstGeom prst="rect">
            <a:avLst/>
          </a:prstGeom>
          <a:noFill/>
        </p:spPr>
        <p:txBody>
          <a:bodyPr wrap="square" lIns="0" rIns="0" tIns="0" bIns="0" anchor="t">
            <a:spAutoFit/>
          </a:bodyPr>
          <a:lstStyle/>
          <a:p>
            <a:pPr algn="r">
              <a:lnSpc>
                <a:spcPct val="105000"/>
              </a:lnSpc>
              <a:spcBef>
                <a:spcPts val="0"/>
              </a:spcBef>
            </a:pPr>
            <a:r>
              <a:rPr sz="850" b="0">
                <a:solidFill>
                  <a:srgbClr val="5D6B7E"/>
                </a:solidFill>
                <a:latin typeface="Calibri"/>
              </a:rPr>
              <a:t>MODULE 1  ·  19</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310896"/>
            <a:ext cx="10817352" cy="292608"/>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PRACTICE QUESTIONS · PART B</a:t>
            </a:r>
          </a:p>
        </p:txBody>
      </p:sp>
      <p:sp>
        <p:nvSpPr>
          <p:cNvPr id="4" name="TextBox 3"/>
          <p:cNvSpPr txBox="1"/>
          <p:nvPr/>
        </p:nvSpPr>
        <p:spPr>
          <a:xfrm>
            <a:off x="548640" y="621792"/>
            <a:ext cx="11091672" cy="685800"/>
          </a:xfrm>
          <a:prstGeom prst="rect">
            <a:avLst/>
          </a:prstGeom>
          <a:noFill/>
        </p:spPr>
        <p:txBody>
          <a:bodyPr wrap="square" lIns="0" rIns="0" tIns="0" bIns="0" anchor="t">
            <a:spAutoFit/>
          </a:bodyPr>
          <a:lstStyle/>
          <a:p>
            <a:pPr algn="l">
              <a:lnSpc>
                <a:spcPct val="105000"/>
              </a:lnSpc>
              <a:spcBef>
                <a:spcPts val="0"/>
              </a:spcBef>
            </a:pPr>
            <a:r>
              <a:rPr sz="2900" b="1">
                <a:solidFill>
                  <a:srgbClr val="0F2145"/>
                </a:solidFill>
                <a:latin typeface="Georgia"/>
              </a:rPr>
              <a:t>Agents and the lab, applied to a live desk</a:t>
            </a:r>
          </a:p>
        </p:txBody>
      </p:sp>
      <p:sp>
        <p:nvSpPr>
          <p:cNvPr id="5" name="Rectangle 4"/>
          <p:cNvSpPr/>
          <p:nvPr/>
        </p:nvSpPr>
        <p:spPr>
          <a:xfrm>
            <a:off x="548640" y="1572768"/>
            <a:ext cx="11091672" cy="8229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72768"/>
            <a:ext cx="64008" cy="82296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700784"/>
            <a:ext cx="640080" cy="457200"/>
          </a:xfrm>
          <a:prstGeom prst="rect">
            <a:avLst/>
          </a:prstGeom>
          <a:noFill/>
        </p:spPr>
        <p:txBody>
          <a:bodyPr wrap="square" lIns="0" rIns="0" tIns="0" bIns="0" anchor="t">
            <a:spAutoFit/>
          </a:bodyPr>
          <a:lstStyle/>
          <a:p>
            <a:pPr algn="l">
              <a:lnSpc>
                <a:spcPct val="105000"/>
              </a:lnSpc>
              <a:spcBef>
                <a:spcPts val="0"/>
              </a:spcBef>
            </a:pPr>
            <a:r>
              <a:rPr sz="1500" b="1">
                <a:solidFill>
                  <a:srgbClr val="3A5C9E"/>
                </a:solidFill>
                <a:latin typeface="Georgia"/>
              </a:rPr>
              <a:t>Q6</a:t>
            </a:r>
          </a:p>
        </p:txBody>
      </p:sp>
      <p:sp>
        <p:nvSpPr>
          <p:cNvPr id="8" name="TextBox 7"/>
          <p:cNvSpPr txBox="1"/>
          <p:nvPr/>
        </p:nvSpPr>
        <p:spPr>
          <a:xfrm>
            <a:off x="1600200" y="1691640"/>
            <a:ext cx="9784080" cy="658368"/>
          </a:xfrm>
          <a:prstGeom prst="rect">
            <a:avLst/>
          </a:prstGeom>
          <a:noFill/>
        </p:spPr>
        <p:txBody>
          <a:bodyPr wrap="square" lIns="0" rIns="0" tIns="0" bIns="0" anchor="t">
            <a:spAutoFit/>
          </a:bodyPr>
          <a:lstStyle/>
          <a:p>
            <a:pPr algn="l">
              <a:lnSpc>
                <a:spcPct val="105000"/>
              </a:lnSpc>
              <a:spcBef>
                <a:spcPts val="0"/>
              </a:spcBef>
            </a:pPr>
            <a:r>
              <a:rPr sz="1150" b="0">
                <a:solidFill>
                  <a:srgbClr val="1B2A41"/>
                </a:solidFill>
                <a:latin typeface="Calibri"/>
              </a:rPr>
              <a:t>A fund administration agent is told: “the NAV does not match the custodian, fix it.” Write its four loop steps — Observe, Plan, Act, Reflect — one line each, for this case.</a:t>
            </a:r>
          </a:p>
        </p:txBody>
      </p:sp>
      <p:sp>
        <p:nvSpPr>
          <p:cNvPr id="9" name="Rectangle 8"/>
          <p:cNvSpPr/>
          <p:nvPr/>
        </p:nvSpPr>
        <p:spPr>
          <a:xfrm>
            <a:off x="548640" y="2468880"/>
            <a:ext cx="11091672" cy="8229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468880"/>
            <a:ext cx="64008" cy="82296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2596896"/>
            <a:ext cx="640080" cy="457200"/>
          </a:xfrm>
          <a:prstGeom prst="rect">
            <a:avLst/>
          </a:prstGeom>
          <a:noFill/>
        </p:spPr>
        <p:txBody>
          <a:bodyPr wrap="square" lIns="0" rIns="0" tIns="0" bIns="0" anchor="t">
            <a:spAutoFit/>
          </a:bodyPr>
          <a:lstStyle/>
          <a:p>
            <a:pPr algn="l">
              <a:lnSpc>
                <a:spcPct val="105000"/>
              </a:lnSpc>
              <a:spcBef>
                <a:spcPts val="0"/>
              </a:spcBef>
            </a:pPr>
            <a:r>
              <a:rPr sz="1500" b="1">
                <a:solidFill>
                  <a:srgbClr val="3A5C9E"/>
                </a:solidFill>
                <a:latin typeface="Georgia"/>
              </a:rPr>
              <a:t>Q7</a:t>
            </a:r>
          </a:p>
        </p:txBody>
      </p:sp>
      <p:sp>
        <p:nvSpPr>
          <p:cNvPr id="12" name="TextBox 11"/>
          <p:cNvSpPr txBox="1"/>
          <p:nvPr/>
        </p:nvSpPr>
        <p:spPr>
          <a:xfrm>
            <a:off x="1600200" y="2587752"/>
            <a:ext cx="9784080" cy="658368"/>
          </a:xfrm>
          <a:prstGeom prst="rect">
            <a:avLst/>
          </a:prstGeom>
          <a:noFill/>
        </p:spPr>
        <p:txBody>
          <a:bodyPr wrap="square" lIns="0" rIns="0" tIns="0" bIns="0" anchor="t">
            <a:spAutoFit/>
          </a:bodyPr>
          <a:lstStyle/>
          <a:p>
            <a:pPr algn="l">
              <a:lnSpc>
                <a:spcPct val="105000"/>
              </a:lnSpc>
              <a:spcBef>
                <a:spcPts val="0"/>
              </a:spcBef>
            </a:pPr>
            <a:r>
              <a:rPr sz="1150" b="0">
                <a:solidFill>
                  <a:srgbClr val="1B2A41"/>
                </a:solidFill>
                <a:latin typeface="Calibri"/>
              </a:rPr>
              <a:t>You give an agent a tool called run_query. Which two parts of the tool definition decide whether the model calls it correctly, and what happens if you write them badly?</a:t>
            </a:r>
          </a:p>
        </p:txBody>
      </p:sp>
      <p:sp>
        <p:nvSpPr>
          <p:cNvPr id="13" name="Rectangle 12"/>
          <p:cNvSpPr/>
          <p:nvPr/>
        </p:nvSpPr>
        <p:spPr>
          <a:xfrm>
            <a:off x="548640" y="3364992"/>
            <a:ext cx="11091672" cy="8229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48640" y="3364992"/>
            <a:ext cx="64008" cy="82296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 y="3493008"/>
            <a:ext cx="640080" cy="457200"/>
          </a:xfrm>
          <a:prstGeom prst="rect">
            <a:avLst/>
          </a:prstGeom>
          <a:noFill/>
        </p:spPr>
        <p:txBody>
          <a:bodyPr wrap="square" lIns="0" rIns="0" tIns="0" bIns="0" anchor="t">
            <a:spAutoFit/>
          </a:bodyPr>
          <a:lstStyle/>
          <a:p>
            <a:pPr algn="l">
              <a:lnSpc>
                <a:spcPct val="105000"/>
              </a:lnSpc>
              <a:spcBef>
                <a:spcPts val="0"/>
              </a:spcBef>
            </a:pPr>
            <a:r>
              <a:rPr sz="1500" b="1">
                <a:solidFill>
                  <a:srgbClr val="3A5C9E"/>
                </a:solidFill>
                <a:latin typeface="Georgia"/>
              </a:rPr>
              <a:t>Q8</a:t>
            </a:r>
          </a:p>
        </p:txBody>
      </p:sp>
      <p:sp>
        <p:nvSpPr>
          <p:cNvPr id="16" name="TextBox 15"/>
          <p:cNvSpPr txBox="1"/>
          <p:nvPr/>
        </p:nvSpPr>
        <p:spPr>
          <a:xfrm>
            <a:off x="1600200" y="3483864"/>
            <a:ext cx="9784080" cy="658368"/>
          </a:xfrm>
          <a:prstGeom prst="rect">
            <a:avLst/>
          </a:prstGeom>
          <a:noFill/>
        </p:spPr>
        <p:txBody>
          <a:bodyPr wrap="square" lIns="0" rIns="0" tIns="0" bIns="0" anchor="t">
            <a:spAutoFit/>
          </a:bodyPr>
          <a:lstStyle/>
          <a:p>
            <a:pPr algn="l">
              <a:lnSpc>
                <a:spcPct val="105000"/>
              </a:lnSpc>
              <a:spcBef>
                <a:spcPts val="0"/>
              </a:spcBef>
            </a:pPr>
            <a:r>
              <a:rPr sz="1150" b="0">
                <a:solidFill>
                  <a:srgbClr val="1B2A41"/>
                </a:solidFill>
                <a:latin typeface="Calibri"/>
              </a:rPr>
              <a:t>Classify each as short-term, episodic or semantic memory: (a) the holdings table pasted two minutes ago, (b) “house limit is 8% per stock”, (c) “last quarter this client refused tobacco stocks”.</a:t>
            </a:r>
          </a:p>
        </p:txBody>
      </p:sp>
      <p:sp>
        <p:nvSpPr>
          <p:cNvPr id="17" name="Rectangle 16"/>
          <p:cNvSpPr/>
          <p:nvPr/>
        </p:nvSpPr>
        <p:spPr>
          <a:xfrm>
            <a:off x="548640" y="4261104"/>
            <a:ext cx="11091672" cy="8229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8640" y="4261104"/>
            <a:ext cx="64008" cy="82296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4389120"/>
            <a:ext cx="640080" cy="457200"/>
          </a:xfrm>
          <a:prstGeom prst="rect">
            <a:avLst/>
          </a:prstGeom>
          <a:noFill/>
        </p:spPr>
        <p:txBody>
          <a:bodyPr wrap="square" lIns="0" rIns="0" tIns="0" bIns="0" anchor="t">
            <a:spAutoFit/>
          </a:bodyPr>
          <a:lstStyle/>
          <a:p>
            <a:pPr algn="l">
              <a:lnSpc>
                <a:spcPct val="105000"/>
              </a:lnSpc>
              <a:spcBef>
                <a:spcPts val="0"/>
              </a:spcBef>
            </a:pPr>
            <a:r>
              <a:rPr sz="1500" b="1">
                <a:solidFill>
                  <a:srgbClr val="3A5C9E"/>
                </a:solidFill>
                <a:latin typeface="Georgia"/>
              </a:rPr>
              <a:t>Q9</a:t>
            </a:r>
          </a:p>
        </p:txBody>
      </p:sp>
      <p:sp>
        <p:nvSpPr>
          <p:cNvPr id="20" name="TextBox 19"/>
          <p:cNvSpPr txBox="1"/>
          <p:nvPr/>
        </p:nvSpPr>
        <p:spPr>
          <a:xfrm>
            <a:off x="1600200" y="4379976"/>
            <a:ext cx="9784080" cy="658368"/>
          </a:xfrm>
          <a:prstGeom prst="rect">
            <a:avLst/>
          </a:prstGeom>
          <a:noFill/>
        </p:spPr>
        <p:txBody>
          <a:bodyPr wrap="square" lIns="0" rIns="0" tIns="0" bIns="0" anchor="t">
            <a:spAutoFit/>
          </a:bodyPr>
          <a:lstStyle/>
          <a:p>
            <a:pPr algn="l">
              <a:lnSpc>
                <a:spcPct val="105000"/>
              </a:lnSpc>
              <a:spcBef>
                <a:spcPts val="0"/>
              </a:spcBef>
            </a:pPr>
            <a:r>
              <a:rPr sz="1150" b="0">
                <a:solidFill>
                  <a:srgbClr val="1B2A41"/>
                </a:solidFill>
                <a:latin typeface="Calibri"/>
              </a:rPr>
              <a:t>Your extraction returns PBT 29,985, tax 7,480 and PAT 21,505, all in crore. Which check fails, what is the most likely cause, and what do you do before using the number?</a:t>
            </a:r>
          </a:p>
        </p:txBody>
      </p:sp>
      <p:sp>
        <p:nvSpPr>
          <p:cNvPr id="21" name="Rectangle 20"/>
          <p:cNvSpPr/>
          <p:nvPr/>
        </p:nvSpPr>
        <p:spPr>
          <a:xfrm>
            <a:off x="548640" y="5157216"/>
            <a:ext cx="11091672" cy="8229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48640" y="5157216"/>
            <a:ext cx="64008" cy="82296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2960" y="5285232"/>
            <a:ext cx="640080" cy="457200"/>
          </a:xfrm>
          <a:prstGeom prst="rect">
            <a:avLst/>
          </a:prstGeom>
          <a:noFill/>
        </p:spPr>
        <p:txBody>
          <a:bodyPr wrap="square" lIns="0" rIns="0" tIns="0" bIns="0" anchor="t">
            <a:spAutoFit/>
          </a:bodyPr>
          <a:lstStyle/>
          <a:p>
            <a:pPr algn="l">
              <a:lnSpc>
                <a:spcPct val="105000"/>
              </a:lnSpc>
              <a:spcBef>
                <a:spcPts val="0"/>
              </a:spcBef>
            </a:pPr>
            <a:r>
              <a:rPr sz="1500" b="1">
                <a:solidFill>
                  <a:srgbClr val="3A5C9E"/>
                </a:solidFill>
                <a:latin typeface="Georgia"/>
              </a:rPr>
              <a:t>Q10</a:t>
            </a:r>
          </a:p>
        </p:txBody>
      </p:sp>
      <p:sp>
        <p:nvSpPr>
          <p:cNvPr id="24" name="TextBox 23"/>
          <p:cNvSpPr txBox="1"/>
          <p:nvPr/>
        </p:nvSpPr>
        <p:spPr>
          <a:xfrm>
            <a:off x="1600200" y="5276088"/>
            <a:ext cx="9784080" cy="658368"/>
          </a:xfrm>
          <a:prstGeom prst="rect">
            <a:avLst/>
          </a:prstGeom>
          <a:noFill/>
        </p:spPr>
        <p:txBody>
          <a:bodyPr wrap="square" lIns="0" rIns="0" tIns="0" bIns="0" anchor="t">
            <a:spAutoFit/>
          </a:bodyPr>
          <a:lstStyle/>
          <a:p>
            <a:pPr algn="l">
              <a:lnSpc>
                <a:spcPct val="105000"/>
              </a:lnSpc>
              <a:spcBef>
                <a:spcPts val="0"/>
              </a:spcBef>
            </a:pPr>
            <a:r>
              <a:rPr sz="1150" b="0">
                <a:solidFill>
                  <a:srgbClr val="1B2A41"/>
                </a:solidFill>
                <a:latin typeface="Calibri"/>
              </a:rPr>
              <a:t>You are asked to let an agent email clients directly. Name two controls you would insist on first, and state precisely what each one prevents.</a:t>
            </a:r>
          </a:p>
        </p:txBody>
      </p:sp>
      <p:sp>
        <p:nvSpPr>
          <p:cNvPr id="25" name="TextBox 24"/>
          <p:cNvSpPr txBox="1"/>
          <p:nvPr/>
        </p:nvSpPr>
        <p:spPr>
          <a:xfrm>
            <a:off x="548640" y="6071616"/>
            <a:ext cx="11091672" cy="365760"/>
          </a:xfrm>
          <a:prstGeom prst="rect">
            <a:avLst/>
          </a:prstGeom>
          <a:noFill/>
        </p:spPr>
        <p:txBody>
          <a:bodyPr wrap="square" lIns="0" rIns="0" tIns="0" bIns="0" anchor="t">
            <a:spAutoFit/>
          </a:bodyPr>
          <a:lstStyle/>
          <a:p>
            <a:pPr algn="l">
              <a:lnSpc>
                <a:spcPct val="105000"/>
              </a:lnSpc>
              <a:spcBef>
                <a:spcPts val="0"/>
              </a:spcBef>
            </a:pPr>
            <a:r>
              <a:rPr sz="1050" b="1">
                <a:solidFill>
                  <a:srgbClr val="0F2145"/>
                </a:solidFill>
                <a:latin typeface="Calibri"/>
              </a:rPr>
              <a:t>Before Session 2:  </a:t>
            </a:r>
            <a:r>
              <a:rPr sz="1050" b="0">
                <a:solidFill>
                  <a:srgbClr val="5D6B7E"/>
                </a:solidFill>
                <a:latin typeface="Calibri"/>
              </a:rPr>
              <a:t>push module1-extraction to GitHub with your three JSON outputs and a NOTES.md on what broke. Read Chapter 1 of Claude AI for Finance Professionals, and bring one annual report PDF for the RAG lab.</a:t>
            </a:r>
          </a:p>
        </p:txBody>
      </p:sp>
      <p:sp>
        <p:nvSpPr>
          <p:cNvPr id="26" name="TextBox 25"/>
          <p:cNvSpPr txBox="1"/>
          <p:nvPr/>
        </p:nvSpPr>
        <p:spPr>
          <a:xfrm>
            <a:off x="548640" y="6473952"/>
            <a:ext cx="7315200" cy="274320"/>
          </a:xfrm>
          <a:prstGeom prst="rect">
            <a:avLst/>
          </a:prstGeom>
          <a:noFill/>
        </p:spPr>
        <p:txBody>
          <a:bodyPr wrap="square" lIns="0" rIns="0" tIns="0" bIns="0" anchor="t">
            <a:spAutoFit/>
          </a:bodyPr>
          <a:lstStyle/>
          <a:p>
            <a:pPr algn="l">
              <a:lnSpc>
                <a:spcPct val="105000"/>
              </a:lnSpc>
              <a:spcBef>
                <a:spcPts val="0"/>
              </a:spcBef>
            </a:pPr>
            <a:r>
              <a:rPr sz="850" b="0">
                <a:solidFill>
                  <a:srgbClr val="5D6B7E"/>
                </a:solidFill>
                <a:latin typeface="Calibri"/>
              </a:rPr>
              <a:t>ISBMS · PGDM 2025–27 · AGENTIC AI &amp; ADVANCED ANALYTICS IN FINANCE</a:t>
            </a:r>
          </a:p>
        </p:txBody>
      </p:sp>
      <p:sp>
        <p:nvSpPr>
          <p:cNvPr id="27" name="TextBox 26"/>
          <p:cNvSpPr txBox="1"/>
          <p:nvPr/>
        </p:nvSpPr>
        <p:spPr>
          <a:xfrm>
            <a:off x="9262872" y="6473952"/>
            <a:ext cx="2377440" cy="274320"/>
          </a:xfrm>
          <a:prstGeom prst="rect">
            <a:avLst/>
          </a:prstGeom>
          <a:noFill/>
        </p:spPr>
        <p:txBody>
          <a:bodyPr wrap="square" lIns="0" rIns="0" tIns="0" bIns="0" anchor="t">
            <a:spAutoFit/>
          </a:bodyPr>
          <a:lstStyle/>
          <a:p>
            <a:pPr algn="r">
              <a:lnSpc>
                <a:spcPct val="105000"/>
              </a:lnSpc>
              <a:spcBef>
                <a:spcPts val="0"/>
              </a:spcBef>
            </a:pPr>
            <a:r>
              <a:rPr sz="850" b="0">
                <a:solidFill>
                  <a:srgbClr val="5D6B7E"/>
                </a:solidFill>
                <a:latin typeface="Calibri"/>
              </a:rPr>
              <a:t>MODULE 1  ·  20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Office PowerPoint</Application>
  <PresentationFormat>Widescreen</PresentationFormat>
  <Paragraphs>0</Paragraphs>
  <Slides>61</Slides>
  <Notes>0</Notes>
  <HiddenSlides>0</HiddenSlides>
  <MMClips>0</MMClips>
  <ScaleCrop>false</ScaleCrop>
  <HeadingPairs>
    <vt:vector size="4" baseType="variant">
      <vt:variant>
        <vt:lpstr>Theme</vt:lpstr>
      </vt:variant>
      <vt:variant>
        <vt:i4>1</vt:i4>
      </vt:variant>
      <vt:variant>
        <vt:lpstr>Slide Titles</vt:lpstr>
      </vt:variant>
      <vt:variant>
        <vt:i4>61</vt:i4>
      </vt:variant>
    </vt:vector>
  </HeadingPairs>
  <TitlesOfParts>
    <vt:vector size="62"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73</cp:revision>
  <dcterms:created xsi:type="dcterms:W3CDTF">2013-01-27T09:14:16Z</dcterms:created>
  <dcterms:modified xsi:type="dcterms:W3CDTF">2026-07-04T20:56:39Z</dcterms:modified>
  <cp:category/>
</cp:coreProperties>
</file>
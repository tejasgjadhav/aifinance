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5.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319" r:id="rId69"/>
    <p:sldId id="320" r:id="rId70"/>
    <p:sldId id="259" r:id="rId6"/>
    <p:sldId id="328" r:id="rId78"/>
    <p:sldId id="321" r:id="rId71"/>
    <p:sldId id="262" r:id="rId9"/>
    <p:sldId id="329" r:id="rId79"/>
    <p:sldId id="334" r:id="rId84"/>
    <p:sldId id="263" r:id="rId10"/>
    <p:sldId id="335" r:id="rId85"/>
    <p:sldId id="330" r:id="rId80"/>
    <p:sldId id="265" r:id="rId13"/>
    <p:sldId id="276" r:id="rId25"/>
    <p:sldId id="323" r:id="rId73"/>
    <p:sldId id="278" r:id="rId27"/>
    <p:sldId id="324" r:id="rId74"/>
    <p:sldId id="336" r:id="rId86"/>
    <p:sldId id="331" r:id="rId81"/>
    <p:sldId id="326" r:id="rId76"/>
    <p:sldId id="325" r:id="rId75"/>
    <p:sldId id="332" r:id="rId82"/>
    <p:sldId id="333" r:id="rId83"/>
    <p:sldId id="327" r:id="rId77"/>
    <p:sldId id="337" r:id="rId87"/>
    <p:sldId id="338" r:id="rId8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F50CBA-C617-4581-46FD-96F204AEE3F3}" v="752" dt="2026-07-04T20:53:26.9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9" Type="http://schemas.openxmlformats.org/officeDocument/2006/relationships/slide" Target="slides/slide8.xml"/><Relationship Id="rId10" Type="http://schemas.openxmlformats.org/officeDocument/2006/relationships/slide" Target="slides/slide9.xml"/><Relationship Id="rId13" Type="http://schemas.openxmlformats.org/officeDocument/2006/relationships/slide" Target="slides/slide12.xml"/><Relationship Id="rId25" Type="http://schemas.openxmlformats.org/officeDocument/2006/relationships/slide" Target="slides/slide24.xml"/><Relationship Id="rId27" Type="http://schemas.openxmlformats.org/officeDocument/2006/relationships/slide" Target="slides/slide26.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microsoft.com/office/2015/10/relationships/revisionInfo" Target="revisionInfo.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What is AI? Four nested ideas</a:t>
            </a:r>
          </a:p>
        </p:txBody>
      </p:sp>
      <p:sp>
        <p:nvSpPr>
          <p:cNvPr id="5" name="Rounded Rectangle 4"/>
          <p:cNvSpPr/>
          <p:nvPr/>
        </p:nvSpPr>
        <p:spPr>
          <a:xfrm>
            <a:off x="548640" y="1554480"/>
            <a:ext cx="5577840" cy="4480560"/>
          </a:xfrm>
          <a:prstGeom prst="roundRect">
            <a:avLst>
              <a:gd name="adj" fmla="val 5000"/>
            </a:avLst>
          </a:prstGeom>
          <a:solidFill>
            <a:srgbClr val="E9EFF8"/>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36776"/>
            <a:ext cx="5166359" cy="585216"/>
          </a:xfrm>
          <a:prstGeom prst="rect">
            <a:avLst/>
          </a:prstGeom>
          <a:noFill/>
        </p:spPr>
        <p:txBody>
          <a:bodyPr wrap="square" lIns="0" tIns="0" rIns="0" bIns="0" anchor="t">
            <a:spAutoFit/>
          </a:bodyPr>
          <a:lstStyle/>
          <a:p>
            <a:pPr algn="l"/>
            <a:r>
              <a:rPr sz="1200" b="1" i="0" spc="100">
                <a:solidFill>
                  <a:srgbClr val="0F2145"/>
                </a:solidFill>
                <a:latin typeface="Calibri"/>
              </a:rPr>
              <a:t>ARTIFICIAL INTELLIGENCE</a:t>
            </a:r>
          </a:p>
          <a:p>
            <a:pPr algn="l">
              <a:spcBef>
                <a:spcPts val="100"/>
              </a:spcBef>
            </a:pPr>
            <a:r>
              <a:rPr sz="950" b="0" i="0">
                <a:solidFill>
                  <a:srgbClr val="5D6B7E"/>
                </a:solidFill>
                <a:latin typeface="Calibri"/>
              </a:rPr>
              <a:t>Any software that mimics human judgement</a:t>
            </a:r>
          </a:p>
        </p:txBody>
      </p:sp>
      <p:sp>
        <p:nvSpPr>
          <p:cNvPr id="7" name="Rounded Rectangle 6"/>
          <p:cNvSpPr/>
          <p:nvPr/>
        </p:nvSpPr>
        <p:spPr>
          <a:xfrm>
            <a:off x="804672" y="2249424"/>
            <a:ext cx="5065775" cy="3639312"/>
          </a:xfrm>
          <a:prstGeom prst="roundRect">
            <a:avLst>
              <a:gd name="adj" fmla="val 5000"/>
            </a:avLst>
          </a:prstGeom>
          <a:solidFill>
            <a:srgbClr val="D5E1F2"/>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2331720"/>
            <a:ext cx="4654295" cy="585216"/>
          </a:xfrm>
          <a:prstGeom prst="rect">
            <a:avLst/>
          </a:prstGeom>
          <a:noFill/>
        </p:spPr>
        <p:txBody>
          <a:bodyPr wrap="square" lIns="0" tIns="0" rIns="0" bIns="0" anchor="t">
            <a:spAutoFit/>
          </a:bodyPr>
          <a:lstStyle/>
          <a:p>
            <a:pPr algn="l"/>
            <a:r>
              <a:rPr sz="1200" b="1" i="0" spc="100">
                <a:solidFill>
                  <a:srgbClr val="0F2145"/>
                </a:solidFill>
                <a:latin typeface="Calibri"/>
              </a:rPr>
              <a:t>MACHINE LEARNING</a:t>
            </a:r>
          </a:p>
          <a:p>
            <a:pPr algn="l">
              <a:spcBef>
                <a:spcPts val="100"/>
              </a:spcBef>
            </a:pPr>
            <a:r>
              <a:rPr sz="950" b="0" i="0">
                <a:solidFill>
                  <a:srgbClr val="5D6B7E"/>
                </a:solidFill>
                <a:latin typeface="Calibri"/>
              </a:rPr>
              <a:t>Learns rules from data instead of being programmed</a:t>
            </a:r>
          </a:p>
        </p:txBody>
      </p:sp>
      <p:sp>
        <p:nvSpPr>
          <p:cNvPr id="9" name="Rounded Rectangle 8"/>
          <p:cNvSpPr/>
          <p:nvPr/>
        </p:nvSpPr>
        <p:spPr>
          <a:xfrm>
            <a:off x="1060704" y="2944368"/>
            <a:ext cx="4553712" cy="2798064"/>
          </a:xfrm>
          <a:prstGeom prst="roundRect">
            <a:avLst>
              <a:gd name="adj" fmla="val 5000"/>
            </a:avLst>
          </a:prstGeom>
          <a:solidFill>
            <a:srgbClr val="BFD2EC"/>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0160" y="3026663"/>
            <a:ext cx="4142231" cy="585216"/>
          </a:xfrm>
          <a:prstGeom prst="rect">
            <a:avLst/>
          </a:prstGeom>
          <a:noFill/>
        </p:spPr>
        <p:txBody>
          <a:bodyPr wrap="square" lIns="0" tIns="0" rIns="0" bIns="0" anchor="t">
            <a:spAutoFit/>
          </a:bodyPr>
          <a:lstStyle/>
          <a:p>
            <a:pPr algn="l"/>
            <a:r>
              <a:rPr sz="1200" b="1" i="0" spc="100">
                <a:solidFill>
                  <a:srgbClr val="0F2145"/>
                </a:solidFill>
                <a:latin typeface="Calibri"/>
              </a:rPr>
              <a:t>DEEP LEARNING</a:t>
            </a:r>
          </a:p>
          <a:p>
            <a:pPr algn="l">
              <a:spcBef>
                <a:spcPts val="100"/>
              </a:spcBef>
            </a:pPr>
            <a:r>
              <a:rPr sz="950" b="0" i="0">
                <a:solidFill>
                  <a:srgbClr val="5D6B7E"/>
                </a:solidFill>
                <a:latin typeface="Calibri"/>
              </a:rPr>
              <a:t>Neural networks — learns from raw text, images, sound</a:t>
            </a:r>
          </a:p>
        </p:txBody>
      </p:sp>
      <p:sp>
        <p:nvSpPr>
          <p:cNvPr id="11" name="Rounded Rectangle 10"/>
          <p:cNvSpPr/>
          <p:nvPr/>
        </p:nvSpPr>
        <p:spPr>
          <a:xfrm>
            <a:off x="1316736" y="3639312"/>
            <a:ext cx="4041648" cy="1956816"/>
          </a:xfrm>
          <a:prstGeom prst="roundRect">
            <a:avLst>
              <a:gd name="adj" fmla="val 5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536192" y="3721608"/>
            <a:ext cx="3630168" cy="585216"/>
          </a:xfrm>
          <a:prstGeom prst="rect">
            <a:avLst/>
          </a:prstGeom>
          <a:noFill/>
        </p:spPr>
        <p:txBody>
          <a:bodyPr wrap="square" lIns="0" tIns="0" rIns="0" bIns="0" anchor="t">
            <a:spAutoFit/>
          </a:bodyPr>
          <a:lstStyle/>
          <a:p>
            <a:pPr algn="l"/>
            <a:r>
              <a:rPr sz="1200" b="1" i="0" spc="100">
                <a:solidFill>
                  <a:srgbClr val="FFFFFF"/>
                </a:solidFill>
                <a:latin typeface="Calibri"/>
              </a:rPr>
              <a:t>GENERATIVE AI · LLMs</a:t>
            </a:r>
          </a:p>
          <a:p>
            <a:pPr algn="l">
              <a:spcBef>
                <a:spcPts val="100"/>
              </a:spcBef>
            </a:pPr>
            <a:r>
              <a:rPr sz="950" b="0" i="0">
                <a:solidFill>
                  <a:srgbClr val="C9D6EE"/>
                </a:solidFill>
                <a:latin typeface="Calibri"/>
              </a:rPr>
              <a:t>Creates new text, code and analysis — ChatGPT, Claude</a:t>
            </a:r>
          </a:p>
        </p:txBody>
      </p:sp>
      <p:sp>
        <p:nvSpPr>
          <p:cNvPr id="13" name="Rectangle 12"/>
          <p:cNvSpPr/>
          <p:nvPr/>
        </p:nvSpPr>
        <p:spPr>
          <a:xfrm>
            <a:off x="6492240" y="1554480"/>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92240" y="1554480"/>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11696" y="1700784"/>
            <a:ext cx="4754879" cy="365760"/>
          </a:xfrm>
          <a:prstGeom prst="rect">
            <a:avLst/>
          </a:prstGeom>
          <a:noFill/>
        </p:spPr>
        <p:txBody>
          <a:bodyPr wrap="square" lIns="0" tIns="0" rIns="0" bIns="0" anchor="t">
            <a:spAutoFit/>
          </a:bodyPr>
          <a:lstStyle/>
          <a:p>
            <a:pPr algn="l"/>
            <a:r>
              <a:rPr sz="1250" b="1" i="0">
                <a:solidFill>
                  <a:srgbClr val="0F2145"/>
                </a:solidFill>
                <a:latin typeface="Georgia"/>
              </a:rPr>
              <a:t>AI</a:t>
            </a:r>
          </a:p>
        </p:txBody>
      </p:sp>
      <p:sp>
        <p:nvSpPr>
          <p:cNvPr id="16" name="TextBox 15"/>
          <p:cNvSpPr txBox="1"/>
          <p:nvPr/>
        </p:nvSpPr>
        <p:spPr>
          <a:xfrm>
            <a:off x="6711696" y="2084831"/>
            <a:ext cx="4736592" cy="420624"/>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The umbrella. Rules, logic, prediction — e.g. a loan-eligibility rule engine.</a:t>
            </a:r>
          </a:p>
        </p:txBody>
      </p:sp>
      <p:sp>
        <p:nvSpPr>
          <p:cNvPr id="17" name="Rectangle 16"/>
          <p:cNvSpPr/>
          <p:nvPr/>
        </p:nvSpPr>
        <p:spPr>
          <a:xfrm>
            <a:off x="6492240" y="2706624"/>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92240" y="2706624"/>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11696" y="2852928"/>
            <a:ext cx="4754879" cy="365760"/>
          </a:xfrm>
          <a:prstGeom prst="rect">
            <a:avLst/>
          </a:prstGeom>
          <a:noFill/>
        </p:spPr>
        <p:txBody>
          <a:bodyPr wrap="square" lIns="0" tIns="0" rIns="0" bIns="0" anchor="t">
            <a:spAutoFit/>
          </a:bodyPr>
          <a:lstStyle/>
          <a:p>
            <a:pPr algn="l"/>
            <a:r>
              <a:rPr sz="1250" b="1" i="0">
                <a:solidFill>
                  <a:srgbClr val="0F2145"/>
                </a:solidFill>
                <a:latin typeface="Georgia"/>
              </a:rPr>
              <a:t>Machine Learning</a:t>
            </a:r>
          </a:p>
        </p:txBody>
      </p:sp>
      <p:sp>
        <p:nvSpPr>
          <p:cNvPr id="20" name="TextBox 19"/>
          <p:cNvSpPr txBox="1"/>
          <p:nvPr/>
        </p:nvSpPr>
        <p:spPr>
          <a:xfrm>
            <a:off x="6711696" y="3236976"/>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Show it 1 lakh past loans; it learns which borrowers default. No rules hand-written.</a:t>
            </a:r>
          </a:p>
        </p:txBody>
      </p:sp>
      <p:sp>
        <p:nvSpPr>
          <p:cNvPr id="21" name="Rectangle 20"/>
          <p:cNvSpPr/>
          <p:nvPr/>
        </p:nvSpPr>
        <p:spPr>
          <a:xfrm>
            <a:off x="6492240" y="3858768"/>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92240" y="3858768"/>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11696" y="4005072"/>
            <a:ext cx="4754879" cy="365760"/>
          </a:xfrm>
          <a:prstGeom prst="rect">
            <a:avLst/>
          </a:prstGeom>
          <a:noFill/>
        </p:spPr>
        <p:txBody>
          <a:bodyPr wrap="square" lIns="0" tIns="0" rIns="0" bIns="0" anchor="t">
            <a:spAutoFit/>
          </a:bodyPr>
          <a:lstStyle/>
          <a:p>
            <a:pPr algn="l"/>
            <a:r>
              <a:rPr sz="1250" b="1" i="0">
                <a:solidFill>
                  <a:srgbClr val="0F2145"/>
                </a:solidFill>
                <a:latin typeface="Georgia"/>
              </a:rPr>
              <a:t>Deep Learning</a:t>
            </a:r>
          </a:p>
        </p:txBody>
      </p:sp>
      <p:sp>
        <p:nvSpPr>
          <p:cNvPr id="24" name="TextBox 23"/>
          <p:cNvSpPr txBox="1"/>
          <p:nvPr/>
        </p:nvSpPr>
        <p:spPr>
          <a:xfrm>
            <a:off x="6711696" y="4389120"/>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ML with many-layered neural networks. Powers fraud detection, face-KYC, speech.</a:t>
            </a:r>
          </a:p>
        </p:txBody>
      </p:sp>
      <p:sp>
        <p:nvSpPr>
          <p:cNvPr id="25" name="Rectangle 24"/>
          <p:cNvSpPr/>
          <p:nvPr/>
        </p:nvSpPr>
        <p:spPr>
          <a:xfrm>
            <a:off x="6492240" y="5010912"/>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92240" y="5010912"/>
            <a:ext cx="64008" cy="10241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11696" y="5157216"/>
            <a:ext cx="4754879" cy="365760"/>
          </a:xfrm>
          <a:prstGeom prst="rect">
            <a:avLst/>
          </a:prstGeom>
          <a:noFill/>
        </p:spPr>
        <p:txBody>
          <a:bodyPr wrap="square" lIns="0" tIns="0" rIns="0" bIns="0" anchor="t">
            <a:spAutoFit/>
          </a:bodyPr>
          <a:lstStyle/>
          <a:p>
            <a:pPr algn="l"/>
            <a:r>
              <a:rPr sz="1250" b="1" i="0">
                <a:solidFill>
                  <a:srgbClr val="0F2145"/>
                </a:solidFill>
                <a:latin typeface="Georgia"/>
              </a:rPr>
              <a:t>Generative AI</a:t>
            </a:r>
          </a:p>
        </p:txBody>
      </p:sp>
      <p:sp>
        <p:nvSpPr>
          <p:cNvPr id="28" name="TextBox 27"/>
          <p:cNvSpPr txBox="1"/>
          <p:nvPr/>
        </p:nvSpPr>
        <p:spPr>
          <a:xfrm>
            <a:off x="6711696" y="5541264"/>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Doesn't just score or classify — it writes. Research notes, memos, code, emails.</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LLM — autocomplete trained on the internet</a:t>
            </a:r>
          </a:p>
        </p:txBody>
      </p:sp>
      <p:sp>
        <p:nvSpPr>
          <p:cNvPr id="5" name="Rounded Rectangle 4"/>
          <p:cNvSpPr/>
          <p:nvPr/>
        </p:nvSpPr>
        <p:spPr>
          <a:xfrm>
            <a:off x="548640" y="1517904"/>
            <a:ext cx="5486400" cy="2286000"/>
          </a:xfrm>
          <a:prstGeom prst="roundRect">
            <a:avLst>
              <a:gd name="adj" fmla="val 7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682496"/>
            <a:ext cx="5029200" cy="274320"/>
          </a:xfrm>
          <a:prstGeom prst="rect">
            <a:avLst/>
          </a:prstGeom>
          <a:noFill/>
        </p:spPr>
        <p:txBody>
          <a:bodyPr wrap="square" lIns="0" tIns="0" rIns="0" bIns="0" anchor="t">
            <a:spAutoFit/>
          </a:bodyPr>
          <a:lstStyle/>
          <a:p>
            <a:pPr algn="l"/>
            <a:r>
              <a:rPr sz="1000" b="1" i="0" spc="180">
                <a:solidFill>
                  <a:srgbClr val="C9A227"/>
                </a:solidFill>
                <a:latin typeface="Calibri"/>
              </a:rPr>
              <a:t>ONE JOB: PREDICT THE NEXT WORD</a:t>
            </a:r>
          </a:p>
        </p:txBody>
      </p:sp>
      <p:sp>
        <p:nvSpPr>
          <p:cNvPr id="7" name="TextBox 6"/>
          <p:cNvSpPr txBox="1"/>
          <p:nvPr/>
        </p:nvSpPr>
        <p:spPr>
          <a:xfrm>
            <a:off x="822959" y="2011680"/>
            <a:ext cx="5029200" cy="411480"/>
          </a:xfrm>
          <a:prstGeom prst="rect">
            <a:avLst/>
          </a:prstGeom>
          <a:noFill/>
        </p:spPr>
        <p:txBody>
          <a:bodyPr wrap="square" lIns="0" tIns="0" rIns="0" bIns="0" anchor="t">
            <a:spAutoFit/>
          </a:bodyPr>
          <a:lstStyle/>
          <a:p>
            <a:pPr algn="l"/>
            <a:r>
              <a:rPr sz="1600" b="1" i="0">
                <a:solidFill>
                  <a:srgbClr val="FFFFFF"/>
                </a:solidFill>
                <a:latin typeface="Georgia"/>
              </a:rPr>
              <a:t>“The RBI raised the repo ____”</a:t>
            </a:r>
          </a:p>
        </p:txBody>
      </p:sp>
      <p:sp>
        <p:nvSpPr>
          <p:cNvPr id="8" name="TextBox 7"/>
          <p:cNvSpPr txBox="1"/>
          <p:nvPr/>
        </p:nvSpPr>
        <p:spPr>
          <a:xfrm>
            <a:off x="868680" y="2542032"/>
            <a:ext cx="960120" cy="274320"/>
          </a:xfrm>
          <a:prstGeom prst="rect">
            <a:avLst/>
          </a:prstGeom>
          <a:noFill/>
        </p:spPr>
        <p:txBody>
          <a:bodyPr wrap="square" lIns="0" tIns="0" rIns="0" bIns="0" anchor="t">
            <a:spAutoFit/>
          </a:bodyPr>
          <a:lstStyle/>
          <a:p>
            <a:pPr algn="l"/>
            <a:r>
              <a:rPr sz="1150" b="1" i="0">
                <a:solidFill>
                  <a:srgbClr val="C9D6EE"/>
                </a:solidFill>
                <a:latin typeface="Calibri"/>
              </a:rPr>
              <a:t>rate</a:t>
            </a:r>
          </a:p>
        </p:txBody>
      </p:sp>
      <p:sp>
        <p:nvSpPr>
          <p:cNvPr id="9" name="Rectangle 8"/>
          <p:cNvSpPr/>
          <p:nvPr/>
        </p:nvSpPr>
        <p:spPr>
          <a:xfrm>
            <a:off x="1920240" y="2587751"/>
            <a:ext cx="2860243" cy="164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53635" y="2542032"/>
            <a:ext cx="822960" cy="274320"/>
          </a:xfrm>
          <a:prstGeom prst="rect">
            <a:avLst/>
          </a:prstGeom>
          <a:noFill/>
        </p:spPr>
        <p:txBody>
          <a:bodyPr wrap="square" lIns="0" tIns="0" rIns="0" bIns="0" anchor="t">
            <a:spAutoFit/>
          </a:bodyPr>
          <a:lstStyle/>
          <a:p>
            <a:pPr algn="l"/>
            <a:r>
              <a:rPr sz="1000" b="0" i="0">
                <a:solidFill>
                  <a:srgbClr val="8FA1C4"/>
                </a:solidFill>
                <a:latin typeface="Calibri"/>
              </a:rPr>
              <a:t>92%</a:t>
            </a:r>
          </a:p>
        </p:txBody>
      </p:sp>
      <p:sp>
        <p:nvSpPr>
          <p:cNvPr id="11" name="TextBox 10"/>
          <p:cNvSpPr txBox="1"/>
          <p:nvPr/>
        </p:nvSpPr>
        <p:spPr>
          <a:xfrm>
            <a:off x="868680" y="2926079"/>
            <a:ext cx="960120" cy="274320"/>
          </a:xfrm>
          <a:prstGeom prst="rect">
            <a:avLst/>
          </a:prstGeom>
          <a:noFill/>
        </p:spPr>
        <p:txBody>
          <a:bodyPr wrap="square" lIns="0" tIns="0" rIns="0" bIns="0" anchor="t">
            <a:spAutoFit/>
          </a:bodyPr>
          <a:lstStyle/>
          <a:p>
            <a:pPr algn="l"/>
            <a:r>
              <a:rPr sz="1150" b="1" i="0">
                <a:solidFill>
                  <a:srgbClr val="C9D6EE"/>
                </a:solidFill>
                <a:latin typeface="Calibri"/>
              </a:rPr>
              <a:t>rating</a:t>
            </a:r>
          </a:p>
        </p:txBody>
      </p:sp>
      <p:sp>
        <p:nvSpPr>
          <p:cNvPr id="12" name="Rectangle 11"/>
          <p:cNvSpPr/>
          <p:nvPr/>
        </p:nvSpPr>
        <p:spPr>
          <a:xfrm>
            <a:off x="1920240" y="2971799"/>
            <a:ext cx="124358"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117750" y="2926079"/>
            <a:ext cx="822960" cy="274320"/>
          </a:xfrm>
          <a:prstGeom prst="rect">
            <a:avLst/>
          </a:prstGeom>
          <a:noFill/>
        </p:spPr>
        <p:txBody>
          <a:bodyPr wrap="square" lIns="0" tIns="0" rIns="0" bIns="0" anchor="t">
            <a:spAutoFit/>
          </a:bodyPr>
          <a:lstStyle/>
          <a:p>
            <a:pPr algn="l"/>
            <a:r>
              <a:rPr sz="1000" b="0" i="0">
                <a:solidFill>
                  <a:srgbClr val="8FA1C4"/>
                </a:solidFill>
                <a:latin typeface="Calibri"/>
              </a:rPr>
              <a:t>4%</a:t>
            </a:r>
          </a:p>
        </p:txBody>
      </p:sp>
      <p:sp>
        <p:nvSpPr>
          <p:cNvPr id="14" name="TextBox 13"/>
          <p:cNvSpPr txBox="1"/>
          <p:nvPr/>
        </p:nvSpPr>
        <p:spPr>
          <a:xfrm>
            <a:off x="868680" y="3310127"/>
            <a:ext cx="960120" cy="274320"/>
          </a:xfrm>
          <a:prstGeom prst="rect">
            <a:avLst/>
          </a:prstGeom>
          <a:noFill/>
        </p:spPr>
        <p:txBody>
          <a:bodyPr wrap="square" lIns="0" tIns="0" rIns="0" bIns="0" anchor="t">
            <a:spAutoFit/>
          </a:bodyPr>
          <a:lstStyle/>
          <a:p>
            <a:pPr algn="l"/>
            <a:r>
              <a:rPr sz="1150" b="1" i="0">
                <a:solidFill>
                  <a:srgbClr val="C9D6EE"/>
                </a:solidFill>
                <a:latin typeface="Calibri"/>
              </a:rPr>
              <a:t>report</a:t>
            </a:r>
          </a:p>
        </p:txBody>
      </p:sp>
      <p:sp>
        <p:nvSpPr>
          <p:cNvPr id="15" name="Rectangle 14"/>
          <p:cNvSpPr/>
          <p:nvPr/>
        </p:nvSpPr>
        <p:spPr>
          <a:xfrm>
            <a:off x="1920240" y="3355847"/>
            <a:ext cx="62179"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5571" y="3310127"/>
            <a:ext cx="822960" cy="274320"/>
          </a:xfrm>
          <a:prstGeom prst="rect">
            <a:avLst/>
          </a:prstGeom>
          <a:noFill/>
        </p:spPr>
        <p:txBody>
          <a:bodyPr wrap="square" lIns="0" tIns="0" rIns="0" bIns="0" anchor="t">
            <a:spAutoFit/>
          </a:bodyPr>
          <a:lstStyle/>
          <a:p>
            <a:pPr algn="l"/>
            <a:r>
              <a:rPr sz="1000" b="0" i="0">
                <a:solidFill>
                  <a:srgbClr val="8FA1C4"/>
                </a:solidFill>
                <a:latin typeface="Calibri"/>
              </a:rPr>
              <a:t>2%</a:t>
            </a:r>
          </a:p>
        </p:txBody>
      </p:sp>
      <p:sp>
        <p:nvSpPr>
          <p:cNvPr id="17" name="Rectangle 16"/>
          <p:cNvSpPr/>
          <p:nvPr/>
        </p:nvSpPr>
        <p:spPr>
          <a:xfrm>
            <a:off x="548640" y="3986784"/>
            <a:ext cx="5486400" cy="2011680"/>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 y="4133087"/>
            <a:ext cx="5029200" cy="1737360"/>
          </a:xfrm>
          <a:prstGeom prst="rect">
            <a:avLst/>
          </a:prstGeom>
          <a:noFill/>
        </p:spPr>
        <p:txBody>
          <a:bodyPr wrap="square" lIns="0" tIns="0" rIns="0" bIns="0" anchor="t">
            <a:spAutoFit/>
          </a:bodyPr>
          <a:lstStyle/>
          <a:p>
            <a:pPr algn="l"/>
            <a:r>
              <a:rPr sz="1300" b="1" i="0">
                <a:solidFill>
                  <a:srgbClr val="0F2145"/>
                </a:solidFill>
                <a:latin typeface="Georgia"/>
              </a:rPr>
              <a:t>Tokens — the model's unit of text</a:t>
            </a:r>
          </a:p>
          <a:p>
            <a:pPr algn="l">
              <a:lnSpc>
                <a:spcPct val="125000"/>
              </a:lnSpc>
              <a:spcBef>
                <a:spcPts val="600"/>
              </a:spcBef>
            </a:pPr>
            <a:r>
              <a:rPr sz="1100" b="0" i="0">
                <a:solidFill>
                  <a:srgbClr val="5D6B7E"/>
                </a:solidFill>
                <a:latin typeface="Calibri"/>
              </a:rPr>
              <a:t>Words are split into chunks (≈ ¾ of a word each). “Derivatives” → deriv + atives. Models read, think and charge per token.</a:t>
            </a:r>
          </a:p>
          <a:p>
            <a:pPr algn="l">
              <a:lnSpc>
                <a:spcPct val="125000"/>
              </a:lnSpc>
              <a:spcBef>
                <a:spcPts val="600"/>
              </a:spcBef>
            </a:pPr>
            <a:r>
              <a:rPr sz="1100" b="0" i="0">
                <a:solidFill>
                  <a:srgbClr val="5D6B7E"/>
                </a:solidFill>
                <a:latin typeface="Calibri"/>
              </a:rPr>
              <a:t>Context windows, API pricing and speed are all quoted in tokens — it's the metre of this world.</a:t>
            </a:r>
          </a:p>
          <a:p>
            <a:pPr algn="l">
              <a:spcBef>
                <a:spcPts val="700"/>
              </a:spcBef>
            </a:pPr>
            <a:r>
              <a:rPr sz="1100" b="1" i="0">
                <a:solidFill>
                  <a:srgbClr val="8F7113"/>
                </a:solidFill>
                <a:latin typeface="Calibri"/>
              </a:rPr>
              <a:t>A 200-page annual report ≈ 100,000 tokens.</a:t>
            </a:r>
          </a:p>
        </p:txBody>
      </p:sp>
      <p:sp>
        <p:nvSpPr>
          <p:cNvPr id="19" name="TextBox 18"/>
          <p:cNvSpPr txBox="1"/>
          <p:nvPr/>
        </p:nvSpPr>
        <p:spPr>
          <a:xfrm>
            <a:off x="6400800" y="1517904"/>
            <a:ext cx="5212080" cy="274320"/>
          </a:xfrm>
          <a:prstGeom prst="rect">
            <a:avLst/>
          </a:prstGeom>
          <a:noFill/>
        </p:spPr>
        <p:txBody>
          <a:bodyPr wrap="square" lIns="0" tIns="0" rIns="0" bIns="0" anchor="t">
            <a:spAutoFit/>
          </a:bodyPr>
          <a:lstStyle/>
          <a:p>
            <a:pPr algn="l"/>
            <a:r>
              <a:rPr sz="1000" b="1" i="0" spc="200">
                <a:solidFill>
                  <a:srgbClr val="5D6B7E"/>
                </a:solidFill>
                <a:latin typeface="Calibri"/>
              </a:rPr>
              <a:t>HOW IT'S BUILT</a:t>
            </a:r>
          </a:p>
        </p:txBody>
      </p:sp>
      <p:sp>
        <p:nvSpPr>
          <p:cNvPr id="20" name="Rectangle 19"/>
          <p:cNvSpPr/>
          <p:nvPr/>
        </p:nvSpPr>
        <p:spPr>
          <a:xfrm>
            <a:off x="6400800" y="184708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0" y="184708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20256" y="1956816"/>
            <a:ext cx="4846320" cy="815864"/>
          </a:xfrm>
          <a:prstGeom prst="rect">
            <a:avLst/>
          </a:prstGeom>
          <a:noFill/>
        </p:spPr>
        <p:txBody>
          <a:bodyPr wrap="square" lIns="0" tIns="0" rIns="0" bIns="0" anchor="t">
            <a:spAutoFit/>
          </a:bodyPr>
          <a:lstStyle/>
          <a:p>
            <a:pPr algn="l"/>
            <a:r>
              <a:rPr sz="1250" b="1" i="0">
                <a:solidFill>
                  <a:srgbClr val="0F2145"/>
                </a:solidFill>
                <a:latin typeface="Calibri"/>
              </a:rPr>
              <a:t>1 · Pre-training</a:t>
            </a:r>
          </a:p>
          <a:p>
            <a:pPr>
              <a:lnSpc>
                <a:spcPct val="115000"/>
              </a:lnSpc>
              <a:spcBef>
                <a:spcPts val="300"/>
              </a:spcBef>
            </a:pPr>
            <a:r>
              <a:rPr sz="1050" b="0" i="0" dirty="0">
                <a:solidFill>
                  <a:srgbClr val="5D6B7E"/>
                </a:solidFill>
                <a:latin typeface="Calibri"/>
              </a:rPr>
              <a:t>Read trillions of words — books, filings, the web. Learn language, facts, reasoning patterns.</a:t>
            </a:r>
            <a:r>
              <a:rPr lang="en-GB" sz="1050" dirty="0">
                <a:solidFill>
                  <a:srgbClr val="5D6B7E"/>
                </a:solidFill>
                <a:latin typeface="Calibri"/>
              </a:rPr>
              <a:t> NLP- Natural language processi</a:t>
            </a:r>
            <a:r>
              <a:rPr lang="en-GB" sz="1050">
                <a:solidFill>
                  <a:srgbClr val="5D6B7E"/>
                </a:solidFill>
                <a:latin typeface="Calibri"/>
              </a:rPr>
              <a:t>ng- LLM uses</a:t>
            </a:r>
            <a:endParaRPr sz="1050" b="0" i="0">
              <a:solidFill>
                <a:srgbClr val="5D6B7E"/>
              </a:solidFill>
              <a:latin typeface="Calibri"/>
            </a:endParaRPr>
          </a:p>
          <a:p>
            <a:pPr>
              <a:lnSpc>
                <a:spcPct val="114999"/>
              </a:lnSpc>
              <a:spcBef>
                <a:spcPts val="300"/>
              </a:spcBef>
            </a:pPr>
            <a:endParaRPr lang="en-GB" sz="1050" dirty="0">
              <a:solidFill>
                <a:srgbClr val="5D6B7E"/>
              </a:solidFill>
              <a:latin typeface="Calibri"/>
              <a:ea typeface="Calibri"/>
              <a:cs typeface="Calibri"/>
            </a:endParaRPr>
          </a:p>
        </p:txBody>
      </p:sp>
      <p:sp>
        <p:nvSpPr>
          <p:cNvPr id="23" name="Down Arrow 22"/>
          <p:cNvSpPr/>
          <p:nvPr/>
        </p:nvSpPr>
        <p:spPr>
          <a:xfrm>
            <a:off x="8887968" y="2889503"/>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400800" y="312724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0" y="312724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20256" y="3236976"/>
            <a:ext cx="4846320" cy="868680"/>
          </a:xfrm>
          <a:prstGeom prst="rect">
            <a:avLst/>
          </a:prstGeom>
          <a:noFill/>
        </p:spPr>
        <p:txBody>
          <a:bodyPr wrap="square" lIns="0" tIns="0" rIns="0" bIns="0" anchor="t">
            <a:spAutoFit/>
          </a:bodyPr>
          <a:lstStyle/>
          <a:p>
            <a:pPr algn="l"/>
            <a:r>
              <a:rPr sz="1250" b="1" i="0">
                <a:solidFill>
                  <a:srgbClr val="0F2145"/>
                </a:solidFill>
                <a:latin typeface="Calibri"/>
              </a:rPr>
              <a:t>2 · Fine-tuning</a:t>
            </a:r>
          </a:p>
          <a:p>
            <a:pPr algn="l">
              <a:lnSpc>
                <a:spcPct val="115000"/>
              </a:lnSpc>
              <a:spcBef>
                <a:spcPts val="300"/>
              </a:spcBef>
            </a:pPr>
            <a:r>
              <a:rPr sz="1050" b="0" i="0">
                <a:solidFill>
                  <a:srgbClr val="5D6B7E"/>
                </a:solidFill>
                <a:latin typeface="Calibri"/>
              </a:rPr>
              <a:t>Teach it to follow instructions: “summarise”, “compare”, “draft”.</a:t>
            </a:r>
          </a:p>
        </p:txBody>
      </p:sp>
      <p:sp>
        <p:nvSpPr>
          <p:cNvPr id="27" name="Down Arrow 26"/>
          <p:cNvSpPr/>
          <p:nvPr/>
        </p:nvSpPr>
        <p:spPr>
          <a:xfrm>
            <a:off x="8887968" y="4169664"/>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00800" y="440740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00800" y="440740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620256" y="4517136"/>
            <a:ext cx="4846320" cy="591572"/>
          </a:xfrm>
          <a:prstGeom prst="rect">
            <a:avLst/>
          </a:prstGeom>
          <a:noFill/>
        </p:spPr>
        <p:txBody>
          <a:bodyPr wrap="square" lIns="0" tIns="0" rIns="0" bIns="0" anchor="t">
            <a:spAutoFit/>
          </a:bodyPr>
          <a:lstStyle/>
          <a:p>
            <a:pPr algn="l"/>
            <a:r>
              <a:rPr sz="1250" b="1" i="0">
                <a:solidFill>
                  <a:srgbClr val="0F2145"/>
                </a:solidFill>
                <a:latin typeface="Calibri"/>
              </a:rPr>
              <a:t>3 · Human feedback (RLHF)</a:t>
            </a:r>
          </a:p>
          <a:p>
            <a:pPr>
              <a:lnSpc>
                <a:spcPct val="115000"/>
              </a:lnSpc>
              <a:spcBef>
                <a:spcPts val="300"/>
              </a:spcBef>
            </a:pPr>
            <a:r>
              <a:rPr sz="1050" b="0" i="0" dirty="0">
                <a:solidFill>
                  <a:srgbClr val="5D6B7E"/>
                </a:solidFill>
                <a:latin typeface="Calibri"/>
              </a:rPr>
              <a:t>Humans rank answers; the model learns to be helpful, honest, harmless.</a:t>
            </a:r>
            <a:r>
              <a:rPr lang="en-GB" sz="1050" dirty="0">
                <a:solidFill>
                  <a:srgbClr val="5D6B7E"/>
                </a:solidFill>
                <a:latin typeface="Calibri"/>
              </a:rPr>
              <a:t> </a:t>
            </a:r>
            <a:r>
              <a:rPr lang="en-GB" sz="1050" dirty="0" err="1">
                <a:solidFill>
                  <a:srgbClr val="5D6B7E"/>
                </a:solidFill>
                <a:latin typeface="Calibri"/>
              </a:rPr>
              <a:t>Reinforced</a:t>
            </a:r>
            <a:r>
              <a:rPr lang="en-GB" sz="1050" dirty="0">
                <a:solidFill>
                  <a:srgbClr val="5D6B7E"/>
                </a:solidFill>
                <a:latin typeface="Calibri"/>
              </a:rPr>
              <a:t> learning from Human feedback</a:t>
            </a:r>
            <a:endParaRPr sz="1050" b="0" i="0" dirty="0">
              <a:solidFill>
                <a:srgbClr val="5D6B7E"/>
              </a:solidFill>
              <a:latin typeface="Calibri"/>
            </a:endParaRPr>
          </a:p>
        </p:txBody>
      </p:sp>
      <p:sp>
        <p:nvSpPr>
          <p:cNvPr id="31" name="Rounded Rectangle 30"/>
          <p:cNvSpPr/>
          <p:nvPr/>
        </p:nvSpPr>
        <p:spPr>
          <a:xfrm>
            <a:off x="6400800" y="5705856"/>
            <a:ext cx="5212080"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20256" y="5705856"/>
            <a:ext cx="4846320" cy="566928"/>
          </a:xfrm>
          <a:prstGeom prst="rect">
            <a:avLst/>
          </a:prstGeom>
          <a:noFill/>
        </p:spPr>
        <p:txBody>
          <a:bodyPr wrap="square" lIns="0" tIns="0" rIns="0" bIns="0" anchor="ctr">
            <a:spAutoFit/>
          </a:bodyPr>
          <a:lstStyle/>
          <a:p>
            <a:pPr algn="l"/>
            <a:r>
              <a:rPr sz="1100" b="0" i="0">
                <a:solidFill>
                  <a:srgbClr val="1B2A41"/>
                </a:solidFill>
                <a:latin typeface="Calibri"/>
              </a:rPr>
              <a:t>It has no database of truth — </a:t>
            </a:r>
            <a:r>
              <a:rPr sz="1100" b="1" i="0">
                <a:solidFill>
                  <a:srgbClr val="8F7113"/>
                </a:solidFill>
                <a:latin typeface="Calibri"/>
              </a:rPr>
              <a:t>it generates the most plausible next words.</a:t>
            </a:r>
          </a:p>
        </p:txBody>
      </p:sp>
      <p:sp>
        <p:nvSpPr>
          <p:cNvPr id="33" name="TextBox 32"/>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4" name="TextBox 33"/>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model landscape in 2026</a:t>
            </a:r>
          </a:p>
        </p:txBody>
      </p:sp>
      <p:sp>
        <p:nvSpPr>
          <p:cNvPr id="5" name="Rectangle 4"/>
          <p:cNvSpPr/>
          <p:nvPr/>
        </p:nvSpPr>
        <p:spPr>
          <a:xfrm>
            <a:off x="548640" y="1536192"/>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27632"/>
            <a:ext cx="3291840" cy="640080"/>
          </a:xfrm>
          <a:prstGeom prst="rect">
            <a:avLst/>
          </a:prstGeom>
          <a:noFill/>
        </p:spPr>
        <p:txBody>
          <a:bodyPr wrap="square" lIns="0" tIns="0" rIns="0" bIns="0" anchor="ctr">
            <a:spAutoFit/>
          </a:bodyPr>
          <a:lstStyle/>
          <a:p>
            <a:pPr algn="l"/>
            <a:r>
              <a:rPr sz="1250" b="1" i="0">
                <a:solidFill>
                  <a:srgbClr val="0F2145"/>
                </a:solidFill>
                <a:latin typeface="Calibri"/>
              </a:rPr>
              <a:t>OpenAI — GPT family</a:t>
            </a:r>
          </a:p>
        </p:txBody>
      </p:sp>
      <p:sp>
        <p:nvSpPr>
          <p:cNvPr id="7" name="TextBox 6"/>
          <p:cNvSpPr txBox="1"/>
          <p:nvPr/>
        </p:nvSpPr>
        <p:spPr>
          <a:xfrm>
            <a:off x="4206240" y="1627632"/>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ChatGPT; strongest brand, broad ecosystem</a:t>
            </a:r>
          </a:p>
        </p:txBody>
      </p:sp>
      <p:sp>
        <p:nvSpPr>
          <p:cNvPr id="8" name="TextBox 7"/>
          <p:cNvSpPr txBox="1"/>
          <p:nvPr/>
        </p:nvSpPr>
        <p:spPr>
          <a:xfrm>
            <a:off x="8595360" y="1627632"/>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Everyday analysis, drafting, coding</a:t>
            </a:r>
          </a:p>
        </p:txBody>
      </p:sp>
      <p:sp>
        <p:nvSpPr>
          <p:cNvPr id="9" name="Rectangle 8"/>
          <p:cNvSpPr/>
          <p:nvPr/>
        </p:nvSpPr>
        <p:spPr>
          <a:xfrm>
            <a:off x="548640" y="2377440"/>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 y="2468880"/>
            <a:ext cx="3291840" cy="640080"/>
          </a:xfrm>
          <a:prstGeom prst="rect">
            <a:avLst/>
          </a:prstGeom>
          <a:noFill/>
        </p:spPr>
        <p:txBody>
          <a:bodyPr wrap="square" lIns="0" tIns="0" rIns="0" bIns="0" anchor="ctr">
            <a:spAutoFit/>
          </a:bodyPr>
          <a:lstStyle/>
          <a:p>
            <a:pPr algn="l"/>
            <a:r>
              <a:rPr sz="1250" b="1" i="0">
                <a:solidFill>
                  <a:srgbClr val="0F2145"/>
                </a:solidFill>
                <a:latin typeface="Calibri"/>
              </a:rPr>
              <a:t>Anthropic — Claude</a:t>
            </a:r>
          </a:p>
        </p:txBody>
      </p:sp>
      <p:sp>
        <p:nvSpPr>
          <p:cNvPr id="11" name="TextBox 10"/>
          <p:cNvSpPr txBox="1"/>
          <p:nvPr/>
        </p:nvSpPr>
        <p:spPr>
          <a:xfrm>
            <a:off x="4206240" y="2468880"/>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Long documents, careful reasoning, agents &amp; coding</a:t>
            </a:r>
          </a:p>
        </p:txBody>
      </p:sp>
      <p:sp>
        <p:nvSpPr>
          <p:cNvPr id="12" name="TextBox 11"/>
          <p:cNvSpPr txBox="1"/>
          <p:nvPr/>
        </p:nvSpPr>
        <p:spPr>
          <a:xfrm>
            <a:off x="8595360" y="2468880"/>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Research over filings, agentic workflows</a:t>
            </a:r>
          </a:p>
        </p:txBody>
      </p:sp>
      <p:sp>
        <p:nvSpPr>
          <p:cNvPr id="13" name="Rectangle 12"/>
          <p:cNvSpPr/>
          <p:nvPr/>
        </p:nvSpPr>
        <p:spPr>
          <a:xfrm>
            <a:off x="548640" y="3218688"/>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310128"/>
            <a:ext cx="3291840" cy="640080"/>
          </a:xfrm>
          <a:prstGeom prst="rect">
            <a:avLst/>
          </a:prstGeom>
          <a:noFill/>
        </p:spPr>
        <p:txBody>
          <a:bodyPr wrap="square" lIns="0" tIns="0" rIns="0" bIns="0" anchor="ctr">
            <a:spAutoFit/>
          </a:bodyPr>
          <a:lstStyle/>
          <a:p>
            <a:pPr algn="l"/>
            <a:r>
              <a:rPr sz="1250" b="1" i="0">
                <a:solidFill>
                  <a:srgbClr val="0F2145"/>
                </a:solidFill>
                <a:latin typeface="Calibri"/>
              </a:rPr>
              <a:t>Google — Gemini</a:t>
            </a:r>
          </a:p>
        </p:txBody>
      </p:sp>
      <p:sp>
        <p:nvSpPr>
          <p:cNvPr id="15" name="TextBox 14"/>
          <p:cNvSpPr txBox="1"/>
          <p:nvPr/>
        </p:nvSpPr>
        <p:spPr>
          <a:xfrm>
            <a:off x="4206240" y="3310128"/>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Native to Workspace; huge context windows</a:t>
            </a:r>
          </a:p>
        </p:txBody>
      </p:sp>
      <p:sp>
        <p:nvSpPr>
          <p:cNvPr id="16" name="TextBox 15"/>
          <p:cNvSpPr txBox="1"/>
          <p:nvPr/>
        </p:nvSpPr>
        <p:spPr>
          <a:xfrm>
            <a:off x="8595360" y="3310128"/>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Teams already on Google stack</a:t>
            </a:r>
          </a:p>
        </p:txBody>
      </p:sp>
      <p:sp>
        <p:nvSpPr>
          <p:cNvPr id="17" name="Rectangle 16"/>
          <p:cNvSpPr/>
          <p:nvPr/>
        </p:nvSpPr>
        <p:spPr>
          <a:xfrm>
            <a:off x="548640" y="4059936"/>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4151376"/>
            <a:ext cx="3291840" cy="640080"/>
          </a:xfrm>
          <a:prstGeom prst="rect">
            <a:avLst/>
          </a:prstGeom>
          <a:noFill/>
        </p:spPr>
        <p:txBody>
          <a:bodyPr wrap="square" lIns="0" tIns="0" rIns="0" bIns="0" anchor="ctr">
            <a:spAutoFit/>
          </a:bodyPr>
          <a:lstStyle/>
          <a:p>
            <a:pPr algn="l"/>
            <a:r>
              <a:rPr sz="1250" b="1" i="0">
                <a:solidFill>
                  <a:srgbClr val="0F2145"/>
                </a:solidFill>
                <a:latin typeface="Calibri"/>
              </a:rPr>
              <a:t>Meta — Llama (open)</a:t>
            </a:r>
          </a:p>
        </p:txBody>
      </p:sp>
      <p:sp>
        <p:nvSpPr>
          <p:cNvPr id="19" name="TextBox 18"/>
          <p:cNvSpPr txBox="1"/>
          <p:nvPr/>
        </p:nvSpPr>
        <p:spPr>
          <a:xfrm>
            <a:off x="4206240" y="4151376"/>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Open-weights: run it on your own servers</a:t>
            </a:r>
          </a:p>
        </p:txBody>
      </p:sp>
      <p:sp>
        <p:nvSpPr>
          <p:cNvPr id="20" name="TextBox 19"/>
          <p:cNvSpPr txBox="1"/>
          <p:nvPr/>
        </p:nvSpPr>
        <p:spPr>
          <a:xfrm>
            <a:off x="8595360" y="4151376"/>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Banks needing data to stay in-house</a:t>
            </a:r>
          </a:p>
        </p:txBody>
      </p:sp>
      <p:sp>
        <p:nvSpPr>
          <p:cNvPr id="21" name="Rectangle 20"/>
          <p:cNvSpPr/>
          <p:nvPr/>
        </p:nvSpPr>
        <p:spPr>
          <a:xfrm>
            <a:off x="548640" y="4901184"/>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992624"/>
            <a:ext cx="3291840" cy="640080"/>
          </a:xfrm>
          <a:prstGeom prst="rect">
            <a:avLst/>
          </a:prstGeom>
          <a:noFill/>
        </p:spPr>
        <p:txBody>
          <a:bodyPr wrap="square" lIns="0" tIns="0" rIns="0" bIns="0" anchor="ctr">
            <a:spAutoFit/>
          </a:bodyPr>
          <a:lstStyle/>
          <a:p>
            <a:pPr algn="l"/>
            <a:r>
              <a:rPr sz="1250" b="1" i="0">
                <a:solidFill>
                  <a:srgbClr val="0F2145"/>
                </a:solidFill>
                <a:latin typeface="Calibri"/>
              </a:rPr>
              <a:t>BloombergGPT / FinBERT</a:t>
            </a:r>
          </a:p>
        </p:txBody>
      </p:sp>
      <p:sp>
        <p:nvSpPr>
          <p:cNvPr id="23" name="TextBox 22"/>
          <p:cNvSpPr txBox="1"/>
          <p:nvPr/>
        </p:nvSpPr>
        <p:spPr>
          <a:xfrm>
            <a:off x="4206240" y="4992624"/>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Domain models trained on finance text</a:t>
            </a:r>
          </a:p>
        </p:txBody>
      </p:sp>
      <p:sp>
        <p:nvSpPr>
          <p:cNvPr id="24" name="TextBox 23"/>
          <p:cNvSpPr txBox="1"/>
          <p:nvPr/>
        </p:nvSpPr>
        <p:spPr>
          <a:xfrm>
            <a:off x="8595360" y="4992624"/>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Terminal workflows, sentiment scoring</a:t>
            </a:r>
          </a:p>
        </p:txBody>
      </p:sp>
      <p:sp>
        <p:nvSpPr>
          <p:cNvPr id="25" name="TextBox 24"/>
          <p:cNvSpPr txBox="1"/>
          <p:nvPr/>
        </p:nvSpPr>
        <p:spPr>
          <a:xfrm>
            <a:off x="4206240" y="1325880"/>
            <a:ext cx="4206240" cy="219456"/>
          </a:xfrm>
          <a:prstGeom prst="rect">
            <a:avLst/>
          </a:prstGeom>
          <a:noFill/>
        </p:spPr>
        <p:txBody>
          <a:bodyPr wrap="square" lIns="0" tIns="0" rIns="0" bIns="0" anchor="t">
            <a:spAutoFit/>
          </a:bodyPr>
          <a:lstStyle/>
          <a:p>
            <a:pPr algn="l"/>
            <a:r>
              <a:rPr sz="850" b="1" i="0" spc="200">
                <a:solidFill>
                  <a:srgbClr val="5D6B7E"/>
                </a:solidFill>
                <a:latin typeface="Calibri"/>
              </a:rPr>
              <a:t>KNOWN FOR</a:t>
            </a:r>
          </a:p>
        </p:txBody>
      </p:sp>
      <p:sp>
        <p:nvSpPr>
          <p:cNvPr id="26" name="TextBox 25"/>
          <p:cNvSpPr txBox="1"/>
          <p:nvPr/>
        </p:nvSpPr>
        <p:spPr>
          <a:xfrm>
            <a:off x="8595360" y="1325880"/>
            <a:ext cx="3017520" cy="219456"/>
          </a:xfrm>
          <a:prstGeom prst="rect">
            <a:avLst/>
          </a:prstGeom>
          <a:noFill/>
        </p:spPr>
        <p:txBody>
          <a:bodyPr wrap="square" lIns="0" tIns="0" rIns="0" bIns="0" anchor="t">
            <a:spAutoFit/>
          </a:bodyPr>
          <a:lstStyle/>
          <a:p>
            <a:pPr algn="l"/>
            <a:r>
              <a:rPr sz="850" b="1" i="0" spc="200">
                <a:solidFill>
                  <a:srgbClr val="5D6B7E"/>
                </a:solidFill>
                <a:latin typeface="Calibri"/>
              </a:rPr>
              <a:t>PICK IT WHEN</a:t>
            </a:r>
          </a:p>
        </p:txBody>
      </p:sp>
      <p:sp>
        <p:nvSpPr>
          <p:cNvPr id="27" name="Rounded Rectangle 26"/>
          <p:cNvSpPr/>
          <p:nvPr/>
        </p:nvSpPr>
        <p:spPr>
          <a:xfrm>
            <a:off x="548640" y="5797296"/>
            <a:ext cx="11094415" cy="512064"/>
          </a:xfrm>
          <a:prstGeom prst="roundRect">
            <a:avLst>
              <a:gd name="adj" fmla="val 14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86384" y="5797296"/>
            <a:ext cx="10637215" cy="512064"/>
          </a:xfrm>
          <a:prstGeom prst="rect">
            <a:avLst/>
          </a:prstGeom>
          <a:noFill/>
        </p:spPr>
        <p:txBody>
          <a:bodyPr wrap="square" lIns="0" tIns="0" rIns="0" bIns="0" anchor="ctr">
            <a:spAutoFit/>
          </a:bodyPr>
          <a:lstStyle/>
          <a:p>
            <a:pPr algn="l"/>
            <a:r>
              <a:rPr sz="1150" b="1" i="0">
                <a:solidFill>
                  <a:srgbClr val="0F2145"/>
                </a:solidFill>
                <a:latin typeface="Calibri"/>
              </a:rPr>
              <a:t>Closed models </a:t>
            </a:r>
            <a:r>
              <a:rPr sz="1150" b="0" i="0">
                <a:solidFill>
                  <a:srgbClr val="1B2A41"/>
                </a:solidFill>
                <a:latin typeface="Calibri"/>
              </a:rPr>
              <a:t>= rented via API, best quality.  </a:t>
            </a:r>
            <a:r>
              <a:rPr sz="1150" b="1" i="0">
                <a:solidFill>
                  <a:srgbClr val="0F2145"/>
                </a:solidFill>
                <a:latin typeface="Calibri"/>
              </a:rPr>
              <a:t>Open models </a:t>
            </a:r>
            <a:r>
              <a:rPr sz="1150" b="0" i="0">
                <a:solidFill>
                  <a:srgbClr val="1B2A41"/>
                </a:solidFill>
                <a:latin typeface="Calibri"/>
              </a:rPr>
              <a:t>= downloaded and self-hosted — banks often choose these for confidential data.</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Glossary I — words you'll hear all day</a:t>
            </a:r>
          </a:p>
        </p:txBody>
      </p:sp>
      <p:graphicFrame>
        <p:nvGraphicFramePr>
          <p:cNvPr id="5" name="Table 4"/>
          <p:cNvGraphicFramePr>
            <a:graphicFrameLocks noGrp="1"/>
          </p:cNvGraphicFramePr>
          <p:nvPr/>
        </p:nvGraphicFramePr>
        <p:xfrm>
          <a:off x="548640" y="1517904"/>
          <a:ext cx="11109959" cy="4690863"/>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3977639">
                  <a:extLst>
                    <a:ext uri="{9D8B030D-6E8A-4147-A177-3AD203B41FA5}">
                      <a16:colId xmlns:a16="http://schemas.microsoft.com/office/drawing/2014/main" val="20002"/>
                    </a:ext>
                  </a:extLst>
                </a:gridCol>
              </a:tblGrid>
              <a:tr h="521207">
                <a:tc>
                  <a:txBody>
                    <a:bodyPr/>
                    <a:lstStyle/>
                    <a:p>
                      <a:pPr algn="l"/>
                      <a:r>
                        <a:rPr sz="1200" b="1">
                          <a:solidFill>
                            <a:srgbClr val="FFFFFF"/>
                          </a:solidFill>
                          <a:latin typeface="Calibri"/>
                        </a:rPr>
                        <a:t>Term</a:t>
                      </a:r>
                    </a:p>
                  </a:txBody>
                  <a:tcPr marR="73152" marT="36576" marB="36576" anchor="ctr">
                    <a:solidFill>
                      <a:srgbClr val="0F2145"/>
                    </a:solidFill>
                  </a:tcPr>
                </a:tc>
                <a:tc>
                  <a:txBody>
                    <a:bodyPr/>
                    <a:lstStyle/>
                    <a:p>
                      <a:pPr algn="l"/>
                      <a:r>
                        <a:rPr sz="1200" b="1">
                          <a:solidFill>
                            <a:srgbClr val="FFFFFF"/>
                          </a:solidFill>
                          <a:latin typeface="Calibri"/>
                        </a:rPr>
                        <a:t>Plain-English meaning</a:t>
                      </a:r>
                    </a:p>
                  </a:txBody>
                  <a:tcPr marR="73152" marT="36576" marB="36576" anchor="ctr">
                    <a:solidFill>
                      <a:srgbClr val="0F2145"/>
                    </a:solidFill>
                  </a:tcPr>
                </a:tc>
                <a:tc>
                  <a:txBody>
                    <a:bodyPr/>
                    <a:lstStyle/>
                    <a:p>
                      <a:pPr algn="l"/>
                      <a:r>
                        <a:rPr sz="1200" b="1">
                          <a:solidFill>
                            <a:srgbClr val="FFFFFF"/>
                          </a:solidFill>
                          <a:latin typeface="Calibri"/>
                        </a:rPr>
                        <a:t>Finance example</a:t>
                      </a:r>
                    </a:p>
                  </a:txBody>
                  <a:tcPr marR="73152" marT="36576" marB="36576" anchor="ctr">
                    <a:solidFill>
                      <a:srgbClr val="0F2145"/>
                    </a:solidFill>
                  </a:tcPr>
                </a:tc>
                <a:extLst>
                  <a:ext uri="{0D108BD9-81ED-4DB2-BD59-A6C34878D82A}">
                    <a16:rowId xmlns:a16="http://schemas.microsoft.com/office/drawing/2014/main" val="10000"/>
                  </a:ext>
                </a:extLst>
              </a:tr>
              <a:tr h="521207">
                <a:tc>
                  <a:txBody>
                    <a:bodyPr/>
                    <a:lstStyle/>
                    <a:p>
                      <a:pPr algn="l"/>
                      <a:r>
                        <a:rPr sz="1050" b="1">
                          <a:solidFill>
                            <a:srgbClr val="0F2145"/>
                          </a:solidFill>
                          <a:latin typeface="Calibri"/>
                        </a:rPr>
                        <a:t>Model</a:t>
                      </a:r>
                    </a:p>
                  </a:txBody>
                  <a:tcPr marR="73152" marT="36576" marB="36576" anchor="ctr">
                    <a:solidFill>
                      <a:srgbClr val="FFFFFF"/>
                    </a:solidFill>
                  </a:tcPr>
                </a:tc>
                <a:tc>
                  <a:txBody>
                    <a:bodyPr/>
                    <a:lstStyle/>
                    <a:p>
                      <a:pPr algn="l"/>
                      <a:r>
                        <a:rPr sz="1050" b="0">
                          <a:solidFill>
                            <a:srgbClr val="1B2A41"/>
                          </a:solidFill>
                          <a:latin typeface="Calibri"/>
                        </a:rPr>
                        <a:t>The trained “brain” — a giant pattern-matcher built from data</a:t>
                      </a:r>
                    </a:p>
                  </a:txBody>
                  <a:tcPr marR="73152" marT="36576" marB="36576" anchor="ctr">
                    <a:solidFill>
                      <a:srgbClr val="FFFFFF"/>
                    </a:solidFill>
                  </a:tcPr>
                </a:tc>
                <a:tc>
                  <a:txBody>
                    <a:bodyPr/>
                    <a:lstStyle/>
                    <a:p>
                      <a:pPr algn="l"/>
                      <a:r>
                        <a:rPr sz="1050" b="0">
                          <a:solidFill>
                            <a:srgbClr val="1B2A41"/>
                          </a:solidFill>
                          <a:latin typeface="Calibri"/>
                        </a:rPr>
                        <a:t>GPT, Claude and Gemini are all models</a:t>
                      </a:r>
                    </a:p>
                  </a:txBody>
                  <a:tcPr marR="73152" marT="36576" marB="36576" anchor="ctr">
                    <a:solidFill>
                      <a:srgbClr val="FFFFFF"/>
                    </a:solidFill>
                  </a:tcPr>
                </a:tc>
                <a:extLst>
                  <a:ext uri="{0D108BD9-81ED-4DB2-BD59-A6C34878D82A}">
                    <a16:rowId xmlns:a16="http://schemas.microsoft.com/office/drawing/2014/main" val="10001"/>
                  </a:ext>
                </a:extLst>
              </a:tr>
              <a:tr h="521207">
                <a:tc>
                  <a:txBody>
                    <a:bodyPr/>
                    <a:lstStyle/>
                    <a:p>
                      <a:pPr algn="l"/>
                      <a:r>
                        <a:rPr sz="1050" b="1">
                          <a:solidFill>
                            <a:srgbClr val="0F2145"/>
                          </a:solidFill>
                          <a:latin typeface="Calibri"/>
                        </a:rPr>
                        <a:t>Training vs inference</a:t>
                      </a:r>
                    </a:p>
                  </a:txBody>
                  <a:tcPr marR="73152" marT="36576" marB="36576" anchor="ctr">
                    <a:solidFill>
                      <a:srgbClr val="F1F4F9"/>
                    </a:solidFill>
                  </a:tcPr>
                </a:tc>
                <a:tc>
                  <a:txBody>
                    <a:bodyPr/>
                    <a:lstStyle/>
                    <a:p>
                      <a:pPr algn="l"/>
                      <a:r>
                        <a:rPr sz="1050" b="0">
                          <a:solidFill>
                            <a:srgbClr val="1B2A41"/>
                          </a:solidFill>
                          <a:latin typeface="Calibri"/>
                        </a:rPr>
                        <a:t>Training = building the brain (once, costly). Inference = using it (every chat)</a:t>
                      </a:r>
                    </a:p>
                  </a:txBody>
                  <a:tcPr marR="73152" marT="36576" marB="36576" anchor="ctr">
                    <a:solidFill>
                      <a:srgbClr val="F1F4F9"/>
                    </a:solidFill>
                  </a:tcPr>
                </a:tc>
                <a:tc>
                  <a:txBody>
                    <a:bodyPr/>
                    <a:lstStyle/>
                    <a:p>
                      <a:pPr algn="l"/>
                      <a:r>
                        <a:rPr sz="1050" b="0">
                          <a:solidFill>
                            <a:srgbClr val="1B2A41"/>
                          </a:solidFill>
                          <a:latin typeface="Calibri"/>
                        </a:rPr>
                        <a:t>Your ChatGPT question = one inference call</a:t>
                      </a:r>
                    </a:p>
                  </a:txBody>
                  <a:tcPr marR="73152" marT="36576" marB="36576" anchor="ctr">
                    <a:solidFill>
                      <a:srgbClr val="F1F4F9"/>
                    </a:solidFill>
                  </a:tcPr>
                </a:tc>
                <a:extLst>
                  <a:ext uri="{0D108BD9-81ED-4DB2-BD59-A6C34878D82A}">
                    <a16:rowId xmlns:a16="http://schemas.microsoft.com/office/drawing/2014/main" val="10002"/>
                  </a:ext>
                </a:extLst>
              </a:tr>
              <a:tr h="521207">
                <a:tc>
                  <a:txBody>
                    <a:bodyPr/>
                    <a:lstStyle/>
                    <a:p>
                      <a:pPr algn="l"/>
                      <a:r>
                        <a:rPr sz="1050" b="1">
                          <a:solidFill>
                            <a:srgbClr val="0F2145"/>
                          </a:solidFill>
                          <a:latin typeface="Calibri"/>
                        </a:rPr>
                        <a:t>Parameters</a:t>
                      </a:r>
                    </a:p>
                  </a:txBody>
                  <a:tcPr marR="73152" marT="36576" marB="36576" anchor="ctr">
                    <a:solidFill>
                      <a:srgbClr val="FFFFFF"/>
                    </a:solidFill>
                  </a:tcPr>
                </a:tc>
                <a:tc>
                  <a:txBody>
                    <a:bodyPr/>
                    <a:lstStyle/>
                    <a:p>
                      <a:pPr algn="l"/>
                      <a:r>
                        <a:rPr sz="1050" b="0">
                          <a:solidFill>
                            <a:srgbClr val="1B2A41"/>
                          </a:solidFill>
                          <a:latin typeface="Calibri"/>
                        </a:rPr>
                        <a:t>The dials inside the brain — more dials, more capability</a:t>
                      </a:r>
                    </a:p>
                  </a:txBody>
                  <a:tcPr marR="73152" marT="36576" marB="36576" anchor="ctr">
                    <a:solidFill>
                      <a:srgbClr val="FFFFFF"/>
                    </a:solidFill>
                  </a:tcPr>
                </a:tc>
                <a:tc>
                  <a:txBody>
                    <a:bodyPr/>
                    <a:lstStyle/>
                    <a:p>
                      <a:pPr algn="l"/>
                      <a:r>
                        <a:rPr sz="1050" b="0">
                          <a:solidFill>
                            <a:srgbClr val="1B2A41"/>
                          </a:solidFill>
                          <a:latin typeface="Calibri"/>
                        </a:rPr>
                        <a:t>“175B parameters” ≈ brain size, not IQ</a:t>
                      </a:r>
                    </a:p>
                  </a:txBody>
                  <a:tcPr marR="73152" marT="36576" marB="36576" anchor="ctr">
                    <a:solidFill>
                      <a:srgbClr val="FFFFFF"/>
                    </a:solidFill>
                  </a:tcPr>
                </a:tc>
                <a:extLst>
                  <a:ext uri="{0D108BD9-81ED-4DB2-BD59-A6C34878D82A}">
                    <a16:rowId xmlns:a16="http://schemas.microsoft.com/office/drawing/2014/main" val="10003"/>
                  </a:ext>
                </a:extLst>
              </a:tr>
              <a:tr h="521207">
                <a:tc>
                  <a:txBody>
                    <a:bodyPr/>
                    <a:lstStyle/>
                    <a:p>
                      <a:pPr algn="l"/>
                      <a:r>
                        <a:rPr sz="1050" b="1">
                          <a:solidFill>
                            <a:srgbClr val="0F2145"/>
                          </a:solidFill>
                          <a:latin typeface="Calibri"/>
                        </a:rPr>
                        <a:t>Token</a:t>
                      </a:r>
                    </a:p>
                  </a:txBody>
                  <a:tcPr marR="73152" marT="36576" marB="36576" anchor="ctr">
                    <a:solidFill>
                      <a:srgbClr val="F1F4F9"/>
                    </a:solidFill>
                  </a:tcPr>
                </a:tc>
                <a:tc>
                  <a:txBody>
                    <a:bodyPr/>
                    <a:lstStyle/>
                    <a:p>
                      <a:pPr algn="l"/>
                      <a:r>
                        <a:rPr sz="1050" b="0">
                          <a:solidFill>
                            <a:srgbClr val="1B2A41"/>
                          </a:solidFill>
                          <a:latin typeface="Calibri"/>
                        </a:rPr>
                        <a:t>The unit of text models read and bill by (≈ ¾ of a word)</a:t>
                      </a:r>
                    </a:p>
                  </a:txBody>
                  <a:tcPr marR="73152" marT="36576" marB="36576" anchor="ctr">
                    <a:solidFill>
                      <a:srgbClr val="F1F4F9"/>
                    </a:solidFill>
                  </a:tcPr>
                </a:tc>
                <a:tc>
                  <a:txBody>
                    <a:bodyPr/>
                    <a:lstStyle/>
                    <a:p>
                      <a:pPr algn="l"/>
                      <a:r>
                        <a:rPr sz="1050" b="0">
                          <a:solidFill>
                            <a:srgbClr val="1B2A41"/>
                          </a:solidFill>
                          <a:latin typeface="Calibri"/>
                        </a:rPr>
                        <a:t>A 200-page annual report ≈ 100,000 tokens</a:t>
                      </a:r>
                    </a:p>
                  </a:txBody>
                  <a:tcPr marR="73152" marT="36576" marB="36576" anchor="ctr">
                    <a:solidFill>
                      <a:srgbClr val="F1F4F9"/>
                    </a:solidFill>
                  </a:tcPr>
                </a:tc>
                <a:extLst>
                  <a:ext uri="{0D108BD9-81ED-4DB2-BD59-A6C34878D82A}">
                    <a16:rowId xmlns:a16="http://schemas.microsoft.com/office/drawing/2014/main" val="10004"/>
                  </a:ext>
                </a:extLst>
              </a:tr>
              <a:tr h="521207">
                <a:tc>
                  <a:txBody>
                    <a:bodyPr/>
                    <a:lstStyle/>
                    <a:p>
                      <a:pPr algn="l"/>
                      <a:r>
                        <a:rPr sz="1050" b="1">
                          <a:solidFill>
                            <a:srgbClr val="0F2145"/>
                          </a:solidFill>
                          <a:latin typeface="Calibri"/>
                        </a:rPr>
                        <a:t>Embedding</a:t>
                      </a:r>
                    </a:p>
                  </a:txBody>
                  <a:tcPr marR="73152" marT="36576" marB="36576" anchor="ctr">
                    <a:solidFill>
                      <a:srgbClr val="FFFFFF"/>
                    </a:solidFill>
                  </a:tcPr>
                </a:tc>
                <a:tc>
                  <a:txBody>
                    <a:bodyPr/>
                    <a:lstStyle/>
                    <a:p>
                      <a:pPr algn="l"/>
                      <a:r>
                        <a:rPr sz="1050" b="0">
                          <a:solidFill>
                            <a:srgbClr val="1B2A41"/>
                          </a:solidFill>
                          <a:latin typeface="Calibri"/>
                        </a:rPr>
                        <a:t>Text converted into numbers that capture its meaning</a:t>
                      </a:r>
                    </a:p>
                  </a:txBody>
                  <a:tcPr marR="73152" marT="36576" marB="36576" anchor="ctr">
                    <a:solidFill>
                      <a:srgbClr val="FFFFFF"/>
                    </a:solidFill>
                  </a:tcPr>
                </a:tc>
                <a:tc>
                  <a:txBody>
                    <a:bodyPr/>
                    <a:lstStyle/>
                    <a:p>
                      <a:pPr algn="l"/>
                      <a:r>
                        <a:rPr sz="1050" b="0">
                          <a:solidFill>
                            <a:srgbClr val="1B2A41"/>
                          </a:solidFill>
                          <a:latin typeface="Calibri"/>
                        </a:rPr>
                        <a:t>“profit fell” and “earnings declined” land side by side</a:t>
                      </a:r>
                    </a:p>
                  </a:txBody>
                  <a:tcPr marR="73152" marT="36576" marB="36576" anchor="ctr">
                    <a:solidFill>
                      <a:srgbClr val="FFFFFF"/>
                    </a:solidFill>
                  </a:tcPr>
                </a:tc>
                <a:extLst>
                  <a:ext uri="{0D108BD9-81ED-4DB2-BD59-A6C34878D82A}">
                    <a16:rowId xmlns:a16="http://schemas.microsoft.com/office/drawing/2014/main" val="10005"/>
                  </a:ext>
                </a:extLst>
              </a:tr>
              <a:tr h="521207">
                <a:tc>
                  <a:txBody>
                    <a:bodyPr/>
                    <a:lstStyle/>
                    <a:p>
                      <a:pPr algn="l"/>
                      <a:r>
                        <a:rPr sz="1050" b="1">
                          <a:solidFill>
                            <a:srgbClr val="0F2145"/>
                          </a:solidFill>
                          <a:latin typeface="Calibri"/>
                        </a:rPr>
                        <a:t>Vector database</a:t>
                      </a:r>
                    </a:p>
                  </a:txBody>
                  <a:tcPr marR="73152" marT="36576" marB="36576" anchor="ctr">
                    <a:solidFill>
                      <a:srgbClr val="F1F4F9"/>
                    </a:solidFill>
                  </a:tcPr>
                </a:tc>
                <a:tc>
                  <a:txBody>
                    <a:bodyPr/>
                    <a:lstStyle/>
                    <a:p>
                      <a:pPr algn="l"/>
                      <a:r>
                        <a:rPr sz="1050" b="0">
                          <a:solidFill>
                            <a:srgbClr val="1B2A41"/>
                          </a:solidFill>
                          <a:latin typeface="Calibri"/>
                        </a:rPr>
                        <a:t>A library indexed by meaning, not keywords</a:t>
                      </a:r>
                    </a:p>
                  </a:txBody>
                  <a:tcPr marR="73152" marT="36576" marB="36576" anchor="ctr">
                    <a:solidFill>
                      <a:srgbClr val="F1F4F9"/>
                    </a:solidFill>
                  </a:tcPr>
                </a:tc>
                <a:tc>
                  <a:txBody>
                    <a:bodyPr/>
                    <a:lstStyle/>
                    <a:p>
                      <a:pPr algn="l"/>
                      <a:r>
                        <a:rPr sz="1050" b="0">
                          <a:solidFill>
                            <a:srgbClr val="1B2A41"/>
                          </a:solidFill>
                          <a:latin typeface="Calibri"/>
                        </a:rPr>
                        <a:t>Search “margin pressure”, find “pricing headwinds”</a:t>
                      </a:r>
                    </a:p>
                  </a:txBody>
                  <a:tcPr marR="73152" marT="36576" marB="36576" anchor="ctr">
                    <a:solidFill>
                      <a:srgbClr val="F1F4F9"/>
                    </a:solidFill>
                  </a:tcPr>
                </a:tc>
                <a:extLst>
                  <a:ext uri="{0D108BD9-81ED-4DB2-BD59-A6C34878D82A}">
                    <a16:rowId xmlns:a16="http://schemas.microsoft.com/office/drawing/2014/main" val="10006"/>
                  </a:ext>
                </a:extLst>
              </a:tr>
              <a:tr h="521207">
                <a:tc>
                  <a:txBody>
                    <a:bodyPr/>
                    <a:lstStyle/>
                    <a:p>
                      <a:pPr algn="l"/>
                      <a:r>
                        <a:rPr sz="1050" b="1">
                          <a:solidFill>
                            <a:srgbClr val="0F2145"/>
                          </a:solidFill>
                          <a:latin typeface="Calibri"/>
                        </a:rPr>
                        <a:t>Temperature</a:t>
                      </a:r>
                    </a:p>
                  </a:txBody>
                  <a:tcPr marR="73152" marT="36576" marB="36576" anchor="ctr">
                    <a:solidFill>
                      <a:srgbClr val="FFFFFF"/>
                    </a:solidFill>
                  </a:tcPr>
                </a:tc>
                <a:tc>
                  <a:txBody>
                    <a:bodyPr/>
                    <a:lstStyle/>
                    <a:p>
                      <a:pPr algn="l"/>
                      <a:r>
                        <a:rPr sz="1050" b="0">
                          <a:solidFill>
                            <a:srgbClr val="1B2A41"/>
                          </a:solidFill>
                          <a:latin typeface="Calibri"/>
                        </a:rPr>
                        <a:t>The creativity dial — low = consistent, high = varied</a:t>
                      </a:r>
                    </a:p>
                  </a:txBody>
                  <a:tcPr marR="73152" marT="36576" marB="36576" anchor="ctr">
                    <a:solidFill>
                      <a:srgbClr val="FFFFFF"/>
                    </a:solidFill>
                  </a:tcPr>
                </a:tc>
                <a:tc>
                  <a:txBody>
                    <a:bodyPr/>
                    <a:lstStyle/>
                    <a:p>
                      <a:pPr algn="l"/>
                      <a:r>
                        <a:rPr sz="1050" b="0">
                          <a:solidFill>
                            <a:srgbClr val="1B2A41"/>
                          </a:solidFill>
                          <a:latin typeface="Calibri"/>
                        </a:rPr>
                        <a:t>Compliance drafts at 0.2, brainstorms at 0.9</a:t>
                      </a:r>
                    </a:p>
                  </a:txBody>
                  <a:tcPr marR="73152" marT="36576" marB="36576" anchor="ctr">
                    <a:solidFill>
                      <a:srgbClr val="FFFFFF"/>
                    </a:solidFill>
                  </a:tcPr>
                </a:tc>
                <a:extLst>
                  <a:ext uri="{0D108BD9-81ED-4DB2-BD59-A6C34878D82A}">
                    <a16:rowId xmlns:a16="http://schemas.microsoft.com/office/drawing/2014/main" val="10007"/>
                  </a:ext>
                </a:extLst>
              </a:tr>
              <a:tr h="521207">
                <a:tc>
                  <a:txBody>
                    <a:bodyPr/>
                    <a:lstStyle/>
                    <a:p>
                      <a:pPr algn="l"/>
                      <a:r>
                        <a:rPr sz="1050" b="1">
                          <a:solidFill>
                            <a:srgbClr val="0F2145"/>
                          </a:solidFill>
                          <a:latin typeface="Calibri"/>
                        </a:rPr>
                        <a:t>API</a:t>
                      </a:r>
                    </a:p>
                  </a:txBody>
                  <a:tcPr marR="73152" marT="36576" marB="36576" anchor="ctr">
                    <a:solidFill>
                      <a:srgbClr val="F1F4F9"/>
                    </a:solidFill>
                  </a:tcPr>
                </a:tc>
                <a:tc>
                  <a:txBody>
                    <a:bodyPr/>
                    <a:lstStyle/>
                    <a:p>
                      <a:pPr algn="l"/>
                      <a:r>
                        <a:rPr sz="1050" b="0">
                          <a:solidFill>
                            <a:srgbClr val="1B2A41"/>
                          </a:solidFill>
                          <a:latin typeface="Calibri"/>
                        </a:rPr>
                        <a:t>The plug that lets software call a model programmatically</a:t>
                      </a:r>
                    </a:p>
                  </a:txBody>
                  <a:tcPr marR="73152" marT="36576" marB="36576" anchor="ctr">
                    <a:solidFill>
                      <a:srgbClr val="F1F4F9"/>
                    </a:solidFill>
                  </a:tcPr>
                </a:tc>
                <a:tc>
                  <a:txBody>
                    <a:bodyPr/>
                    <a:lstStyle/>
                    <a:p>
                      <a:pPr algn="l"/>
                      <a:r>
                        <a:rPr sz="1050" b="0">
                          <a:solidFill>
                            <a:srgbClr val="1B2A41"/>
                          </a:solidFill>
                          <a:latin typeface="Calibri"/>
                        </a:rPr>
                        <a:t>An Excel add-in querying Claude = an API call</a:t>
                      </a:r>
                    </a:p>
                  </a:txBody>
                  <a:tcPr marR="73152" marT="36576" marB="36576" anchor="ctr">
                    <a:solidFill>
                      <a:srgbClr val="F1F4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7" name="TextBox 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From chatbot to agent — answering vs doing</a:t>
            </a:r>
          </a:p>
        </p:txBody>
      </p:sp>
      <p:sp>
        <p:nvSpPr>
          <p:cNvPr id="5" name="Rounded Rectangle 4"/>
          <p:cNvSpPr/>
          <p:nvPr/>
        </p:nvSpPr>
        <p:spPr>
          <a:xfrm>
            <a:off x="548640"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LLM</a:t>
            </a:r>
          </a:p>
          <a:p>
            <a:pPr algn="ctr">
              <a:spcBef>
                <a:spcPts val="200"/>
              </a:spcBef>
            </a:pPr>
            <a:r>
              <a:rPr sz="850" b="0" i="0">
                <a:solidFill>
                  <a:srgbClr val="C9D6EE"/>
                </a:solidFill>
                <a:latin typeface="Calibri"/>
              </a:rPr>
              <a:t>the brain</a:t>
            </a:r>
          </a:p>
        </p:txBody>
      </p:sp>
      <p:sp>
        <p:nvSpPr>
          <p:cNvPr id="7" name="TextBox 6"/>
          <p:cNvSpPr txBox="1"/>
          <p:nvPr/>
        </p:nvSpPr>
        <p:spPr>
          <a:xfrm>
            <a:off x="2487168"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8" name="Rounded Rectangle 7"/>
          <p:cNvSpPr/>
          <p:nvPr/>
        </p:nvSpPr>
        <p:spPr>
          <a:xfrm>
            <a:off x="2889504"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62656"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Tools</a:t>
            </a:r>
          </a:p>
          <a:p>
            <a:pPr algn="ctr">
              <a:spcBef>
                <a:spcPts val="200"/>
              </a:spcBef>
            </a:pPr>
            <a:r>
              <a:rPr sz="850" b="0" i="0">
                <a:solidFill>
                  <a:srgbClr val="C9D6EE"/>
                </a:solidFill>
                <a:latin typeface="Calibri"/>
              </a:rPr>
              <a:t>hands — APIs, code,
search, spreadsheets</a:t>
            </a:r>
          </a:p>
        </p:txBody>
      </p:sp>
      <p:sp>
        <p:nvSpPr>
          <p:cNvPr id="10" name="TextBox 9"/>
          <p:cNvSpPr txBox="1"/>
          <p:nvPr/>
        </p:nvSpPr>
        <p:spPr>
          <a:xfrm>
            <a:off x="4828032"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1" name="Rounded Rectangle 10"/>
          <p:cNvSpPr/>
          <p:nvPr/>
        </p:nvSpPr>
        <p:spPr>
          <a:xfrm>
            <a:off x="5230368"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Memory</a:t>
            </a:r>
          </a:p>
          <a:p>
            <a:pPr algn="ctr">
              <a:spcBef>
                <a:spcPts val="200"/>
              </a:spcBef>
            </a:pPr>
            <a:r>
              <a:rPr sz="850" b="0" i="0">
                <a:solidFill>
                  <a:srgbClr val="C9D6EE"/>
                </a:solidFill>
                <a:latin typeface="Calibri"/>
              </a:rPr>
              <a:t>notebook — state
across steps</a:t>
            </a:r>
          </a:p>
        </p:txBody>
      </p:sp>
      <p:sp>
        <p:nvSpPr>
          <p:cNvPr id="13" name="TextBox 12"/>
          <p:cNvSpPr txBox="1"/>
          <p:nvPr/>
        </p:nvSpPr>
        <p:spPr>
          <a:xfrm>
            <a:off x="7168896"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4" name="Rounded Rectangle 13"/>
          <p:cNvSpPr/>
          <p:nvPr/>
        </p:nvSpPr>
        <p:spPr>
          <a:xfrm>
            <a:off x="7571232"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44384"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Planning</a:t>
            </a:r>
          </a:p>
          <a:p>
            <a:pPr algn="ctr">
              <a:spcBef>
                <a:spcPts val="200"/>
              </a:spcBef>
            </a:pPr>
            <a:r>
              <a:rPr sz="850" b="0" i="0">
                <a:solidFill>
                  <a:srgbClr val="C9D6EE"/>
                </a:solidFill>
                <a:latin typeface="Calibri"/>
              </a:rPr>
              <a:t>the to-do list —
decide, act, check</a:t>
            </a:r>
          </a:p>
        </p:txBody>
      </p:sp>
      <p:sp>
        <p:nvSpPr>
          <p:cNvPr id="16" name="TextBox 15"/>
          <p:cNvSpPr txBox="1"/>
          <p:nvPr/>
        </p:nvSpPr>
        <p:spPr>
          <a:xfrm>
            <a:off x="9509760"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7" name="Rounded Rectangle 16"/>
          <p:cNvSpPr/>
          <p:nvPr/>
        </p:nvSpPr>
        <p:spPr>
          <a:xfrm>
            <a:off x="9912096" y="1783080"/>
            <a:ext cx="2011680" cy="1143000"/>
          </a:xfrm>
          <a:prstGeom prst="roundRect">
            <a:avLst>
              <a:gd name="adj" fmla="val 1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985248" y="1783080"/>
            <a:ext cx="1865376" cy="1143000"/>
          </a:xfrm>
          <a:prstGeom prst="rect">
            <a:avLst/>
          </a:prstGeom>
          <a:noFill/>
        </p:spPr>
        <p:txBody>
          <a:bodyPr wrap="square" lIns="0" tIns="0" rIns="0" bIns="0" anchor="ctr">
            <a:spAutoFit/>
          </a:bodyPr>
          <a:lstStyle/>
          <a:p>
            <a:pPr algn="ctr"/>
            <a:r>
              <a:rPr sz="1400" b="1" i="0">
                <a:solidFill>
                  <a:srgbClr val="0F2145"/>
                </a:solidFill>
                <a:latin typeface="Calibri"/>
              </a:rPr>
              <a:t>AGENT</a:t>
            </a:r>
          </a:p>
          <a:p>
            <a:pPr algn="ctr">
              <a:spcBef>
                <a:spcPts val="200"/>
              </a:spcBef>
            </a:pPr>
            <a:r>
              <a:rPr sz="850" b="0" i="0">
                <a:solidFill>
                  <a:srgbClr val="5C4A0E"/>
                </a:solidFill>
                <a:latin typeface="Calibri"/>
              </a:rPr>
              <a:t>works toward a goal</a:t>
            </a:r>
          </a:p>
        </p:txBody>
      </p:sp>
      <p:graphicFrame>
        <p:nvGraphicFramePr>
          <p:cNvPr id="19" name="Table 18"/>
          <p:cNvGraphicFramePr>
            <a:graphicFrameLocks noGrp="1"/>
          </p:cNvGraphicFramePr>
          <p:nvPr/>
        </p:nvGraphicFramePr>
        <p:xfrm>
          <a:off x="548640" y="3310128"/>
          <a:ext cx="11064240" cy="25603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512064">
                <a:tc>
                  <a:txBody>
                    <a:bodyPr/>
                    <a:lstStyle/>
                    <a:p>
                      <a:pPr algn="l"/>
                      <a:endParaRPr/>
                    </a:p>
                  </a:txBody>
                  <a:tcPr marR="73152" marT="36576" marB="36576" anchor="ctr">
                    <a:solidFill>
                      <a:srgbClr val="0F2145"/>
                    </a:solidFill>
                  </a:tcPr>
                </a:tc>
                <a:tc>
                  <a:txBody>
                    <a:bodyPr/>
                    <a:lstStyle/>
                    <a:p>
                      <a:pPr algn="l"/>
                      <a:r>
                        <a:rPr sz="1200" b="1">
                          <a:solidFill>
                            <a:srgbClr val="FFFFFF"/>
                          </a:solidFill>
                          <a:latin typeface="Calibri"/>
                        </a:rPr>
                        <a:t>Chatbot</a:t>
                      </a:r>
                    </a:p>
                  </a:txBody>
                  <a:tcPr marR="73152" marT="36576" marB="36576" anchor="ctr">
                    <a:solidFill>
                      <a:srgbClr val="0F2145"/>
                    </a:solidFill>
                  </a:tcPr>
                </a:tc>
                <a:tc>
                  <a:txBody>
                    <a:bodyPr/>
                    <a:lstStyle/>
                    <a:p>
                      <a:pPr algn="l"/>
                      <a:r>
                        <a:rPr sz="1200" b="1">
                          <a:solidFill>
                            <a:srgbClr val="FFFFFF"/>
                          </a:solidFill>
                          <a:latin typeface="Calibri"/>
                        </a:rPr>
                        <a:t>Agent</a:t>
                      </a:r>
                    </a:p>
                  </a:txBody>
                  <a:tcPr marR="73152" marT="36576" marB="36576" anchor="ctr">
                    <a:solidFill>
                      <a:srgbClr val="0F2145"/>
                    </a:solidFill>
                  </a:tcPr>
                </a:tc>
                <a:extLst>
                  <a:ext uri="{0D108BD9-81ED-4DB2-BD59-A6C34878D82A}">
                    <a16:rowId xmlns:a16="http://schemas.microsoft.com/office/drawing/2014/main" val="10000"/>
                  </a:ext>
                </a:extLst>
              </a:tr>
              <a:tr h="512064">
                <a:tc>
                  <a:txBody>
                    <a:bodyPr/>
                    <a:lstStyle/>
                    <a:p>
                      <a:pPr algn="l"/>
                      <a:r>
                        <a:rPr sz="1100" b="1">
                          <a:solidFill>
                            <a:srgbClr val="0F2145"/>
                          </a:solidFill>
                          <a:latin typeface="Calibri"/>
                        </a:rPr>
                        <a:t>You ask</a:t>
                      </a:r>
                    </a:p>
                  </a:txBody>
                  <a:tcPr marR="73152" marT="36576" marB="36576" anchor="ctr">
                    <a:solidFill>
                      <a:srgbClr val="FFFFFF"/>
                    </a:solidFill>
                  </a:tcPr>
                </a:tc>
                <a:tc>
                  <a:txBody>
                    <a:bodyPr/>
                    <a:lstStyle/>
                    <a:p>
                      <a:pPr algn="l"/>
                      <a:r>
                        <a:rPr sz="1100" b="0">
                          <a:solidFill>
                            <a:srgbClr val="1B2A41"/>
                          </a:solidFill>
                          <a:latin typeface="Calibri"/>
                        </a:rPr>
                        <a:t>“What is Infosys' P/E?”</a:t>
                      </a:r>
                    </a:p>
                  </a:txBody>
                  <a:tcPr marR="73152" marT="36576" marB="36576" anchor="ctr">
                    <a:solidFill>
                      <a:srgbClr val="FFFFFF"/>
                    </a:solidFill>
                  </a:tcPr>
                </a:tc>
                <a:tc>
                  <a:txBody>
                    <a:bodyPr/>
                    <a:lstStyle/>
                    <a:p>
                      <a:pPr algn="l"/>
                      <a:r>
                        <a:rPr sz="1100" b="0">
                          <a:solidFill>
                            <a:srgbClr val="1B2A41"/>
                          </a:solidFill>
                          <a:latin typeface="Calibri"/>
                        </a:rPr>
                        <a:t>“Review my portfolio and flag concentration risks.”</a:t>
                      </a:r>
                    </a:p>
                  </a:txBody>
                  <a:tcPr marR="73152" marT="36576" marB="36576" anchor="ctr">
                    <a:solidFill>
                      <a:srgbClr val="FFFFFF"/>
                    </a:solidFill>
                  </a:tcPr>
                </a:tc>
                <a:extLst>
                  <a:ext uri="{0D108BD9-81ED-4DB2-BD59-A6C34878D82A}">
                    <a16:rowId xmlns:a16="http://schemas.microsoft.com/office/drawing/2014/main" val="10001"/>
                  </a:ext>
                </a:extLst>
              </a:tr>
              <a:tr h="512064">
                <a:tc>
                  <a:txBody>
                    <a:bodyPr/>
                    <a:lstStyle/>
                    <a:p>
                      <a:pPr algn="l"/>
                      <a:r>
                        <a:rPr sz="1100" b="1">
                          <a:solidFill>
                            <a:srgbClr val="0F2145"/>
                          </a:solidFill>
                          <a:latin typeface="Calibri"/>
                        </a:rPr>
                        <a:t>It does</a:t>
                      </a:r>
                    </a:p>
                  </a:txBody>
                  <a:tcPr marR="73152" marT="36576" marB="36576" anchor="ctr">
                    <a:solidFill>
                      <a:srgbClr val="F1F4F9"/>
                    </a:solidFill>
                  </a:tcPr>
                </a:tc>
                <a:tc>
                  <a:txBody>
                    <a:bodyPr/>
                    <a:lstStyle/>
                    <a:p>
                      <a:pPr algn="l"/>
                      <a:r>
                        <a:rPr sz="1100" b="0">
                          <a:solidFill>
                            <a:srgbClr val="1B2A41"/>
                          </a:solidFill>
                          <a:latin typeface="Calibri"/>
                        </a:rPr>
                        <a:t>Answers from context in one shot</a:t>
                      </a:r>
                    </a:p>
                  </a:txBody>
                  <a:tcPr marR="73152" marT="36576" marB="36576" anchor="ctr">
                    <a:solidFill>
                      <a:srgbClr val="F1F4F9"/>
                    </a:solidFill>
                  </a:tcPr>
                </a:tc>
                <a:tc>
                  <a:txBody>
                    <a:bodyPr/>
                    <a:lstStyle/>
                    <a:p>
                      <a:pPr algn="l"/>
                      <a:r>
                        <a:rPr sz="1100" b="0">
                          <a:solidFill>
                            <a:srgbClr val="1B2A41"/>
                          </a:solidFill>
                          <a:latin typeface="Calibri"/>
                        </a:rPr>
                        <a:t>Fetches prices → computes weights → checks limits → drafts memo</a:t>
                      </a:r>
                    </a:p>
                  </a:txBody>
                  <a:tcPr marR="73152" marT="36576" marB="36576" anchor="ctr">
                    <a:solidFill>
                      <a:srgbClr val="F1F4F9"/>
                    </a:solidFill>
                  </a:tcPr>
                </a:tc>
                <a:extLst>
                  <a:ext uri="{0D108BD9-81ED-4DB2-BD59-A6C34878D82A}">
                    <a16:rowId xmlns:a16="http://schemas.microsoft.com/office/drawing/2014/main" val="10002"/>
                  </a:ext>
                </a:extLst>
              </a:tr>
              <a:tr h="512064">
                <a:tc>
                  <a:txBody>
                    <a:bodyPr/>
                    <a:lstStyle/>
                    <a:p>
                      <a:pPr algn="l"/>
                      <a:r>
                        <a:rPr sz="1100" b="1">
                          <a:solidFill>
                            <a:srgbClr val="0F2145"/>
                          </a:solidFill>
                          <a:latin typeface="Calibri"/>
                        </a:rPr>
                        <a:t>Steps</a:t>
                      </a:r>
                    </a:p>
                  </a:txBody>
                  <a:tcPr marR="73152" marT="36576" marB="36576" anchor="ctr">
                    <a:solidFill>
                      <a:srgbClr val="FFFFFF"/>
                    </a:solidFill>
                  </a:tcPr>
                </a:tc>
                <a:tc>
                  <a:txBody>
                    <a:bodyPr/>
                    <a:lstStyle/>
                    <a:p>
                      <a:pPr algn="l"/>
                      <a:r>
                        <a:rPr sz="1100" b="0">
                          <a:solidFill>
                            <a:srgbClr val="1B2A41"/>
                          </a:solidFill>
                          <a:latin typeface="Calibri"/>
                        </a:rPr>
                        <a:t>One</a:t>
                      </a:r>
                    </a:p>
                  </a:txBody>
                  <a:tcPr marR="73152" marT="36576" marB="36576" anchor="ctr">
                    <a:solidFill>
                      <a:srgbClr val="FFFFFF"/>
                    </a:solidFill>
                  </a:tcPr>
                </a:tc>
                <a:tc>
                  <a:txBody>
                    <a:bodyPr/>
                    <a:lstStyle/>
                    <a:p>
                      <a:pPr algn="l"/>
                      <a:r>
                        <a:rPr sz="1100" b="0">
                          <a:solidFill>
                            <a:srgbClr val="1B2A41"/>
                          </a:solidFill>
                          <a:latin typeface="Calibri"/>
                        </a:rPr>
                        <a:t>Many — it decides the sequence itself</a:t>
                      </a:r>
                    </a:p>
                  </a:txBody>
                  <a:tcPr marR="73152" marT="36576" marB="36576" anchor="ctr">
                    <a:solidFill>
                      <a:srgbClr val="FFFFFF"/>
                    </a:solidFill>
                  </a:tcPr>
                </a:tc>
                <a:extLst>
                  <a:ext uri="{0D108BD9-81ED-4DB2-BD59-A6C34878D82A}">
                    <a16:rowId xmlns:a16="http://schemas.microsoft.com/office/drawing/2014/main" val="10003"/>
                  </a:ext>
                </a:extLst>
              </a:tr>
              <a:tr h="512064">
                <a:tc>
                  <a:txBody>
                    <a:bodyPr/>
                    <a:lstStyle/>
                    <a:p>
                      <a:pPr algn="l"/>
                      <a:r>
                        <a:rPr sz="1100" b="1">
                          <a:solidFill>
                            <a:srgbClr val="0F2145"/>
                          </a:solidFill>
                          <a:latin typeface="Calibri"/>
                        </a:rPr>
                        <a:t>Trust needed</a:t>
                      </a:r>
                    </a:p>
                  </a:txBody>
                  <a:tcPr marR="73152" marT="36576" marB="36576" anchor="ctr">
                    <a:solidFill>
                      <a:srgbClr val="F1F4F9"/>
                    </a:solidFill>
                  </a:tcPr>
                </a:tc>
                <a:tc>
                  <a:txBody>
                    <a:bodyPr/>
                    <a:lstStyle/>
                    <a:p>
                      <a:pPr algn="l"/>
                      <a:r>
                        <a:rPr sz="1100" b="0">
                          <a:solidFill>
                            <a:srgbClr val="1B2A41"/>
                          </a:solidFill>
                          <a:latin typeface="Calibri"/>
                        </a:rPr>
                        <a:t>Verify the answer</a:t>
                      </a:r>
                    </a:p>
                  </a:txBody>
                  <a:tcPr marR="73152" marT="36576" marB="36576" anchor="ctr">
                    <a:solidFill>
                      <a:srgbClr val="F1F4F9"/>
                    </a:solidFill>
                  </a:tcPr>
                </a:tc>
                <a:tc>
                  <a:txBody>
                    <a:bodyPr/>
                    <a:lstStyle/>
                    <a:p>
                      <a:pPr algn="l"/>
                      <a:r>
                        <a:rPr sz="1100" b="0">
                          <a:solidFill>
                            <a:srgbClr val="1B2A41"/>
                          </a:solidFill>
                          <a:latin typeface="Calibri"/>
                        </a:rPr>
                        <a:t>Verify the actions — permissions matter</a:t>
                      </a:r>
                    </a:p>
                  </a:txBody>
                  <a:tcPr marR="73152" marT="36576" marB="36576" anchor="ctr">
                    <a:solidFill>
                      <a:srgbClr val="F1F4F9"/>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1" name="TextBox 20"/>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Tool use — how an LLM presses buttons</a:t>
            </a:r>
          </a:p>
        </p:txBody>
      </p:sp>
      <p:sp>
        <p:nvSpPr>
          <p:cNvPr id="5" name="Oval 4"/>
          <p:cNvSpPr/>
          <p:nvPr/>
        </p:nvSpPr>
        <p:spPr>
          <a:xfrm>
            <a:off x="548640" y="171907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19072"/>
            <a:ext cx="475488" cy="475488"/>
          </a:xfrm>
          <a:prstGeom prst="rect">
            <a:avLst/>
          </a:prstGeom>
          <a:noFill/>
        </p:spPr>
        <p:txBody>
          <a:bodyPr wrap="square" lIns="0" tIns="0" rIns="0" bIns="0" anchor="ctr">
            <a:spAutoFit/>
          </a:bodyPr>
          <a:lstStyle/>
          <a:p>
            <a:pPr algn="ctr"/>
            <a:r>
              <a:rPr sz="1500" b="1" i="0">
                <a:solidFill>
                  <a:srgbClr val="0F2145"/>
                </a:solidFill>
                <a:latin typeface="Calibri"/>
              </a:rPr>
              <a:t>1</a:t>
            </a:r>
          </a:p>
        </p:txBody>
      </p:sp>
      <p:sp>
        <p:nvSpPr>
          <p:cNvPr id="7" name="Rounded Rectangle 6"/>
          <p:cNvSpPr/>
          <p:nvPr/>
        </p:nvSpPr>
        <p:spPr>
          <a:xfrm>
            <a:off x="1234440" y="1554480"/>
            <a:ext cx="10378440" cy="841248"/>
          </a:xfrm>
          <a:prstGeom prst="roundRect">
            <a:avLst>
              <a:gd name="adj" fmla="val 10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08760" y="1636776"/>
            <a:ext cx="9875520" cy="685800"/>
          </a:xfrm>
          <a:prstGeom prst="rect">
            <a:avLst/>
          </a:prstGeom>
          <a:noFill/>
        </p:spPr>
        <p:txBody>
          <a:bodyPr wrap="square" lIns="0" tIns="0" rIns="0" bIns="0" anchor="ctr">
            <a:spAutoFit/>
          </a:bodyPr>
          <a:lstStyle/>
          <a:p>
            <a:pPr algn="l"/>
            <a:r>
              <a:rPr sz="1250" b="1" i="0">
                <a:solidFill>
                  <a:srgbClr val="8F7113"/>
                </a:solidFill>
                <a:latin typeface="Calibri"/>
              </a:rPr>
              <a:t>You ask   </a:t>
            </a:r>
            <a:r>
              <a:rPr sz="1150" b="0" i="0">
                <a:solidFill>
                  <a:srgbClr val="5D6B7E"/>
                </a:solidFill>
                <a:latin typeface="Calibri"/>
              </a:rPr>
              <a:t>“What's HDFC Bank's price move today, and should I worry about my exposure?”</a:t>
            </a:r>
          </a:p>
        </p:txBody>
      </p:sp>
      <p:sp>
        <p:nvSpPr>
          <p:cNvPr id="9" name="Down Arrow 8"/>
          <p:cNvSpPr/>
          <p:nvPr/>
        </p:nvSpPr>
        <p:spPr>
          <a:xfrm>
            <a:off x="731520" y="226771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48640" y="272491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724912"/>
            <a:ext cx="475488" cy="475488"/>
          </a:xfrm>
          <a:prstGeom prst="rect">
            <a:avLst/>
          </a:prstGeom>
          <a:noFill/>
        </p:spPr>
        <p:txBody>
          <a:bodyPr wrap="square" lIns="0" tIns="0" rIns="0" bIns="0" anchor="ctr">
            <a:spAutoFit/>
          </a:bodyPr>
          <a:lstStyle/>
          <a:p>
            <a:pPr algn="ctr"/>
            <a:r>
              <a:rPr sz="1500" b="1" i="0">
                <a:solidFill>
                  <a:srgbClr val="0F2145"/>
                </a:solidFill>
                <a:latin typeface="Calibri"/>
              </a:rPr>
              <a:t>2</a:t>
            </a:r>
          </a:p>
        </p:txBody>
      </p:sp>
      <p:sp>
        <p:nvSpPr>
          <p:cNvPr id="12" name="Rounded Rectangle 11"/>
          <p:cNvSpPr/>
          <p:nvPr/>
        </p:nvSpPr>
        <p:spPr>
          <a:xfrm>
            <a:off x="1234440" y="2560320"/>
            <a:ext cx="10378440" cy="841248"/>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08760" y="2642615"/>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chooses a tool   </a:t>
            </a:r>
            <a:r>
              <a:rPr sz="1150" b="0" i="0">
                <a:solidFill>
                  <a:srgbClr val="C9D6EE"/>
                </a:solidFill>
                <a:latin typeface="Calibri"/>
              </a:rPr>
              <a:t>It can't know live prices — so it emits a structured call:  get_price(“HDFCBANK”)</a:t>
            </a:r>
          </a:p>
        </p:txBody>
      </p:sp>
      <p:sp>
        <p:nvSpPr>
          <p:cNvPr id="14" name="Down Arrow 13"/>
          <p:cNvSpPr/>
          <p:nvPr/>
        </p:nvSpPr>
        <p:spPr>
          <a:xfrm>
            <a:off x="731520" y="327355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48640" y="373075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730752"/>
            <a:ext cx="475488" cy="475488"/>
          </a:xfrm>
          <a:prstGeom prst="rect">
            <a:avLst/>
          </a:prstGeom>
          <a:noFill/>
        </p:spPr>
        <p:txBody>
          <a:bodyPr wrap="square" lIns="0" tIns="0" rIns="0" bIns="0" anchor="ctr">
            <a:spAutoFit/>
          </a:bodyPr>
          <a:lstStyle/>
          <a:p>
            <a:pPr algn="ctr"/>
            <a:r>
              <a:rPr sz="1500" b="1" i="0">
                <a:solidFill>
                  <a:srgbClr val="0F2145"/>
                </a:solidFill>
                <a:latin typeface="Calibri"/>
              </a:rPr>
              <a:t>3</a:t>
            </a:r>
          </a:p>
        </p:txBody>
      </p:sp>
      <p:sp>
        <p:nvSpPr>
          <p:cNvPr id="17" name="Rounded Rectangle 16"/>
          <p:cNvSpPr/>
          <p:nvPr/>
        </p:nvSpPr>
        <p:spPr>
          <a:xfrm>
            <a:off x="1234440" y="3566160"/>
            <a:ext cx="10378440" cy="841248"/>
          </a:xfrm>
          <a:prstGeom prst="roundRect">
            <a:avLst>
              <a:gd name="adj" fmla="val 10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08760" y="3648456"/>
            <a:ext cx="9875520" cy="685800"/>
          </a:xfrm>
          <a:prstGeom prst="rect">
            <a:avLst/>
          </a:prstGeom>
          <a:noFill/>
        </p:spPr>
        <p:txBody>
          <a:bodyPr wrap="square" lIns="0" tIns="0" rIns="0" bIns="0" anchor="ctr">
            <a:spAutoFit/>
          </a:bodyPr>
          <a:lstStyle/>
          <a:p>
            <a:pPr algn="l"/>
            <a:r>
              <a:rPr sz="1250" b="1" i="0">
                <a:solidFill>
                  <a:srgbClr val="0F2145"/>
                </a:solidFill>
                <a:latin typeface="Calibri"/>
              </a:rPr>
              <a:t>Your system runs it   </a:t>
            </a:r>
            <a:r>
              <a:rPr sz="1150" b="0" i="0">
                <a:solidFill>
                  <a:srgbClr val="5D6B7E"/>
                </a:solidFill>
                <a:latin typeface="Calibri"/>
              </a:rPr>
              <a:t>The API executes and returns data: ₹1,642 · −3.1% today</a:t>
            </a:r>
          </a:p>
        </p:txBody>
      </p:sp>
      <p:sp>
        <p:nvSpPr>
          <p:cNvPr id="19" name="Down Arrow 18"/>
          <p:cNvSpPr/>
          <p:nvPr/>
        </p:nvSpPr>
        <p:spPr>
          <a:xfrm>
            <a:off x="731520" y="427939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48640" y="473659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4736592"/>
            <a:ext cx="475488" cy="475488"/>
          </a:xfrm>
          <a:prstGeom prst="rect">
            <a:avLst/>
          </a:prstGeom>
          <a:noFill/>
        </p:spPr>
        <p:txBody>
          <a:bodyPr wrap="square" lIns="0" tIns="0" rIns="0" bIns="0" anchor="ctr">
            <a:spAutoFit/>
          </a:bodyPr>
          <a:lstStyle/>
          <a:p>
            <a:pPr algn="ctr"/>
            <a:r>
              <a:rPr sz="1500" b="1" i="0">
                <a:solidFill>
                  <a:srgbClr val="0F2145"/>
                </a:solidFill>
                <a:latin typeface="Calibri"/>
              </a:rPr>
              <a:t>4</a:t>
            </a:r>
          </a:p>
        </p:txBody>
      </p:sp>
      <p:sp>
        <p:nvSpPr>
          <p:cNvPr id="22" name="Rounded Rectangle 21"/>
          <p:cNvSpPr/>
          <p:nvPr/>
        </p:nvSpPr>
        <p:spPr>
          <a:xfrm>
            <a:off x="1234440" y="4572000"/>
            <a:ext cx="10378440" cy="841248"/>
          </a:xfrm>
          <a:prstGeom prst="roundRect">
            <a:avLst>
              <a:gd name="adj" fmla="val 10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08760" y="4654296"/>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answers with real data   </a:t>
            </a:r>
            <a:r>
              <a:rPr sz="1150" b="0" i="0">
                <a:solidFill>
                  <a:srgbClr val="C9D6EE"/>
                </a:solidFill>
                <a:latin typeface="Calibri"/>
              </a:rPr>
              <a:t>“Down 3.1%. Your 18% position breaches the 15% concentration limit — consider trimming.”</a:t>
            </a:r>
          </a:p>
        </p:txBody>
      </p:sp>
      <p:sp>
        <p:nvSpPr>
          <p:cNvPr id="24" name="Rounded Rectangle 23"/>
          <p:cNvSpPr/>
          <p:nvPr/>
        </p:nvSpPr>
        <p:spPr>
          <a:xfrm>
            <a:off x="548640" y="5669280"/>
            <a:ext cx="11094415"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86384" y="5669280"/>
            <a:ext cx="10637215" cy="566928"/>
          </a:xfrm>
          <a:prstGeom prst="rect">
            <a:avLst/>
          </a:prstGeom>
          <a:noFill/>
        </p:spPr>
        <p:txBody>
          <a:bodyPr wrap="square" lIns="0" tIns="0" rIns="0" bIns="0" anchor="ctr">
            <a:spAutoFit/>
          </a:bodyPr>
          <a:lstStyle/>
          <a:p>
            <a:pPr algn="l"/>
            <a:r>
              <a:rPr sz="1150" b="1" i="0">
                <a:solidFill>
                  <a:srgbClr val="8F7113"/>
                </a:solidFill>
                <a:latin typeface="Calibri"/>
              </a:rPr>
              <a:t>The model never touches the market. </a:t>
            </a:r>
            <a:r>
              <a:rPr sz="1150" b="0" i="0">
                <a:solidFill>
                  <a:srgbClr val="1B2A41"/>
                </a:solidFill>
                <a:latin typeface="Calibri"/>
              </a:rPr>
              <a:t>It requests; your code executes under your permissions. This boundary is where all enterprise-AI governance lives.</a:t>
            </a:r>
          </a:p>
        </p:txBody>
      </p:sp>
      <p:sp>
        <p:nvSpPr>
          <p:cNvPr id="26" name="TextBox 2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7" name="TextBox 2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365760"/>
          </a:xfrm>
          <a:prstGeom prst="rect">
            <a:avLst/>
          </a:prstGeom>
          <a:noFill/>
        </p:spPr>
        <p:txBody>
          <a:bodyPr wrap="square" lIns="0" rIns="0" tIns="0" bIns="0" anchor="t">
            <a:spAutoFit/>
          </a:bodyPr>
          <a:lstStyle/>
          <a:p>
            <a:pPr algn="l">
              <a:lnSpc>
                <a:spcPct val="105000"/>
              </a:lnSpc>
              <a:spcBef>
                <a:spcPts val="0"/>
              </a:spcBef>
            </a:pPr>
            <a:r>
              <a:rPr sz="1200" b="1">
                <a:solidFill>
                  <a:srgbClr val="C9A227"/>
                </a:solidFill>
                <a:latin typeface="Calibri"/>
              </a:rPr>
              <a:t>ISBMS · PGDM 2025–27 · SEMESTER III · SESSION 1 OF 10</a:t>
            </a:r>
          </a:p>
        </p:txBody>
      </p:sp>
      <p:sp>
        <p:nvSpPr>
          <p:cNvPr id="6" name="TextBox 5"/>
          <p:cNvSpPr txBox="1"/>
          <p:nvPr/>
        </p:nvSpPr>
        <p:spPr>
          <a:xfrm>
            <a:off x="548640" y="1371600"/>
            <a:ext cx="8595360" cy="2194560"/>
          </a:xfrm>
          <a:prstGeom prst="rect">
            <a:avLst/>
          </a:prstGeom>
          <a:noFill/>
        </p:spPr>
        <p:txBody>
          <a:bodyPr wrap="square" lIns="0" rIns="0" tIns="0" bIns="0" anchor="t">
            <a:spAutoFit/>
          </a:bodyPr>
          <a:lstStyle/>
          <a:p>
            <a:pPr algn="l">
              <a:lnSpc>
                <a:spcPct val="105000"/>
              </a:lnSpc>
              <a:spcBef>
                <a:spcPts val="0"/>
              </a:spcBef>
            </a:pPr>
            <a:r>
              <a:rPr sz="5800" b="1">
                <a:solidFill>
                  <a:srgbClr val="FFFFFF"/>
                </a:solidFill>
                <a:latin typeface="Georgia"/>
              </a:rPr>
              <a:t>Module 1</a:t>
            </a:r>
          </a:p>
          <a:p>
            <a:pPr algn="l">
              <a:lnSpc>
                <a:spcPct val="105000"/>
              </a:lnSpc>
              <a:spcBef>
                <a:spcPts val="1000"/>
              </a:spcBef>
            </a:pPr>
            <a:r>
              <a:rPr sz="2100" b="0">
                <a:solidFill>
                  <a:srgbClr val="C9D6EE"/>
                </a:solidFill>
                <a:latin typeface="Georgia"/>
              </a:rPr>
              <a:t>Foundations of Agentic AI in Financial Services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2801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Calibri"/>
              </a:rPr>
              <a:t>Tejas Jadhav, CFA, FRM</a:t>
            </a:r>
          </a:p>
          <a:p>
            <a:pPr algn="l">
              <a:lnSpc>
                <a:spcPct val="105000"/>
              </a:lnSpc>
              <a:spcBef>
                <a:spcPts val="600"/>
              </a:spcBef>
            </a:pPr>
            <a:r>
              <a:rPr sz="1200" b="0">
                <a:solidFill>
                  <a:srgbClr val="8FA1C4"/>
                </a:solidFill>
                <a:latin typeface="Calibri"/>
              </a:rPr>
              <a:t>Faculty · Agentic AI &amp; Advanced Analytics in Finance (PGDM-SEM3-SPEC-AIFINANCE)</a:t>
            </a:r>
          </a:p>
          <a:p>
            <a:pPr algn="l">
              <a:lnSpc>
                <a:spcPct val="105000"/>
              </a:lnSpc>
              <a:spcBef>
                <a:spcPts val="600"/>
              </a:spcBef>
            </a:pPr>
            <a:r>
              <a:rPr sz="1200" b="1">
                <a:solidFill>
                  <a:srgbClr val="C9A227"/>
                </a:solidFill>
                <a:latin typeface="Calibri"/>
              </a:rPr>
              <a:t>tejasgjadhav.github.io/AIFINANCE</a:t>
            </a:r>
          </a:p>
        </p:txBody>
      </p:sp>
      <p:sp>
        <p:nvSpPr>
          <p:cNvPr id="9" name="TextBox 8"/>
          <p:cNvSpPr txBox="1"/>
          <p:nvPr/>
        </p:nvSpPr>
        <p:spPr>
          <a:xfrm>
            <a:off x="9646920" y="850392"/>
            <a:ext cx="21945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TODAY</a:t>
            </a:r>
          </a:p>
        </p:txBody>
      </p:sp>
      <p:sp>
        <p:nvSpPr>
          <p:cNvPr id="10" name="TextBox 9"/>
          <p:cNvSpPr txBox="1"/>
          <p:nvPr/>
        </p:nvSpPr>
        <p:spPr>
          <a:xfrm>
            <a:off x="9646920" y="123444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3 hours</a:t>
            </a:r>
          </a:p>
          <a:p>
            <a:pPr algn="l">
              <a:lnSpc>
                <a:spcPct val="105000"/>
              </a:lnSpc>
              <a:spcBef>
                <a:spcPts val="500"/>
              </a:spcBef>
            </a:pPr>
            <a:r>
              <a:rPr sz="1050" b="0">
                <a:solidFill>
                  <a:srgbClr val="8FA1C4"/>
                </a:solidFill>
                <a:latin typeface="Calibri"/>
              </a:rPr>
              <a:t>Hour 1 concepts · Hour 2
architecture · Hour 3 lab</a:t>
            </a:r>
          </a:p>
        </p:txBody>
      </p:sp>
      <p:sp>
        <p:nvSpPr>
          <p:cNvPr id="11" name="TextBox 10"/>
          <p:cNvSpPr txBox="1"/>
          <p:nvPr/>
        </p:nvSpPr>
        <p:spPr>
          <a:xfrm>
            <a:off x="9646920" y="278892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No maths</a:t>
            </a:r>
          </a:p>
          <a:p>
            <a:pPr algn="l">
              <a:lnSpc>
                <a:spcPct val="105000"/>
              </a:lnSpc>
              <a:spcBef>
                <a:spcPts val="500"/>
              </a:spcBef>
            </a:pPr>
            <a:r>
              <a:rPr sz="1050" b="0">
                <a:solidFill>
                  <a:srgbClr val="8FA1C4"/>
                </a:solidFill>
                <a:latin typeface="Calibri"/>
              </a:rPr>
              <a:t>Nothing today needs calculus
or a coding background</a:t>
            </a:r>
          </a:p>
        </p:txBody>
      </p:sp>
      <p:sp>
        <p:nvSpPr>
          <p:cNvPr id="12" name="TextBox 11"/>
          <p:cNvSpPr txBox="1"/>
          <p:nvPr/>
        </p:nvSpPr>
        <p:spPr>
          <a:xfrm>
            <a:off x="9646920" y="4343400"/>
            <a:ext cx="2286000" cy="1645920"/>
          </a:xfrm>
          <a:prstGeom prst="rect">
            <a:avLst/>
          </a:prstGeom>
          <a:noFill/>
        </p:spPr>
        <p:txBody>
          <a:bodyPr wrap="square" lIns="0" rIns="0" tIns="0" bIns="0" anchor="t">
            <a:spAutoFit/>
          </a:bodyPr>
          <a:lstStyle/>
          <a:p>
            <a:pPr algn="l">
              <a:lnSpc>
                <a:spcPct val="105000"/>
              </a:lnSpc>
              <a:spcBef>
                <a:spcPts val="0"/>
              </a:spcBef>
            </a:pPr>
            <a:r>
              <a:rPr sz="4400" b="1">
                <a:solidFill>
                  <a:srgbClr val="C9A227"/>
                </a:solidFill>
                <a:latin typeface="Georgia"/>
              </a:rPr>
              <a:t>1</a:t>
            </a:r>
          </a:p>
          <a:p>
            <a:pPr algn="l">
              <a:lnSpc>
                <a:spcPct val="105000"/>
              </a:lnSpc>
              <a:spcBef>
                <a:spcPts val="500"/>
              </a:spcBef>
            </a:pPr>
            <a:r>
              <a:rPr sz="950" b="0">
                <a:solidFill>
                  <a:srgbClr val="8FA1C4"/>
                </a:solidFill>
                <a:latin typeface="Calibri"/>
              </a:rPr>
              <a:t>WORKING EXTRACTION SCRIPT
BUILT BEFORE YOU LEAVE</a:t>
            </a:r>
          </a:p>
        </p:txBody>
      </p:sp>
      <p:sp>
        <p:nvSpPr>
          <p:cNvPr id="13" name="TextBox 1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8FA1C4"/>
                </a:solidFill>
                <a:latin typeface="Calibri"/>
              </a:rPr>
              <a:t>ISBMS · PGDM 2025–27 · AGENTIC AI &amp; ADVANCED ANALYTICS IN FINANCE</a:t>
            </a:r>
          </a:p>
        </p:txBody>
      </p:sp>
      <p:sp>
        <p:nvSpPr>
          <p:cNvPr id="14" name="TextBox 1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8FA1C4"/>
                </a:solidFill>
                <a:latin typeface="Calibri"/>
              </a:rPr>
              <a:t>MODULE 1  ·  01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PLAN</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we do in these three hours</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C9A227"/>
                </a:solidFill>
                <a:latin typeface="Calibri"/>
              </a:rPr>
              <a:t>HOUR 1 · 60 MIN</a:t>
            </a:r>
          </a:p>
          <a:p>
            <a:pPr algn="l">
              <a:lnSpc>
                <a:spcPct val="105000"/>
              </a:lnSpc>
              <a:spcBef>
                <a:spcPts val="300"/>
              </a:spcBef>
            </a:pPr>
            <a:r>
              <a:rPr sz="1500" b="1">
                <a:solidFill>
                  <a:srgbClr val="FFFFFF"/>
                </a:solidFill>
                <a:latin typeface="Georgia"/>
              </a:rPr>
              <a:t>The machine</a:t>
            </a:r>
          </a:p>
        </p:txBody>
      </p:sp>
      <p:sp>
        <p:nvSpPr>
          <p:cNvPr id="8" name="TextBox 7"/>
          <p:cNvSpPr txBox="1"/>
          <p:nvPr/>
        </p:nvSpPr>
        <p:spPr>
          <a:xfrm>
            <a:off x="768096"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AI, machine learning, deep learning, GenAI</a:t>
            </a:r>
          </a:p>
        </p:txBody>
      </p:sp>
      <p:sp>
        <p:nvSpPr>
          <p:cNvPr id="9" name="TextBox 8"/>
          <p:cNvSpPr txBox="1"/>
          <p:nvPr/>
        </p:nvSpPr>
        <p:spPr>
          <a:xfrm>
            <a:off x="768096"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How an LLM works — tokens and attention</a:t>
            </a:r>
          </a:p>
        </p:txBody>
      </p:sp>
      <p:sp>
        <p:nvSpPr>
          <p:cNvPr id="10" name="TextBox 9"/>
          <p:cNvSpPr txBox="1"/>
          <p:nvPr/>
        </p:nvSpPr>
        <p:spPr>
          <a:xfrm>
            <a:off x="768096"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Four eras of AI in finance</a:t>
            </a:r>
          </a:p>
        </p:txBody>
      </p:sp>
      <p:sp>
        <p:nvSpPr>
          <p:cNvPr id="11" name="TextBox 10"/>
          <p:cNvSpPr txBox="1"/>
          <p:nvPr/>
        </p:nvSpPr>
        <p:spPr>
          <a:xfrm>
            <a:off x="768096"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Which model to use, and when</a:t>
            </a:r>
          </a:p>
        </p:txBody>
      </p:sp>
      <p:sp>
        <p:nvSpPr>
          <p:cNvPr id="12" name="TextBox 11"/>
          <p:cNvSpPr txBox="1"/>
          <p:nvPr/>
        </p:nvSpPr>
        <p:spPr>
          <a:xfrm>
            <a:off x="768096"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vocabulary you will hear all semester</a:t>
            </a:r>
          </a:p>
        </p:txBody>
      </p:sp>
      <p:sp>
        <p:nvSpPr>
          <p:cNvPr id="13" name="Rectangle 12"/>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731520"/>
          </a:xfrm>
          <a:prstGeom prst="rect">
            <a:avLst/>
          </a:prstGeom>
          <a:solidFill>
            <a:srgbClr val="8F71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2 · 60 MIN</a:t>
            </a:r>
          </a:p>
          <a:p>
            <a:pPr algn="l">
              <a:lnSpc>
                <a:spcPct val="105000"/>
              </a:lnSpc>
              <a:spcBef>
                <a:spcPts val="300"/>
              </a:spcBef>
            </a:pPr>
            <a:r>
              <a:rPr sz="1500" b="1">
                <a:solidFill>
                  <a:srgbClr val="FFFFFF"/>
                </a:solidFill>
                <a:latin typeface="Georgia"/>
              </a:rPr>
              <a:t>The architecture</a:t>
            </a:r>
          </a:p>
        </p:txBody>
      </p:sp>
      <p:sp>
        <p:nvSpPr>
          <p:cNvPr id="16" name="TextBox 15"/>
          <p:cNvSpPr txBox="1"/>
          <p:nvPr/>
        </p:nvSpPr>
        <p:spPr>
          <a:xfrm>
            <a:off x="4535424"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Chatbot vs agent — answering vs doing</a:t>
            </a:r>
          </a:p>
        </p:txBody>
      </p:sp>
      <p:sp>
        <p:nvSpPr>
          <p:cNvPr id="17" name="TextBox 16"/>
          <p:cNvSpPr txBox="1"/>
          <p:nvPr/>
        </p:nvSpPr>
        <p:spPr>
          <a:xfrm>
            <a:off x="4535424"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loop: Observe → Plan → Act → Reflect</a:t>
            </a:r>
          </a:p>
        </p:txBody>
      </p:sp>
      <p:sp>
        <p:nvSpPr>
          <p:cNvPr id="18" name="TextBox 17"/>
          <p:cNvSpPr txBox="1"/>
          <p:nvPr/>
        </p:nvSpPr>
        <p:spPr>
          <a:xfrm>
            <a:off x="4535424"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Tool definitions and function calling</a:t>
            </a:r>
          </a:p>
        </p:txBody>
      </p:sp>
      <p:sp>
        <p:nvSpPr>
          <p:cNvPr id="19" name="TextBox 18"/>
          <p:cNvSpPr txBox="1"/>
          <p:nvPr/>
        </p:nvSpPr>
        <p:spPr>
          <a:xfrm>
            <a:off x="4535424"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Agent memory: short-term, episodic, semantic</a:t>
            </a:r>
          </a:p>
        </p:txBody>
      </p:sp>
      <p:sp>
        <p:nvSpPr>
          <p:cNvPr id="20" name="TextBox 19"/>
          <p:cNvSpPr txBox="1"/>
          <p:nvPr/>
        </p:nvSpPr>
        <p:spPr>
          <a:xfrm>
            <a:off x="4535424"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Data sources: NSE, BSE, Yahoo Finance, RBI DBIE</a:t>
            </a:r>
          </a:p>
        </p:txBody>
      </p:sp>
      <p:sp>
        <p:nvSpPr>
          <p:cNvPr id="21" name="Rectangle 20"/>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7315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02752"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3 · 60 MIN</a:t>
            </a:r>
          </a:p>
          <a:p>
            <a:pPr algn="l">
              <a:lnSpc>
                <a:spcPct val="105000"/>
              </a:lnSpc>
              <a:spcBef>
                <a:spcPts val="300"/>
              </a:spcBef>
            </a:pPr>
            <a:r>
              <a:rPr sz="1500" b="1">
                <a:solidFill>
                  <a:srgbClr val="FFFFFF"/>
                </a:solidFill>
                <a:latin typeface="Georgia"/>
              </a:rPr>
              <a:t>The lab</a:t>
            </a:r>
          </a:p>
        </p:txBody>
      </p:sp>
      <p:sp>
        <p:nvSpPr>
          <p:cNvPr id="24" name="TextBox 23"/>
          <p:cNvSpPr txBox="1"/>
          <p:nvPr/>
        </p:nvSpPr>
        <p:spPr>
          <a:xfrm>
            <a:off x="8302752"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Python + the Codex</a:t>
            </a:r>
          </a:p>
        </p:txBody>
      </p:sp>
      <p:sp>
        <p:nvSpPr>
          <p:cNvPr id="25" name="TextBox 24"/>
          <p:cNvSpPr txBox="1"/>
          <p:nvPr/>
        </p:nvSpPr>
        <p:spPr>
          <a:xfrm>
            <a:off x="8302752"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Share price, revenue and the P&amp;L from Python</a:t>
            </a:r>
          </a:p>
        </p:txBody>
      </p:sp>
      <p:sp>
        <p:nvSpPr>
          <p:cNvPr id="26" name="TextBox 25"/>
          <p:cNvSpPr txBox="1"/>
          <p:nvPr/>
        </p:nvSpPr>
        <p:spPr>
          <a:xfrm>
            <a:off x="8302752"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Extract a P&amp;L from raw annual report text via Finance</a:t>
            </a:r>
          </a:p>
        </p:txBody>
      </p:sp>
      <p:sp>
        <p:nvSpPr>
          <p:cNvPr id="27" name="TextBox 26"/>
          <p:cNvSpPr txBox="1"/>
          <p:nvPr/>
        </p:nvSpPr>
        <p:spPr>
          <a:xfrm>
            <a:off x="8302752"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Codex as a Harness</a:t>
            </a:r>
          </a:p>
        </p:txBody>
      </p:sp>
      <p:sp>
        <p:nvSpPr>
          <p:cNvPr id="28" name="TextBox 27"/>
          <p:cNvSpPr txBox="1"/>
          <p:nvPr/>
        </p:nvSpPr>
        <p:spPr>
          <a:xfrm>
            <a:off x="8302752"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One working application, built in minutes</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Our goal for today:  </a:t>
            </a:r>
            <a:r>
              <a:rPr sz="1250" b="0">
                <a:solidFill>
                  <a:srgbClr val="FFFFFF"/>
                </a:solidFill>
                <a:latin typeface="Calibri"/>
              </a:rPr>
              <a:t>a prompt and a Python script that read a filing and return numbers you can check. You build it in Hour 3.</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CONTEXT</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eras of AI in finance. Banks run all four today.</a:t>
            </a:r>
          </a:p>
        </p:txBody>
      </p:sp>
      <p:sp>
        <p:nvSpPr>
          <p:cNvPr id="5" name="Rectangle 4"/>
          <p:cNvSpPr/>
          <p:nvPr/>
        </p:nvSpPr>
        <p:spPr>
          <a:xfrm>
            <a:off x="548640" y="1572768"/>
            <a:ext cx="2670048" cy="32004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1980s – 2000s</a:t>
            </a:r>
          </a:p>
        </p:txBody>
      </p:sp>
      <p:sp>
        <p:nvSpPr>
          <p:cNvPr id="7" name="TextBox 6"/>
          <p:cNvSpPr txBox="1"/>
          <p:nvPr/>
        </p:nvSpPr>
        <p:spPr>
          <a:xfrm>
            <a:off x="768096"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RULE-BASED</a:t>
            </a:r>
          </a:p>
        </p:txBody>
      </p:sp>
      <p:sp>
        <p:nvSpPr>
          <p:cNvPr id="8" name="TextBox 7"/>
          <p:cNvSpPr txBox="1"/>
          <p:nvPr/>
        </p:nvSpPr>
        <p:spPr>
          <a:xfrm>
            <a:off x="768096"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human writes the rules. IF EMI-to-income &gt; 50%, THEN reject.</a:t>
            </a:r>
          </a:p>
        </p:txBody>
      </p:sp>
      <p:sp>
        <p:nvSpPr>
          <p:cNvPr id="9" name="TextBox 8"/>
          <p:cNvSpPr txBox="1"/>
          <p:nvPr/>
        </p:nvSpPr>
        <p:spPr>
          <a:xfrm>
            <a:off x="768096"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Credit policy engines, limit checks, settlement matching.</a:t>
            </a:r>
          </a:p>
        </p:txBody>
      </p:sp>
      <p:sp>
        <p:nvSpPr>
          <p:cNvPr id="10" name="TextBox 9"/>
          <p:cNvSpPr txBox="1"/>
          <p:nvPr/>
        </p:nvSpPr>
        <p:spPr>
          <a:xfrm>
            <a:off x="3236976"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32004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2000s – 2015</a:t>
            </a:r>
          </a:p>
        </p:txBody>
      </p:sp>
      <p:sp>
        <p:nvSpPr>
          <p:cNvPr id="13" name="TextBox 12"/>
          <p:cNvSpPr txBox="1"/>
          <p:nvPr/>
        </p:nvSpPr>
        <p:spPr>
          <a:xfrm>
            <a:off x="3593591"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MACHINE LEARNING</a:t>
            </a:r>
          </a:p>
        </p:txBody>
      </p:sp>
      <p:sp>
        <p:nvSpPr>
          <p:cNvPr id="14" name="TextBox 13"/>
          <p:cNvSpPr txBox="1"/>
          <p:nvPr/>
        </p:nvSpPr>
        <p:spPr>
          <a:xfrm>
            <a:off x="3593591"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Show it a lakh past loans; it learns which patterns predict default.</a:t>
            </a:r>
          </a:p>
        </p:txBody>
      </p:sp>
      <p:sp>
        <p:nvSpPr>
          <p:cNvPr id="15" name="TextBox 14"/>
          <p:cNvSpPr txBox="1"/>
          <p:nvPr/>
        </p:nvSpPr>
        <p:spPr>
          <a:xfrm>
            <a:off x="3593591"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PD scorecards, fraud scoring, churn models.</a:t>
            </a:r>
          </a:p>
        </p:txBody>
      </p:sp>
      <p:sp>
        <p:nvSpPr>
          <p:cNvPr id="16" name="TextBox 15"/>
          <p:cNvSpPr txBox="1"/>
          <p:nvPr/>
        </p:nvSpPr>
        <p:spPr>
          <a:xfrm>
            <a:off x="6062472"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32004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2015 – 2022</a:t>
            </a:r>
          </a:p>
        </p:txBody>
      </p:sp>
      <p:sp>
        <p:nvSpPr>
          <p:cNvPr id="19" name="TextBox 18"/>
          <p:cNvSpPr txBox="1"/>
          <p:nvPr/>
        </p:nvSpPr>
        <p:spPr>
          <a:xfrm>
            <a:off x="6419088"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DEEP LEARNING</a:t>
            </a:r>
          </a:p>
        </p:txBody>
      </p:sp>
      <p:sp>
        <p:nvSpPr>
          <p:cNvPr id="20" name="TextBox 19"/>
          <p:cNvSpPr txBox="1"/>
          <p:nvPr/>
        </p:nvSpPr>
        <p:spPr>
          <a:xfrm>
            <a:off x="6419088"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Neural networks read raw text and images without hand-made features.</a:t>
            </a:r>
          </a:p>
        </p:txBody>
      </p:sp>
      <p:sp>
        <p:nvSpPr>
          <p:cNvPr id="21" name="TextBox 20"/>
          <p:cNvSpPr txBox="1"/>
          <p:nvPr/>
        </p:nvSpPr>
        <p:spPr>
          <a:xfrm>
            <a:off x="6419088"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Cheque OCR, KYC document reading, transaction fraud nets.</a:t>
            </a:r>
          </a:p>
        </p:txBody>
      </p:sp>
      <p:sp>
        <p:nvSpPr>
          <p:cNvPr id="22" name="TextBox 21"/>
          <p:cNvSpPr txBox="1"/>
          <p:nvPr/>
        </p:nvSpPr>
        <p:spPr>
          <a:xfrm>
            <a:off x="8887967"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32004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2022 – now</a:t>
            </a:r>
          </a:p>
        </p:txBody>
      </p:sp>
      <p:sp>
        <p:nvSpPr>
          <p:cNvPr id="25" name="TextBox 24"/>
          <p:cNvSpPr txBox="1"/>
          <p:nvPr/>
        </p:nvSpPr>
        <p:spPr>
          <a:xfrm>
            <a:off x="9244584"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FFFFFF"/>
                </a:solidFill>
                <a:latin typeface="Georgia"/>
              </a:rPr>
              <a:t>GENERATIVE &amp; AGENTIC</a:t>
            </a:r>
          </a:p>
        </p:txBody>
      </p:sp>
      <p:sp>
        <p:nvSpPr>
          <p:cNvPr id="26" name="TextBox 25"/>
          <p:cNvSpPr txBox="1"/>
          <p:nvPr/>
        </p:nvSpPr>
        <p:spPr>
          <a:xfrm>
            <a:off x="9244584"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It writes — and then it acts, calling tools to finish the task.</a:t>
            </a:r>
          </a:p>
        </p:txBody>
      </p:sp>
      <p:sp>
        <p:nvSpPr>
          <p:cNvPr id="27" name="TextBox 26"/>
          <p:cNvSpPr txBox="1"/>
          <p:nvPr/>
        </p:nvSpPr>
        <p:spPr>
          <a:xfrm>
            <a:off x="9244584"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ON THE DESK</a:t>
            </a:r>
          </a:p>
          <a:p>
            <a:pPr algn="l">
              <a:lnSpc>
                <a:spcPct val="105000"/>
              </a:lnSpc>
              <a:spcBef>
                <a:spcPts val="400"/>
              </a:spcBef>
            </a:pPr>
            <a:r>
              <a:rPr sz="1000" b="0">
                <a:solidFill>
                  <a:srgbClr val="C9D6EE"/>
                </a:solidFill>
                <a:latin typeface="Calibri"/>
              </a:rPr>
              <a:t>Filing extraction, research drafting, agents that reconcile.</a:t>
            </a:r>
          </a:p>
        </p:txBody>
      </p:sp>
      <p:sp>
        <p:nvSpPr>
          <p:cNvPr id="28" name="Rectangle 27"/>
          <p:cNvSpPr/>
          <p:nvPr/>
        </p:nvSpPr>
        <p:spPr>
          <a:xfrm>
            <a:off x="548640" y="4956048"/>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956048"/>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02352"/>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What to take from this</a:t>
            </a:r>
          </a:p>
          <a:p>
            <a:pPr algn="l">
              <a:lnSpc>
                <a:spcPct val="105000"/>
              </a:lnSpc>
              <a:spcBef>
                <a:spcPts val="500"/>
              </a:spcBef>
            </a:pPr>
            <a:r>
              <a:rPr sz="1100" b="0">
                <a:solidFill>
                  <a:srgbClr val="1B2A41"/>
                </a:solidFill>
                <a:latin typeface="Calibri"/>
              </a:rPr>
              <a:t>No era replaced the one before it. A bank today runs a hard-coded limit rule from era one, a scorecard from era two, an OCR model from era three, and a pilot agent from era four. All four can touch the same customer on the same day. Your job is to know which tool fits which task.</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the model reads: tokens, attention, cost</a:t>
            </a:r>
          </a:p>
        </p:txBody>
      </p:sp>
      <p:sp>
        <p:nvSpPr>
          <p:cNvPr id="5" name="Rectangle 4"/>
          <p:cNvSpPr/>
          <p:nvPr/>
        </p:nvSpPr>
        <p:spPr>
          <a:xfrm>
            <a:off x="548640" y="1572768"/>
            <a:ext cx="5577840" cy="1024128"/>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00784"/>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1 · TOKENS</a:t>
            </a:r>
          </a:p>
          <a:p>
            <a:pPr algn="l">
              <a:lnSpc>
                <a:spcPct val="105000"/>
              </a:lnSpc>
              <a:spcBef>
                <a:spcPts val="400"/>
              </a:spcBef>
            </a:pPr>
            <a:r>
              <a:rPr sz="1050" b="0">
                <a:solidFill>
                  <a:srgbClr val="1B2A41"/>
                </a:solidFill>
                <a:latin typeface="Calibri"/>
              </a:rPr>
              <a:t>The model does not read words. It reads pieces of words called tokens. Each token becomes a list of numbers. "Revenue" is one token. "₹1,48,320" becomes several.</a:t>
            </a:r>
          </a:p>
        </p:txBody>
      </p:sp>
      <p:sp>
        <p:nvSpPr>
          <p:cNvPr id="7" name="Rectangle 6"/>
          <p:cNvSpPr/>
          <p:nvPr/>
        </p:nvSpPr>
        <p:spPr>
          <a:xfrm>
            <a:off x="548640" y="2706624"/>
            <a:ext cx="5577840" cy="1024128"/>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2834640"/>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2 · ATTENTION</a:t>
            </a:r>
          </a:p>
          <a:p>
            <a:pPr algn="l">
              <a:lnSpc>
                <a:spcPct val="105000"/>
              </a:lnSpc>
              <a:spcBef>
                <a:spcPts val="400"/>
              </a:spcBef>
            </a:pPr>
            <a:r>
              <a:rPr sz="1050" b="0">
                <a:solidFill>
                  <a:srgbClr val="1B2A41"/>
                </a:solidFill>
                <a:latin typeface="Calibri"/>
              </a:rPr>
              <a:t>For every token the model decides which earlier tokens matter. In "the fund cut its fee", attention links "its" to "the fund" and not to "fee".</a:t>
            </a:r>
          </a:p>
        </p:txBody>
      </p:sp>
      <p:sp>
        <p:nvSpPr>
          <p:cNvPr id="9" name="Rectangle 8"/>
          <p:cNvSpPr/>
          <p:nvPr/>
        </p:nvSpPr>
        <p:spPr>
          <a:xfrm>
            <a:off x="548640" y="3840480"/>
            <a:ext cx="5577840" cy="1024128"/>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3968496"/>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3 · TRANSFORMER</a:t>
            </a:r>
          </a:p>
          <a:p>
            <a:pPr algn="l">
              <a:lnSpc>
                <a:spcPct val="105000"/>
              </a:lnSpc>
              <a:spcBef>
                <a:spcPts val="400"/>
              </a:spcBef>
            </a:pPr>
            <a:r>
              <a:rPr sz="1050" b="0">
                <a:solidFill>
                  <a:srgbClr val="1B2A41"/>
                </a:solidFill>
                <a:latin typeface="Calibri"/>
              </a:rPr>
              <a:t>The transformer runs attention across the whole passage at once, layer after layer. That is how a model holds a 200-page filing in view.</a:t>
            </a:r>
          </a:p>
        </p:txBody>
      </p:sp>
      <p:sp>
        <p:nvSpPr>
          <p:cNvPr id="11" name="Rectangle 10"/>
          <p:cNvSpPr/>
          <p:nvPr/>
        </p:nvSpPr>
        <p:spPr>
          <a:xfrm>
            <a:off x="548640"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4</a:t>
            </a:r>
          </a:p>
          <a:p>
            <a:pPr algn="l">
              <a:lnSpc>
                <a:spcPct val="105000"/>
              </a:lnSpc>
              <a:spcBef>
                <a:spcPts val="400"/>
              </a:spcBef>
            </a:pPr>
            <a:r>
              <a:rPr sz="900" b="0">
                <a:solidFill>
                  <a:srgbClr val="C9D6EE"/>
                </a:solidFill>
                <a:latin typeface="Calibri"/>
              </a:rPr>
              <a:t>characters per token</a:t>
            </a:r>
          </a:p>
        </p:txBody>
      </p:sp>
      <p:sp>
        <p:nvSpPr>
          <p:cNvPr id="13" name="Rectangle 12"/>
          <p:cNvSpPr/>
          <p:nvPr/>
        </p:nvSpPr>
        <p:spPr>
          <a:xfrm>
            <a:off x="2432304"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96896"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1,300</a:t>
            </a:r>
          </a:p>
          <a:p>
            <a:pPr algn="l">
              <a:lnSpc>
                <a:spcPct val="105000"/>
              </a:lnSpc>
              <a:spcBef>
                <a:spcPts val="400"/>
              </a:spcBef>
            </a:pPr>
            <a:r>
              <a:rPr sz="900" b="0">
                <a:solidFill>
                  <a:srgbClr val="C9D6EE"/>
                </a:solidFill>
                <a:latin typeface="Calibri"/>
              </a:rPr>
              <a:t>tokens per 1,000 words</a:t>
            </a:r>
          </a:p>
        </p:txBody>
      </p:sp>
      <p:sp>
        <p:nvSpPr>
          <p:cNvPr id="15" name="Rectangle 14"/>
          <p:cNvSpPr/>
          <p:nvPr/>
        </p:nvSpPr>
        <p:spPr>
          <a:xfrm>
            <a:off x="4315968"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 lakh</a:t>
            </a:r>
          </a:p>
          <a:p>
            <a:pPr algn="l">
              <a:lnSpc>
                <a:spcPct val="105000"/>
              </a:lnSpc>
              <a:spcBef>
                <a:spcPts val="400"/>
              </a:spcBef>
            </a:pPr>
            <a:r>
              <a:rPr sz="900" b="0">
                <a:solidFill>
                  <a:srgbClr val="C9D6EE"/>
                </a:solidFill>
                <a:latin typeface="Calibri"/>
              </a:rPr>
              <a:t>tokens in a 200-page report</a:t>
            </a:r>
          </a:p>
        </p:txBody>
      </p:sp>
      <p:sp>
        <p:nvSpPr>
          <p:cNvPr id="17" name="Rectangle 16"/>
          <p:cNvSpPr/>
          <p:nvPr/>
        </p:nvSpPr>
        <p:spPr>
          <a:xfrm>
            <a:off x="6492240" y="1572768"/>
            <a:ext cx="5148072" cy="4416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92240" y="1572768"/>
            <a:ext cx="64008" cy="44165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1755648"/>
            <a:ext cx="4663440" cy="365760"/>
          </a:xfrm>
          <a:prstGeom prst="rect">
            <a:avLst/>
          </a:prstGeom>
          <a:noFill/>
        </p:spPr>
        <p:txBody>
          <a:bodyPr wrap="square" lIns="0" rIns="0" tIns="0" bIns="0" anchor="t">
            <a:spAutoFit/>
          </a:bodyPr>
          <a:lstStyle/>
          <a:p>
            <a:pPr algn="l">
              <a:lnSpc>
                <a:spcPct val="105000"/>
              </a:lnSpc>
              <a:spcBef>
                <a:spcPts val="0"/>
              </a:spcBef>
            </a:pPr>
            <a:r>
              <a:rPr sz="1500" b="1">
                <a:solidFill>
                  <a:srgbClr val="0F2145"/>
                </a:solidFill>
                <a:latin typeface="Georgia"/>
              </a:rPr>
              <a:t>What this means for your work</a:t>
            </a:r>
          </a:p>
        </p:txBody>
      </p:sp>
      <p:sp>
        <p:nvSpPr>
          <p:cNvPr id="20" name="TextBox 19"/>
          <p:cNvSpPr txBox="1"/>
          <p:nvPr/>
        </p:nvSpPr>
        <p:spPr>
          <a:xfrm>
            <a:off x="6766560" y="2286000"/>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The model predicts. It does not look anything up.</a:t>
            </a:r>
          </a:p>
          <a:p>
            <a:pPr algn="l">
              <a:lnSpc>
                <a:spcPct val="105000"/>
              </a:lnSpc>
              <a:spcBef>
                <a:spcPts val="400"/>
              </a:spcBef>
            </a:pPr>
            <a:r>
              <a:rPr sz="1050" b="0">
                <a:solidFill>
                  <a:srgbClr val="5D6B7E"/>
                </a:solidFill>
                <a:latin typeface="Calibri"/>
              </a:rPr>
              <a:t>There is no database inside the model. It generates the next token that fits the pattern it learned. That is why a wrong answer can still read well.</a:t>
            </a:r>
          </a:p>
        </p:txBody>
      </p:sp>
      <p:sp>
        <p:nvSpPr>
          <p:cNvPr id="21" name="TextBox 20"/>
          <p:cNvSpPr txBox="1"/>
          <p:nvPr/>
        </p:nvSpPr>
        <p:spPr>
          <a:xfrm>
            <a:off x="6766560" y="3218688"/>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Wording changes the answer.</a:t>
            </a:r>
          </a:p>
          <a:p>
            <a:pPr algn="l">
              <a:lnSpc>
                <a:spcPct val="105000"/>
              </a:lnSpc>
              <a:spcBef>
                <a:spcPts val="400"/>
              </a:spcBef>
            </a:pPr>
            <a:r>
              <a:rPr sz="1050" b="0">
                <a:solidFill>
                  <a:srgbClr val="5D6B7E"/>
                </a:solidFill>
                <a:latin typeface="Calibri"/>
              </a:rPr>
              <a:t>Ask the same question two ways and you get two answers. Prompt design is part of the work, not a formality.</a:t>
            </a:r>
          </a:p>
        </p:txBody>
      </p:sp>
      <p:sp>
        <p:nvSpPr>
          <p:cNvPr id="22" name="TextBox 21"/>
          <p:cNvSpPr txBox="1"/>
          <p:nvPr/>
        </p:nvSpPr>
        <p:spPr>
          <a:xfrm>
            <a:off x="6766560" y="4151376"/>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Long documents cost real money.</a:t>
            </a:r>
          </a:p>
          <a:p>
            <a:pPr algn="l">
              <a:lnSpc>
                <a:spcPct val="105000"/>
              </a:lnSpc>
              <a:spcBef>
                <a:spcPts val="400"/>
              </a:spcBef>
            </a:pPr>
            <a:r>
              <a:rPr sz="1050" b="0">
                <a:solidFill>
                  <a:srgbClr val="5D6B7E"/>
                </a:solidFill>
                <a:latin typeface="Calibri"/>
              </a:rPr>
              <a:t>You are billed for tokens in and tokens out. A 200-page annual report is about one lakh tokens before the model writes a word.</a:t>
            </a:r>
          </a:p>
        </p:txBody>
      </p:sp>
      <p:sp>
        <p:nvSpPr>
          <p:cNvPr id="23" name="TextBox 22"/>
          <p:cNvSpPr txBox="1"/>
          <p:nvPr/>
        </p:nvSpPr>
        <p:spPr>
          <a:xfrm>
            <a:off x="6766560" y="5084064"/>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Numbers are where it fails.</a:t>
            </a:r>
          </a:p>
          <a:p>
            <a:pPr algn="l">
              <a:lnSpc>
                <a:spcPct val="105000"/>
              </a:lnSpc>
              <a:spcBef>
                <a:spcPts val="400"/>
              </a:spcBef>
            </a:pPr>
            <a:r>
              <a:rPr sz="1050" b="0">
                <a:solidFill>
                  <a:srgbClr val="5D6B7E"/>
                </a:solidFill>
                <a:latin typeface="Calibri"/>
              </a:rPr>
              <a:t>Digits split into pieces the model has seen less often. A figure like ₹1,48,320 crore can come back with a digit missing. Ask for fields you can check.</a:t>
            </a:r>
          </a:p>
        </p:txBody>
      </p:sp>
      <p:sp>
        <p:nvSpPr>
          <p:cNvPr id="24" name="TextBox 23"/>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5" name="TextBox 24"/>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The agent loop: Observe, Plan, Act, Reflect</a:t>
            </a:r>
          </a:p>
        </p:txBody>
      </p:sp>
      <p:sp>
        <p:nvSpPr>
          <p:cNvPr id="5" name="Rectangle 4"/>
          <p:cNvSpPr/>
          <p:nvPr/>
        </p:nvSpPr>
        <p:spPr>
          <a:xfrm>
            <a:off x="548640"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1 · OBSERVE</a:t>
            </a:r>
          </a:p>
        </p:txBody>
      </p:sp>
      <p:sp>
        <p:nvSpPr>
          <p:cNvPr id="8" name="TextBox 7"/>
          <p:cNvSpPr txBox="1"/>
          <p:nvPr/>
        </p:nvSpPr>
        <p:spPr>
          <a:xfrm>
            <a:off x="768096"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reads the state of the world.</a:t>
            </a:r>
          </a:p>
        </p:txBody>
      </p:sp>
      <p:sp>
        <p:nvSpPr>
          <p:cNvPr id="9" name="TextBox 8"/>
          <p:cNvSpPr txBox="1"/>
          <p:nvPr/>
        </p:nvSpPr>
        <p:spPr>
          <a:xfrm>
            <a:off x="768096"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Opens today's NAV file. Fund NAV ₹104.82, custodian says ₹104.40 — a 0.4% break.</a:t>
            </a:r>
          </a:p>
        </p:txBody>
      </p:sp>
      <p:sp>
        <p:nvSpPr>
          <p:cNvPr id="10" name="TextBox 9"/>
          <p:cNvSpPr txBox="1"/>
          <p:nvPr/>
        </p:nvSpPr>
        <p:spPr>
          <a:xfrm>
            <a:off x="3236976"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4136"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2 · PLAN</a:t>
            </a:r>
          </a:p>
        </p:txBody>
      </p:sp>
      <p:sp>
        <p:nvSpPr>
          <p:cNvPr id="14" name="TextBox 13"/>
          <p:cNvSpPr txBox="1"/>
          <p:nvPr/>
        </p:nvSpPr>
        <p:spPr>
          <a:xfrm>
            <a:off x="3593591"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writes its own to-do list first.</a:t>
            </a:r>
          </a:p>
        </p:txBody>
      </p:sp>
      <p:sp>
        <p:nvSpPr>
          <p:cNvPr id="15" name="TextBox 14"/>
          <p:cNvSpPr txBox="1"/>
          <p:nvPr/>
        </p:nvSpPr>
        <p:spPr>
          <a:xfrm>
            <a:off x="3593591"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1. Pull today's trades. 2. Check corporate actions. 3. Check the FX rate. 4. Compare line by line.</a:t>
            </a:r>
          </a:p>
        </p:txBody>
      </p:sp>
      <p:sp>
        <p:nvSpPr>
          <p:cNvPr id="16" name="TextBox 15"/>
          <p:cNvSpPr txBox="1"/>
          <p:nvPr/>
        </p:nvSpPr>
        <p:spPr>
          <a:xfrm>
            <a:off x="6062472"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1"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3 · ACT</a:t>
            </a:r>
          </a:p>
        </p:txBody>
      </p:sp>
      <p:sp>
        <p:nvSpPr>
          <p:cNvPr id="20" name="TextBox 19"/>
          <p:cNvSpPr txBox="1"/>
          <p:nvPr/>
        </p:nvSpPr>
        <p:spPr>
          <a:xfrm>
            <a:off x="6419088"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calls a tool — only the ones you gave it.</a:t>
            </a:r>
          </a:p>
        </p:txBody>
      </p:sp>
      <p:sp>
        <p:nvSpPr>
          <p:cNvPr id="21" name="TextBox 20"/>
          <p:cNvSpPr txBox="1"/>
          <p:nvPr/>
        </p:nvSpPr>
        <p:spPr>
          <a:xfrm>
            <a:off x="6419088"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Runs the SQL query, calls the price API, finds an unprocessed 1:1 bonus on one holding.</a:t>
            </a:r>
          </a:p>
        </p:txBody>
      </p:sp>
      <p:sp>
        <p:nvSpPr>
          <p:cNvPr id="22" name="TextBox 21"/>
          <p:cNvSpPr txBox="1"/>
          <p:nvPr/>
        </p:nvSpPr>
        <p:spPr>
          <a:xfrm>
            <a:off x="8887967"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25128"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4584"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4 · REFLECT</a:t>
            </a:r>
          </a:p>
        </p:txBody>
      </p:sp>
      <p:sp>
        <p:nvSpPr>
          <p:cNvPr id="26" name="TextBox 25"/>
          <p:cNvSpPr txBox="1"/>
          <p:nvPr/>
        </p:nvSpPr>
        <p:spPr>
          <a:xfrm>
            <a:off x="9244584"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checks its own work against the goal.</a:t>
            </a:r>
          </a:p>
        </p:txBody>
      </p:sp>
      <p:sp>
        <p:nvSpPr>
          <p:cNvPr id="27" name="TextBox 26"/>
          <p:cNvSpPr txBox="1"/>
          <p:nvPr/>
        </p:nvSpPr>
        <p:spPr>
          <a:xfrm>
            <a:off x="9244584"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Does the bonus explain the full 0.4%? Yes. Drafts the break note for a human to sign.</a:t>
            </a:r>
          </a:p>
        </p:txBody>
      </p:sp>
      <p:sp>
        <p:nvSpPr>
          <p:cNvPr id="28" name="TextBox 27"/>
          <p:cNvSpPr txBox="1"/>
          <p:nvPr/>
        </p:nvSpPr>
        <p:spPr>
          <a:xfrm>
            <a:off x="548640" y="4224528"/>
            <a:ext cx="11091672" cy="274320"/>
          </a:xfrm>
          <a:prstGeom prst="rect">
            <a:avLst/>
          </a:prstGeom>
          <a:noFill/>
        </p:spPr>
        <p:txBody>
          <a:bodyPr wrap="square" lIns="0" rIns="0" tIns="0" bIns="0" anchor="t">
            <a:spAutoFit/>
          </a:bodyPr>
          <a:lstStyle/>
          <a:p>
            <a:pPr algn="l">
              <a:lnSpc>
                <a:spcPct val="105000"/>
              </a:lnSpc>
              <a:spcBef>
                <a:spcPts val="0"/>
              </a:spcBef>
            </a:pPr>
            <a:r>
              <a:rPr sz="1200" b="1">
                <a:solidFill>
                  <a:srgbClr val="0F2145"/>
                </a:solidFill>
                <a:latin typeface="Calibri"/>
              </a:rPr>
              <a:t>The loop restarts at OBSERVE until the goal is met, or until a limit you set stops it.</a:t>
            </a:r>
          </a:p>
        </p:txBody>
      </p:sp>
      <p:sp>
        <p:nvSpPr>
          <p:cNvPr id="29" name="Rectangle 28"/>
          <p:cNvSpPr/>
          <p:nvPr/>
        </p:nvSpPr>
        <p:spPr>
          <a:xfrm>
            <a:off x="548640"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Step budget</a:t>
            </a:r>
          </a:p>
          <a:p>
            <a:pPr algn="l">
              <a:lnSpc>
                <a:spcPct val="105000"/>
              </a:lnSpc>
              <a:spcBef>
                <a:spcPts val="400"/>
              </a:spcBef>
            </a:pPr>
            <a:r>
              <a:rPr sz="1000" b="0">
                <a:solidFill>
                  <a:srgbClr val="1B2A41"/>
                </a:solidFill>
                <a:latin typeface="Calibri"/>
              </a:rPr>
              <a:t>Stop after a fixed number of loops. Without this, an agent that cannot solve the task keeps trying.</a:t>
            </a:r>
          </a:p>
        </p:txBody>
      </p:sp>
      <p:sp>
        <p:nvSpPr>
          <p:cNvPr id="31" name="Rectangle 30"/>
          <p:cNvSpPr/>
          <p:nvPr/>
        </p:nvSpPr>
        <p:spPr>
          <a:xfrm>
            <a:off x="3374136"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75304"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Token budget</a:t>
            </a:r>
          </a:p>
          <a:p>
            <a:pPr algn="l">
              <a:lnSpc>
                <a:spcPct val="105000"/>
              </a:lnSpc>
              <a:spcBef>
                <a:spcPts val="400"/>
              </a:spcBef>
            </a:pPr>
            <a:r>
              <a:rPr sz="1000" b="0">
                <a:solidFill>
                  <a:srgbClr val="1B2A41"/>
                </a:solidFill>
                <a:latin typeface="Calibri"/>
              </a:rPr>
              <a:t>A rupee ceiling per task. Check the cost of one run before you schedule a thousand.</a:t>
            </a:r>
          </a:p>
        </p:txBody>
      </p:sp>
      <p:sp>
        <p:nvSpPr>
          <p:cNvPr id="33" name="Rectangle 32"/>
          <p:cNvSpPr/>
          <p:nvPr/>
        </p:nvSpPr>
        <p:spPr>
          <a:xfrm>
            <a:off x="6199631"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799"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Approval gate</a:t>
            </a:r>
          </a:p>
          <a:p>
            <a:pPr algn="l">
              <a:lnSpc>
                <a:spcPct val="105000"/>
              </a:lnSpc>
              <a:spcBef>
                <a:spcPts val="400"/>
              </a:spcBef>
            </a:pPr>
            <a:r>
              <a:rPr sz="1000" b="0">
                <a:solidFill>
                  <a:srgbClr val="1B2A41"/>
                </a:solidFill>
                <a:latin typeface="Calibri"/>
              </a:rPr>
              <a:t>Anything that moves money or writes to a book of record waits for a human.</a:t>
            </a:r>
          </a:p>
        </p:txBody>
      </p:sp>
      <p:sp>
        <p:nvSpPr>
          <p:cNvPr id="35" name="Rectangle 34"/>
          <p:cNvSpPr/>
          <p:nvPr/>
        </p:nvSpPr>
        <p:spPr>
          <a:xfrm>
            <a:off x="9025128"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Audit log</a:t>
            </a:r>
          </a:p>
          <a:p>
            <a:pPr algn="l">
              <a:lnSpc>
                <a:spcPct val="105000"/>
              </a:lnSpc>
              <a:spcBef>
                <a:spcPts val="400"/>
              </a:spcBef>
            </a:pPr>
            <a:r>
              <a:rPr sz="1000" b="0">
                <a:solidFill>
                  <a:srgbClr val="1B2A41"/>
                </a:solidFill>
                <a:latin typeface="Calibri"/>
              </a:rPr>
              <a:t>Store every plan, tool call and result. You need the replay when someone questions the output.</a:t>
            </a:r>
          </a:p>
        </p:txBody>
      </p:sp>
      <p:sp>
        <p:nvSpPr>
          <p:cNvPr id="37" name="TextBox 36"/>
          <p:cNvSpPr txBox="1"/>
          <p:nvPr/>
        </p:nvSpPr>
        <p:spPr>
          <a:xfrm>
            <a:off x="548640" y="5943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These four are not optional. A regulated firm will not put an agent into production without them.</a:t>
            </a:r>
          </a:p>
        </p:txBody>
      </p:sp>
      <p:sp>
        <p:nvSpPr>
          <p:cNvPr id="38" name="TextBox 3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9" name="TextBox 3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you give the model: tools and memory</a:t>
            </a:r>
          </a:p>
        </p:txBody>
      </p:sp>
      <p:sp>
        <p:nvSpPr>
          <p:cNvPr id="5" name="Rectangle 4"/>
          <p:cNvSpPr/>
          <p:nvPr/>
        </p:nvSpPr>
        <p:spPr>
          <a:xfrm>
            <a:off x="548640" y="1572768"/>
            <a:ext cx="5120640" cy="28803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466344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 TOOL DEFINITION</a:t>
            </a:r>
          </a:p>
        </p:txBody>
      </p:sp>
      <p:sp>
        <p:nvSpPr>
          <p:cNvPr id="7" name="TextBox 6"/>
          <p:cNvSpPr txBox="1"/>
          <p:nvPr/>
        </p:nvSpPr>
        <p:spPr>
          <a:xfrm>
            <a:off x="804672" y="2066543"/>
            <a:ext cx="4663440" cy="2221992"/>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a:t>
            </a:r>
          </a:p>
          <a:p>
            <a:pPr algn="l">
              <a:lnSpc>
                <a:spcPct val="105000"/>
              </a:lnSpc>
              <a:spcBef>
                <a:spcPts val="250"/>
              </a:spcBef>
            </a:pPr>
            <a:r>
              <a:rPr sz="1050" b="0">
                <a:solidFill>
                  <a:srgbClr val="C9D6EE"/>
                </a:solidFill>
                <a:latin typeface="Consolas"/>
              </a:rPr>
              <a:t>  "name": "get_close_price",</a:t>
            </a:r>
          </a:p>
          <a:p>
            <a:pPr algn="l">
              <a:lnSpc>
                <a:spcPct val="105000"/>
              </a:lnSpc>
              <a:spcBef>
                <a:spcPts val="250"/>
              </a:spcBef>
            </a:pPr>
            <a:r>
              <a:rPr sz="1050" b="0">
                <a:solidFill>
                  <a:srgbClr val="C9D6EE"/>
                </a:solidFill>
                <a:latin typeface="Consolas"/>
              </a:rPr>
              <a:t>  "description": "Latest NSE closing</a:t>
            </a:r>
          </a:p>
          <a:p>
            <a:pPr algn="l">
              <a:lnSpc>
                <a:spcPct val="105000"/>
              </a:lnSpc>
              <a:spcBef>
                <a:spcPts val="250"/>
              </a:spcBef>
            </a:pPr>
            <a:r>
              <a:rPr sz="1050" b="0">
                <a:solidFill>
                  <a:srgbClr val="C9D6EE"/>
                </a:solidFill>
                <a:latin typeface="Consolas"/>
              </a:rPr>
              <a:t>                  price for one symbol.",</a:t>
            </a:r>
          </a:p>
          <a:p>
            <a:pPr algn="l">
              <a:lnSpc>
                <a:spcPct val="105000"/>
              </a:lnSpc>
              <a:spcBef>
                <a:spcPts val="250"/>
              </a:spcBef>
            </a:pPr>
            <a:r>
              <a:rPr sz="1050" b="0">
                <a:solidFill>
                  <a:srgbClr val="C9D6EE"/>
                </a:solidFill>
                <a:latin typeface="Consolas"/>
              </a:rPr>
              <a:t>  "input_schema": {</a:t>
            </a:r>
          </a:p>
          <a:p>
            <a:pPr algn="l">
              <a:lnSpc>
                <a:spcPct val="105000"/>
              </a:lnSpc>
              <a:spcBef>
                <a:spcPts val="250"/>
              </a:spcBef>
            </a:pPr>
            <a:r>
              <a:rPr sz="1050" b="0">
                <a:solidFill>
                  <a:srgbClr val="C9D6EE"/>
                </a:solidFill>
                <a:latin typeface="Consolas"/>
              </a:rPr>
              <a:t>    "type": "object",</a:t>
            </a:r>
          </a:p>
          <a:p>
            <a:pPr algn="l">
              <a:lnSpc>
                <a:spcPct val="105000"/>
              </a:lnSpc>
              <a:spcBef>
                <a:spcPts val="250"/>
              </a:spcBef>
            </a:pPr>
            <a:r>
              <a:rPr sz="1050" b="0">
                <a:solidFill>
                  <a:srgbClr val="C9D6EE"/>
                </a:solidFill>
                <a:latin typeface="Consolas"/>
              </a:rPr>
              <a:t>    "properties": {</a:t>
            </a:r>
          </a:p>
          <a:p>
            <a:pPr algn="l">
              <a:lnSpc>
                <a:spcPct val="105000"/>
              </a:lnSpc>
              <a:spcBef>
                <a:spcPts val="250"/>
              </a:spcBef>
            </a:pPr>
            <a:r>
              <a:rPr sz="1050" b="0">
                <a:solidFill>
                  <a:srgbClr val="C9A227"/>
                </a:solidFill>
                <a:latin typeface="Consolas"/>
              </a:rPr>
              <a:t>      "symbol": {"type": "string"},</a:t>
            </a:r>
          </a:p>
          <a:p>
            <a:pPr algn="l">
              <a:lnSpc>
                <a:spcPct val="105000"/>
              </a:lnSpc>
              <a:spcBef>
                <a:spcPts val="250"/>
              </a:spcBef>
            </a:pPr>
            <a:r>
              <a:rPr sz="1050" b="0">
                <a:solidFill>
                  <a:srgbClr val="C9A227"/>
                </a:solidFill>
                <a:latin typeface="Consolas"/>
              </a:rPr>
              <a:t>      "date":   {"type": "string"}},</a:t>
            </a:r>
          </a:p>
          <a:p>
            <a:pPr algn="l">
              <a:lnSpc>
                <a:spcPct val="105000"/>
              </a:lnSpc>
              <a:spcBef>
                <a:spcPts val="250"/>
              </a:spcBef>
            </a:pPr>
            <a:r>
              <a:rPr sz="1050" b="0">
                <a:solidFill>
                  <a:srgbClr val="C9D6EE"/>
                </a:solidFill>
                <a:latin typeface="Consolas"/>
              </a:rPr>
              <a:t>    "required": ["symbol"]}</a:t>
            </a:r>
          </a:p>
          <a:p>
            <a:pPr algn="l">
              <a:lnSpc>
                <a:spcPct val="105000"/>
              </a:lnSpc>
              <a:spcBef>
                <a:spcPts val="250"/>
              </a:spcBef>
            </a:pPr>
            <a:r>
              <a:rPr sz="1050" b="0">
                <a:solidFill>
                  <a:srgbClr val="FFFFFF"/>
                </a:solidFill>
                <a:latin typeface="Consolas"/>
              </a:rPr>
              <a:t>}</a:t>
            </a:r>
          </a:p>
        </p:txBody>
      </p:sp>
      <p:sp>
        <p:nvSpPr>
          <p:cNvPr id="8" name="TextBox 7"/>
          <p:cNvSpPr txBox="1"/>
          <p:nvPr/>
        </p:nvSpPr>
        <p:spPr>
          <a:xfrm>
            <a:off x="548640" y="4617720"/>
            <a:ext cx="5120640" cy="13716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You write the tool definition. The model decides when to call it.</a:t>
            </a:r>
          </a:p>
          <a:p>
            <a:pPr algn="l">
              <a:lnSpc>
                <a:spcPct val="105000"/>
              </a:lnSpc>
              <a:spcBef>
                <a:spcPts val="500"/>
              </a:spcBef>
            </a:pPr>
            <a:r>
              <a:rPr sz="1050" b="0">
                <a:solidFill>
                  <a:srgbClr val="5D6B7E"/>
                </a:solidFill>
                <a:latin typeface="Calibri"/>
              </a:rPr>
              <a:t>The description is the only instruction the model gets. Write it vaguely and the tool gets called at the wrong time. Your code runs the call, under your credentials, with your logging. That is where a bank puts its governance controls.</a:t>
            </a:r>
          </a:p>
        </p:txBody>
      </p:sp>
      <p:sp>
        <p:nvSpPr>
          <p:cNvPr id="9" name="Rectangle 8"/>
          <p:cNvSpPr/>
          <p:nvPr/>
        </p:nvSpPr>
        <p:spPr>
          <a:xfrm>
            <a:off x="5943600" y="1572768"/>
            <a:ext cx="5696712" cy="13716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99632" y="170078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SHORT-TERM MEMORY</a:t>
            </a:r>
          </a:p>
          <a:p>
            <a:pPr algn="l">
              <a:lnSpc>
                <a:spcPct val="105000"/>
              </a:lnSpc>
              <a:spcBef>
                <a:spcPts val="400"/>
              </a:spcBef>
            </a:pPr>
            <a:r>
              <a:rPr sz="1050" b="0">
                <a:solidFill>
                  <a:srgbClr val="1B2A41"/>
                </a:solidFill>
                <a:latin typeface="Calibri"/>
              </a:rPr>
              <a:t>Everything in the context window right now — this chat, the file you pasted, the last tool result. Gone when the session ends.</a:t>
            </a:r>
          </a:p>
          <a:p>
            <a:pPr algn="l">
              <a:lnSpc>
                <a:spcPct val="105000"/>
              </a:lnSpc>
              <a:spcBef>
                <a:spcPts val="400"/>
              </a:spcBef>
            </a:pPr>
            <a:r>
              <a:rPr sz="1000" b="1">
                <a:solidFill>
                  <a:srgbClr val="0F2145"/>
                </a:solidFill>
                <a:latin typeface="Calibri"/>
              </a:rPr>
              <a:t>e.g.  The holdings table you pasted two minutes ago.</a:t>
            </a:r>
          </a:p>
        </p:txBody>
      </p:sp>
      <p:sp>
        <p:nvSpPr>
          <p:cNvPr id="11" name="Rectangle 10"/>
          <p:cNvSpPr/>
          <p:nvPr/>
        </p:nvSpPr>
        <p:spPr>
          <a:xfrm>
            <a:off x="5943600" y="3035808"/>
            <a:ext cx="5696712" cy="13716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316382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EPISODIC MEMORY</a:t>
            </a:r>
          </a:p>
          <a:p>
            <a:pPr algn="l">
              <a:lnSpc>
                <a:spcPct val="105000"/>
              </a:lnSpc>
              <a:spcBef>
                <a:spcPts val="400"/>
              </a:spcBef>
            </a:pPr>
            <a:r>
              <a:rPr sz="1050" b="0">
                <a:solidFill>
                  <a:srgbClr val="1B2A41"/>
                </a:solidFill>
                <a:latin typeface="Calibri"/>
              </a:rPr>
              <a:t>A stored log of past runs and conversations, searched when relevant. You build this; it is not automatic.</a:t>
            </a:r>
          </a:p>
          <a:p>
            <a:pPr algn="l">
              <a:lnSpc>
                <a:spcPct val="105000"/>
              </a:lnSpc>
              <a:spcBef>
                <a:spcPts val="400"/>
              </a:spcBef>
            </a:pPr>
            <a:r>
              <a:rPr sz="1000" b="1">
                <a:solidFill>
                  <a:srgbClr val="0F2145"/>
                </a:solidFill>
                <a:latin typeface="Calibri"/>
              </a:rPr>
              <a:t>e.g.  “Last quarter this client asked to avoid tobacco stocks.”</a:t>
            </a:r>
          </a:p>
        </p:txBody>
      </p:sp>
      <p:sp>
        <p:nvSpPr>
          <p:cNvPr id="13" name="Rectangle 12"/>
          <p:cNvSpPr/>
          <p:nvPr/>
        </p:nvSpPr>
        <p:spPr>
          <a:xfrm>
            <a:off x="5943600" y="4498848"/>
            <a:ext cx="5696712" cy="13716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462686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SEMANTIC MEMORY</a:t>
            </a:r>
          </a:p>
          <a:p>
            <a:pPr algn="l">
              <a:lnSpc>
                <a:spcPct val="105000"/>
              </a:lnSpc>
              <a:spcBef>
                <a:spcPts val="400"/>
              </a:spcBef>
            </a:pPr>
            <a:r>
              <a:rPr sz="1050" b="0">
                <a:solidFill>
                  <a:srgbClr val="1B2A41"/>
                </a:solidFill>
                <a:latin typeface="Calibri"/>
              </a:rPr>
              <a:t>Durable facts and policy kept in a database or vector store and pulled in when needed.</a:t>
            </a:r>
          </a:p>
          <a:p>
            <a:pPr algn="l">
              <a:lnSpc>
                <a:spcPct val="105000"/>
              </a:lnSpc>
              <a:spcBef>
                <a:spcPts val="400"/>
              </a:spcBef>
            </a:pPr>
            <a:r>
              <a:rPr sz="1000" b="1">
                <a:solidFill>
                  <a:srgbClr val="0F2145"/>
                </a:solidFill>
                <a:latin typeface="Calibri"/>
              </a:rPr>
              <a:t>e.g.  “House limit: no single stock above 8% of a portfolio.”</a:t>
            </a:r>
          </a:p>
        </p:txBody>
      </p:sp>
      <p:sp>
        <p:nvSpPr>
          <p:cNvPr id="15" name="Rectangle 14"/>
          <p:cNvSpPr/>
          <p:nvPr/>
        </p:nvSpPr>
        <p:spPr>
          <a:xfrm>
            <a:off x="5943600" y="5961888"/>
            <a:ext cx="5696712" cy="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5943600"/>
            <a:ext cx="5696712" cy="36576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A model remembers nothing between calls. You build all three. In a regulated firm you must also be able to show what was stored and when it was used.</a:t>
            </a:r>
          </a:p>
        </p:txBody>
      </p:sp>
      <p:sp>
        <p:nvSpPr>
          <p:cNvPr id="17" name="TextBox 1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8" name="TextBox 1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DATA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Where the numbers come from: sources an Indian desk uses</a:t>
            </a:r>
          </a:p>
        </p:txBody>
      </p:sp>
      <p:sp>
        <p:nvSpPr>
          <p:cNvPr id="5" name="Rectangle 4"/>
          <p:cNvSpPr/>
          <p:nvPr/>
        </p:nvSpPr>
        <p:spPr>
          <a:xfrm>
            <a:off x="548640"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NSE / BSE</a:t>
            </a:r>
          </a:p>
          <a:p>
            <a:pPr algn="l">
              <a:lnSpc>
                <a:spcPct val="105000"/>
              </a:lnSpc>
              <a:spcBef>
                <a:spcPts val="200"/>
              </a:spcBef>
            </a:pPr>
            <a:r>
              <a:rPr sz="900" b="0">
                <a:solidFill>
                  <a:srgbClr val="C9A227"/>
                </a:solidFill>
                <a:latin typeface="Calibri"/>
              </a:rPr>
              <a:t>Exchange data</a:t>
            </a:r>
          </a:p>
        </p:txBody>
      </p:sp>
      <p:sp>
        <p:nvSpPr>
          <p:cNvPr id="8" name="TextBox 7"/>
          <p:cNvSpPr txBox="1"/>
          <p:nvPr/>
        </p:nvSpPr>
        <p:spPr>
          <a:xfrm>
            <a:off x="768096"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Quotes, indices, end-of-day bhavcopy files, corporate announcements, F&amp;O data.</a:t>
            </a:r>
          </a:p>
        </p:txBody>
      </p:sp>
      <p:sp>
        <p:nvSpPr>
          <p:cNvPr id="9" name="TextBox 8"/>
          <p:cNvSpPr txBox="1"/>
          <p:nvPr/>
        </p:nvSpPr>
        <p:spPr>
          <a:xfrm>
            <a:off x="768096"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The public website endpoints are unofficial and rate-limited. Fetch slowly, cache what you pull, and do not run production on them.</a:t>
            </a:r>
          </a:p>
        </p:txBody>
      </p:sp>
      <p:sp>
        <p:nvSpPr>
          <p:cNvPr id="10" name="Rectangle 9"/>
          <p:cNvSpPr/>
          <p:nvPr/>
        </p:nvSpPr>
        <p:spPr>
          <a:xfrm>
            <a:off x="3374136"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Yahoo Finance</a:t>
            </a:r>
          </a:p>
          <a:p>
            <a:pPr algn="l">
              <a:lnSpc>
                <a:spcPct val="105000"/>
              </a:lnSpc>
              <a:spcBef>
                <a:spcPts val="200"/>
              </a:spcBef>
            </a:pPr>
            <a:r>
              <a:rPr sz="900" b="0">
                <a:solidFill>
                  <a:srgbClr val="C9A227"/>
                </a:solidFill>
                <a:latin typeface="Calibri"/>
              </a:rPr>
              <a:t>yfinance, Python</a:t>
            </a:r>
          </a:p>
        </p:txBody>
      </p:sp>
      <p:sp>
        <p:nvSpPr>
          <p:cNvPr id="13" name="TextBox 12"/>
          <p:cNvSpPr txBox="1"/>
          <p:nvPr/>
        </p:nvSpPr>
        <p:spPr>
          <a:xfrm>
            <a:off x="3593591"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Free historical prices for global and Indian tickers — RELIANCE.NS, ^NSEI.</a:t>
            </a:r>
          </a:p>
        </p:txBody>
      </p:sp>
      <p:sp>
        <p:nvSpPr>
          <p:cNvPr id="14" name="TextBox 13"/>
          <p:cNvSpPr txBox="1"/>
          <p:nvPr/>
        </p:nvSpPr>
        <p:spPr>
          <a:xfrm>
            <a:off x="3593591"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Good for teaching, prototypes and backtests. Price adjustments are imperfect, so do not value a book with it.</a:t>
            </a:r>
          </a:p>
        </p:txBody>
      </p:sp>
      <p:sp>
        <p:nvSpPr>
          <p:cNvPr id="15" name="Rectangle 14"/>
          <p:cNvSpPr/>
          <p:nvPr/>
        </p:nvSpPr>
        <p:spPr>
          <a:xfrm>
            <a:off x="6199631"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1"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RBI DBIE</a:t>
            </a:r>
          </a:p>
          <a:p>
            <a:pPr algn="l">
              <a:lnSpc>
                <a:spcPct val="105000"/>
              </a:lnSpc>
              <a:spcBef>
                <a:spcPts val="200"/>
              </a:spcBef>
            </a:pPr>
            <a:r>
              <a:rPr sz="900" b="0">
                <a:solidFill>
                  <a:srgbClr val="C9A227"/>
                </a:solidFill>
                <a:latin typeface="Calibri"/>
              </a:rPr>
              <a:t>data.rbi.org.in</a:t>
            </a:r>
          </a:p>
        </p:txBody>
      </p:sp>
      <p:sp>
        <p:nvSpPr>
          <p:cNvPr id="18" name="TextBox 17"/>
          <p:cNvSpPr txBox="1"/>
          <p:nvPr/>
        </p:nvSpPr>
        <p:spPr>
          <a:xfrm>
            <a:off x="6419088"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Official Indian macro and banking time series: policy rate, CPI, deposits, credit growth.</a:t>
            </a:r>
          </a:p>
        </p:txBody>
      </p:sp>
      <p:sp>
        <p:nvSpPr>
          <p:cNvPr id="19" name="TextBox 18"/>
          <p:cNvSpPr txBox="1"/>
          <p:nvPr/>
        </p:nvSpPr>
        <p:spPr>
          <a:xfrm>
            <a:off x="6419088"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Excel and CSV downloads. It is slow to use, and it is the official source, so cite it in a report.</a:t>
            </a:r>
          </a:p>
        </p:txBody>
      </p:sp>
      <p:sp>
        <p:nvSpPr>
          <p:cNvPr id="20" name="Rectangle 19"/>
          <p:cNvSpPr/>
          <p:nvPr/>
        </p:nvSpPr>
        <p:spPr>
          <a:xfrm>
            <a:off x="9025128"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25128"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4584"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Licensed vendors</a:t>
            </a:r>
          </a:p>
          <a:p>
            <a:pPr algn="l">
              <a:lnSpc>
                <a:spcPct val="105000"/>
              </a:lnSpc>
              <a:spcBef>
                <a:spcPts val="200"/>
              </a:spcBef>
            </a:pPr>
            <a:r>
              <a:rPr sz="900" b="0">
                <a:solidFill>
                  <a:srgbClr val="C9A227"/>
                </a:solidFill>
                <a:latin typeface="Calibri"/>
              </a:rPr>
              <a:t>FactSet · LSEG · Bloomberg</a:t>
            </a:r>
          </a:p>
        </p:txBody>
      </p:sp>
      <p:sp>
        <p:nvSpPr>
          <p:cNvPr id="23" name="TextBox 22"/>
          <p:cNvSpPr txBox="1"/>
          <p:nvPr/>
        </p:nvSpPr>
        <p:spPr>
          <a:xfrm>
            <a:off x="9244584"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Cleaned, point-in-time, entitlement-controlled data, with support and an SLA.</a:t>
            </a:r>
          </a:p>
        </p:txBody>
      </p:sp>
      <p:sp>
        <p:nvSpPr>
          <p:cNvPr id="24" name="TextBox 23"/>
          <p:cNvSpPr txBox="1"/>
          <p:nvPr/>
        </p:nvSpPr>
        <p:spPr>
          <a:xfrm>
            <a:off x="9244584"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This is what a desk pays for. Know the difference between free data and data you can defend to a regulator.</a:t>
            </a:r>
          </a:p>
        </p:txBody>
      </p:sp>
      <p:sp>
        <p:nvSpPr>
          <p:cNvPr id="25" name="Rectangle 24"/>
          <p:cNvSpPr/>
          <p:nvPr/>
        </p:nvSpPr>
        <p:spPr>
          <a:xfrm>
            <a:off x="548640"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Never hardcode a key</a:t>
            </a:r>
          </a:p>
          <a:p>
            <a:pPr algn="l">
              <a:lnSpc>
                <a:spcPct val="105000"/>
              </a:lnSpc>
              <a:spcBef>
                <a:spcPts val="400"/>
              </a:spcBef>
            </a:pPr>
            <a:r>
              <a:rPr sz="1000" b="0">
                <a:solidFill>
                  <a:srgbClr val="1B2A41"/>
                </a:solidFill>
                <a:latin typeface="Calibri"/>
              </a:rPr>
              <a:t>Keys go in a .env file that git never sees. A key pushed to a public repository is a reportable incident at a bank.</a:t>
            </a:r>
          </a:p>
        </p:txBody>
      </p:sp>
      <p:sp>
        <p:nvSpPr>
          <p:cNvPr id="27" name="Rectangle 26"/>
          <p:cNvSpPr/>
          <p:nvPr/>
        </p:nvSpPr>
        <p:spPr>
          <a:xfrm>
            <a:off x="4315968"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35424"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Cache the raw pull</a:t>
            </a:r>
          </a:p>
          <a:p>
            <a:pPr algn="l">
              <a:lnSpc>
                <a:spcPct val="105000"/>
              </a:lnSpc>
              <a:spcBef>
                <a:spcPts val="400"/>
              </a:spcBef>
            </a:pPr>
            <a:r>
              <a:rPr sz="1000" b="0">
                <a:solidFill>
                  <a:srgbClr val="1B2A41"/>
                </a:solidFill>
                <a:latin typeface="Calibri"/>
              </a:rPr>
              <a:t>Save the untouched response with its timestamp. You will need it when a number is challenged.</a:t>
            </a:r>
          </a:p>
        </p:txBody>
      </p:sp>
      <p:sp>
        <p:nvSpPr>
          <p:cNvPr id="29" name="Rectangle 28"/>
          <p:cNvSpPr/>
          <p:nvPr/>
        </p:nvSpPr>
        <p:spPr>
          <a:xfrm>
            <a:off x="8083296"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2752"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Log the as-of time</a:t>
            </a:r>
          </a:p>
          <a:p>
            <a:pPr algn="l">
              <a:lnSpc>
                <a:spcPct val="105000"/>
              </a:lnSpc>
              <a:spcBef>
                <a:spcPts val="400"/>
              </a:spcBef>
            </a:pPr>
            <a:r>
              <a:rPr sz="1000" b="0">
                <a:solidFill>
                  <a:srgbClr val="1B2A41"/>
                </a:solidFill>
                <a:latin typeface="Calibri"/>
              </a:rPr>
              <a:t>Record when you pulled the data. “Price at 15:30 IST on 6 Aug 2026” is checkable. “Price” is not.</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CASE STUDY</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Morgan Stanley: a GPT-4 assistant on the advisor's desk</a:t>
            </a:r>
          </a:p>
        </p:txBody>
      </p:sp>
      <p:sp>
        <p:nvSpPr>
          <p:cNvPr id="5" name="Rectangle 4"/>
          <p:cNvSpPr/>
          <p:nvPr/>
        </p:nvSpPr>
        <p:spPr>
          <a:xfrm>
            <a:off x="548640" y="1572768"/>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19072"/>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THE PROBLEM</a:t>
            </a:r>
          </a:p>
          <a:p>
            <a:pPr algn="l">
              <a:lnSpc>
                <a:spcPct val="105000"/>
              </a:lnSpc>
              <a:spcBef>
                <a:spcPts val="500"/>
              </a:spcBef>
            </a:pPr>
            <a:r>
              <a:rPr sz="1100" b="0">
                <a:solidFill>
                  <a:srgbClr val="1B2A41"/>
                </a:solidFill>
                <a:latin typeface="Calibri"/>
              </a:rPr>
              <a:t>Morgan Stanley Wealth Management holds a research library of hundreds of thousands of documents. An advisor could not find the right page during a client call. The research existed and went unread.</a:t>
            </a:r>
          </a:p>
        </p:txBody>
      </p:sp>
      <p:sp>
        <p:nvSpPr>
          <p:cNvPr id="8" name="Rectangle 7"/>
          <p:cNvSpPr/>
          <p:nvPr/>
        </p:nvSpPr>
        <p:spPr>
          <a:xfrm>
            <a:off x="548640" y="3008376"/>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008376"/>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154680"/>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THEY BUILT</a:t>
            </a:r>
          </a:p>
          <a:p>
            <a:pPr algn="l">
              <a:lnSpc>
                <a:spcPct val="105000"/>
              </a:lnSpc>
              <a:spcBef>
                <a:spcPts val="500"/>
              </a:spcBef>
            </a:pPr>
            <a:r>
              <a:rPr sz="1100" b="0">
                <a:solidFill>
                  <a:srgbClr val="1B2A41"/>
                </a:solidFill>
                <a:latin typeface="Calibri"/>
              </a:rPr>
              <a:t>“AI @ Morgan Stanley Assistant”, launched September 2023 on OpenAI's GPT-4. It answers advisor questions from the firm's own research library and cites the source. Retrieval first, generation second. A second tool, Debrief, drafts the notes and the follow-up email after a client meeting.</a:t>
            </a:r>
          </a:p>
        </p:txBody>
      </p:sp>
      <p:sp>
        <p:nvSpPr>
          <p:cNvPr id="11" name="Rectangle 10"/>
          <p:cNvSpPr/>
          <p:nvPr/>
        </p:nvSpPr>
        <p:spPr>
          <a:xfrm>
            <a:off x="548640" y="4443984"/>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443984"/>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90288"/>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WAS REPORTED</a:t>
            </a:r>
          </a:p>
          <a:p>
            <a:pPr algn="l">
              <a:lnSpc>
                <a:spcPct val="105000"/>
              </a:lnSpc>
              <a:spcBef>
                <a:spcPts val="500"/>
              </a:spcBef>
            </a:pPr>
            <a:r>
              <a:rPr sz="1100" b="0">
                <a:solidFill>
                  <a:srgbClr val="1B2A41"/>
                </a:solidFill>
                <a:latin typeface="Calibri"/>
              </a:rPr>
              <a:t>Adoption by over 98% of advisor teams. Advisor access to documents reported to have risen from roughly 20% to 80%. Leadership has publicly estimated savings of 10–15 hours a week per advisor.</a:t>
            </a:r>
          </a:p>
        </p:txBody>
      </p:sp>
      <p:sp>
        <p:nvSpPr>
          <p:cNvPr id="14" name="Rectangle 13"/>
          <p:cNvSpPr/>
          <p:nvPr/>
        </p:nvSpPr>
        <p:spPr>
          <a:xfrm>
            <a:off x="7680960" y="1572768"/>
            <a:ext cx="3959352" cy="392277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1755648"/>
            <a:ext cx="3474720" cy="365760"/>
          </a:xfrm>
          <a:prstGeom prst="rect">
            <a:avLst/>
          </a:prstGeom>
          <a:noFill/>
        </p:spPr>
        <p:txBody>
          <a:bodyPr wrap="square" lIns="0" rIns="0" tIns="0" bIns="0" anchor="t">
            <a:spAutoFit/>
          </a:bodyPr>
          <a:lstStyle/>
          <a:p>
            <a:pPr algn="l">
              <a:lnSpc>
                <a:spcPct val="105000"/>
              </a:lnSpc>
              <a:spcBef>
                <a:spcPts val="0"/>
              </a:spcBef>
            </a:pPr>
            <a:r>
              <a:rPr sz="1400" b="1">
                <a:solidFill>
                  <a:srgbClr val="C9A227"/>
                </a:solidFill>
                <a:latin typeface="Georgia"/>
              </a:rPr>
              <a:t>What to take from it</a:t>
            </a:r>
          </a:p>
        </p:txBody>
      </p:sp>
      <p:sp>
        <p:nvSpPr>
          <p:cNvPr id="16" name="TextBox 15"/>
          <p:cNvSpPr txBox="1"/>
          <p:nvPr/>
        </p:nvSpPr>
        <p:spPr>
          <a:xfrm>
            <a:off x="7955279" y="2286000"/>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 model answers from the firm's own documents. That is the design.</a:t>
            </a:r>
          </a:p>
        </p:txBody>
      </p:sp>
      <p:sp>
        <p:nvSpPr>
          <p:cNvPr id="17" name="TextBox 16"/>
          <p:cNvSpPr txBox="1"/>
          <p:nvPr/>
        </p:nvSpPr>
        <p:spPr>
          <a:xfrm>
            <a:off x="7955279" y="3072384"/>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They aimed it at the most repeated task on the desk, which is finding documents. They did not aim it at giving advice.</a:t>
            </a:r>
          </a:p>
        </p:txBody>
      </p:sp>
      <p:sp>
        <p:nvSpPr>
          <p:cNvPr id="18" name="TextBox 17"/>
          <p:cNvSpPr txBox="1"/>
          <p:nvPr/>
        </p:nvSpPr>
        <p:spPr>
          <a:xfrm>
            <a:off x="7955279" y="3858768"/>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 human still faces the client. The assistant drafts and the advisor signs.</a:t>
            </a:r>
          </a:p>
        </p:txBody>
      </p:sp>
      <p:sp>
        <p:nvSpPr>
          <p:cNvPr id="19" name="TextBox 18"/>
          <p:cNvSpPr txBox="1"/>
          <p:nvPr/>
        </p:nvSpPr>
        <p:spPr>
          <a:xfrm>
            <a:off x="7955279" y="4645152"/>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Adoption came after evaluation. They tested the answers against expert-written ones before rollout.</a:t>
            </a:r>
          </a:p>
        </p:txBody>
      </p:sp>
      <p:sp>
        <p:nvSpPr>
          <p:cNvPr id="20" name="TextBox 19"/>
          <p:cNvSpPr txBox="1"/>
          <p:nvPr/>
        </p:nvSpPr>
        <p:spPr>
          <a:xfrm>
            <a:off x="548640" y="5943600"/>
            <a:ext cx="11091672" cy="310896"/>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Discuss:  </a:t>
            </a:r>
            <a:r>
              <a:rPr sz="1100" b="0">
                <a:solidFill>
                  <a:srgbClr val="5D6B7E"/>
                </a:solidFill>
                <a:latin typeface="Calibri"/>
              </a:rPr>
              <a:t>which workflow at an Indian bank or GCC would you aim this at first, and what would you have to prove before compliance switched it on?    </a:t>
            </a:r>
            <a:r>
              <a:rPr sz="900" b="0">
                <a:solidFill>
                  <a:srgbClr val="8FA1C4"/>
                </a:solidFill>
                <a:latin typeface="Calibri"/>
              </a:rPr>
              <a:t>Figures as reported by Morgan Stanley and OpenAI.</a:t>
            </a:r>
          </a:p>
        </p:txBody>
      </p:sp>
      <p:sp>
        <p:nvSpPr>
          <p:cNvPr id="21" name="TextBox 2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2" name="TextBox 2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ARC OF THIS COURSE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one question scales into a system</a:t>
            </a:r>
          </a:p>
        </p:txBody>
      </p:sp>
      <p:sp>
        <p:nvSpPr>
          <p:cNvPr id="5" name="Rectangle 4"/>
          <p:cNvSpPr/>
          <p:nvPr/>
        </p:nvSpPr>
        <p:spPr>
          <a:xfrm>
            <a:off x="548640" y="1572768"/>
            <a:ext cx="2670048" cy="34290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1</a:t>
            </a:r>
          </a:p>
        </p:txBody>
      </p:sp>
      <p:sp>
        <p:nvSpPr>
          <p:cNvPr id="7" name="TextBox 6"/>
          <p:cNvSpPr txBox="1"/>
          <p:nvPr/>
        </p:nvSpPr>
        <p:spPr>
          <a:xfrm>
            <a:off x="768096"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You ask</a:t>
            </a:r>
          </a:p>
        </p:txBody>
      </p:sp>
      <p:sp>
        <p:nvSpPr>
          <p:cNvPr id="8" name="TextBox 7"/>
          <p:cNvSpPr txBox="1"/>
          <p:nvPr/>
        </p:nvSpPr>
        <p:spPr>
          <a:xfrm>
            <a:off x="768096"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type a question into a chat window. “What was Reliance's revenue last year?”</a:t>
            </a:r>
          </a:p>
        </p:txBody>
      </p:sp>
      <p:sp>
        <p:nvSpPr>
          <p:cNvPr id="9" name="TextBox 8"/>
          <p:cNvSpPr txBox="1"/>
          <p:nvPr/>
        </p:nvSpPr>
        <p:spPr>
          <a:xfrm>
            <a:off x="768096"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One answer. Nothing is saved. You cannot repeat it tomorrow without typing it again.</a:t>
            </a:r>
          </a:p>
        </p:txBody>
      </p:sp>
      <p:sp>
        <p:nvSpPr>
          <p:cNvPr id="10" name="TextBox 9"/>
          <p:cNvSpPr txBox="1"/>
          <p:nvPr/>
        </p:nvSpPr>
        <p:spPr>
          <a:xfrm>
            <a:off x="768096"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first half</a:t>
            </a:r>
          </a:p>
        </p:txBody>
      </p:sp>
      <p:sp>
        <p:nvSpPr>
          <p:cNvPr id="11" name="TextBox 10"/>
          <p:cNvSpPr txBox="1"/>
          <p:nvPr/>
        </p:nvSpPr>
        <p:spPr>
          <a:xfrm>
            <a:off x="3236976"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2" name="Rectangle 11"/>
          <p:cNvSpPr/>
          <p:nvPr/>
        </p:nvSpPr>
        <p:spPr>
          <a:xfrm>
            <a:off x="3374136" y="1572768"/>
            <a:ext cx="2670048" cy="34290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2</a:t>
            </a:r>
          </a:p>
        </p:txBody>
      </p:sp>
      <p:sp>
        <p:nvSpPr>
          <p:cNvPr id="14" name="TextBox 13"/>
          <p:cNvSpPr txBox="1"/>
          <p:nvPr/>
        </p:nvSpPr>
        <p:spPr>
          <a:xfrm>
            <a:off x="3593591"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You get code</a:t>
            </a:r>
          </a:p>
        </p:txBody>
      </p:sp>
      <p:sp>
        <p:nvSpPr>
          <p:cNvPr id="15" name="TextBox 14"/>
          <p:cNvSpPr txBox="1"/>
          <p:nvPr/>
        </p:nvSpPr>
        <p:spPr>
          <a:xfrm>
            <a:off x="3593591"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ask the same chat to write the Python. It hands you eight lines that call yfinance.</a:t>
            </a:r>
          </a:p>
        </p:txBody>
      </p:sp>
      <p:sp>
        <p:nvSpPr>
          <p:cNvPr id="16" name="TextBox 15"/>
          <p:cNvSpPr txBox="1"/>
          <p:nvPr/>
        </p:nvSpPr>
        <p:spPr>
          <a:xfrm>
            <a:off x="3593591"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Now it repeats. Change the company name and it runs again.</a:t>
            </a:r>
          </a:p>
        </p:txBody>
      </p:sp>
      <p:sp>
        <p:nvSpPr>
          <p:cNvPr id="17" name="TextBox 16"/>
          <p:cNvSpPr txBox="1"/>
          <p:nvPr/>
        </p:nvSpPr>
        <p:spPr>
          <a:xfrm>
            <a:off x="3593591"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first half</a:t>
            </a:r>
          </a:p>
        </p:txBody>
      </p:sp>
      <p:sp>
        <p:nvSpPr>
          <p:cNvPr id="18" name="TextBox 17"/>
          <p:cNvSpPr txBox="1"/>
          <p:nvPr/>
        </p:nvSpPr>
        <p:spPr>
          <a:xfrm>
            <a:off x="6062472"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9" name="Rectangle 18"/>
          <p:cNvSpPr/>
          <p:nvPr/>
        </p:nvSpPr>
        <p:spPr>
          <a:xfrm>
            <a:off x="6199631" y="1572768"/>
            <a:ext cx="2670048" cy="34290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3</a:t>
            </a:r>
          </a:p>
        </p:txBody>
      </p:sp>
      <p:sp>
        <p:nvSpPr>
          <p:cNvPr id="21" name="TextBox 20"/>
          <p:cNvSpPr txBox="1"/>
          <p:nvPr/>
        </p:nvSpPr>
        <p:spPr>
          <a:xfrm>
            <a:off x="6419088"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An agent builds the app</a:t>
            </a:r>
          </a:p>
        </p:txBody>
      </p:sp>
      <p:sp>
        <p:nvSpPr>
          <p:cNvPr id="22" name="TextBox 21"/>
          <p:cNvSpPr txBox="1"/>
          <p:nvPr/>
        </p:nvSpPr>
        <p:spPr>
          <a:xfrm>
            <a:off x="6419088"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describe the app in English. Codex writes the server, the page and the styling, runs it, and fixes its own errors.</a:t>
            </a:r>
          </a:p>
        </p:txBody>
      </p:sp>
      <p:sp>
        <p:nvSpPr>
          <p:cNvPr id="23" name="TextBox 22"/>
          <p:cNvSpPr txBox="1"/>
          <p:nvPr/>
        </p:nvSpPr>
        <p:spPr>
          <a:xfrm>
            <a:off x="6419088"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A working tool with a search box. Anyone on the desk can use it.</a:t>
            </a:r>
          </a:p>
        </p:txBody>
      </p:sp>
      <p:sp>
        <p:nvSpPr>
          <p:cNvPr id="24" name="TextBox 23"/>
          <p:cNvSpPr txBox="1"/>
          <p:nvPr/>
        </p:nvSpPr>
        <p:spPr>
          <a:xfrm>
            <a:off x="6419088"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second half</a:t>
            </a:r>
          </a:p>
        </p:txBody>
      </p:sp>
      <p:sp>
        <p:nvSpPr>
          <p:cNvPr id="25" name="TextBox 24"/>
          <p:cNvSpPr txBox="1"/>
          <p:nvPr/>
        </p:nvSpPr>
        <p:spPr>
          <a:xfrm>
            <a:off x="8887967"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6" name="Rectangle 25"/>
          <p:cNvSpPr/>
          <p:nvPr/>
        </p:nvSpPr>
        <p:spPr>
          <a:xfrm>
            <a:off x="9025128" y="1572768"/>
            <a:ext cx="2670048" cy="3429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STEP 4</a:t>
            </a:r>
          </a:p>
        </p:txBody>
      </p:sp>
      <p:sp>
        <p:nvSpPr>
          <p:cNvPr id="28" name="TextBox 27"/>
          <p:cNvSpPr txBox="1"/>
          <p:nvPr/>
        </p:nvSpPr>
        <p:spPr>
          <a:xfrm>
            <a:off x="9244584"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FFFFFF"/>
                </a:solidFill>
                <a:latin typeface="Georgia"/>
              </a:rPr>
              <a:t>Many models, orchestrated</a:t>
            </a:r>
          </a:p>
        </p:txBody>
      </p:sp>
      <p:sp>
        <p:nvSpPr>
          <p:cNvPr id="29" name="TextBox 28"/>
          <p:cNvSpPr txBox="1"/>
          <p:nvPr/>
        </p:nvSpPr>
        <p:spPr>
          <a:xfrm>
            <a:off x="9244584"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Several models, each with a job, calling tools, checked by Python, ending in a document a human signs.</a:t>
            </a:r>
          </a:p>
        </p:txBody>
      </p:sp>
      <p:sp>
        <p:nvSpPr>
          <p:cNvPr id="30" name="TextBox 29"/>
          <p:cNvSpPr txBox="1"/>
          <p:nvPr/>
        </p:nvSpPr>
        <p:spPr>
          <a:xfrm>
            <a:off x="9244584"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WHAT YOU GET</a:t>
            </a:r>
          </a:p>
          <a:p>
            <a:pPr algn="l">
              <a:lnSpc>
                <a:spcPct val="105000"/>
              </a:lnSpc>
              <a:spcBef>
                <a:spcPts val="400"/>
              </a:spcBef>
            </a:pPr>
            <a:r>
              <a:rPr sz="1000" b="0">
                <a:solidFill>
                  <a:srgbClr val="C9D6EE"/>
                </a:solidFill>
                <a:latin typeface="Calibri"/>
              </a:rPr>
              <a:t>That is JARVIS, and it is where Modules 3 to 10 take you.</a:t>
            </a:r>
          </a:p>
        </p:txBody>
      </p:sp>
      <p:sp>
        <p:nvSpPr>
          <p:cNvPr id="31" name="TextBox 30"/>
          <p:cNvSpPr txBox="1"/>
          <p:nvPr/>
        </p:nvSpPr>
        <p:spPr>
          <a:xfrm>
            <a:off x="9244584"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Slide 17, then Module 3</a:t>
            </a:r>
          </a:p>
        </p:txBody>
      </p:sp>
      <p:sp>
        <p:nvSpPr>
          <p:cNvPr id="32" name="Rectangle 31"/>
          <p:cNvSpPr/>
          <p:nvPr/>
        </p:nvSpPr>
        <p:spPr>
          <a:xfrm>
            <a:off x="548640" y="5166360"/>
            <a:ext cx="1109167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166360"/>
            <a:ext cx="64008" cy="9144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303520"/>
            <a:ext cx="10515600" cy="73152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The work does not change. The scale does.</a:t>
            </a:r>
          </a:p>
          <a:p>
            <a:pPr algn="l">
              <a:lnSpc>
                <a:spcPct val="105000"/>
              </a:lnSpc>
              <a:spcBef>
                <a:spcPts val="500"/>
              </a:spcBef>
            </a:pPr>
            <a:r>
              <a:rPr sz="1100" b="0">
                <a:solidFill>
                  <a:srgbClr val="1B2A41"/>
                </a:solidFill>
                <a:latin typeface="Calibri"/>
              </a:rPr>
              <a:t>Every step above asks for the same thing: a company's revenue and price. Step 1 answers it once. Step 4 answers it for a hundred companies, every morning, with the arithmetic checked. You will do steps 1, 2 and 3 today.</a:t>
            </a:r>
          </a:p>
        </p:txBody>
      </p:sp>
      <p:sp>
        <p:nvSpPr>
          <p:cNvPr id="35" name="TextBox 34"/>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6" name="TextBox 35"/>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DEFINITIONS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Generative AI, AI agent, agentic AI</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GENERATIVE AI</a:t>
            </a:r>
          </a:p>
        </p:txBody>
      </p:sp>
      <p:sp>
        <p:nvSpPr>
          <p:cNvPr id="7" name="TextBox 6"/>
          <p:cNvSpPr txBox="1"/>
          <p:nvPr/>
        </p:nvSpPr>
        <p:spPr>
          <a:xfrm>
            <a:off x="786384"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0F2145"/>
                </a:solidFill>
                <a:latin typeface="Georgia"/>
              </a:rPr>
              <a:t>It writes.</a:t>
            </a:r>
          </a:p>
        </p:txBody>
      </p:sp>
      <p:sp>
        <p:nvSpPr>
          <p:cNvPr id="8" name="TextBox 7"/>
          <p:cNvSpPr txBox="1"/>
          <p:nvPr/>
        </p:nvSpPr>
        <p:spPr>
          <a:xfrm>
            <a:off x="786384"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A model that produces text, code, tables or images when you ask. It answers and then stops.</a:t>
            </a:r>
          </a:p>
        </p:txBody>
      </p:sp>
      <p:sp>
        <p:nvSpPr>
          <p:cNvPr id="9" name="Rectangle 8"/>
          <p:cNvSpPr/>
          <p:nvPr/>
        </p:nvSpPr>
        <p:spPr>
          <a:xfrm>
            <a:off x="786384"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You ask for a summary of an annual report. You get the summary.</a:t>
            </a:r>
          </a:p>
        </p:txBody>
      </p:sp>
      <p:sp>
        <p:nvSpPr>
          <p:cNvPr id="11" name="TextBox 10"/>
          <p:cNvSpPr txBox="1"/>
          <p:nvPr/>
        </p:nvSpPr>
        <p:spPr>
          <a:xfrm>
            <a:off x="786384"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ChatGPT, Claude, Gemini in a chat window.</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AI AGENT</a:t>
            </a:r>
          </a:p>
        </p:txBody>
      </p:sp>
      <p:sp>
        <p:nvSpPr>
          <p:cNvPr id="14" name="TextBox 13"/>
          <p:cNvSpPr txBox="1"/>
          <p:nvPr/>
        </p:nvSpPr>
        <p:spPr>
          <a:xfrm>
            <a:off x="4553712"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0F2145"/>
                </a:solidFill>
                <a:latin typeface="Georgia"/>
              </a:rPr>
              <a:t>It does.</a:t>
            </a:r>
          </a:p>
        </p:txBody>
      </p:sp>
      <p:sp>
        <p:nvSpPr>
          <p:cNvPr id="15" name="TextBox 14"/>
          <p:cNvSpPr txBox="1"/>
          <p:nvPr/>
        </p:nvSpPr>
        <p:spPr>
          <a:xfrm>
            <a:off x="4553712"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One model with tools, memory and a goal. It decides which tool to call, calls it, and checks the result.</a:t>
            </a:r>
          </a:p>
        </p:txBody>
      </p:sp>
      <p:sp>
        <p:nvSpPr>
          <p:cNvPr id="16" name="Rectangle 15"/>
          <p:cNvSpPr/>
          <p:nvPr/>
        </p:nvSpPr>
        <p:spPr>
          <a:xfrm>
            <a:off x="4553712"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“Get me Reliance's revenue.” It calls the market data tool and returns the number.</a:t>
            </a:r>
          </a:p>
        </p:txBody>
      </p:sp>
      <p:sp>
        <p:nvSpPr>
          <p:cNvPr id="18" name="TextBox 17"/>
          <p:cNvSpPr txBox="1"/>
          <p:nvPr/>
        </p:nvSpPr>
        <p:spPr>
          <a:xfrm>
            <a:off x="4553712"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The Codex session that built your app today.</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AGENTIC AI</a:t>
            </a:r>
          </a:p>
        </p:txBody>
      </p:sp>
      <p:sp>
        <p:nvSpPr>
          <p:cNvPr id="21" name="TextBox 20"/>
          <p:cNvSpPr txBox="1"/>
          <p:nvPr/>
        </p:nvSpPr>
        <p:spPr>
          <a:xfrm>
            <a:off x="8321040"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Georgia"/>
              </a:rPr>
              <a:t>Several of them, organised.</a:t>
            </a:r>
          </a:p>
        </p:txBody>
      </p:sp>
      <p:sp>
        <p:nvSpPr>
          <p:cNvPr id="22" name="TextBox 21"/>
          <p:cNvSpPr txBox="1"/>
          <p:nvPr/>
        </p:nvSpPr>
        <p:spPr>
          <a:xfrm>
            <a:off x="8321040"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C9D6EE"/>
                </a:solidFill>
                <a:latin typeface="Calibri"/>
              </a:rPr>
              <a:t>Many agents and models, each with a role, wired into one system with validation and a human at the end.</a:t>
            </a:r>
          </a:p>
        </p:txBody>
      </p:sp>
      <p:sp>
        <p:nvSpPr>
          <p:cNvPr id="23" name="Rectangle 22"/>
          <p:cNvSpPr/>
          <p:nvPr/>
        </p:nvSpPr>
        <p:spPr>
          <a:xfrm>
            <a:off x="8321040"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Research agent, valuation agent, writer, then Python checks the maths, then a human signs.</a:t>
            </a:r>
          </a:p>
        </p:txBody>
      </p:sp>
      <p:sp>
        <p:nvSpPr>
          <p:cNvPr id="25" name="TextBox 24"/>
          <p:cNvSpPr txBox="1"/>
          <p:nvPr/>
        </p:nvSpPr>
        <p:spPr>
          <a:xfrm>
            <a:off x="8321040"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JARVIS. Slide 17 shows how it is put together.</a:t>
            </a:r>
          </a:p>
        </p:txBody>
      </p:sp>
      <p:sp>
        <p:nvSpPr>
          <p:cNvPr id="26" name="Rectangle 25"/>
          <p:cNvSpPr/>
          <p:nvPr/>
        </p:nvSpPr>
        <p:spPr>
          <a:xfrm>
            <a:off x="548640" y="566928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66928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The dividing line:  </a:t>
            </a:r>
            <a:r>
              <a:rPr sz="1250" b="0">
                <a:solidFill>
                  <a:srgbClr val="FFFFFF"/>
                </a:solidFill>
                <a:latin typeface="Calibri"/>
              </a:rPr>
              <a:t>generative AI answers you. An agent acts for you. Agentic AI is several agents doing that together, with checks between them.</a:t>
            </a:r>
          </a:p>
        </p:txBody>
      </p:sp>
      <p:sp>
        <p:nvSpPr>
          <p:cNvPr id="28" name="TextBox 2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9" name="TextBox 2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an LLM works, end to end: “What is the capital of France?”</a:t>
            </a:r>
          </a:p>
        </p:txBody>
      </p:sp>
      <p:sp>
        <p:nvSpPr>
          <p:cNvPr id="5" name="Rectangle 4"/>
          <p:cNvSpPr/>
          <p:nvPr/>
        </p:nvSpPr>
        <p:spPr>
          <a:xfrm>
            <a:off x="548640" y="160020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7647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1 · YOUR QUESTION</a:t>
            </a:r>
          </a:p>
          <a:p>
            <a:pPr algn="l">
              <a:lnSpc>
                <a:spcPct val="105000"/>
              </a:lnSpc>
              <a:spcBef>
                <a:spcPts val="400"/>
              </a:spcBef>
            </a:pPr>
            <a:r>
              <a:rPr sz="1000" b="0">
                <a:solidFill>
                  <a:srgbClr val="5D6B7E"/>
                </a:solidFill>
                <a:latin typeface="Calibri"/>
              </a:rPr>
              <a:t>What is the capital of France?</a:t>
            </a:r>
          </a:p>
        </p:txBody>
      </p:sp>
      <p:sp>
        <p:nvSpPr>
          <p:cNvPr id="8" name="TextBox 7"/>
          <p:cNvSpPr txBox="1"/>
          <p:nvPr/>
        </p:nvSpPr>
        <p:spPr>
          <a:xfrm>
            <a:off x="3236976" y="210312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9" name="Rectangle 8"/>
          <p:cNvSpPr/>
          <p:nvPr/>
        </p:nvSpPr>
        <p:spPr>
          <a:xfrm>
            <a:off x="3374136" y="160020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60020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75304" y="17647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2 · TOKENIZE</a:t>
            </a:r>
          </a:p>
          <a:p>
            <a:pPr algn="l">
              <a:lnSpc>
                <a:spcPct val="105000"/>
              </a:lnSpc>
              <a:spcBef>
                <a:spcPts val="400"/>
              </a:spcBef>
            </a:pPr>
            <a:r>
              <a:rPr sz="1000" b="0">
                <a:solidFill>
                  <a:srgbClr val="5D6B7E"/>
                </a:solidFill>
                <a:latin typeface="Calibri"/>
              </a:rPr>
              <a:t>Split into pieces: What | is | the | capital | of | France | ?</a:t>
            </a:r>
          </a:p>
        </p:txBody>
      </p:sp>
      <p:sp>
        <p:nvSpPr>
          <p:cNvPr id="12" name="TextBox 11"/>
          <p:cNvSpPr txBox="1"/>
          <p:nvPr/>
        </p:nvSpPr>
        <p:spPr>
          <a:xfrm>
            <a:off x="6062472" y="210312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3" name="Rectangle 12"/>
          <p:cNvSpPr/>
          <p:nvPr/>
        </p:nvSpPr>
        <p:spPr>
          <a:xfrm>
            <a:off x="6199631" y="160020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1" y="160020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799" y="17647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3 · EMBED</a:t>
            </a:r>
          </a:p>
          <a:p>
            <a:pPr algn="l">
              <a:lnSpc>
                <a:spcPct val="105000"/>
              </a:lnSpc>
              <a:spcBef>
                <a:spcPts val="400"/>
              </a:spcBef>
            </a:pPr>
            <a:r>
              <a:rPr sz="1000" b="0">
                <a:solidFill>
                  <a:srgbClr val="5D6B7E"/>
                </a:solidFill>
                <a:latin typeface="Calibri"/>
              </a:rPr>
              <a:t>Each token becomes a long list of numbers, learned in training.</a:t>
            </a:r>
          </a:p>
        </p:txBody>
      </p:sp>
      <p:sp>
        <p:nvSpPr>
          <p:cNvPr id="16" name="TextBox 15"/>
          <p:cNvSpPr txBox="1"/>
          <p:nvPr/>
        </p:nvSpPr>
        <p:spPr>
          <a:xfrm>
            <a:off x="8887967" y="210312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7" name="Rectangle 16"/>
          <p:cNvSpPr/>
          <p:nvPr/>
        </p:nvSpPr>
        <p:spPr>
          <a:xfrm>
            <a:off x="9025128" y="1600200"/>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5128" y="1600200"/>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17647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4 · TRANSFORMER</a:t>
            </a:r>
          </a:p>
          <a:p>
            <a:pPr algn="l">
              <a:lnSpc>
                <a:spcPct val="105000"/>
              </a:lnSpc>
              <a:spcBef>
                <a:spcPts val="400"/>
              </a:spcBef>
            </a:pPr>
            <a:r>
              <a:rPr sz="1000" b="0">
                <a:solidFill>
                  <a:srgbClr val="C9D6EE"/>
                </a:solidFill>
                <a:latin typeface="Calibri"/>
              </a:rPr>
              <a:t>Attention weighs which tokens matter to which. Many layers, one after another.</a:t>
            </a:r>
          </a:p>
        </p:txBody>
      </p:sp>
      <p:sp>
        <p:nvSpPr>
          <p:cNvPr id="20" name="Rectangle 19"/>
          <p:cNvSpPr/>
          <p:nvPr/>
        </p:nvSpPr>
        <p:spPr>
          <a:xfrm>
            <a:off x="548640" y="3200400"/>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200400"/>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33649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5 · PREDICT</a:t>
            </a:r>
          </a:p>
          <a:p>
            <a:pPr algn="l">
              <a:lnSpc>
                <a:spcPct val="105000"/>
              </a:lnSpc>
              <a:spcBef>
                <a:spcPts val="400"/>
              </a:spcBef>
            </a:pPr>
            <a:r>
              <a:rPr sz="1000" b="0">
                <a:solidFill>
                  <a:srgbClr val="C9D6EE"/>
                </a:solidFill>
                <a:latin typeface="Calibri"/>
              </a:rPr>
              <a:t>Paris 99.7% · London 0.2% · Berlin 0.05% · Rome 0.03%</a:t>
            </a:r>
          </a:p>
        </p:txBody>
      </p:sp>
      <p:sp>
        <p:nvSpPr>
          <p:cNvPr id="23" name="TextBox 22"/>
          <p:cNvSpPr txBox="1"/>
          <p:nvPr/>
        </p:nvSpPr>
        <p:spPr>
          <a:xfrm>
            <a:off x="3236976" y="370332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4" name="Rectangle 23"/>
          <p:cNvSpPr/>
          <p:nvPr/>
        </p:nvSpPr>
        <p:spPr>
          <a:xfrm>
            <a:off x="3374136" y="320040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74136" y="320040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75304" y="33649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6 · PICK AND ADD</a:t>
            </a:r>
          </a:p>
          <a:p>
            <a:pPr algn="l">
              <a:lnSpc>
                <a:spcPct val="105000"/>
              </a:lnSpc>
              <a:spcBef>
                <a:spcPts val="400"/>
              </a:spcBef>
            </a:pPr>
            <a:r>
              <a:rPr sz="1000" b="0">
                <a:solidFill>
                  <a:srgbClr val="5D6B7E"/>
                </a:solidFill>
                <a:latin typeface="Calibri"/>
              </a:rPr>
              <a:t>The top token joins the answer.  Output so far: Paris</a:t>
            </a:r>
          </a:p>
        </p:txBody>
      </p:sp>
      <p:sp>
        <p:nvSpPr>
          <p:cNvPr id="27" name="TextBox 26"/>
          <p:cNvSpPr txBox="1"/>
          <p:nvPr/>
        </p:nvSpPr>
        <p:spPr>
          <a:xfrm>
            <a:off x="6062472" y="370332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8" name="Rectangle 27"/>
          <p:cNvSpPr/>
          <p:nvPr/>
        </p:nvSpPr>
        <p:spPr>
          <a:xfrm>
            <a:off x="6199631" y="320040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9631" y="320040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799" y="33649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7 · REPEAT</a:t>
            </a:r>
          </a:p>
          <a:p>
            <a:pPr algn="l">
              <a:lnSpc>
                <a:spcPct val="105000"/>
              </a:lnSpc>
              <a:spcBef>
                <a:spcPts val="400"/>
              </a:spcBef>
            </a:pPr>
            <a:r>
              <a:rPr sz="1000" b="0">
                <a:solidFill>
                  <a:srgbClr val="5D6B7E"/>
                </a:solidFill>
                <a:latin typeface="Calibri"/>
              </a:rPr>
              <a:t>Feed the answer back in and predict the next token.</a:t>
            </a:r>
          </a:p>
        </p:txBody>
      </p:sp>
      <p:sp>
        <p:nvSpPr>
          <p:cNvPr id="31" name="TextBox 30"/>
          <p:cNvSpPr txBox="1"/>
          <p:nvPr/>
        </p:nvSpPr>
        <p:spPr>
          <a:xfrm>
            <a:off x="8887967" y="370332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32" name="Rectangle 31"/>
          <p:cNvSpPr/>
          <p:nvPr/>
        </p:nvSpPr>
        <p:spPr>
          <a:xfrm>
            <a:off x="9025128" y="320040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25128" y="320040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6296" y="336499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8 · STOP</a:t>
            </a:r>
          </a:p>
          <a:p>
            <a:pPr algn="l">
              <a:lnSpc>
                <a:spcPct val="105000"/>
              </a:lnSpc>
              <a:spcBef>
                <a:spcPts val="400"/>
              </a:spcBef>
            </a:pPr>
            <a:r>
              <a:rPr sz="1000" b="0">
                <a:solidFill>
                  <a:srgbClr val="5D6B7E"/>
                </a:solidFill>
                <a:latin typeface="Calibri"/>
              </a:rPr>
              <a:t>It stops at an end token.  “Paris is the capital of France.”</a:t>
            </a:r>
          </a:p>
        </p:txBody>
      </p:sp>
      <p:sp>
        <p:nvSpPr>
          <p:cNvPr id="35" name="TextBox 34"/>
          <p:cNvSpPr txBox="1"/>
          <p:nvPr/>
        </p:nvSpPr>
        <p:spPr>
          <a:xfrm>
            <a:off x="548640" y="4846320"/>
            <a:ext cx="11091672" cy="27432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Steps 4 to 7 repeat, one token at a time, until the answer is complete. Each pass takes milliseconds.</a:t>
            </a:r>
          </a:p>
        </p:txBody>
      </p:sp>
      <p:sp>
        <p:nvSpPr>
          <p:cNvPr id="36" name="Rectangle 35"/>
          <p:cNvSpPr/>
          <p:nvPr/>
        </p:nvSpPr>
        <p:spPr>
          <a:xfrm>
            <a:off x="548640" y="5212080"/>
            <a:ext cx="5577840" cy="8686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49240"/>
            <a:ext cx="5120640" cy="7315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Attention, in one line</a:t>
            </a:r>
          </a:p>
          <a:p>
            <a:pPr algn="l">
              <a:lnSpc>
                <a:spcPct val="105000"/>
              </a:lnSpc>
              <a:spcBef>
                <a:spcPts val="400"/>
              </a:spcBef>
            </a:pPr>
            <a:r>
              <a:rPr sz="1000" b="0">
                <a:solidFill>
                  <a:srgbClr val="1B2A41"/>
                </a:solidFill>
                <a:latin typeface="Calibri"/>
              </a:rPr>
              <a:t>For every token the model scores every other token for relevance. That scoring is attention, and the transformer is the machine that runs it across the whole passage at once.</a:t>
            </a:r>
          </a:p>
        </p:txBody>
      </p:sp>
      <p:sp>
        <p:nvSpPr>
          <p:cNvPr id="38" name="Rectangle 37"/>
          <p:cNvSpPr/>
          <p:nvPr/>
        </p:nvSpPr>
        <p:spPr>
          <a:xfrm>
            <a:off x="6492240" y="5212080"/>
            <a:ext cx="5148072" cy="8686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5349240"/>
            <a:ext cx="4663440" cy="7315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And that is what GPT stands for</a:t>
            </a:r>
          </a:p>
          <a:p>
            <a:pPr algn="l">
              <a:lnSpc>
                <a:spcPct val="105000"/>
              </a:lnSpc>
              <a:spcBef>
                <a:spcPts val="400"/>
              </a:spcBef>
            </a:pPr>
            <a:r>
              <a:rPr sz="1000" b="0">
                <a:solidFill>
                  <a:srgbClr val="C9D6EE"/>
                </a:solidFill>
                <a:latin typeface="Calibri"/>
              </a:rPr>
              <a:t>Generative Pre-trained Transformer. It writes, it learned from an enormous amount of text first, and this is the design. ChatGPT is that model in a chat window.</a:t>
            </a:r>
          </a:p>
        </p:txBody>
      </p:sp>
      <p:sp>
        <p:nvSpPr>
          <p:cNvPr id="40" name="TextBox 39"/>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41" name="TextBox 40"/>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MODELS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BloombergGPT and FinBERT, explained</a:t>
            </a:r>
          </a:p>
        </p:txBody>
      </p:sp>
      <p:sp>
        <p:nvSpPr>
          <p:cNvPr id="5" name="Rectangle 4"/>
          <p:cNvSpPr/>
          <p:nvPr/>
        </p:nvSpPr>
        <p:spPr>
          <a:xfrm>
            <a:off x="548640" y="1572768"/>
            <a:ext cx="11091672" cy="17830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7830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55648"/>
            <a:ext cx="2468880" cy="82296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BloombergGPT</a:t>
            </a:r>
          </a:p>
          <a:p>
            <a:pPr algn="l">
              <a:lnSpc>
                <a:spcPct val="105000"/>
              </a:lnSpc>
              <a:spcBef>
                <a:spcPts val="400"/>
              </a:spcBef>
            </a:pPr>
            <a:r>
              <a:rPr sz="950" b="1">
                <a:solidFill>
                  <a:srgbClr val="3A5C9E"/>
                </a:solidFill>
                <a:latin typeface="Calibri"/>
              </a:rPr>
              <a:t>Announced March 2023</a:t>
            </a:r>
          </a:p>
        </p:txBody>
      </p:sp>
      <p:sp>
        <p:nvSpPr>
          <p:cNvPr id="8" name="TextBox 7"/>
          <p:cNvSpPr txBox="1"/>
          <p:nvPr/>
        </p:nvSpPr>
        <p:spPr>
          <a:xfrm>
            <a:off x="3429000" y="177393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50-billion-parameter model that Bloomberg trained on its own financial archive, about 363 billion tokens of filings, news and market text, plus public data.</a:t>
            </a:r>
          </a:p>
        </p:txBody>
      </p:sp>
      <p:sp>
        <p:nvSpPr>
          <p:cNvPr id="9" name="TextBox 8"/>
          <p:cNvSpPr txBox="1"/>
          <p:nvPr/>
        </p:nvSpPr>
        <p:spPr>
          <a:xfrm>
            <a:off x="7543800" y="177393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It sits inside the Bloomberg Terminal. It was never sold as an open API.</a:t>
            </a:r>
          </a:p>
        </p:txBody>
      </p:sp>
      <p:sp>
        <p:nvSpPr>
          <p:cNvPr id="10" name="TextBox 9"/>
          <p:cNvSpPr txBox="1"/>
          <p:nvPr/>
        </p:nvSpPr>
        <p:spPr>
          <a:xfrm>
            <a:off x="3429000" y="2852928"/>
            <a:ext cx="8046720" cy="457200"/>
          </a:xfrm>
          <a:prstGeom prst="rect">
            <a:avLst/>
          </a:prstGeom>
          <a:noFill/>
        </p:spPr>
        <p:txBody>
          <a:bodyPr wrap="square" lIns="0" rIns="0" tIns="0" bIns="0" anchor="t">
            <a:spAutoFit/>
          </a:bodyPr>
          <a:lstStyle/>
          <a:p>
            <a:pPr algn="l">
              <a:lnSpc>
                <a:spcPct val="105000"/>
              </a:lnSpc>
              <a:spcBef>
                <a:spcPts val="0"/>
              </a:spcBef>
            </a:pPr>
            <a:r>
              <a:rPr sz="1000" b="1">
                <a:solidFill>
                  <a:srgbClr val="0F2145"/>
                </a:solidFill>
                <a:latin typeface="Calibri"/>
              </a:rPr>
              <a:t>What to take from it: training a model on your own data works, and it is expensive. General models improved so fast that most of the gap closed within a year. Very few firms will build one.</a:t>
            </a:r>
          </a:p>
        </p:txBody>
      </p:sp>
      <p:sp>
        <p:nvSpPr>
          <p:cNvPr id="11" name="Rectangle 10"/>
          <p:cNvSpPr/>
          <p:nvPr/>
        </p:nvSpPr>
        <p:spPr>
          <a:xfrm>
            <a:off x="548640" y="3538728"/>
            <a:ext cx="11091672" cy="17830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538728"/>
            <a:ext cx="64008" cy="17830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721608"/>
            <a:ext cx="2468880" cy="82296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FinBERT</a:t>
            </a:r>
          </a:p>
          <a:p>
            <a:pPr algn="l">
              <a:lnSpc>
                <a:spcPct val="105000"/>
              </a:lnSpc>
              <a:spcBef>
                <a:spcPts val="400"/>
              </a:spcBef>
            </a:pPr>
            <a:r>
              <a:rPr sz="950" b="1">
                <a:solidFill>
                  <a:srgbClr val="3A5C9E"/>
                </a:solidFill>
                <a:latin typeface="Calibri"/>
              </a:rPr>
              <a:t>Open source, free</a:t>
            </a:r>
          </a:p>
        </p:txBody>
      </p:sp>
      <p:sp>
        <p:nvSpPr>
          <p:cNvPr id="14" name="TextBox 13"/>
          <p:cNvSpPr txBox="1"/>
          <p:nvPr/>
        </p:nvSpPr>
        <p:spPr>
          <a:xfrm>
            <a:off x="3429000" y="373989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small model based on Google's BERT, fine-tuned on financial text. It does one job: read a sentence and label it positive, negative or neutral.</a:t>
            </a:r>
          </a:p>
        </p:txBody>
      </p:sp>
      <p:sp>
        <p:nvSpPr>
          <p:cNvPr id="15" name="TextBox 14"/>
          <p:cNvSpPr txBox="1"/>
          <p:nvPr/>
        </p:nvSpPr>
        <p:spPr>
          <a:xfrm>
            <a:off x="7543800" y="373989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It runs on a laptop or a bank's own server. No API bill, and no data leaves the building.</a:t>
            </a:r>
          </a:p>
        </p:txBody>
      </p:sp>
      <p:sp>
        <p:nvSpPr>
          <p:cNvPr id="16" name="TextBox 15"/>
          <p:cNvSpPr txBox="1"/>
          <p:nvPr/>
        </p:nvSpPr>
        <p:spPr>
          <a:xfrm>
            <a:off x="3429000" y="4818888"/>
            <a:ext cx="8046720" cy="457200"/>
          </a:xfrm>
          <a:prstGeom prst="rect">
            <a:avLst/>
          </a:prstGeom>
          <a:noFill/>
        </p:spPr>
        <p:txBody>
          <a:bodyPr wrap="square" lIns="0" rIns="0" tIns="0" bIns="0" anchor="t">
            <a:spAutoFit/>
          </a:bodyPr>
          <a:lstStyle/>
          <a:p>
            <a:pPr algn="l">
              <a:lnSpc>
                <a:spcPct val="105000"/>
              </a:lnSpc>
              <a:spcBef>
                <a:spcPts val="0"/>
              </a:spcBef>
            </a:pPr>
            <a:r>
              <a:rPr sz="1000" b="1">
                <a:solidFill>
                  <a:srgbClr val="0F2145"/>
                </a:solidFill>
                <a:latin typeface="Calibri"/>
              </a:rPr>
              <a:t>What to take from it: for one narrow, repeated task, a small specialist model beats a frontier model on cost and on privacy. Module 9 uses FinBERT on NSE announcements.</a:t>
            </a:r>
          </a:p>
        </p:txBody>
      </p:sp>
      <p:sp>
        <p:nvSpPr>
          <p:cNvPr id="17" name="Rectangle 16"/>
          <p:cNvSpPr/>
          <p:nvPr/>
        </p:nvSpPr>
        <p:spPr>
          <a:xfrm>
            <a:off x="548640" y="5532120"/>
            <a:ext cx="11091672" cy="7772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669280"/>
            <a:ext cx="10515600" cy="59436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rule of thumb</a:t>
            </a:r>
          </a:p>
          <a:p>
            <a:pPr algn="l">
              <a:lnSpc>
                <a:spcPct val="105000"/>
              </a:lnSpc>
              <a:spcBef>
                <a:spcPts val="400"/>
              </a:spcBef>
            </a:pPr>
            <a:r>
              <a:rPr sz="1050" b="0">
                <a:solidFill>
                  <a:srgbClr val="C9D6EE"/>
                </a:solidFill>
                <a:latin typeface="Calibri"/>
              </a:rPr>
              <a:t>Use a small specialist model for one repeated, well-defined job. Use a frontier model when the input is messy and the answer needs reasoning. Cost, privacy and accuracy all follow from that choice.</a:t>
            </a:r>
          </a:p>
        </p:txBody>
      </p:sp>
      <p:sp>
        <p:nvSpPr>
          <p:cNvPr id="19" name="TextBox 18"/>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0" name="TextBox 19"/>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AGENTIC AI · A WORKED EXAMPLE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JARVIS: several models, one pipeline, a human at the end</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Built by your faculty. You speak a company name and get back an institutional research note, a formula-linked Excel model and a PDF.</a:t>
            </a:r>
          </a:p>
        </p:txBody>
      </p:sp>
      <p:sp>
        <p:nvSpPr>
          <p:cNvPr id="6" name="Rectangle 5"/>
          <p:cNvSpPr/>
          <p:nvPr/>
        </p:nvSpPr>
        <p:spPr>
          <a:xfrm>
            <a:off x="548640"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VOICE IN</a:t>
            </a:r>
          </a:p>
          <a:p>
            <a:pPr algn="l">
              <a:lnSpc>
                <a:spcPct val="105000"/>
              </a:lnSpc>
              <a:spcBef>
                <a:spcPts val="200"/>
              </a:spcBef>
            </a:pPr>
            <a:r>
              <a:rPr sz="900" b="1">
                <a:solidFill>
                  <a:srgbClr val="3A5C9E"/>
                </a:solidFill>
                <a:latin typeface="Calibri"/>
              </a:rPr>
              <a:t>Whisper, local</a:t>
            </a:r>
          </a:p>
          <a:p>
            <a:pPr algn="l">
              <a:lnSpc>
                <a:spcPct val="105000"/>
              </a:lnSpc>
              <a:spcBef>
                <a:spcPts val="400"/>
              </a:spcBef>
            </a:pPr>
            <a:r>
              <a:rPr sz="950" b="0">
                <a:solidFill>
                  <a:srgbClr val="5D6B7E"/>
                </a:solidFill>
                <a:latin typeface="Calibri"/>
              </a:rPr>
              <a:t>You say “long term analysis on Infosys”. Speech becomes text on the machine, not in the cloud.</a:t>
            </a:r>
          </a:p>
        </p:txBody>
      </p:sp>
      <p:sp>
        <p:nvSpPr>
          <p:cNvPr id="9" name="TextBox 8"/>
          <p:cNvSpPr txBox="1"/>
          <p:nvPr/>
        </p:nvSpPr>
        <p:spPr>
          <a:xfrm>
            <a:off x="3236976"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0" name="Rectangle 9"/>
          <p:cNvSpPr/>
          <p:nvPr/>
        </p:nvSpPr>
        <p:spPr>
          <a:xfrm>
            <a:off x="3374136"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304"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RESOLVE</a:t>
            </a:r>
          </a:p>
          <a:p>
            <a:pPr algn="l">
              <a:lnSpc>
                <a:spcPct val="105000"/>
              </a:lnSpc>
              <a:spcBef>
                <a:spcPts val="200"/>
              </a:spcBef>
            </a:pPr>
            <a:r>
              <a:rPr sz="900" b="1">
                <a:solidFill>
                  <a:srgbClr val="3A5C9E"/>
                </a:solidFill>
                <a:latin typeface="Calibri"/>
              </a:rPr>
              <a:t>Sonnet 5</a:t>
            </a:r>
          </a:p>
          <a:p>
            <a:pPr algn="l">
              <a:lnSpc>
                <a:spcPct val="105000"/>
              </a:lnSpc>
              <a:spcBef>
                <a:spcPts val="400"/>
              </a:spcBef>
            </a:pPr>
            <a:r>
              <a:rPr sz="950" b="0">
                <a:solidFill>
                  <a:srgbClr val="5D6B7E"/>
                </a:solidFill>
                <a:latin typeface="Calibri"/>
              </a:rPr>
              <a:t>Turns the name into a ticker. If the company was renamed or delisted, it searches and recovers it.</a:t>
            </a:r>
          </a:p>
        </p:txBody>
      </p:sp>
      <p:sp>
        <p:nvSpPr>
          <p:cNvPr id="13" name="TextBox 12"/>
          <p:cNvSpPr txBox="1"/>
          <p:nvPr/>
        </p:nvSpPr>
        <p:spPr>
          <a:xfrm>
            <a:off x="6062472"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4" name="Rectangle 13"/>
          <p:cNvSpPr/>
          <p:nvPr/>
        </p:nvSpPr>
        <p:spPr>
          <a:xfrm>
            <a:off x="6199631"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1"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799"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FETCH</a:t>
            </a:r>
          </a:p>
          <a:p>
            <a:pPr algn="l">
              <a:lnSpc>
                <a:spcPct val="105000"/>
              </a:lnSpc>
              <a:spcBef>
                <a:spcPts val="200"/>
              </a:spcBef>
            </a:pPr>
            <a:r>
              <a:rPr sz="900" b="1">
                <a:solidFill>
                  <a:srgbClr val="3A5C9E"/>
                </a:solidFill>
                <a:latin typeface="Calibri"/>
              </a:rPr>
              <a:t>yfinance tool</a:t>
            </a:r>
          </a:p>
          <a:p>
            <a:pPr algn="l">
              <a:lnSpc>
                <a:spcPct val="105000"/>
              </a:lnSpc>
              <a:spcBef>
                <a:spcPts val="400"/>
              </a:spcBef>
            </a:pPr>
            <a:r>
              <a:rPr sz="950" b="0">
                <a:solidFill>
                  <a:srgbClr val="5D6B7E"/>
                </a:solidFill>
                <a:latin typeface="Calibri"/>
              </a:rPr>
              <a:t>Pulls price, financials and ratios for the NSE listing.</a:t>
            </a:r>
          </a:p>
        </p:txBody>
      </p:sp>
      <p:sp>
        <p:nvSpPr>
          <p:cNvPr id="17" name="TextBox 16"/>
          <p:cNvSpPr txBox="1"/>
          <p:nvPr/>
        </p:nvSpPr>
        <p:spPr>
          <a:xfrm>
            <a:off x="8887967"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8" name="Rectangle 17"/>
          <p:cNvSpPr/>
          <p:nvPr/>
        </p:nvSpPr>
        <p:spPr>
          <a:xfrm>
            <a:off x="9025128" y="1737360"/>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25128" y="1737360"/>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6296"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COMPUTE</a:t>
            </a:r>
          </a:p>
          <a:p>
            <a:pPr algn="l">
              <a:lnSpc>
                <a:spcPct val="105000"/>
              </a:lnSpc>
              <a:spcBef>
                <a:spcPts val="200"/>
              </a:spcBef>
            </a:pPr>
            <a:r>
              <a:rPr sz="900" b="1">
                <a:solidFill>
                  <a:srgbClr val="C9D6EE"/>
                </a:solidFill>
                <a:latin typeface="Calibri"/>
              </a:rPr>
              <a:t>Python, no model</a:t>
            </a:r>
          </a:p>
          <a:p>
            <a:pPr algn="l">
              <a:lnSpc>
                <a:spcPct val="105000"/>
              </a:lnSpc>
              <a:spcBef>
                <a:spcPts val="400"/>
              </a:spcBef>
            </a:pPr>
            <a:r>
              <a:rPr sz="950" b="0">
                <a:solidFill>
                  <a:srgbClr val="C9D6EE"/>
                </a:solidFill>
                <a:latin typeface="Calibri"/>
              </a:rPr>
              <a:t>DCF fair value and factor scores are calculated in code, because arithmetic is not a language task.</a:t>
            </a:r>
          </a:p>
        </p:txBody>
      </p:sp>
      <p:sp>
        <p:nvSpPr>
          <p:cNvPr id="21" name="Rectangle 20"/>
          <p:cNvSpPr/>
          <p:nvPr/>
        </p:nvSpPr>
        <p:spPr>
          <a:xfrm>
            <a:off x="548640" y="3310128"/>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31012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WRITE</a:t>
            </a:r>
          </a:p>
          <a:p>
            <a:pPr algn="l">
              <a:lnSpc>
                <a:spcPct val="105000"/>
              </a:lnSpc>
              <a:spcBef>
                <a:spcPts val="200"/>
              </a:spcBef>
            </a:pPr>
            <a:r>
              <a:rPr sz="900" b="1">
                <a:solidFill>
                  <a:srgbClr val="3A5C9E"/>
                </a:solidFill>
                <a:latin typeface="Calibri"/>
              </a:rPr>
              <a:t>Opus 4.8</a:t>
            </a:r>
          </a:p>
          <a:p>
            <a:pPr algn="l">
              <a:lnSpc>
                <a:spcPct val="105000"/>
              </a:lnSpc>
              <a:spcBef>
                <a:spcPts val="400"/>
              </a:spcBef>
            </a:pPr>
            <a:r>
              <a:rPr sz="950" b="0">
                <a:solidFill>
                  <a:srgbClr val="5D6B7E"/>
                </a:solidFill>
                <a:latin typeface="Calibri"/>
              </a:rPr>
              <a:t>Authors the thesis, moat, bull and bear case, catalysts, risks and the recommendation, grounded on the numbers above.</a:t>
            </a:r>
          </a:p>
        </p:txBody>
      </p:sp>
      <p:sp>
        <p:nvSpPr>
          <p:cNvPr id="24" name="TextBox 23"/>
          <p:cNvSpPr txBox="1"/>
          <p:nvPr/>
        </p:nvSpPr>
        <p:spPr>
          <a:xfrm>
            <a:off x="3236976" y="3813048"/>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5" name="Rectangle 24"/>
          <p:cNvSpPr/>
          <p:nvPr/>
        </p:nvSpPr>
        <p:spPr>
          <a:xfrm>
            <a:off x="3374136" y="3310128"/>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4136" y="331012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75304"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VALIDATE</a:t>
            </a:r>
          </a:p>
          <a:p>
            <a:pPr algn="l">
              <a:lnSpc>
                <a:spcPct val="105000"/>
              </a:lnSpc>
              <a:spcBef>
                <a:spcPts val="200"/>
              </a:spcBef>
            </a:pPr>
            <a:r>
              <a:rPr sz="900" b="1">
                <a:solidFill>
                  <a:srgbClr val="C9D6EE"/>
                </a:solidFill>
                <a:latin typeface="Calibri"/>
              </a:rPr>
              <a:t>Python again</a:t>
            </a:r>
          </a:p>
          <a:p>
            <a:pPr algn="l">
              <a:lnSpc>
                <a:spcPct val="105000"/>
              </a:lnSpc>
              <a:spcBef>
                <a:spcPts val="400"/>
              </a:spcBef>
            </a:pPr>
            <a:r>
              <a:rPr sz="950" b="0">
                <a:solidFill>
                  <a:srgbClr val="C9D6EE"/>
                </a:solidFill>
                <a:latin typeface="Calibri"/>
              </a:rPr>
              <a:t>An independent DCF recompute, a price cross-check and a data-recency gate. Failures are reported, not hidden.</a:t>
            </a:r>
          </a:p>
        </p:txBody>
      </p:sp>
      <p:sp>
        <p:nvSpPr>
          <p:cNvPr id="28" name="TextBox 27"/>
          <p:cNvSpPr txBox="1"/>
          <p:nvPr/>
        </p:nvSpPr>
        <p:spPr>
          <a:xfrm>
            <a:off x="6062472" y="3813048"/>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9" name="Rectangle 28"/>
          <p:cNvSpPr/>
          <p:nvPr/>
        </p:nvSpPr>
        <p:spPr>
          <a:xfrm>
            <a:off x="6199631" y="3310128"/>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1" y="331012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799"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DELIVER</a:t>
            </a:r>
          </a:p>
          <a:p>
            <a:pPr algn="l">
              <a:lnSpc>
                <a:spcPct val="105000"/>
              </a:lnSpc>
              <a:spcBef>
                <a:spcPts val="200"/>
              </a:spcBef>
            </a:pPr>
            <a:r>
              <a:rPr sz="900" b="1">
                <a:solidFill>
                  <a:srgbClr val="3A5C9E"/>
                </a:solidFill>
                <a:latin typeface="Calibri"/>
              </a:rPr>
              <a:t>openpyxl, reportlab</a:t>
            </a:r>
          </a:p>
          <a:p>
            <a:pPr algn="l">
              <a:lnSpc>
                <a:spcPct val="105000"/>
              </a:lnSpc>
              <a:spcBef>
                <a:spcPts val="400"/>
              </a:spcBef>
            </a:pPr>
            <a:r>
              <a:rPr sz="950" b="0">
                <a:solidFill>
                  <a:srgbClr val="5D6B7E"/>
                </a:solidFill>
                <a:latin typeface="Calibri"/>
              </a:rPr>
              <a:t>A formula-linked Excel model and an institutional PDF.</a:t>
            </a:r>
          </a:p>
        </p:txBody>
      </p:sp>
      <p:sp>
        <p:nvSpPr>
          <p:cNvPr id="32" name="Rectangle 31"/>
          <p:cNvSpPr/>
          <p:nvPr/>
        </p:nvSpPr>
        <p:spPr>
          <a:xfrm>
            <a:off x="9079992" y="3310128"/>
            <a:ext cx="2560320" cy="14173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81160" y="3456432"/>
            <a:ext cx="2194560" cy="1188720"/>
          </a:xfrm>
          <a:prstGeom prst="rect">
            <a:avLst/>
          </a:prstGeom>
          <a:noFill/>
        </p:spPr>
        <p:txBody>
          <a:bodyPr wrap="square" lIns="0" rIns="0" tIns="0" bIns="0" anchor="t">
            <a:spAutoFit/>
          </a:bodyPr>
          <a:lstStyle/>
          <a:p>
            <a:pPr algn="l">
              <a:lnSpc>
                <a:spcPct val="105000"/>
              </a:lnSpc>
              <a:spcBef>
                <a:spcPts val="0"/>
              </a:spcBef>
            </a:pPr>
            <a:r>
              <a:rPr sz="1100" b="1">
                <a:solidFill>
                  <a:srgbClr val="3A5C9E"/>
                </a:solidFill>
                <a:latin typeface="Calibri"/>
              </a:rPr>
              <a:t>THEN A HUMAN</a:t>
            </a:r>
          </a:p>
          <a:p>
            <a:pPr algn="l">
              <a:lnSpc>
                <a:spcPct val="105000"/>
              </a:lnSpc>
              <a:spcBef>
                <a:spcPts val="400"/>
              </a:spcBef>
            </a:pPr>
            <a:r>
              <a:rPr sz="950" b="0">
                <a:solidFill>
                  <a:srgbClr val="1B2A41"/>
                </a:solidFill>
                <a:latin typeface="Calibri"/>
              </a:rPr>
              <a:t>You read it and decide. The system never places a trade and never sends the note to a client.</a:t>
            </a:r>
          </a:p>
        </p:txBody>
      </p:sp>
      <p:sp>
        <p:nvSpPr>
          <p:cNvPr id="34" name="Rectangle 33"/>
          <p:cNvSpPr/>
          <p:nvPr/>
        </p:nvSpPr>
        <p:spPr>
          <a:xfrm>
            <a:off x="548640" y="5029200"/>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5029200"/>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175504"/>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Is this agentic? Partly, and the distinction is the lesson.</a:t>
            </a:r>
          </a:p>
          <a:p>
            <a:pPr algn="l">
              <a:lnSpc>
                <a:spcPct val="105000"/>
              </a:lnSpc>
              <a:spcBef>
                <a:spcPts val="500"/>
              </a:spcBef>
            </a:pPr>
            <a:r>
              <a:rPr sz="1100" b="0">
                <a:solidFill>
                  <a:srgbClr val="1B2A41"/>
                </a:solidFill>
                <a:latin typeface="Calibri"/>
              </a:rPr>
              <a:t>The system chooses for itself where choosing helps: which ticker you meant, which model handles which task, what to do when data is missing. The order of the pipeline is fixed by design, and the maths is done in Python, not by a model. In finance you keep the loop narrow on purpose. An agent that can improvise its own valuation method is not an asset.</a:t>
            </a:r>
          </a:p>
        </p:txBody>
      </p:sp>
      <p:sp>
        <p:nvSpPr>
          <p:cNvPr id="37" name="TextBox 3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8" name="TextBox 3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LAB,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Python first: share price, revenue, and the P&amp;L</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Our goal: Swiggy's share price, its revenue and three years of its profit and loss. Thirty lines of Python and one free library.</a:t>
            </a:r>
          </a:p>
        </p:txBody>
      </p:sp>
      <p:sp>
        <p:nvSpPr>
          <p:cNvPr id="6" name="Rectangle 5"/>
          <p:cNvSpPr/>
          <p:nvPr/>
        </p:nvSpPr>
        <p:spPr>
          <a:xfrm>
            <a:off x="548640" y="1737360"/>
            <a:ext cx="5760720" cy="2834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83664"/>
            <a:ext cx="530352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THE ENTIRE PROGRAM</a:t>
            </a:r>
          </a:p>
        </p:txBody>
      </p:sp>
      <p:sp>
        <p:nvSpPr>
          <p:cNvPr id="8" name="TextBox 7"/>
          <p:cNvSpPr txBox="1"/>
          <p:nvPr/>
        </p:nvSpPr>
        <p:spPr>
          <a:xfrm>
            <a:off x="804672" y="2231136"/>
            <a:ext cx="5303520" cy="2176272"/>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onsolas"/>
              </a:rPr>
              <a:t>import yfinance as yf</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FFFFFF"/>
                </a:solidFill>
                <a:latin typeface="Consolas"/>
              </a:rPr>
              <a:t>t = yf.Ticker("SWIGGY.NS")</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 1. the market price right now</a:t>
            </a:r>
          </a:p>
          <a:p>
            <a:pPr algn="l">
              <a:lnSpc>
                <a:spcPct val="105000"/>
              </a:lnSpc>
              <a:spcBef>
                <a:spcPts val="250"/>
              </a:spcBef>
            </a:pPr>
            <a:r>
              <a:rPr sz="1050" b="0">
                <a:solidFill>
                  <a:srgbClr val="FFFFFF"/>
                </a:solidFill>
                <a:latin typeface="Consolas"/>
              </a:rPr>
              <a:t>print(t.info["regularMarketPrice"])</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 2. the whole P&amp;L, five years, as a table</a:t>
            </a:r>
          </a:p>
          <a:p>
            <a:pPr algn="l">
              <a:lnSpc>
                <a:spcPct val="105000"/>
              </a:lnSpc>
              <a:spcBef>
                <a:spcPts val="250"/>
              </a:spcBef>
            </a:pPr>
            <a:r>
              <a:rPr sz="1050" b="0">
                <a:solidFill>
                  <a:srgbClr val="FFFFFF"/>
                </a:solidFill>
                <a:latin typeface="Consolas"/>
              </a:rPr>
              <a:t>print(t.financials)</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 3. one line out of that table</a:t>
            </a:r>
          </a:p>
          <a:p>
            <a:pPr algn="l">
              <a:lnSpc>
                <a:spcPct val="105000"/>
              </a:lnSpc>
              <a:spcBef>
                <a:spcPts val="250"/>
              </a:spcBef>
            </a:pPr>
            <a:r>
              <a:rPr sz="1050" b="0">
                <a:solidFill>
                  <a:srgbClr val="FFFFFF"/>
                </a:solidFill>
                <a:latin typeface="Consolas"/>
              </a:rPr>
              <a:t>print(t.financials.loc["Total Revenue"])</a:t>
            </a:r>
          </a:p>
        </p:txBody>
      </p:sp>
      <p:sp>
        <p:nvSpPr>
          <p:cNvPr id="9" name="Rectangle 8"/>
          <p:cNvSpPr/>
          <p:nvPr/>
        </p:nvSpPr>
        <p:spPr>
          <a:xfrm>
            <a:off x="6492240" y="1737360"/>
            <a:ext cx="5148072"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1737360"/>
            <a:ext cx="64008" cy="128016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1865376"/>
            <a:ext cx="4663440" cy="105156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Swiggy Limited   SWIGGY.NS</a:t>
            </a:r>
          </a:p>
          <a:p>
            <a:pPr algn="l">
              <a:lnSpc>
                <a:spcPct val="105000"/>
              </a:lnSpc>
              <a:spcBef>
                <a:spcPts val="400"/>
              </a:spcBef>
            </a:pPr>
            <a:r>
              <a:rPr sz="1500" b="1">
                <a:solidFill>
                  <a:srgbClr val="0F2145"/>
                </a:solidFill>
                <a:latin typeface="Georgia"/>
              </a:rPr>
              <a:t>INR 280.75</a:t>
            </a:r>
          </a:p>
          <a:p>
            <a:pPr algn="l">
              <a:lnSpc>
                <a:spcPct val="105000"/>
              </a:lnSpc>
              <a:spcBef>
                <a:spcPts val="400"/>
              </a:spcBef>
            </a:pPr>
            <a:r>
              <a:rPr sz="1000" b="0">
                <a:solidFill>
                  <a:srgbClr val="5D6B7E"/>
                </a:solidFill>
                <a:latin typeface="Calibri"/>
              </a:rPr>
              <a:t>Revenue INR 22,828 crore for the year to 31 Mar 2026. Revenue doubled in two years, and the operating loss widened every year: 2,601 to 3,392 to 4,414 crore.</a:t>
            </a:r>
          </a:p>
        </p:txBody>
      </p:sp>
      <p:sp>
        <p:nvSpPr>
          <p:cNvPr id="12" name="Rectangle 11"/>
          <p:cNvSpPr/>
          <p:nvPr/>
        </p:nvSpPr>
        <p:spPr>
          <a:xfrm>
            <a:off x="6492240" y="3154680"/>
            <a:ext cx="5148072" cy="12801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3154680"/>
            <a:ext cx="64008" cy="12801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48272" y="3282696"/>
            <a:ext cx="4663440" cy="105156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Infosys   INFY.NS</a:t>
            </a:r>
          </a:p>
          <a:p>
            <a:pPr algn="l">
              <a:lnSpc>
                <a:spcPct val="105000"/>
              </a:lnSpc>
              <a:spcBef>
                <a:spcPts val="400"/>
              </a:spcBef>
            </a:pPr>
            <a:r>
              <a:rPr sz="1500" b="1">
                <a:solidFill>
                  <a:srgbClr val="0F2145"/>
                </a:solidFill>
                <a:latin typeface="Georgia"/>
              </a:rPr>
              <a:t>INR 1,175.10</a:t>
            </a:r>
          </a:p>
          <a:p>
            <a:pPr algn="l">
              <a:lnSpc>
                <a:spcPct val="105000"/>
              </a:lnSpc>
              <a:spcBef>
                <a:spcPts val="400"/>
              </a:spcBef>
            </a:pPr>
            <a:r>
              <a:rPr sz="1000" b="0">
                <a:solidFill>
                  <a:srgbClr val="0F2145"/>
                </a:solidFill>
                <a:latin typeface="Calibri"/>
              </a:rPr>
              <a:t>Revenue 20.16B, reported in USD but labelled INR. Wrong by about eighty times.</a:t>
            </a:r>
          </a:p>
        </p:txBody>
      </p:sp>
      <p:sp>
        <p:nvSpPr>
          <p:cNvPr id="15" name="Rectangle 14"/>
          <p:cNvSpPr/>
          <p:nvPr/>
        </p:nvSpPr>
        <p:spPr>
          <a:xfrm>
            <a:off x="6492240" y="4572000"/>
            <a:ext cx="5148072"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48272" y="4736592"/>
            <a:ext cx="4663440" cy="1188720"/>
          </a:xfrm>
          <a:prstGeom prst="rect">
            <a:avLst/>
          </a:prstGeom>
          <a:noFill/>
        </p:spPr>
        <p:txBody>
          <a:bodyPr wrap="square" lIns="0" rIns="0" tIns="0" bIns="0" anchor="t">
            <a:spAutoFit/>
          </a:bodyPr>
          <a:lstStyle/>
          <a:p>
            <a:pPr algn="l">
              <a:lnSpc>
                <a:spcPct val="105000"/>
              </a:lnSpc>
              <a:spcBef>
                <a:spcPts val="0"/>
              </a:spcBef>
            </a:pPr>
            <a:r>
              <a:rPr sz="1300" b="1">
                <a:solidFill>
                  <a:srgbClr val="C9A227"/>
                </a:solidFill>
                <a:latin typeface="Georgia"/>
              </a:rPr>
              <a:t>The trap, in your first ten minutes</a:t>
            </a:r>
          </a:p>
          <a:p>
            <a:pPr algn="l">
              <a:lnSpc>
                <a:spcPct val="105000"/>
              </a:lnSpc>
              <a:spcBef>
                <a:spcPts val="500"/>
              </a:spcBef>
            </a:pPr>
            <a:r>
              <a:rPr sz="1050" b="0">
                <a:solidFill>
                  <a:srgbClr val="C9D6EE"/>
                </a:solidFill>
                <a:latin typeface="Calibri"/>
              </a:rPr>
              <a:t>Yahoo carries two currency fields. Infosys files its statements in dollars, so the price comes back in rupees and the revenue does not. Print both fields and compare them, every time.</a:t>
            </a:r>
          </a:p>
        </p:txBody>
      </p:sp>
      <p:sp>
        <p:nvSpPr>
          <p:cNvPr id="17" name="TextBox 16"/>
          <p:cNvSpPr txBox="1"/>
          <p:nvPr/>
        </p:nvSpPr>
        <p:spPr>
          <a:xfrm>
            <a:off x="548640" y="4754880"/>
            <a:ext cx="5760720" cy="12801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What you have after ten minutes</a:t>
            </a:r>
          </a:p>
          <a:p>
            <a:pPr algn="l">
              <a:lnSpc>
                <a:spcPct val="105000"/>
              </a:lnSpc>
              <a:spcBef>
                <a:spcPts val="500"/>
              </a:spcBef>
            </a:pPr>
            <a:r>
              <a:rPr sz="1050" b="0">
                <a:solidFill>
                  <a:srgbClr val="5D6B7E"/>
                </a:solidFill>
                <a:latin typeface="Calibri"/>
              </a:rPr>
              <a:t>Swiggy's full profit and loss on your screen, three years side by side, and a company you can actually argue about. No subscription and no data licence.</a:t>
            </a:r>
          </a:p>
          <a:p>
            <a:pPr algn="l">
              <a:lnSpc>
                <a:spcPct val="105000"/>
              </a:lnSpc>
              <a:spcBef>
                <a:spcPts val="600"/>
              </a:spcBef>
            </a:pPr>
            <a:r>
              <a:rPr sz="1000" b="0">
                <a:solidFill>
                  <a:srgbClr val="5D6B7E"/>
                </a:solidFill>
                <a:latin typeface="Calibri"/>
              </a:rPr>
              <a:t>yfinance reads Yahoo Finance. Good for teaching, prototypes and backtests. It is not licensed market data, so nothing you value for a client rests on it.</a:t>
            </a:r>
          </a:p>
        </p:txBody>
      </p:sp>
      <p:sp>
        <p:nvSpPr>
          <p:cNvPr id="18" name="TextBox 1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9" name="TextBox 1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LAB,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Then Codex builds the whole application</a:t>
            </a:r>
          </a:p>
        </p:txBody>
      </p:sp>
      <p:sp>
        <p:nvSpPr>
          <p:cNvPr id="5" name="Rectangle 4"/>
          <p:cNvSpPr/>
          <p:nvPr/>
        </p:nvSpPr>
        <p:spPr>
          <a:xfrm>
            <a:off x="548640" y="1371600"/>
            <a:ext cx="576072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517904"/>
            <a:ext cx="530352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EVERYTHING THAT WAS TYPED</a:t>
            </a:r>
          </a:p>
        </p:txBody>
      </p:sp>
      <p:sp>
        <p:nvSpPr>
          <p:cNvPr id="7" name="TextBox 6"/>
          <p:cNvSpPr txBox="1"/>
          <p:nvPr/>
        </p:nvSpPr>
        <p:spPr>
          <a:xfrm>
            <a:off x="804672" y="1865376"/>
            <a:ext cx="5303520" cy="301752"/>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Create an application where I enter the name of a</a:t>
            </a:r>
          </a:p>
          <a:p>
            <a:pPr algn="l">
              <a:lnSpc>
                <a:spcPct val="105000"/>
              </a:lnSpc>
              <a:spcBef>
                <a:spcPts val="250"/>
              </a:spcBef>
            </a:pPr>
            <a:r>
              <a:rPr sz="1050" b="0">
                <a:solidFill>
                  <a:srgbClr val="FFFFFF"/>
                </a:solidFill>
                <a:latin typeface="Consolas"/>
              </a:rPr>
              <a:t>company and it connects to yfinance to give me the</a:t>
            </a:r>
          </a:p>
          <a:p>
            <a:pPr algn="l">
              <a:lnSpc>
                <a:spcPct val="105000"/>
              </a:lnSpc>
              <a:spcBef>
                <a:spcPts val="250"/>
              </a:spcBef>
            </a:pPr>
            <a:r>
              <a:rPr sz="1050" b="0">
                <a:solidFill>
                  <a:srgbClr val="FFFFFF"/>
                </a:solidFill>
                <a:latin typeface="Consolas"/>
              </a:rPr>
              <a:t>revenue and the latest market price.</a:t>
            </a:r>
          </a:p>
        </p:txBody>
      </p:sp>
      <p:sp>
        <p:nvSpPr>
          <p:cNvPr id="8" name="Rectangle 7"/>
          <p:cNvSpPr/>
          <p:nvPr/>
        </p:nvSpPr>
        <p:spPr>
          <a:xfrm>
            <a:off x="54864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5</a:t>
            </a:r>
          </a:p>
          <a:p>
            <a:pPr algn="l">
              <a:lnSpc>
                <a:spcPct val="105000"/>
              </a:lnSpc>
              <a:spcBef>
                <a:spcPts val="400"/>
              </a:spcBef>
            </a:pPr>
            <a:r>
              <a:rPr sz="850" b="0">
                <a:solidFill>
                  <a:srgbClr val="C9D6EE"/>
                </a:solidFill>
                <a:latin typeface="Calibri"/>
              </a:rPr>
              <a:t>files written</a:t>
            </a:r>
          </a:p>
        </p:txBody>
      </p:sp>
      <p:sp>
        <p:nvSpPr>
          <p:cNvPr id="10" name="Rectangle 9"/>
          <p:cNvSpPr/>
          <p:nvPr/>
        </p:nvSpPr>
        <p:spPr>
          <a:xfrm>
            <a:off x="201168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798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702</a:t>
            </a:r>
          </a:p>
          <a:p>
            <a:pPr algn="l">
              <a:lnSpc>
                <a:spcPct val="105000"/>
              </a:lnSpc>
              <a:spcBef>
                <a:spcPts val="400"/>
              </a:spcBef>
            </a:pPr>
            <a:r>
              <a:rPr sz="850" b="0">
                <a:solidFill>
                  <a:srgbClr val="C9D6EE"/>
                </a:solidFill>
                <a:latin typeface="Calibri"/>
              </a:rPr>
              <a:t>lines of code</a:t>
            </a:r>
          </a:p>
        </p:txBody>
      </p:sp>
      <p:sp>
        <p:nvSpPr>
          <p:cNvPr id="12" name="Rectangle 11"/>
          <p:cNvSpPr/>
          <p:nvPr/>
        </p:nvSpPr>
        <p:spPr>
          <a:xfrm>
            <a:off x="347472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102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5m 29s</a:t>
            </a:r>
          </a:p>
          <a:p>
            <a:pPr algn="l">
              <a:lnSpc>
                <a:spcPct val="105000"/>
              </a:lnSpc>
              <a:spcBef>
                <a:spcPts val="400"/>
              </a:spcBef>
            </a:pPr>
            <a:r>
              <a:rPr sz="850" b="0">
                <a:solidFill>
                  <a:srgbClr val="C9D6EE"/>
                </a:solidFill>
                <a:latin typeface="Calibri"/>
              </a:rPr>
              <a:t>to a running app</a:t>
            </a:r>
          </a:p>
        </p:txBody>
      </p:sp>
      <p:sp>
        <p:nvSpPr>
          <p:cNvPr id="14" name="Rectangle 13"/>
          <p:cNvSpPr/>
          <p:nvPr/>
        </p:nvSpPr>
        <p:spPr>
          <a:xfrm>
            <a:off x="493776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8406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0</a:t>
            </a:r>
          </a:p>
          <a:p>
            <a:pPr algn="l">
              <a:lnSpc>
                <a:spcPct val="105000"/>
              </a:lnSpc>
              <a:spcBef>
                <a:spcPts val="400"/>
              </a:spcBef>
            </a:pPr>
            <a:r>
              <a:rPr sz="850" b="0">
                <a:solidFill>
                  <a:srgbClr val="C9D6EE"/>
                </a:solidFill>
                <a:latin typeface="Calibri"/>
              </a:rPr>
              <a:t>lines typed by a human</a:t>
            </a:r>
          </a:p>
        </p:txBody>
      </p:sp>
      <p:sp>
        <p:nvSpPr>
          <p:cNvPr id="16" name="Rectangle 15"/>
          <p:cNvSpPr/>
          <p:nvPr/>
        </p:nvSpPr>
        <p:spPr>
          <a:xfrm>
            <a:off x="548640" y="3657600"/>
            <a:ext cx="57607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657600"/>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758184"/>
            <a:ext cx="530352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wrote the whole thing</a:t>
            </a:r>
          </a:p>
          <a:p>
            <a:pPr algn="l">
              <a:lnSpc>
                <a:spcPct val="105000"/>
              </a:lnSpc>
              <a:spcBef>
                <a:spcPts val="300"/>
              </a:spcBef>
            </a:pPr>
            <a:r>
              <a:rPr sz="950" b="0">
                <a:solidFill>
                  <a:srgbClr val="5D6B7E"/>
                </a:solidFill>
                <a:latin typeface="Calibri"/>
              </a:rPr>
              <a:t>server.py, index.html, app.js, styles.css and a README.</a:t>
            </a:r>
          </a:p>
        </p:txBody>
      </p:sp>
      <p:sp>
        <p:nvSpPr>
          <p:cNvPr id="19" name="Rectangle 18"/>
          <p:cNvSpPr/>
          <p:nvPr/>
        </p:nvSpPr>
        <p:spPr>
          <a:xfrm>
            <a:off x="548640" y="4498848"/>
            <a:ext cx="57607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498848"/>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599432"/>
            <a:ext cx="530352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ran itself, and failed</a:t>
            </a:r>
          </a:p>
          <a:p>
            <a:pPr algn="l">
              <a:lnSpc>
                <a:spcPct val="105000"/>
              </a:lnSpc>
              <a:spcBef>
                <a:spcPts val="300"/>
              </a:spcBef>
            </a:pPr>
            <a:r>
              <a:rPr sz="950" b="0">
                <a:solidFill>
                  <a:srgbClr val="5D6B7E"/>
                </a:solidFill>
                <a:latin typeface="Calibri"/>
              </a:rPr>
              <a:t>Started Flask, called its own API, got no answer, worked out that the debug reloader was killing the process, switched it off and restarted.</a:t>
            </a:r>
          </a:p>
        </p:txBody>
      </p:sp>
      <p:sp>
        <p:nvSpPr>
          <p:cNvPr id="22" name="Rectangle 21"/>
          <p:cNvSpPr/>
          <p:nvPr/>
        </p:nvSpPr>
        <p:spPr>
          <a:xfrm>
            <a:off x="548640" y="5340096"/>
            <a:ext cx="57607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340096"/>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440680"/>
            <a:ext cx="530352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checked the screen</a:t>
            </a:r>
          </a:p>
          <a:p>
            <a:pPr algn="l">
              <a:lnSpc>
                <a:spcPct val="105000"/>
              </a:lnSpc>
              <a:spcBef>
                <a:spcPts val="300"/>
              </a:spcBef>
            </a:pPr>
            <a:r>
              <a:rPr sz="950" b="0">
                <a:solidFill>
                  <a:srgbClr val="5D6B7E"/>
                </a:solidFill>
                <a:latin typeface="Calibri"/>
              </a:rPr>
              <a:t>Opened the page in a browser, searched a company, and confirmed the result card rendered properly at desktop width.</a:t>
            </a:r>
          </a:p>
        </p:txBody>
      </p:sp>
      <p:sp>
        <p:nvSpPr>
          <p:cNvPr id="25" name="Rectangle 24"/>
          <p:cNvSpPr/>
          <p:nvPr/>
        </p:nvSpPr>
        <p:spPr>
          <a:xfrm>
            <a:off x="6492240" y="1371600"/>
            <a:ext cx="5148072" cy="2148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48272" y="1536192"/>
            <a:ext cx="4663440" cy="1874519"/>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What a harness actually is</a:t>
            </a:r>
          </a:p>
          <a:p>
            <a:pPr algn="l">
              <a:lnSpc>
                <a:spcPct val="105000"/>
              </a:lnSpc>
              <a:spcBef>
                <a:spcPts val="500"/>
              </a:spcBef>
            </a:pPr>
            <a:r>
              <a:rPr sz="1050" b="0">
                <a:solidFill>
                  <a:srgbClr val="1B2A41"/>
                </a:solidFill>
                <a:latin typeface="Calibri"/>
              </a:rPr>
              <a:t>A harness is the layer around the model that lets it act instead of answer. It can read your files, write files, run commands, see the error message and try again.</a:t>
            </a:r>
          </a:p>
          <a:p>
            <a:pPr algn="l">
              <a:lnSpc>
                <a:spcPct val="105000"/>
              </a:lnSpc>
              <a:spcBef>
                <a:spcPts val="500"/>
              </a:spcBef>
            </a:pPr>
            <a:r>
              <a:rPr sz="1050" b="0">
                <a:solidFill>
                  <a:srgbClr val="1B2A41"/>
                </a:solidFill>
                <a:latin typeface="Calibri"/>
              </a:rPr>
              <a:t>The model did not get smarter. It was given hands, a workspace, and permission to fail in private until the thing worked.</a:t>
            </a:r>
          </a:p>
          <a:p>
            <a:pPr algn="l">
              <a:lnSpc>
                <a:spcPct val="105000"/>
              </a:lnSpc>
              <a:spcBef>
                <a:spcPts val="500"/>
              </a:spcBef>
            </a:pPr>
            <a:r>
              <a:rPr sz="1050" b="0">
                <a:solidFill>
                  <a:srgbClr val="1B2A41"/>
                </a:solidFill>
                <a:latin typeface="Calibri"/>
              </a:rPr>
              <a:t>Claude Code, Codex and Cursor are all harnesses. This is the difference between being handed code and being handed an application.</a:t>
            </a:r>
          </a:p>
        </p:txBody>
      </p:sp>
      <p:sp>
        <p:nvSpPr>
          <p:cNvPr id="27" name="Rectangle 26"/>
          <p:cNvSpPr/>
          <p:nvPr/>
        </p:nvSpPr>
        <p:spPr>
          <a:xfrm>
            <a:off x="6492240" y="3657600"/>
            <a:ext cx="5148072"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3657600"/>
            <a:ext cx="64008" cy="137160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48272" y="3803904"/>
            <a:ext cx="4663440" cy="11430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How it scales to any name</a:t>
            </a:r>
          </a:p>
          <a:p>
            <a:pPr algn="l">
              <a:lnSpc>
                <a:spcPct val="105000"/>
              </a:lnSpc>
              <a:spcBef>
                <a:spcPts val="500"/>
              </a:spcBef>
            </a:pPr>
            <a:r>
              <a:rPr sz="1050" b="0">
                <a:solidFill>
                  <a:srgbClr val="5D6B7E"/>
                </a:solidFill>
                <a:latin typeface="Calibri"/>
              </a:rPr>
              <a:t>The script only did Swiggy, because the ticker was typed into it. The app takes any name, asks Yahoo's search for the matching symbol, prefers the NSE listing, then fetches. That one lookup is the whole difference between a script and a tool.</a:t>
            </a:r>
          </a:p>
        </p:txBody>
      </p:sp>
      <p:sp>
        <p:nvSpPr>
          <p:cNvPr id="30" name="Rectangle 29"/>
          <p:cNvSpPr/>
          <p:nvPr/>
        </p:nvSpPr>
        <p:spPr>
          <a:xfrm>
            <a:off x="6492240" y="5166360"/>
            <a:ext cx="5148072" cy="8686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48272" y="5303520"/>
            <a:ext cx="4663440" cy="7315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And what it does not change</a:t>
            </a:r>
          </a:p>
          <a:p>
            <a:pPr algn="l">
              <a:lnSpc>
                <a:spcPct val="105000"/>
              </a:lnSpc>
              <a:spcBef>
                <a:spcPts val="400"/>
              </a:spcBef>
            </a:pPr>
            <a:r>
              <a:rPr sz="1000" b="0">
                <a:solidFill>
                  <a:srgbClr val="C9D6EE"/>
                </a:solidFill>
                <a:latin typeface="Calibri"/>
              </a:rPr>
              <a:t>Codex could not tell that the Infosys revenue was a dollar figure with a rupee label. It built exactly what was asked. The checking is still yours.</a:t>
            </a:r>
          </a:p>
        </p:txBody>
      </p:sp>
      <p:sp>
        <p:nvSpPr>
          <p:cNvPr id="32" name="TextBox 31"/>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3" name="TextBox 32"/>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TWO WORDS YOU WILL HEAR</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Neural network, and temperature</a:t>
            </a:r>
          </a:p>
        </p:txBody>
      </p:sp>
      <p:sp>
        <p:nvSpPr>
          <p:cNvPr id="5" name="Rectangle 4"/>
          <p:cNvSpPr/>
          <p:nvPr/>
        </p:nvSpPr>
        <p:spPr>
          <a:xfrm>
            <a:off x="548640" y="1572768"/>
            <a:ext cx="5577840" cy="22860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37360"/>
            <a:ext cx="5120640" cy="20116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A NEURAL NETWORK IS</a:t>
            </a:r>
          </a:p>
          <a:p>
            <a:pPr algn="l">
              <a:lnSpc>
                <a:spcPct val="105000"/>
              </a:lnSpc>
              <a:spcBef>
                <a:spcPts val="500"/>
              </a:spcBef>
            </a:pPr>
            <a:r>
              <a:rPr sz="1100" b="0">
                <a:solidFill>
                  <a:srgbClr val="1B2A41"/>
                </a:solidFill>
                <a:latin typeface="Calibri"/>
              </a:rPr>
              <a:t>Layers of very simple units. Each connection between units carries a number called a weight. You show the network millions of examples, and it adjusts those weights until its answers stop being wrong. That adjusting is what training means.</a:t>
            </a:r>
          </a:p>
          <a:p>
            <a:pPr algn="l">
              <a:lnSpc>
                <a:spcPct val="105000"/>
              </a:lnSpc>
              <a:spcBef>
                <a:spcPts val="500"/>
              </a:spcBef>
            </a:pPr>
            <a:r>
              <a:rPr sz="1100" b="0">
                <a:solidFill>
                  <a:srgbClr val="1B2A41"/>
                </a:solidFill>
                <a:latin typeface="Calibri"/>
              </a:rPr>
              <a:t>“Deep” learning just means many layers. A transformer is one particular arrangement of them.</a:t>
            </a:r>
          </a:p>
        </p:txBody>
      </p:sp>
      <p:sp>
        <p:nvSpPr>
          <p:cNvPr id="7" name="Rectangle 6"/>
          <p:cNvSpPr/>
          <p:nvPr/>
        </p:nvSpPr>
        <p:spPr>
          <a:xfrm>
            <a:off x="548640" y="3977639"/>
            <a:ext cx="557784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977639"/>
            <a:ext cx="64008" cy="20116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133087"/>
            <a:ext cx="5120640" cy="1737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Why a banker should care</a:t>
            </a:r>
          </a:p>
          <a:p>
            <a:pPr algn="l">
              <a:lnSpc>
                <a:spcPct val="105000"/>
              </a:lnSpc>
              <a:spcBef>
                <a:spcPts val="500"/>
              </a:spcBef>
            </a:pPr>
            <a:r>
              <a:rPr sz="1050" b="0">
                <a:solidFill>
                  <a:srgbClr val="5D6B7E"/>
                </a:solidFill>
                <a:latin typeface="Calibri"/>
              </a:rPr>
              <a:t>A credit scorecard has about ten weights. You can print them, explain each one to a regulator, and defend the decision.</a:t>
            </a:r>
          </a:p>
          <a:p>
            <a:pPr algn="l">
              <a:lnSpc>
                <a:spcPct val="105000"/>
              </a:lnSpc>
              <a:spcBef>
                <a:spcPts val="500"/>
              </a:spcBef>
            </a:pPr>
            <a:r>
              <a:rPr sz="1050" b="0">
                <a:solidFill>
                  <a:srgbClr val="5D6B7E"/>
                </a:solidFill>
                <a:latin typeface="Calibri"/>
              </a:rPr>
              <a:t>A large model has hundreds of billions of weights and nobody can read them. That is the trade you are making: more capability, less explanation. It is why Module 7 spends an hour on model risk and SHAP.</a:t>
            </a:r>
          </a:p>
        </p:txBody>
      </p:sp>
      <p:sp>
        <p:nvSpPr>
          <p:cNvPr id="10" name="Rectangle 9"/>
          <p:cNvSpPr/>
          <p:nvPr/>
        </p:nvSpPr>
        <p:spPr>
          <a:xfrm>
            <a:off x="6492240" y="1572768"/>
            <a:ext cx="5148072" cy="12344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0" y="1737360"/>
            <a:ext cx="4663440" cy="100584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TEMPERATURE</a:t>
            </a:r>
          </a:p>
          <a:p>
            <a:pPr algn="l">
              <a:lnSpc>
                <a:spcPct val="105000"/>
              </a:lnSpc>
              <a:spcBef>
                <a:spcPts val="500"/>
              </a:spcBef>
            </a:pPr>
            <a:r>
              <a:rPr sz="1050" b="0">
                <a:solidFill>
                  <a:srgbClr val="C9D6EE"/>
                </a:solidFill>
                <a:latin typeface="Calibri"/>
              </a:rPr>
              <a:t>One setting, between 0 and 1. At 0 the model always picks the most likely next word, so the same question gives the same answer. Higher values let it pick less likely words, so answers vary.</a:t>
            </a:r>
          </a:p>
        </p:txBody>
      </p:sp>
      <p:sp>
        <p:nvSpPr>
          <p:cNvPr id="12" name="Rectangle 11"/>
          <p:cNvSpPr/>
          <p:nvPr/>
        </p:nvSpPr>
        <p:spPr>
          <a:xfrm>
            <a:off x="6492240" y="292608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2926080"/>
            <a:ext cx="64008" cy="65836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48272" y="3017520"/>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0.0</a:t>
            </a:r>
          </a:p>
        </p:txBody>
      </p:sp>
      <p:sp>
        <p:nvSpPr>
          <p:cNvPr id="15" name="TextBox 14"/>
          <p:cNvSpPr txBox="1"/>
          <p:nvPr/>
        </p:nvSpPr>
        <p:spPr>
          <a:xfrm>
            <a:off x="7589520" y="302666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Pulling numbers out of a filing. Compliance text. Anything a second person must be able to reproduce.</a:t>
            </a:r>
          </a:p>
        </p:txBody>
      </p:sp>
      <p:sp>
        <p:nvSpPr>
          <p:cNvPr id="16" name="Rectangle 15"/>
          <p:cNvSpPr/>
          <p:nvPr/>
        </p:nvSpPr>
        <p:spPr>
          <a:xfrm>
            <a:off x="6492240" y="365760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92240" y="3657600"/>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2" y="3749039"/>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0.2</a:t>
            </a:r>
          </a:p>
        </p:txBody>
      </p:sp>
      <p:sp>
        <p:nvSpPr>
          <p:cNvPr id="19" name="TextBox 18"/>
          <p:cNvSpPr txBox="1"/>
          <p:nvPr/>
        </p:nvSpPr>
        <p:spPr>
          <a:xfrm>
            <a:off x="7589520" y="375818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Drafting a research note from figures you already fixed.</a:t>
            </a:r>
          </a:p>
        </p:txBody>
      </p:sp>
      <p:sp>
        <p:nvSpPr>
          <p:cNvPr id="20" name="Rectangle 19"/>
          <p:cNvSpPr/>
          <p:nvPr/>
        </p:nvSpPr>
        <p:spPr>
          <a:xfrm>
            <a:off x="6492240" y="438912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4389120"/>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4480559"/>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0.7</a:t>
            </a:r>
          </a:p>
        </p:txBody>
      </p:sp>
      <p:sp>
        <p:nvSpPr>
          <p:cNvPr id="23" name="TextBox 22"/>
          <p:cNvSpPr txBox="1"/>
          <p:nvPr/>
        </p:nvSpPr>
        <p:spPr>
          <a:xfrm>
            <a:off x="7589520" y="448970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Brainstorming risks you have not thought of. Generating questions for a management call.</a:t>
            </a:r>
          </a:p>
        </p:txBody>
      </p:sp>
      <p:sp>
        <p:nvSpPr>
          <p:cNvPr id="24" name="Rectangle 23"/>
          <p:cNvSpPr/>
          <p:nvPr/>
        </p:nvSpPr>
        <p:spPr>
          <a:xfrm>
            <a:off x="6492240" y="512064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5120640"/>
            <a:ext cx="64008" cy="658368"/>
          </a:xfrm>
          <a:prstGeom prst="rect">
            <a:avLst/>
          </a:prstGeom>
          <a:solidFill>
            <a:srgbClr val="5D6B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48272" y="5212079"/>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1.0</a:t>
            </a:r>
          </a:p>
        </p:txBody>
      </p:sp>
      <p:sp>
        <p:nvSpPr>
          <p:cNvPr id="27" name="TextBox 26"/>
          <p:cNvSpPr txBox="1"/>
          <p:nvPr/>
        </p:nvSpPr>
        <p:spPr>
          <a:xfrm>
            <a:off x="7589520" y="522122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Marketing copy. Never a number, never a client document.</a:t>
            </a:r>
          </a:p>
        </p:txBody>
      </p:sp>
      <p:sp>
        <p:nvSpPr>
          <p:cNvPr id="28" name="TextBox 27"/>
          <p:cNvSpPr txBox="1"/>
          <p:nvPr/>
        </p:nvSpPr>
        <p:spPr>
          <a:xfrm>
            <a:off x="6492240" y="5989320"/>
            <a:ext cx="5148072" cy="365760"/>
          </a:xfrm>
          <a:prstGeom prst="rect">
            <a:avLst/>
          </a:prstGeom>
          <a:noFill/>
        </p:spPr>
        <p:txBody>
          <a:bodyPr wrap="square" lIns="0" rIns="0" tIns="0" bIns="0" anchor="t">
            <a:spAutoFit/>
          </a:bodyPr>
          <a:lstStyle/>
          <a:p>
            <a:pPr algn="l">
              <a:lnSpc>
                <a:spcPct val="105000"/>
              </a:lnSpc>
              <a:spcBef>
                <a:spcPts val="0"/>
              </a:spcBef>
            </a:pPr>
            <a:r>
              <a:rPr sz="1000" b="0">
                <a:solidFill>
                  <a:srgbClr val="5D6B7E"/>
                </a:solidFill>
                <a:latin typeface="Calibri"/>
              </a:rPr>
              <a:t>Temperature does not make a model more accurate. It makes it more varied. For finance work, keep it at zero and get your variety from asking better questions.</a:t>
            </a:r>
          </a:p>
        </p:txBody>
      </p:sp>
      <p:sp>
        <p:nvSpPr>
          <p:cNvPr id="29" name="TextBox 28"/>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0" name="TextBox 29"/>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CHOOSING A MODEL</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Which model, and why this course runs on Claude</a:t>
            </a:r>
          </a:p>
        </p:txBody>
      </p:sp>
      <p:sp>
        <p:nvSpPr>
          <p:cNvPr id="5" name="Rectangle 4"/>
          <p:cNvSpPr/>
          <p:nvPr/>
        </p:nvSpPr>
        <p:spPr>
          <a:xfrm>
            <a:off x="548640" y="1572768"/>
            <a:ext cx="2670048"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ChatGPT · OpenAI</a:t>
            </a:r>
          </a:p>
          <a:p>
            <a:pPr algn="l">
              <a:lnSpc>
                <a:spcPct val="105000"/>
              </a:lnSpc>
              <a:spcBef>
                <a:spcPts val="500"/>
              </a:spcBef>
            </a:pPr>
            <a:r>
              <a:rPr sz="1000" b="0">
                <a:solidFill>
                  <a:srgbClr val="5D6B7E"/>
                </a:solidFill>
                <a:latin typeface="Calibri"/>
              </a:rPr>
              <a:t>The broadest ecosystem. Most people already have it, and most third-party tools plug into it first. Strong general reasoning and coding.</a:t>
            </a:r>
          </a:p>
        </p:txBody>
      </p:sp>
      <p:sp>
        <p:nvSpPr>
          <p:cNvPr id="8" name="Rectangle 7"/>
          <p:cNvSpPr/>
          <p:nvPr/>
        </p:nvSpPr>
        <p:spPr>
          <a:xfrm>
            <a:off x="3374136" y="1572768"/>
            <a:ext cx="2670048"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74136" y="157276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75304"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Gemini · Google</a:t>
            </a:r>
          </a:p>
          <a:p>
            <a:pPr algn="l">
              <a:lnSpc>
                <a:spcPct val="105000"/>
              </a:lnSpc>
              <a:spcBef>
                <a:spcPts val="500"/>
              </a:spcBef>
            </a:pPr>
            <a:r>
              <a:rPr sz="1000" b="0">
                <a:solidFill>
                  <a:srgbClr val="5D6B7E"/>
                </a:solidFill>
                <a:latin typeface="Calibri"/>
              </a:rPr>
              <a:t>Native to Google Workspace, so it sits where the documents already are. Very large context windows, useful when you want to throw a lot at it at once.</a:t>
            </a:r>
          </a:p>
        </p:txBody>
      </p:sp>
      <p:sp>
        <p:nvSpPr>
          <p:cNvPr id="11" name="Rectangle 10"/>
          <p:cNvSpPr/>
          <p:nvPr/>
        </p:nvSpPr>
        <p:spPr>
          <a:xfrm>
            <a:off x="6199631" y="1572768"/>
            <a:ext cx="2670048"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1" y="157276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9"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Llama · Meta</a:t>
            </a:r>
          </a:p>
          <a:p>
            <a:pPr algn="l">
              <a:lnSpc>
                <a:spcPct val="105000"/>
              </a:lnSpc>
              <a:spcBef>
                <a:spcPts val="500"/>
              </a:spcBef>
            </a:pPr>
            <a:r>
              <a:rPr sz="1000" b="0">
                <a:solidFill>
                  <a:srgbClr val="5D6B7E"/>
                </a:solidFill>
                <a:latin typeface="Calibri"/>
              </a:rPr>
              <a:t>Open weights. You download it and run it on your own servers, so confidential data never leaves the bank. You give up some capability for that control.</a:t>
            </a:r>
          </a:p>
        </p:txBody>
      </p:sp>
      <p:sp>
        <p:nvSpPr>
          <p:cNvPr id="14" name="Rectangle 13"/>
          <p:cNvSpPr/>
          <p:nvPr/>
        </p:nvSpPr>
        <p:spPr>
          <a:xfrm>
            <a:off x="9025128" y="1572768"/>
            <a:ext cx="2670048" cy="21488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025128" y="157276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26296"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C9A227"/>
                </a:solidFill>
                <a:latin typeface="Calibri"/>
              </a:rPr>
              <a:t>Claude · Anthropic</a:t>
            </a:r>
          </a:p>
          <a:p>
            <a:pPr algn="l">
              <a:lnSpc>
                <a:spcPct val="105000"/>
              </a:lnSpc>
              <a:spcBef>
                <a:spcPts val="500"/>
              </a:spcBef>
            </a:pPr>
            <a:r>
              <a:rPr sz="1000" b="0">
                <a:solidFill>
                  <a:srgbClr val="C9D6EE"/>
                </a:solidFill>
                <a:latin typeface="Calibri"/>
              </a:rPr>
              <a:t>Sustained reasoning over long, messy documents. Tuned to say when it is unsure rather than fill the gap. Tool use and agent work are native, and Claude Code lets you build software without writing code.</a:t>
            </a:r>
          </a:p>
        </p:txBody>
      </p:sp>
      <p:sp>
        <p:nvSpPr>
          <p:cNvPr id="17" name="Rectangle 16"/>
          <p:cNvSpPr/>
          <p:nvPr/>
        </p:nvSpPr>
        <p:spPr>
          <a:xfrm>
            <a:off x="548640" y="3840480"/>
            <a:ext cx="557784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84048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05072"/>
            <a:ext cx="5120640" cy="155448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Why this course runs on Claude</a:t>
            </a:r>
          </a:p>
          <a:p>
            <a:pPr algn="l">
              <a:lnSpc>
                <a:spcPct val="105000"/>
              </a:lnSpc>
              <a:spcBef>
                <a:spcPts val="500"/>
              </a:spcBef>
            </a:pPr>
            <a:r>
              <a:rPr sz="1050" b="0">
                <a:solidFill>
                  <a:srgbClr val="1B2A41"/>
                </a:solidFill>
                <a:latin typeface="Calibri"/>
              </a:rPr>
              <a:t>1.  It holds a long document and keeps reasoning about it. A 200-page annual report or a Basel circular does not fall apart halfway through.</a:t>
            </a:r>
          </a:p>
          <a:p>
            <a:pPr algn="l">
              <a:lnSpc>
                <a:spcPct val="105000"/>
              </a:lnSpc>
              <a:spcBef>
                <a:spcPts val="400"/>
              </a:spcBef>
            </a:pPr>
            <a:r>
              <a:rPr sz="1050" b="0">
                <a:solidFill>
                  <a:srgbClr val="1B2A41"/>
                </a:solidFill>
                <a:latin typeface="Calibri"/>
              </a:rPr>
              <a:t>2.  It admits uncertainty more often than it invents. In finance a blank is cheaper than a confident wrong number.</a:t>
            </a:r>
          </a:p>
          <a:p>
            <a:pPr algn="l">
              <a:lnSpc>
                <a:spcPct val="105000"/>
              </a:lnSpc>
              <a:spcBef>
                <a:spcPts val="400"/>
              </a:spcBef>
            </a:pPr>
            <a:r>
              <a:rPr sz="1050" b="0">
                <a:solidFill>
                  <a:srgbClr val="1B2A41"/>
                </a:solidFill>
                <a:latin typeface="Calibri"/>
              </a:rPr>
              <a:t>3.  Agents and tools are native, and Claude Code writes and runs the code for you. Every lab in this course leans on that.</a:t>
            </a:r>
          </a:p>
        </p:txBody>
      </p:sp>
      <p:sp>
        <p:nvSpPr>
          <p:cNvPr id="20" name="Rectangle 19"/>
          <p:cNvSpPr/>
          <p:nvPr/>
        </p:nvSpPr>
        <p:spPr>
          <a:xfrm>
            <a:off x="6492240" y="3840480"/>
            <a:ext cx="5148072" cy="18288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4005072"/>
            <a:ext cx="4663440" cy="155448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The family, and what each is for</a:t>
            </a:r>
          </a:p>
          <a:p>
            <a:pPr algn="l">
              <a:lnSpc>
                <a:spcPct val="105000"/>
              </a:lnSpc>
              <a:spcBef>
                <a:spcPts val="500"/>
              </a:spcBef>
            </a:pPr>
            <a:r>
              <a:rPr sz="1000" b="0">
                <a:solidFill>
                  <a:srgbClr val="1B2A41"/>
                </a:solidFill>
                <a:latin typeface="Calibri"/>
              </a:rPr>
              <a:t>Opus 5  ·  the deepest reasoning. Long analysis, hard problems, the work you check least often.</a:t>
            </a:r>
          </a:p>
          <a:p>
            <a:pPr algn="l">
              <a:lnSpc>
                <a:spcPct val="105000"/>
              </a:lnSpc>
              <a:spcBef>
                <a:spcPts val="300"/>
              </a:spcBef>
            </a:pPr>
            <a:r>
              <a:rPr sz="1000" b="0">
                <a:solidFill>
                  <a:srgbClr val="1B2A41"/>
                </a:solidFill>
                <a:latin typeface="Calibri"/>
              </a:rPr>
              <a:t>Sonnet 5  ·  the everyday model. Fast enough to sit in an application, strong enough for real analysis.</a:t>
            </a:r>
          </a:p>
          <a:p>
            <a:pPr algn="l">
              <a:lnSpc>
                <a:spcPct val="105000"/>
              </a:lnSpc>
              <a:spcBef>
                <a:spcPts val="300"/>
              </a:spcBef>
            </a:pPr>
            <a:r>
              <a:rPr sz="1000" b="0">
                <a:solidFill>
                  <a:srgbClr val="1B2A41"/>
                </a:solidFill>
                <a:latin typeface="Calibri"/>
              </a:rPr>
              <a:t>Fable 5  ·  built for planning and quick reasoning. Useful when you want a good plan before you spend on a deep run.</a:t>
            </a:r>
          </a:p>
          <a:p>
            <a:pPr algn="l">
              <a:lnSpc>
                <a:spcPct val="105000"/>
              </a:lnSpc>
              <a:spcBef>
                <a:spcPts val="300"/>
              </a:spcBef>
            </a:pPr>
            <a:r>
              <a:rPr sz="1000" b="0">
                <a:solidFill>
                  <a:srgbClr val="1B2A41"/>
                </a:solidFill>
                <a:latin typeface="Calibri"/>
              </a:rPr>
              <a:t>Haiku 4.5  ·  cheap and fast. Bulk jobs: classify ten thousand headlines, tag documents.</a:t>
            </a:r>
          </a:p>
        </p:txBody>
      </p:sp>
      <p:sp>
        <p:nvSpPr>
          <p:cNvPr id="22" name="TextBox 21"/>
          <p:cNvSpPr txBox="1"/>
          <p:nvPr/>
        </p:nvSpPr>
        <p:spPr>
          <a:xfrm>
            <a:off x="548640" y="5852160"/>
            <a:ext cx="11091672" cy="3657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Be fair about this: </a:t>
            </a:r>
            <a:r>
              <a:rPr sz="1100" b="0">
                <a:solidFill>
                  <a:srgbClr val="5D6B7E"/>
                </a:solidFill>
                <a:latin typeface="Calibri"/>
              </a:rPr>
              <a:t>all four are world-class, they leapfrog each other every few months, and every skill you learn today transfers between them. Model choice is a decision, not a religion. Pick on the task, the cost and where your data is allowed to sit.</a:t>
            </a:r>
          </a:p>
        </p:txBody>
      </p:sp>
      <p:sp>
        <p:nvSpPr>
          <p:cNvPr id="23" name="TextBox 2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4" name="TextBox 2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MEMORY</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layers of memory, using my own setup</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The model itself remembers nothing between calls. Every layer below is a file that somebody maintains. This is how mine is arranged.</a:t>
            </a:r>
          </a:p>
        </p:txBody>
      </p:sp>
      <p:sp>
        <p:nvSpPr>
          <p:cNvPr id="6" name="Rectangle 5"/>
          <p:cNvSpPr/>
          <p:nvPr/>
        </p:nvSpPr>
        <p:spPr>
          <a:xfrm>
            <a:off x="548640" y="1755648"/>
            <a:ext cx="2670048" cy="32004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1 · SESSION CHAT</a:t>
            </a:r>
          </a:p>
        </p:txBody>
      </p:sp>
      <p:sp>
        <p:nvSpPr>
          <p:cNvPr id="8" name="TextBox 7"/>
          <p:cNvSpPr txBox="1"/>
          <p:nvPr/>
        </p:nvSpPr>
        <p:spPr>
          <a:xfrm>
            <a:off x="768096"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Short-term memory</a:t>
            </a:r>
          </a:p>
        </p:txBody>
      </p:sp>
      <p:sp>
        <p:nvSpPr>
          <p:cNvPr id="9" name="TextBox 8"/>
          <p:cNvSpPr txBox="1"/>
          <p:nvPr/>
        </p:nvSpPr>
        <p:spPr>
          <a:xfrm>
            <a:off x="768096"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Everything said in the current conversation. Gone, or squeezed into a summary, when the session ends.</a:t>
            </a:r>
          </a:p>
        </p:txBody>
      </p:sp>
      <p:sp>
        <p:nvSpPr>
          <p:cNvPr id="10" name="TextBox 9"/>
          <p:cNvSpPr txBox="1"/>
          <p:nvPr/>
        </p:nvSpPr>
        <p:spPr>
          <a:xfrm>
            <a:off x="768096"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Nothing here survives unless it is written to a file.</a:t>
            </a:r>
          </a:p>
        </p:txBody>
      </p:sp>
      <p:sp>
        <p:nvSpPr>
          <p:cNvPr id="11" name="Rectangle 10"/>
          <p:cNvSpPr/>
          <p:nvPr/>
        </p:nvSpPr>
        <p:spPr>
          <a:xfrm>
            <a:off x="3374136" y="1755648"/>
            <a:ext cx="2670048" cy="32004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2 · AUTO-MEMORY</a:t>
            </a:r>
          </a:p>
        </p:txBody>
      </p:sp>
      <p:sp>
        <p:nvSpPr>
          <p:cNvPr id="13" name="TextBox 12"/>
          <p:cNvSpPr txBox="1"/>
          <p:nvPr/>
        </p:nvSpPr>
        <p:spPr>
          <a:xfrm>
            <a:off x="3593591"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Episodic memory</a:t>
            </a:r>
          </a:p>
        </p:txBody>
      </p:sp>
      <p:sp>
        <p:nvSpPr>
          <p:cNvPr id="14" name="TextBox 13"/>
          <p:cNvSpPr txBox="1"/>
          <p:nvPr/>
        </p:nvSpPr>
        <p:spPr>
          <a:xfrm>
            <a:off x="3593591"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One small file per fact, plus an index that loads every session. “HDFC Bank is Pune, not Mumbai.” “The dashboard scrapes at 8 AM.”</a:t>
            </a:r>
          </a:p>
        </p:txBody>
      </p:sp>
      <p:sp>
        <p:nvSpPr>
          <p:cNvPr id="15" name="TextBox 14"/>
          <p:cNvSpPr txBox="1"/>
          <p:nvPr/>
        </p:nvSpPr>
        <p:spPr>
          <a:xfrm>
            <a:off x="3593591"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I say “remember this” and it gets filed. This is not the rulebook.</a:t>
            </a:r>
          </a:p>
        </p:txBody>
      </p:sp>
      <p:sp>
        <p:nvSpPr>
          <p:cNvPr id="16" name="Rectangle 15"/>
          <p:cNvSpPr/>
          <p:nvPr/>
        </p:nvSpPr>
        <p:spPr>
          <a:xfrm>
            <a:off x="6199631" y="1755648"/>
            <a:ext cx="2670048" cy="32004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3 · CLAUDE.md</a:t>
            </a:r>
          </a:p>
        </p:txBody>
      </p:sp>
      <p:sp>
        <p:nvSpPr>
          <p:cNvPr id="18" name="TextBox 17"/>
          <p:cNvSpPr txBox="1"/>
          <p:nvPr/>
        </p:nvSpPr>
        <p:spPr>
          <a:xfrm>
            <a:off x="6419088"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The rulebook, not memory</a:t>
            </a:r>
          </a:p>
        </p:txBody>
      </p:sp>
      <p:sp>
        <p:nvSpPr>
          <p:cNvPr id="19" name="TextBox 18"/>
          <p:cNvSpPr txBox="1"/>
          <p:nvPr/>
        </p:nvSpPr>
        <p:spPr>
          <a:xfrm>
            <a:off x="6419088"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Standing instructions on how the assistant should behave. Check the policy first. Keep answers short. Change only what I asked for.</a:t>
            </a:r>
          </a:p>
        </p:txBody>
      </p:sp>
      <p:sp>
        <p:nvSpPr>
          <p:cNvPr id="20" name="TextBox 19"/>
          <p:cNvSpPr txBox="1"/>
          <p:nvPr/>
        </p:nvSpPr>
        <p:spPr>
          <a:xfrm>
            <a:off x="6419088"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An employee handbook. Auto-memory is the employee's notebook.</a:t>
            </a:r>
          </a:p>
        </p:txBody>
      </p:sp>
      <p:sp>
        <p:nvSpPr>
          <p:cNvPr id="21" name="Rectangle 20"/>
          <p:cNvSpPr/>
          <p:nvPr/>
        </p:nvSpPr>
        <p:spPr>
          <a:xfrm>
            <a:off x="9025128" y="1755648"/>
            <a:ext cx="2670048" cy="32004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4584"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4 · THE WIKI</a:t>
            </a:r>
          </a:p>
        </p:txBody>
      </p:sp>
      <p:sp>
        <p:nvSpPr>
          <p:cNvPr id="23" name="TextBox 22"/>
          <p:cNvSpPr txBox="1"/>
          <p:nvPr/>
        </p:nvSpPr>
        <p:spPr>
          <a:xfrm>
            <a:off x="9244584"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FFFFFF"/>
                </a:solidFill>
                <a:latin typeface="Georgia"/>
              </a:rPr>
              <a:t>Semantic memory, and it is mine</a:t>
            </a:r>
          </a:p>
        </p:txBody>
      </p:sp>
      <p:sp>
        <p:nvSpPr>
          <p:cNvPr id="24" name="TextBox 23"/>
          <p:cNvSpPr txBox="1"/>
          <p:nvPr/>
        </p:nvSpPr>
        <p:spPr>
          <a:xfrm>
            <a:off x="9244584"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My own second brain: articles, notes and research I want to keep and query later.</a:t>
            </a:r>
          </a:p>
        </p:txBody>
      </p:sp>
      <p:sp>
        <p:nvSpPr>
          <p:cNvPr id="25" name="TextBox 24"/>
          <p:cNvSpPr txBox="1"/>
          <p:nvPr/>
        </p:nvSpPr>
        <p:spPr>
          <a:xfrm>
            <a:off x="9244584"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It holds my knowledge. It does not instruct the model.</a:t>
            </a:r>
          </a:p>
        </p:txBody>
      </p:sp>
      <p:sp>
        <p:nvSpPr>
          <p:cNvPr id="26" name="Rectangle 25"/>
          <p:cNvSpPr/>
          <p:nvPr/>
        </p:nvSpPr>
        <p:spPr>
          <a:xfrm>
            <a:off x="548640" y="512064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12064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The lesson for your own work:  </a:t>
            </a:r>
            <a:r>
              <a:rPr sz="1250" b="0">
                <a:solidFill>
                  <a:srgbClr val="FFFFFF"/>
                </a:solidFill>
                <a:latin typeface="Calibri"/>
              </a:rPr>
              <a:t>if you want an AI system to know something next week, decide today which of these four layers it belongs in, and write it there.</a:t>
            </a:r>
          </a:p>
        </p:txBody>
      </p:sp>
      <p:sp>
        <p:nvSpPr>
          <p:cNvPr id="28" name="TextBox 27"/>
          <p:cNvSpPr txBox="1"/>
          <p:nvPr/>
        </p:nvSpPr>
        <p:spPr>
          <a:xfrm>
            <a:off x="548640" y="5943600"/>
            <a:ext cx="11091672" cy="36576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Students often merge layers 2 and 3 and then wonder why the assistant ignores an instruction, or repeats a question it was told the answer to last week. Keep facts and rules in separate files.</a:t>
            </a:r>
          </a:p>
        </p:txBody>
      </p:sp>
      <p:sp>
        <p:nvSpPr>
          <p:cNvPr id="29" name="TextBox 28"/>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0" name="TextBox 29"/>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Six questions on today's basics</a:t>
            </a:r>
          </a:p>
        </p:txBody>
      </p:sp>
      <p:sp>
        <p:nvSpPr>
          <p:cNvPr id="5" name="Rectangle 4"/>
          <p:cNvSpPr/>
          <p:nvPr/>
        </p:nvSpPr>
        <p:spPr>
          <a:xfrm>
            <a:off x="548640" y="157276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a:t>
            </a:r>
          </a:p>
        </p:txBody>
      </p:sp>
      <p:sp>
        <p:nvSpPr>
          <p:cNvPr id="8" name="TextBox 7"/>
          <p:cNvSpPr txBox="1"/>
          <p:nvPr/>
        </p:nvSpPr>
        <p:spPr>
          <a:xfrm>
            <a:off x="1600200" y="169164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In one line each, what is generative AI, what is an AI agent, and what is agentic AI?</a:t>
            </a:r>
          </a:p>
        </p:txBody>
      </p:sp>
      <p:sp>
        <p:nvSpPr>
          <p:cNvPr id="9" name="Rectangle 8"/>
          <p:cNvSpPr/>
          <p:nvPr/>
        </p:nvSpPr>
        <p:spPr>
          <a:xfrm>
            <a:off x="548640" y="2468880"/>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596896"/>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Q2</a:t>
            </a:r>
          </a:p>
        </p:txBody>
      </p:sp>
      <p:sp>
        <p:nvSpPr>
          <p:cNvPr id="12" name="TextBox 11"/>
          <p:cNvSpPr txBox="1"/>
          <p:nvPr/>
        </p:nvSpPr>
        <p:spPr>
          <a:xfrm>
            <a:off x="1600200" y="2587752"/>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What is a token? Roughly how many tokens are in a 1,000-word research note?</a:t>
            </a:r>
          </a:p>
        </p:txBody>
      </p:sp>
      <p:sp>
        <p:nvSpPr>
          <p:cNvPr id="13" name="Rectangle 12"/>
          <p:cNvSpPr/>
          <p:nvPr/>
        </p:nvSpPr>
        <p:spPr>
          <a:xfrm>
            <a:off x="548640" y="3364992"/>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93008"/>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Q3</a:t>
            </a:r>
          </a:p>
        </p:txBody>
      </p:sp>
      <p:sp>
        <p:nvSpPr>
          <p:cNvPr id="16" name="TextBox 15"/>
          <p:cNvSpPr txBox="1"/>
          <p:nvPr/>
        </p:nvSpPr>
        <p:spPr>
          <a:xfrm>
            <a:off x="1600200" y="3483864"/>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What does a transformer do that older models could not, and why does it matter for a 200-page annual report?</a:t>
            </a:r>
          </a:p>
        </p:txBody>
      </p:sp>
      <p:sp>
        <p:nvSpPr>
          <p:cNvPr id="17" name="Rectangle 16"/>
          <p:cNvSpPr/>
          <p:nvPr/>
        </p:nvSpPr>
        <p:spPr>
          <a:xfrm>
            <a:off x="548640" y="4261104"/>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89120"/>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Q4</a:t>
            </a:r>
          </a:p>
        </p:txBody>
      </p:sp>
      <p:sp>
        <p:nvSpPr>
          <p:cNvPr id="20" name="TextBox 19"/>
          <p:cNvSpPr txBox="1"/>
          <p:nvPr/>
        </p:nvSpPr>
        <p:spPr>
          <a:xfrm>
            <a:off x="1600200" y="4379976"/>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Name the four steps of the agent loop, in order.</a:t>
            </a:r>
          </a:p>
        </p:txBody>
      </p:sp>
      <p:sp>
        <p:nvSpPr>
          <p:cNvPr id="21" name="Rectangle 20"/>
          <p:cNvSpPr/>
          <p:nvPr/>
        </p:nvSpPr>
        <p:spPr>
          <a:xfrm>
            <a:off x="548640" y="5157216"/>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8523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Q5</a:t>
            </a:r>
          </a:p>
        </p:txBody>
      </p:sp>
      <p:sp>
        <p:nvSpPr>
          <p:cNvPr id="24" name="TextBox 23"/>
          <p:cNvSpPr txBox="1"/>
          <p:nvPr/>
        </p:nvSpPr>
        <p:spPr>
          <a:xfrm>
            <a:off x="1600200" y="5276088"/>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 need to score 50,000 news headlines for sentiment every night, on the bank's own servers. FinBERT or a frontier model? Give one reason.</a:t>
            </a:r>
          </a:p>
        </p:txBody>
      </p:sp>
      <p:sp>
        <p:nvSpPr>
          <p:cNvPr id="25" name="Rectangle 24"/>
          <p:cNvSpPr/>
          <p:nvPr/>
        </p:nvSpPr>
        <p:spPr>
          <a:xfrm>
            <a:off x="548640" y="605332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605332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618134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Q6</a:t>
            </a:r>
          </a:p>
        </p:txBody>
      </p:sp>
      <p:sp>
        <p:nvSpPr>
          <p:cNvPr id="28" name="TextBox 27"/>
          <p:cNvSpPr txBox="1"/>
          <p:nvPr/>
        </p:nvSpPr>
        <p:spPr>
          <a:xfrm>
            <a:off x="1600200" y="617220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An extraction says the unit is INR crore but the filing prints “₹ in lakhs”. What is the error worth, and what stops it?</a:t>
            </a:r>
          </a:p>
        </p:txBody>
      </p:sp>
      <p:sp>
        <p:nvSpPr>
          <p:cNvPr id="29" name="Rectangle 28"/>
          <p:cNvSpPr/>
          <p:nvPr/>
        </p:nvSpPr>
        <p:spPr>
          <a:xfrm>
            <a:off x="548640" y="6035040"/>
            <a:ext cx="11091672" cy="3657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6035040"/>
            <a:ext cx="10543032" cy="36576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Two or three sentences each. </a:t>
            </a:r>
            <a:r>
              <a:rPr sz="1250" b="0">
                <a:solidFill>
                  <a:srgbClr val="FFFFFF"/>
                </a:solidFill>
                <a:latin typeface="Calibri"/>
              </a:rPr>
              <a:t>Name the mechanism. Length does not earn marks.</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Two questions on the cases</a:t>
            </a:r>
          </a:p>
        </p:txBody>
      </p:sp>
      <p:sp>
        <p:nvSpPr>
          <p:cNvPr id="5" name="Rectangle 4"/>
          <p:cNvSpPr/>
          <p:nvPr/>
        </p:nvSpPr>
        <p:spPr>
          <a:xfrm>
            <a:off x="548640" y="1828800"/>
            <a:ext cx="11091672"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Q7</a:t>
            </a:r>
          </a:p>
        </p:txBody>
      </p:sp>
      <p:sp>
        <p:nvSpPr>
          <p:cNvPr id="8" name="TextBox 7"/>
          <p:cNvSpPr txBox="1"/>
          <p:nvPr/>
        </p:nvSpPr>
        <p:spPr>
          <a:xfrm>
            <a:off x="1737360" y="2084832"/>
            <a:ext cx="9601200" cy="100584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Morgan Stanley aimed its GPT-4 assistant at finding documents, not at giving advice. Why was that the safer first use, and what did the firm test before rolling it out?</a:t>
            </a:r>
          </a:p>
        </p:txBody>
      </p:sp>
      <p:sp>
        <p:nvSpPr>
          <p:cNvPr id="9" name="Rectangle 8"/>
          <p:cNvSpPr/>
          <p:nvPr/>
        </p:nvSpPr>
        <p:spPr>
          <a:xfrm>
            <a:off x="548640" y="3429000"/>
            <a:ext cx="11091672"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42900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70332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Q8</a:t>
            </a:r>
          </a:p>
        </p:txBody>
      </p:sp>
      <p:sp>
        <p:nvSpPr>
          <p:cNvPr id="12" name="TextBox 11"/>
          <p:cNvSpPr txBox="1"/>
          <p:nvPr/>
        </p:nvSpPr>
        <p:spPr>
          <a:xfrm>
            <a:off x="1737360" y="3685032"/>
            <a:ext cx="9601200" cy="100584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In JARVIS the valuation is computed in Python and the commentary is written by a model. Explain why the work is split that way.</a:t>
            </a:r>
          </a:p>
        </p:txBody>
      </p:sp>
      <p:sp>
        <p:nvSpPr>
          <p:cNvPr id="13" name="Rectangle 12"/>
          <p:cNvSpPr/>
          <p:nvPr/>
        </p:nvSpPr>
        <p:spPr>
          <a:xfrm>
            <a:off x="548640" y="5394960"/>
            <a:ext cx="11091672" cy="6858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394960"/>
            <a:ext cx="10515600" cy="685800"/>
          </a:xfrm>
          <a:prstGeom prst="rect">
            <a:avLst/>
          </a:prstGeom>
          <a:noFill/>
        </p:spPr>
        <p:txBody>
          <a:bodyPr wrap="square" lIns="0" rIns="0" tIns="0" bIns="0" anchor="ctr">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run the lookup on three companies of your own and write down one number that was wrong and how you found it. Read Chapter 1 of Claude AI for Finance Professionals. Bring one annual report PDF for the RAG lab.</a:t>
            </a:r>
          </a:p>
        </p:txBody>
      </p:sp>
      <p:sp>
        <p:nvSpPr>
          <p:cNvPr id="15" name="TextBox 14"/>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6" name="TextBox 15"/>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61</Slides>
  <Notes>0</Notes>
  <HiddenSlides>0</HiddenSlides>
  <MMClips>0</MMClips>
  <ScaleCrop>false</ScaleCrop>
  <HeadingPairs>
    <vt:vector size="4" baseType="variant">
      <vt:variant>
        <vt:lpstr>Theme</vt:lpstr>
      </vt:variant>
      <vt:variant>
        <vt:i4>1</vt:i4>
      </vt:variant>
      <vt:variant>
        <vt:lpstr>Slide Titles</vt:lpstr>
      </vt:variant>
      <vt:variant>
        <vt:i4>61</vt:i4>
      </vt:variant>
    </vt:vector>
  </HeadingPairs>
  <TitlesOfParts>
    <vt:vector size="6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73</cp:revision>
  <dcterms:created xsi:type="dcterms:W3CDTF">2013-01-27T09:14:16Z</dcterms:created>
  <dcterms:modified xsi:type="dcterms:W3CDTF">2026-07-04T20:56:39Z</dcterms:modified>
  <cp:category/>
</cp:coreProperties>
</file>